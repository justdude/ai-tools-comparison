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6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1316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question, not the tools: who is allowed to say the work is finished? Everything else in the deck hangs off that.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takeaway out loud here so nobody has to wait twenty slides for it, then tell people which sections they can safely stop listening 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that matters is "until". A completion returns once; an agent returns when a condition is met — and section 02 is about who gets to define that condition.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gauge is the point of the slide: the three modes differ by how long you can look away, not by what the model can 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2 to 4 are the part people imagine going wrong. Point at the firewall and the draft-PR default: the blast radius is a branch.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in the room is nervous, this is the slide that settles it. The constraint is structural — it is not a policy you have to enforce.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rows carry the whole slide: "sees your code via" and "stops when". Everything else is table stakes.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of the whole deck. If you only remember one slide, remember step four.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column that matters is the third. Manual and agentic both let a human or a model declare victory; a loop moves that decision to something you can write down and re-run.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framing: these are the same agents you already have, plus a supervision surface. The new capability is parallelism, not intelligence.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where their requirements actually live. If the answer is "in a Confluence page nobody has updated since March", that is the finding, not the tool choice.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numbers, and they are not comparable as printed: Copilot Enterprise is all-in at $39, Claude Enterprise is $20 plus metered usage. Say that out loud before anyone does the subtraction in their head.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pilot overspends, it will be here. Say the number out loud: one careless "review after every push" setting is more expensive than the entire seat budget.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desktop app hides the terminal, which makes it easy to skip repository hygiene entirely. This prompt is the antidote: one turn, and it sets the standard the agent copies from then 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first question is what a six-week pilot exists to answer. If the four apps answer it clearly, you may not need six weeks.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four apps, not four phases. A calendar cannot fail; an app that does not build can.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Way 1 of the three on the "Three ways to run an agent" slide. The one thing people get wrong: they leave the picker on Ask, then complain the agent will not edit anything.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Way 2. The only step that has no equivalent in the other two is step 2 — /goal is what turns "the model thinks it is done" into "a check passed".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Way 3. Two things decide whether this is available at all: the repo has to be in GitHub, and the skill has to be committed — the sandbox cannot see your laptop.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critic reproduced a red type-check on a clean checkout: vitest globals:true with a pinned tsconfig `types` array makes describe/it/expect fail as TS2593. Fixed in the shipped version.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the critic marked runs: no — six HIGH defects, including the Node range and the ng add trap. Worth saying out loud: it is now the most carefully corrected of the four.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WPF was chosen over WinUI and Avalonia because this team is Microsoft-stack and WPF has the longest support runway. The skill states that choice and its justification rather than leaving it implicit.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Acceptance is deliberately split into offline and online blocks. A developer behind a corporate proxy can still tell whether the build is broken or just the network.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decide more than the tool choice does. Do not leave the room without answers to them.</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−19% on purpose. A room that spots the missing counter-evidence stops trusting the rest of the deck; a room that is handed it starts arguing about scope, which is the useful conversation.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claims from earlier drafts were deleted here rather than reworded: "an instructions file removes 60-80% of wrong outputs", "AI removes the undifferentiated 30% of developer work", and a modelled change-failure-rate move from 5% to 6%. None has a primary source.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Forrester number is deliberately labelled as GitHub Enterprise Cloud, platform-wide and vendor-commissioned — it is not a Copilot ROI study, and there is no Forrester TEI for Claude at all.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ome/claude/deck/build/img/hero_title.jpg"/>
          <p:cNvPicPr>
            <a:picLocks noChangeAspect="1"/>
          </p:cNvPicPr>
          <p:nvPr/>
        </p:nvPicPr>
        <p:blipFill>
          <a:blip r:embed="rId3"/>
          <a:stretch>
            <a:fillRect/>
          </a:stretch>
        </p:blipFill>
        <p:spPr>
          <a:xfrm>
            <a:off x="7452360" y="0"/>
            <a:ext cx="4736592" cy="6858000"/>
          </a:xfrm>
          <a:prstGeom prst="rect">
            <a:avLst/>
          </a:prstGeom>
        </p:spPr>
      </p:pic>
      <p:sp>
        <p:nvSpPr>
          <p:cNvPr id="3" name="Text 0"/>
          <p:cNvSpPr/>
          <p:nvPr/>
        </p:nvSpPr>
        <p:spPr>
          <a:xfrm>
            <a:off x="566928" y="932688"/>
            <a:ext cx="6583680" cy="274320"/>
          </a:xfrm>
          <a:prstGeom prst="rect">
            <a:avLst/>
          </a:prstGeom>
          <a:noFill/>
          <a:ln/>
        </p:spPr>
        <p:txBody>
          <a:bodyPr wrap="square" lIns="0" tIns="0" rIns="0" bIns="0" rtlCol="0" anchor="ctr"/>
          <a:lstStyle/>
          <a:p>
            <a:pPr marL="0" indent="0">
              <a:buNone/>
            </a:pPr>
            <a:r>
              <a:rPr lang="en-US" sz="1150" b="1" kern="0" spc="200" dirty="0">
                <a:solidFill>
                  <a:srgbClr val="C2410C"/>
                </a:solidFill>
                <a:latin typeface="Calibri" pitchFamily="34" charset="0"/>
                <a:ea typeface="Calibri" pitchFamily="34" charset="-122"/>
                <a:cs typeface="Calibri" pitchFamily="34" charset="-120"/>
              </a:rPr>
              <a:t>DECISION BRIEF   ·   JULY 2026</a:t>
            </a:r>
            <a:endParaRPr lang="en-US" sz="1150" dirty="0"/>
          </a:p>
        </p:txBody>
      </p:sp>
      <p:sp>
        <p:nvSpPr>
          <p:cNvPr id="4" name="Text 1"/>
          <p:cNvSpPr/>
          <p:nvPr/>
        </p:nvSpPr>
        <p:spPr>
          <a:xfrm>
            <a:off x="566928" y="1371600"/>
            <a:ext cx="6675120" cy="1371600"/>
          </a:xfrm>
          <a:prstGeom prst="rect">
            <a:avLst/>
          </a:prstGeom>
          <a:noFill/>
          <a:ln/>
        </p:spPr>
        <p:txBody>
          <a:bodyPr wrap="square" lIns="0" tIns="0" rIns="0" bIns="0" rtlCol="0" anchor="t"/>
          <a:lstStyle/>
          <a:p>
            <a:pPr marL="0" indent="0">
              <a:buNone/>
            </a:pPr>
            <a:r>
              <a:rPr lang="en-US" sz="4700" b="1" dirty="0">
                <a:solidFill>
                  <a:srgbClr val="0969DA"/>
                </a:solidFill>
                <a:latin typeface="Cambria" pitchFamily="34" charset="0"/>
                <a:ea typeface="Cambria" pitchFamily="34" charset="-122"/>
                <a:cs typeface="Cambria" pitchFamily="34" charset="-120"/>
              </a:rPr>
              <a:t>Copilot</a:t>
            </a:r>
            <a:r>
              <a:rPr lang="en-US" sz="4700" b="1" dirty="0">
                <a:solidFill>
                  <a:srgbClr val="6E7781"/>
                </a:solidFill>
                <a:latin typeface="Cambria" pitchFamily="34" charset="0"/>
                <a:ea typeface="Cambria" pitchFamily="34" charset="-122"/>
                <a:cs typeface="Cambria" pitchFamily="34" charset="-120"/>
              </a:rPr>
              <a:t>  vs  </a:t>
            </a:r>
            <a:r>
              <a:rPr lang="en-US" sz="4700" b="1" dirty="0">
                <a:solidFill>
                  <a:srgbClr val="C2410C"/>
                </a:solidFill>
                <a:latin typeface="Cambria" pitchFamily="34" charset="0"/>
                <a:ea typeface="Cambria" pitchFamily="34" charset="-122"/>
                <a:cs typeface="Cambria" pitchFamily="34" charset="-120"/>
              </a:rPr>
              <a:t>Claude Code</a:t>
            </a:r>
            <a:endParaRPr lang="en-US" sz="4700" dirty="0"/>
          </a:p>
        </p:txBody>
      </p:sp>
      <p:sp>
        <p:nvSpPr>
          <p:cNvPr id="5" name="Text 2"/>
          <p:cNvSpPr/>
          <p:nvPr/>
        </p:nvSpPr>
        <p:spPr>
          <a:xfrm>
            <a:off x="566928" y="2743200"/>
            <a:ext cx="6400800" cy="731520"/>
          </a:xfrm>
          <a:prstGeom prst="rect">
            <a:avLst/>
          </a:prstGeom>
          <a:noFill/>
          <a:ln/>
        </p:spPr>
        <p:txBody>
          <a:bodyPr wrap="square" lIns="0" tIns="0" rIns="0" bIns="0" rtlCol="0" anchor="t"/>
          <a:lstStyle/>
          <a:p>
            <a:pPr marL="0" indent="0">
              <a:lnSpc>
                <a:spcPts val="2500"/>
              </a:lnSpc>
              <a:buNone/>
            </a:pPr>
            <a:r>
              <a:rPr lang="en-US" sz="1900" dirty="0">
                <a:solidFill>
                  <a:srgbClr val="15181D"/>
                </a:solidFill>
                <a:latin typeface="Cambria" pitchFamily="34" charset="0"/>
                <a:ea typeface="Cambria" pitchFamily="34" charset="-122"/>
                <a:cs typeface="Cambria" pitchFamily="34" charset="-120"/>
              </a:rPr>
              <a:t>Agentic AI for a .NET team — what the two tools are, what an enterprise seat costs, and how to prove which one fits.</a:t>
            </a:r>
            <a:endParaRPr lang="en-US" sz="1900" dirty="0"/>
          </a:p>
        </p:txBody>
      </p:sp>
      <p:sp>
        <p:nvSpPr>
          <p:cNvPr id="6" name="Text 3"/>
          <p:cNvSpPr/>
          <p:nvPr/>
        </p:nvSpPr>
        <p:spPr>
          <a:xfrm>
            <a:off x="566928" y="3584448"/>
            <a:ext cx="6309360" cy="868680"/>
          </a:xfrm>
          <a:prstGeom prst="rect">
            <a:avLst/>
          </a:prstGeom>
          <a:noFill/>
          <a:ln/>
        </p:spPr>
        <p:txBody>
          <a:bodyPr wrap="square" lIns="0" tIns="0" rIns="0" bIns="0" rtlCol="0" anchor="t"/>
          <a:lstStyle/>
          <a:p>
            <a:pPr marL="0" indent="0">
              <a:lnSpc>
                <a:spcPts val="1900"/>
              </a:lnSpc>
              <a:buNone/>
            </a:pPr>
            <a:r>
              <a:rPr lang="en-US" sz="1300" dirty="0">
                <a:solidFill>
                  <a:srgbClr val="2B3138"/>
                </a:solidFill>
                <a:latin typeface="Calibri" pitchFamily="34" charset="0"/>
                <a:ea typeface="Calibri" pitchFamily="34" charset="-122"/>
                <a:cs typeface="Calibri" pitchFamily="34" charset="-120"/>
              </a:rPr>
              <a:t>Built for a .NET + Angular/React team on the Microsoft stack. Every product claim, price and study in this deck was re-verified against its primary source on 31 July 2026, and every one of them is listed at the back.</a:t>
            </a:r>
            <a:endParaRPr lang="en-US" sz="1300" dirty="0"/>
          </a:p>
        </p:txBody>
      </p:sp>
      <p:sp>
        <p:nvSpPr>
          <p:cNvPr id="7" name="Shape 4"/>
          <p:cNvSpPr/>
          <p:nvPr/>
        </p:nvSpPr>
        <p:spPr>
          <a:xfrm>
            <a:off x="566928" y="4590288"/>
            <a:ext cx="658368" cy="658368"/>
          </a:xfrm>
          <a:prstGeom prst="ellipse">
            <a:avLst/>
          </a:prstGeom>
          <a:solidFill>
            <a:srgbClr val="0969DA"/>
          </a:solidFill>
          <a:ln w="12700">
            <a:solidFill>
              <a:srgbClr val="0969DA"/>
            </a:solidFill>
            <a:prstDash val="solid"/>
          </a:ln>
        </p:spPr>
      </p:sp>
      <p:pic>
        <p:nvPicPr>
          <p:cNvPr id="8" name="Image 1" descr="/home/claude/deck/build/img/copilot_white.png"/>
          <p:cNvPicPr>
            <a:picLocks noChangeAspect="1"/>
          </p:cNvPicPr>
          <p:nvPr/>
        </p:nvPicPr>
        <p:blipFill>
          <a:blip r:embed="rId4"/>
          <a:stretch>
            <a:fillRect/>
          </a:stretch>
        </p:blipFill>
        <p:spPr>
          <a:xfrm>
            <a:off x="738104" y="4761464"/>
            <a:ext cx="316017" cy="316017"/>
          </a:xfrm>
          <a:prstGeom prst="rect">
            <a:avLst/>
          </a:prstGeom>
        </p:spPr>
      </p:pic>
      <p:sp>
        <p:nvSpPr>
          <p:cNvPr id="9" name="Shape 5"/>
          <p:cNvSpPr/>
          <p:nvPr/>
        </p:nvSpPr>
        <p:spPr>
          <a:xfrm>
            <a:off x="1353312" y="4590288"/>
            <a:ext cx="658368" cy="658368"/>
          </a:xfrm>
          <a:prstGeom prst="ellipse">
            <a:avLst/>
          </a:prstGeom>
          <a:solidFill>
            <a:srgbClr val="C2410C"/>
          </a:solidFill>
          <a:ln w="12700">
            <a:solidFill>
              <a:srgbClr val="C2410C"/>
            </a:solidFill>
            <a:prstDash val="solid"/>
          </a:ln>
        </p:spPr>
      </p:sp>
      <p:pic>
        <p:nvPicPr>
          <p:cNvPr id="10" name="Image 2" descr="/home/claude/deck/build/img/claude_white.png"/>
          <p:cNvPicPr>
            <a:picLocks noChangeAspect="1"/>
          </p:cNvPicPr>
          <p:nvPr/>
        </p:nvPicPr>
        <p:blipFill>
          <a:blip r:embed="rId5"/>
          <a:stretch>
            <a:fillRect/>
          </a:stretch>
        </p:blipFill>
        <p:spPr>
          <a:xfrm>
            <a:off x="1524488" y="4761464"/>
            <a:ext cx="316017" cy="316017"/>
          </a:xfrm>
          <a:prstGeom prst="rect">
            <a:avLst/>
          </a:prstGeom>
        </p:spPr>
      </p:pic>
      <p:sp>
        <p:nvSpPr>
          <p:cNvPr id="11" name="Shape 6"/>
          <p:cNvSpPr/>
          <p:nvPr/>
        </p:nvSpPr>
        <p:spPr>
          <a:xfrm>
            <a:off x="2139696" y="4590288"/>
            <a:ext cx="658368" cy="658368"/>
          </a:xfrm>
          <a:prstGeom prst="ellipse">
            <a:avLst/>
          </a:prstGeom>
          <a:solidFill>
            <a:srgbClr val="F6F8FA"/>
          </a:solidFill>
          <a:ln w="12700">
            <a:solidFill>
              <a:srgbClr val="D8DEE4"/>
            </a:solidFill>
            <a:prstDash val="solid"/>
          </a:ln>
        </p:spPr>
      </p:sp>
      <p:pic>
        <p:nvPicPr>
          <p:cNvPr id="12" name="Image 3" descr="/home/claude/deck/build/img/dotnet_512BD4.png"/>
          <p:cNvPicPr>
            <a:picLocks noChangeAspect="1"/>
          </p:cNvPicPr>
          <p:nvPr/>
        </p:nvPicPr>
        <p:blipFill>
          <a:blip r:embed="rId6"/>
          <a:stretch>
            <a:fillRect/>
          </a:stretch>
        </p:blipFill>
        <p:spPr>
          <a:xfrm>
            <a:off x="2313432" y="4764024"/>
            <a:ext cx="310896" cy="310896"/>
          </a:xfrm>
          <a:prstGeom prst="rect">
            <a:avLst/>
          </a:prstGeom>
        </p:spPr>
      </p:pic>
      <p:sp>
        <p:nvSpPr>
          <p:cNvPr id="13" name="Shape 7"/>
          <p:cNvSpPr/>
          <p:nvPr/>
        </p:nvSpPr>
        <p:spPr>
          <a:xfrm>
            <a:off x="2926080" y="4590288"/>
            <a:ext cx="658368" cy="658368"/>
          </a:xfrm>
          <a:prstGeom prst="ellipse">
            <a:avLst/>
          </a:prstGeom>
          <a:solidFill>
            <a:srgbClr val="F6F8FA"/>
          </a:solidFill>
          <a:ln w="12700">
            <a:solidFill>
              <a:srgbClr val="D8DEE4"/>
            </a:solidFill>
            <a:prstDash val="solid"/>
          </a:ln>
        </p:spPr>
      </p:sp>
      <p:pic>
        <p:nvPicPr>
          <p:cNvPr id="14" name="Image 4" descr="/home/claude/deck/build/img/angular_DD0031.png"/>
          <p:cNvPicPr>
            <a:picLocks noChangeAspect="1"/>
          </p:cNvPicPr>
          <p:nvPr/>
        </p:nvPicPr>
        <p:blipFill>
          <a:blip r:embed="rId7"/>
          <a:stretch>
            <a:fillRect/>
          </a:stretch>
        </p:blipFill>
        <p:spPr>
          <a:xfrm>
            <a:off x="3099816" y="4764024"/>
            <a:ext cx="310896" cy="310896"/>
          </a:xfrm>
          <a:prstGeom prst="rect">
            <a:avLst/>
          </a:prstGeom>
        </p:spPr>
      </p:pic>
      <p:sp>
        <p:nvSpPr>
          <p:cNvPr id="15" name="Shape 8"/>
          <p:cNvSpPr/>
          <p:nvPr/>
        </p:nvSpPr>
        <p:spPr>
          <a:xfrm>
            <a:off x="3712464" y="4590288"/>
            <a:ext cx="658368" cy="658368"/>
          </a:xfrm>
          <a:prstGeom prst="ellipse">
            <a:avLst/>
          </a:prstGeom>
          <a:solidFill>
            <a:srgbClr val="F6F8FA"/>
          </a:solidFill>
          <a:ln w="12700">
            <a:solidFill>
              <a:srgbClr val="D8DEE4"/>
            </a:solidFill>
            <a:prstDash val="solid"/>
          </a:ln>
        </p:spPr>
      </p:sp>
      <p:pic>
        <p:nvPicPr>
          <p:cNvPr id="16" name="Image 5" descr="/home/claude/deck/build/img/react_087EA4.png"/>
          <p:cNvPicPr>
            <a:picLocks noChangeAspect="1"/>
          </p:cNvPicPr>
          <p:nvPr/>
        </p:nvPicPr>
        <p:blipFill>
          <a:blip r:embed="rId8"/>
          <a:stretch>
            <a:fillRect/>
          </a:stretch>
        </p:blipFill>
        <p:spPr>
          <a:xfrm>
            <a:off x="3886200" y="4764024"/>
            <a:ext cx="310896" cy="310896"/>
          </a:xfrm>
          <a:prstGeom prst="rect">
            <a:avLst/>
          </a:prstGeom>
        </p:spPr>
      </p:pic>
      <p:sp>
        <p:nvSpPr>
          <p:cNvPr id="17" name="Shape 9"/>
          <p:cNvSpPr/>
          <p:nvPr/>
        </p:nvSpPr>
        <p:spPr>
          <a:xfrm>
            <a:off x="566928" y="5532120"/>
            <a:ext cx="1883664" cy="749808"/>
          </a:xfrm>
          <a:prstGeom prst="roundRect">
            <a:avLst>
              <a:gd name="adj" fmla="val 7317"/>
            </a:avLst>
          </a:prstGeom>
          <a:solidFill>
            <a:srgbClr val="F6F8FA"/>
          </a:solidFill>
          <a:ln w="9525">
            <a:solidFill>
              <a:srgbClr val="D8DEE4"/>
            </a:solidFill>
            <a:prstDash val="solid"/>
          </a:ln>
          <a:effectLst>
            <a:outerShdw blurRad="177800" dist="38100" dir="5400000" algn="bl" rotWithShape="0">
              <a:srgbClr val="8C959F">
                <a:alpha val="16000"/>
              </a:srgbClr>
            </a:outerShdw>
          </a:effectLst>
        </p:spPr>
      </p:sp>
      <p:sp>
        <p:nvSpPr>
          <p:cNvPr id="18" name="Text 10"/>
          <p:cNvSpPr/>
          <p:nvPr/>
        </p:nvSpPr>
        <p:spPr>
          <a:xfrm>
            <a:off x="749808" y="5532120"/>
            <a:ext cx="1700784" cy="749808"/>
          </a:xfrm>
          <a:prstGeom prst="rect">
            <a:avLst/>
          </a:prstGeom>
          <a:noFill/>
          <a:ln/>
        </p:spPr>
        <p:txBody>
          <a:bodyPr wrap="square" lIns="0" tIns="0" rIns="0" bIns="0" rtlCol="0" anchor="ctr"/>
          <a:lstStyle/>
          <a:p>
            <a:pPr marL="0" indent="0">
              <a:buNone/>
            </a:pPr>
            <a:r>
              <a:rPr lang="en-US" sz="2100" b="1" dirty="0">
                <a:solidFill>
                  <a:srgbClr val="15181D"/>
                </a:solidFill>
                <a:latin typeface="Calibri" pitchFamily="34" charset="0"/>
                <a:ea typeface="Calibri" pitchFamily="34" charset="-122"/>
                <a:cs typeface="Calibri" pitchFamily="34" charset="-120"/>
              </a:rPr>
              <a:t>6</a:t>
            </a:r>
            <a:r>
              <a:rPr lang="en-US" sz="1150" dirty="0">
                <a:solidFill>
                  <a:srgbClr val="2B3138"/>
                </a:solidFill>
                <a:latin typeface="Calibri" pitchFamily="34" charset="0"/>
                <a:ea typeface="Calibri" pitchFamily="34" charset="-122"/>
                <a:cs typeface="Calibri" pitchFamily="34" charset="-120"/>
              </a:rPr>
              <a:t>  sections</a:t>
            </a:r>
            <a:endParaRPr lang="en-US" sz="2100" dirty="0"/>
          </a:p>
        </p:txBody>
      </p:sp>
      <p:sp>
        <p:nvSpPr>
          <p:cNvPr id="19" name="Shape 11"/>
          <p:cNvSpPr/>
          <p:nvPr/>
        </p:nvSpPr>
        <p:spPr>
          <a:xfrm>
            <a:off x="2651760" y="5532120"/>
            <a:ext cx="1883664" cy="749808"/>
          </a:xfrm>
          <a:prstGeom prst="roundRect">
            <a:avLst>
              <a:gd name="adj" fmla="val 7317"/>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20" name="Text 12"/>
          <p:cNvSpPr/>
          <p:nvPr/>
        </p:nvSpPr>
        <p:spPr>
          <a:xfrm>
            <a:off x="2834640" y="5532120"/>
            <a:ext cx="1700784" cy="749808"/>
          </a:xfrm>
          <a:prstGeom prst="rect">
            <a:avLst/>
          </a:prstGeom>
          <a:noFill/>
          <a:ln/>
        </p:spPr>
        <p:txBody>
          <a:bodyPr wrap="square" lIns="0" tIns="0" rIns="0" bIns="0" rtlCol="0" anchor="ctr"/>
          <a:lstStyle/>
          <a:p>
            <a:pPr marL="0" indent="0">
              <a:buNone/>
            </a:pPr>
            <a:r>
              <a:rPr lang="en-US" sz="2100" b="1" dirty="0">
                <a:solidFill>
                  <a:srgbClr val="C2410C"/>
                </a:solidFill>
                <a:latin typeface="Calibri" pitchFamily="34" charset="0"/>
                <a:ea typeface="Calibri" pitchFamily="34" charset="-122"/>
                <a:cs typeface="Calibri" pitchFamily="34" charset="-120"/>
              </a:rPr>
              <a:t>4</a:t>
            </a:r>
            <a:r>
              <a:rPr lang="en-US" sz="1150" dirty="0">
                <a:solidFill>
                  <a:srgbClr val="2B3138"/>
                </a:solidFill>
                <a:latin typeface="Calibri" pitchFamily="34" charset="0"/>
                <a:ea typeface="Calibri" pitchFamily="34" charset="-122"/>
                <a:cs typeface="Calibri" pitchFamily="34" charset="-120"/>
              </a:rPr>
              <a:t>  ready apps</a:t>
            </a:r>
            <a:endParaRPr lang="en-US" sz="2100" dirty="0"/>
          </a:p>
        </p:txBody>
      </p:sp>
      <p:sp>
        <p:nvSpPr>
          <p:cNvPr id="21" name="Shape 13"/>
          <p:cNvSpPr/>
          <p:nvPr/>
        </p:nvSpPr>
        <p:spPr>
          <a:xfrm>
            <a:off x="4736592" y="5532120"/>
            <a:ext cx="1883664" cy="749808"/>
          </a:xfrm>
          <a:prstGeom prst="roundRect">
            <a:avLst>
              <a:gd name="adj" fmla="val 7317"/>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22" name="Text 14"/>
          <p:cNvSpPr/>
          <p:nvPr/>
        </p:nvSpPr>
        <p:spPr>
          <a:xfrm>
            <a:off x="4919472" y="5532120"/>
            <a:ext cx="1700784" cy="749808"/>
          </a:xfrm>
          <a:prstGeom prst="rect">
            <a:avLst/>
          </a:prstGeom>
          <a:noFill/>
          <a:ln/>
        </p:spPr>
        <p:txBody>
          <a:bodyPr wrap="square" lIns="0" tIns="0" rIns="0" bIns="0" rtlCol="0" anchor="ctr"/>
          <a:lstStyle/>
          <a:p>
            <a:pPr marL="0" indent="0">
              <a:buNone/>
            </a:pPr>
            <a:r>
              <a:rPr lang="en-US" sz="2100" b="1" dirty="0">
                <a:solidFill>
                  <a:srgbClr val="0969DA"/>
                </a:solidFill>
                <a:latin typeface="Calibri" pitchFamily="34" charset="0"/>
                <a:ea typeface="Calibri" pitchFamily="34" charset="-122"/>
                <a:cs typeface="Calibri" pitchFamily="34" charset="-120"/>
              </a:rPr>
              <a:t>40</a:t>
            </a:r>
            <a:r>
              <a:rPr lang="en-US" sz="1150" dirty="0">
                <a:solidFill>
                  <a:srgbClr val="2B3138"/>
                </a:solidFill>
                <a:latin typeface="Calibri" pitchFamily="34" charset="0"/>
                <a:ea typeface="Calibri" pitchFamily="34" charset="-122"/>
                <a:cs typeface="Calibri" pitchFamily="34" charset="-120"/>
              </a:rPr>
              <a:t>  cited sources</a:t>
            </a:r>
            <a:endParaRPr lang="en-US" sz="2100"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anim calcmode="lin" valueType="num">
                                      <p:cBhvr additive="base">
                                        <p:cTn id="8" dur="420" fill="hold"/>
                                        <p:tgtEl>
                                          <p:spTgt spid="5"/>
                                        </p:tgtEl>
                                        <p:attrNameLst>
                                          <p:attrName>ppt_y</p:attrName>
                                        </p:attrNameLst>
                                      </p:cBhvr>
                                      <p:tavLst>
                                        <p:tav tm="0">
                                          <p:val>
                                            <p:strVal val="#ppt_y+0.035"/>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20"/>
                                        <p:tgtEl>
                                          <p:spTgt spid="6"/>
                                        </p:tgtEl>
                                      </p:cBhvr>
                                    </p:animEffect>
                                    <p:anim calcmode="lin" valueType="num">
                                      <p:cBhvr additive="base">
                                        <p:cTn id="14" dur="420" fill="hold"/>
                                        <p:tgtEl>
                                          <p:spTgt spid="6"/>
                                        </p:tgtEl>
                                        <p:attrNameLst>
                                          <p:attrName>ppt_y</p:attrName>
                                        </p:attrNameLst>
                                      </p:cBhvr>
                                      <p:tavLst>
                                        <p:tav tm="0">
                                          <p:val>
                                            <p:strVal val="#ppt_y+0.03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20"/>
                                        <p:tgtEl>
                                          <p:spTgt spid="7"/>
                                        </p:tgtEl>
                                      </p:cBhvr>
                                    </p:animEffect>
                                    <p:anim calcmode="lin" valueType="num">
                                      <p:cBhvr additive="base">
                                        <p:cTn id="20" dur="420" fill="hold"/>
                                        <p:tgtEl>
                                          <p:spTgt spid="7"/>
                                        </p:tgtEl>
                                        <p:attrNameLst>
                                          <p:attrName>ppt_y</p:attrName>
                                        </p:attrNameLst>
                                      </p:cBhvr>
                                      <p:tavLst>
                                        <p:tav tm="0">
                                          <p:val>
                                            <p:strVal val="#ppt_y+0.035"/>
                                          </p:val>
                                        </p:tav>
                                        <p:tav tm="100000">
                                          <p:val>
                                            <p:strVal val="#ppt_y"/>
                                          </p:val>
                                        </p:tav>
                                      </p:tavLst>
                                    </p:anim>
                                    <p:set>
                                      <p:cBhvr>
                                        <p:cTn id="21" dur="1" fill="hold">
                                          <p:stCondLst>
                                            <p:cond delay="0"/>
                                          </p:stCondLst>
                                        </p:cTn>
                                        <p:tgtEl>
                                          <p:spTgt spid="9"/>
                                        </p:tgtEl>
                                        <p:attrNameLst>
                                          <p:attrName>style.visibility</p:attrName>
                                        </p:attrNameLst>
                                      </p:cBhvr>
                                      <p:to>
                                        <p:strVal val="visible"/>
                                      </p:to>
                                    </p:set>
                                    <p:animEffect transition="in" filter="fade">
                                      <p:cBhvr>
                                        <p:cTn id="22" dur="420"/>
                                        <p:tgtEl>
                                          <p:spTgt spid="9"/>
                                        </p:tgtEl>
                                      </p:cBhvr>
                                    </p:animEffect>
                                    <p:anim calcmode="lin" valueType="num">
                                      <p:cBhvr additive="base">
                                        <p:cTn id="23" dur="420" fill="hold"/>
                                        <p:tgtEl>
                                          <p:spTgt spid="9"/>
                                        </p:tgtEl>
                                        <p:attrNameLst>
                                          <p:attrName>ppt_y</p:attrName>
                                        </p:attrNameLst>
                                      </p:cBhvr>
                                      <p:tavLst>
                                        <p:tav tm="0">
                                          <p:val>
                                            <p:strVal val="#ppt_y+0.035"/>
                                          </p:val>
                                        </p:tav>
                                        <p:tav tm="100000">
                                          <p:val>
                                            <p:strVal val="#ppt_y"/>
                                          </p:val>
                                        </p:tav>
                                      </p:tavLst>
                                    </p:anim>
                                    <p:set>
                                      <p:cBhvr>
                                        <p:cTn id="24" dur="1" fill="hold">
                                          <p:stCondLst>
                                            <p:cond delay="0"/>
                                          </p:stCondLst>
                                        </p:cTn>
                                        <p:tgtEl>
                                          <p:spTgt spid="11"/>
                                        </p:tgtEl>
                                        <p:attrNameLst>
                                          <p:attrName>style.visibility</p:attrName>
                                        </p:attrNameLst>
                                      </p:cBhvr>
                                      <p:to>
                                        <p:strVal val="visible"/>
                                      </p:to>
                                    </p:set>
                                    <p:animEffect transition="in" filter="fade">
                                      <p:cBhvr>
                                        <p:cTn id="25" dur="420"/>
                                        <p:tgtEl>
                                          <p:spTgt spid="11"/>
                                        </p:tgtEl>
                                      </p:cBhvr>
                                    </p:animEffect>
                                    <p:anim calcmode="lin" valueType="num">
                                      <p:cBhvr additive="base">
                                        <p:cTn id="26" dur="420" fill="hold"/>
                                        <p:tgtEl>
                                          <p:spTgt spid="11"/>
                                        </p:tgtEl>
                                        <p:attrNameLst>
                                          <p:attrName>ppt_y</p:attrName>
                                        </p:attrNameLst>
                                      </p:cBhvr>
                                      <p:tavLst>
                                        <p:tav tm="0">
                                          <p:val>
                                            <p:strVal val="#ppt_y+0.035"/>
                                          </p:val>
                                        </p:tav>
                                        <p:tav tm="100000">
                                          <p:val>
                                            <p:strVal val="#ppt_y"/>
                                          </p:val>
                                        </p:tav>
                                      </p:tavLst>
                                    </p:anim>
                                    <p:set>
                                      <p:cBhvr>
                                        <p:cTn id="27" dur="1" fill="hold">
                                          <p:stCondLst>
                                            <p:cond delay="0"/>
                                          </p:stCondLst>
                                        </p:cTn>
                                        <p:tgtEl>
                                          <p:spTgt spid="13"/>
                                        </p:tgtEl>
                                        <p:attrNameLst>
                                          <p:attrName>style.visibility</p:attrName>
                                        </p:attrNameLst>
                                      </p:cBhvr>
                                      <p:to>
                                        <p:strVal val="visible"/>
                                      </p:to>
                                    </p:set>
                                    <p:animEffect transition="in" filter="fade">
                                      <p:cBhvr>
                                        <p:cTn id="28" dur="420"/>
                                        <p:tgtEl>
                                          <p:spTgt spid="13"/>
                                        </p:tgtEl>
                                      </p:cBhvr>
                                    </p:animEffect>
                                    <p:anim calcmode="lin" valueType="num">
                                      <p:cBhvr additive="base">
                                        <p:cTn id="29" dur="420" fill="hold"/>
                                        <p:tgtEl>
                                          <p:spTgt spid="13"/>
                                        </p:tgtEl>
                                        <p:attrNameLst>
                                          <p:attrName>ppt_y</p:attrName>
                                        </p:attrNameLst>
                                      </p:cBhvr>
                                      <p:tavLst>
                                        <p:tav tm="0">
                                          <p:val>
                                            <p:strVal val="#ppt_y+0.035"/>
                                          </p:val>
                                        </p:tav>
                                        <p:tav tm="100000">
                                          <p:val>
                                            <p:strVal val="#ppt_y"/>
                                          </p:val>
                                        </p:tav>
                                      </p:tavLst>
                                    </p:anim>
                                    <p:set>
                                      <p:cBhvr>
                                        <p:cTn id="30" dur="1" fill="hold">
                                          <p:stCondLst>
                                            <p:cond delay="0"/>
                                          </p:stCondLst>
                                        </p:cTn>
                                        <p:tgtEl>
                                          <p:spTgt spid="15"/>
                                        </p:tgtEl>
                                        <p:attrNameLst>
                                          <p:attrName>style.visibility</p:attrName>
                                        </p:attrNameLst>
                                      </p:cBhvr>
                                      <p:to>
                                        <p:strVal val="visible"/>
                                      </p:to>
                                    </p:set>
                                    <p:animEffect transition="in" filter="fade">
                                      <p:cBhvr>
                                        <p:cTn id="31" dur="420"/>
                                        <p:tgtEl>
                                          <p:spTgt spid="15"/>
                                        </p:tgtEl>
                                      </p:cBhvr>
                                    </p:animEffect>
                                    <p:anim calcmode="lin" valueType="num">
                                      <p:cBhvr additive="base">
                                        <p:cTn id="32" dur="420" fill="hold"/>
                                        <p:tgtEl>
                                          <p:spTgt spid="15"/>
                                        </p:tgtEl>
                                        <p:attrNameLst>
                                          <p:attrName>ppt_y</p:attrName>
                                        </p:attrNameLst>
                                      </p:cBhvr>
                                      <p:tavLst>
                                        <p:tav tm="0">
                                          <p:val>
                                            <p:strVal val="#ppt_y+0.035"/>
                                          </p:val>
                                        </p:tav>
                                        <p:tav tm="100000">
                                          <p:val>
                                            <p:strVal val="#ppt_y"/>
                                          </p:val>
                                        </p:tav>
                                      </p:tavLst>
                                    </p:anim>
                                    <p:set>
                                      <p:cBhvr>
                                        <p:cTn id="33" dur="1" fill="hold">
                                          <p:stCondLst>
                                            <p:cond delay="0"/>
                                          </p:stCondLst>
                                        </p:cTn>
                                        <p:tgtEl>
                                          <p:spTgt spid="8"/>
                                        </p:tgtEl>
                                        <p:attrNameLst>
                                          <p:attrName>style.visibility</p:attrName>
                                        </p:attrNameLst>
                                      </p:cBhvr>
                                      <p:to>
                                        <p:strVal val="visible"/>
                                      </p:to>
                                    </p:set>
                                    <p:animEffect transition="in" filter="fade">
                                      <p:cBhvr>
                                        <p:cTn id="34" dur="420"/>
                                        <p:tgtEl>
                                          <p:spTgt spid="8"/>
                                        </p:tgtEl>
                                      </p:cBhvr>
                                    </p:animEffect>
                                    <p:anim calcmode="lin" valueType="num">
                                      <p:cBhvr additive="base">
                                        <p:cTn id="35" dur="420" fill="hold"/>
                                        <p:tgtEl>
                                          <p:spTgt spid="8"/>
                                        </p:tgtEl>
                                        <p:attrNameLst>
                                          <p:attrName>ppt_y</p:attrName>
                                        </p:attrNameLst>
                                      </p:cBhvr>
                                      <p:tavLst>
                                        <p:tav tm="0">
                                          <p:val>
                                            <p:strVal val="#ppt_y+0.035"/>
                                          </p:val>
                                        </p:tav>
                                        <p:tav tm="100000">
                                          <p:val>
                                            <p:strVal val="#ppt_y"/>
                                          </p:val>
                                        </p:tav>
                                      </p:tavLst>
                                    </p:anim>
                                    <p:set>
                                      <p:cBhvr>
                                        <p:cTn id="36" dur="1" fill="hold">
                                          <p:stCondLst>
                                            <p:cond delay="0"/>
                                          </p:stCondLst>
                                        </p:cTn>
                                        <p:tgtEl>
                                          <p:spTgt spid="10"/>
                                        </p:tgtEl>
                                        <p:attrNameLst>
                                          <p:attrName>style.visibility</p:attrName>
                                        </p:attrNameLst>
                                      </p:cBhvr>
                                      <p:to>
                                        <p:strVal val="visible"/>
                                      </p:to>
                                    </p:set>
                                    <p:animEffect transition="in" filter="fade">
                                      <p:cBhvr>
                                        <p:cTn id="37" dur="420"/>
                                        <p:tgtEl>
                                          <p:spTgt spid="10"/>
                                        </p:tgtEl>
                                      </p:cBhvr>
                                    </p:animEffect>
                                    <p:anim calcmode="lin" valueType="num">
                                      <p:cBhvr additive="base">
                                        <p:cTn id="38" dur="420" fill="hold"/>
                                        <p:tgtEl>
                                          <p:spTgt spid="10"/>
                                        </p:tgtEl>
                                        <p:attrNameLst>
                                          <p:attrName>ppt_y</p:attrName>
                                        </p:attrNameLst>
                                      </p:cBhvr>
                                      <p:tavLst>
                                        <p:tav tm="0">
                                          <p:val>
                                            <p:strVal val="#ppt_y+0.035"/>
                                          </p:val>
                                        </p:tav>
                                        <p:tav tm="100000">
                                          <p:val>
                                            <p:strVal val="#ppt_y"/>
                                          </p:val>
                                        </p:tav>
                                      </p:tavLst>
                                    </p:anim>
                                    <p:set>
                                      <p:cBhvr>
                                        <p:cTn id="39" dur="1" fill="hold">
                                          <p:stCondLst>
                                            <p:cond delay="0"/>
                                          </p:stCondLst>
                                        </p:cTn>
                                        <p:tgtEl>
                                          <p:spTgt spid="12"/>
                                        </p:tgtEl>
                                        <p:attrNameLst>
                                          <p:attrName>style.visibility</p:attrName>
                                        </p:attrNameLst>
                                      </p:cBhvr>
                                      <p:to>
                                        <p:strVal val="visible"/>
                                      </p:to>
                                    </p:set>
                                    <p:animEffect transition="in" filter="fade">
                                      <p:cBhvr>
                                        <p:cTn id="40" dur="420"/>
                                        <p:tgtEl>
                                          <p:spTgt spid="12"/>
                                        </p:tgtEl>
                                      </p:cBhvr>
                                    </p:animEffect>
                                    <p:anim calcmode="lin" valueType="num">
                                      <p:cBhvr additive="base">
                                        <p:cTn id="41" dur="420" fill="hold"/>
                                        <p:tgtEl>
                                          <p:spTgt spid="12"/>
                                        </p:tgtEl>
                                        <p:attrNameLst>
                                          <p:attrName>ppt_y</p:attrName>
                                        </p:attrNameLst>
                                      </p:cBhvr>
                                      <p:tavLst>
                                        <p:tav tm="0">
                                          <p:val>
                                            <p:strVal val="#ppt_y+0.035"/>
                                          </p:val>
                                        </p:tav>
                                        <p:tav tm="100000">
                                          <p:val>
                                            <p:strVal val="#ppt_y"/>
                                          </p:val>
                                        </p:tav>
                                      </p:tavLst>
                                    </p:anim>
                                    <p:set>
                                      <p:cBhvr>
                                        <p:cTn id="42" dur="1" fill="hold">
                                          <p:stCondLst>
                                            <p:cond delay="0"/>
                                          </p:stCondLst>
                                        </p:cTn>
                                        <p:tgtEl>
                                          <p:spTgt spid="14"/>
                                        </p:tgtEl>
                                        <p:attrNameLst>
                                          <p:attrName>style.visibility</p:attrName>
                                        </p:attrNameLst>
                                      </p:cBhvr>
                                      <p:to>
                                        <p:strVal val="visible"/>
                                      </p:to>
                                    </p:set>
                                    <p:animEffect transition="in" filter="fade">
                                      <p:cBhvr>
                                        <p:cTn id="43" dur="420"/>
                                        <p:tgtEl>
                                          <p:spTgt spid="14"/>
                                        </p:tgtEl>
                                      </p:cBhvr>
                                    </p:animEffect>
                                    <p:anim calcmode="lin" valueType="num">
                                      <p:cBhvr additive="base">
                                        <p:cTn id="44" dur="420" fill="hold"/>
                                        <p:tgtEl>
                                          <p:spTgt spid="14"/>
                                        </p:tgtEl>
                                        <p:attrNameLst>
                                          <p:attrName>ppt_y</p:attrName>
                                        </p:attrNameLst>
                                      </p:cBhvr>
                                      <p:tavLst>
                                        <p:tav tm="0">
                                          <p:val>
                                            <p:strVal val="#ppt_y+0.035"/>
                                          </p:val>
                                        </p:tav>
                                        <p:tav tm="100000">
                                          <p:val>
                                            <p:strVal val="#ppt_y"/>
                                          </p:val>
                                        </p:tav>
                                      </p:tavLst>
                                    </p:anim>
                                    <p:set>
                                      <p:cBhvr>
                                        <p:cTn id="45" dur="1" fill="hold">
                                          <p:stCondLst>
                                            <p:cond delay="0"/>
                                          </p:stCondLst>
                                        </p:cTn>
                                        <p:tgtEl>
                                          <p:spTgt spid="16"/>
                                        </p:tgtEl>
                                        <p:attrNameLst>
                                          <p:attrName>style.visibility</p:attrName>
                                        </p:attrNameLst>
                                      </p:cBhvr>
                                      <p:to>
                                        <p:strVal val="visible"/>
                                      </p:to>
                                    </p:set>
                                    <p:animEffect transition="in" filter="fade">
                                      <p:cBhvr>
                                        <p:cTn id="46" dur="420"/>
                                        <p:tgtEl>
                                          <p:spTgt spid="16"/>
                                        </p:tgtEl>
                                      </p:cBhvr>
                                    </p:animEffect>
                                    <p:anim calcmode="lin" valueType="num">
                                      <p:cBhvr additive="base">
                                        <p:cTn id="47" dur="420" fill="hold"/>
                                        <p:tgtEl>
                                          <p:spTgt spid="16"/>
                                        </p:tgtEl>
                                        <p:attrNameLst>
                                          <p:attrName>ppt_y</p:attrName>
                                        </p:attrNameLst>
                                      </p:cBhvr>
                                      <p:tavLst>
                                        <p:tav tm="0">
                                          <p:val>
                                            <p:strVal val="#ppt_y+0.035"/>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20"/>
                                        <p:tgtEl>
                                          <p:spTgt spid="17"/>
                                        </p:tgtEl>
                                      </p:cBhvr>
                                    </p:animEffect>
                                    <p:anim calcmode="lin" valueType="num">
                                      <p:cBhvr additive="base">
                                        <p:cTn id="53" dur="420" fill="hold"/>
                                        <p:tgtEl>
                                          <p:spTgt spid="17"/>
                                        </p:tgtEl>
                                        <p:attrNameLst>
                                          <p:attrName>ppt_y</p:attrName>
                                        </p:attrNameLst>
                                      </p:cBhvr>
                                      <p:tavLst>
                                        <p:tav tm="0">
                                          <p:val>
                                            <p:strVal val="#ppt_y+0.035"/>
                                          </p:val>
                                        </p:tav>
                                        <p:tav tm="100000">
                                          <p:val>
                                            <p:strVal val="#ppt_y"/>
                                          </p:val>
                                        </p:tav>
                                      </p:tavLst>
                                    </p:anim>
                                    <p:set>
                                      <p:cBhvr>
                                        <p:cTn id="54" dur="1" fill="hold">
                                          <p:stCondLst>
                                            <p:cond delay="0"/>
                                          </p:stCondLst>
                                        </p:cTn>
                                        <p:tgtEl>
                                          <p:spTgt spid="18"/>
                                        </p:tgtEl>
                                        <p:attrNameLst>
                                          <p:attrName>style.visibility</p:attrName>
                                        </p:attrNameLst>
                                      </p:cBhvr>
                                      <p:to>
                                        <p:strVal val="visible"/>
                                      </p:to>
                                    </p:set>
                                    <p:animEffect transition="in" filter="fade">
                                      <p:cBhvr>
                                        <p:cTn id="55" dur="420"/>
                                        <p:tgtEl>
                                          <p:spTgt spid="18"/>
                                        </p:tgtEl>
                                      </p:cBhvr>
                                    </p:animEffect>
                                    <p:anim calcmode="lin" valueType="num">
                                      <p:cBhvr additive="base">
                                        <p:cTn id="56" dur="420" fill="hold"/>
                                        <p:tgtEl>
                                          <p:spTgt spid="18"/>
                                        </p:tgtEl>
                                        <p:attrNameLst>
                                          <p:attrName>ppt_y</p:attrName>
                                        </p:attrNameLst>
                                      </p:cBhvr>
                                      <p:tavLst>
                                        <p:tav tm="0">
                                          <p:val>
                                            <p:strVal val="#ppt_y+0.035"/>
                                          </p:val>
                                        </p:tav>
                                        <p:tav tm="100000">
                                          <p:val>
                                            <p:strVal val="#ppt_y"/>
                                          </p:val>
                                        </p:tav>
                                      </p:tavLst>
                                    </p:anim>
                                    <p:set>
                                      <p:cBhvr>
                                        <p:cTn id="57" dur="1" fill="hold">
                                          <p:stCondLst>
                                            <p:cond delay="0"/>
                                          </p:stCondLst>
                                        </p:cTn>
                                        <p:tgtEl>
                                          <p:spTgt spid="19"/>
                                        </p:tgtEl>
                                        <p:attrNameLst>
                                          <p:attrName>style.visibility</p:attrName>
                                        </p:attrNameLst>
                                      </p:cBhvr>
                                      <p:to>
                                        <p:strVal val="visible"/>
                                      </p:to>
                                    </p:set>
                                    <p:animEffect transition="in" filter="fade">
                                      <p:cBhvr>
                                        <p:cTn id="58" dur="420"/>
                                        <p:tgtEl>
                                          <p:spTgt spid="19"/>
                                        </p:tgtEl>
                                      </p:cBhvr>
                                    </p:animEffect>
                                    <p:anim calcmode="lin" valueType="num">
                                      <p:cBhvr additive="base">
                                        <p:cTn id="59" dur="420" fill="hold"/>
                                        <p:tgtEl>
                                          <p:spTgt spid="19"/>
                                        </p:tgtEl>
                                        <p:attrNameLst>
                                          <p:attrName>ppt_y</p:attrName>
                                        </p:attrNameLst>
                                      </p:cBhvr>
                                      <p:tavLst>
                                        <p:tav tm="0">
                                          <p:val>
                                            <p:strVal val="#ppt_y+0.035"/>
                                          </p:val>
                                        </p:tav>
                                        <p:tav tm="100000">
                                          <p:val>
                                            <p:strVal val="#ppt_y"/>
                                          </p:val>
                                        </p:tav>
                                      </p:tavLst>
                                    </p:anim>
                                    <p:set>
                                      <p:cBhvr>
                                        <p:cTn id="60" dur="1" fill="hold">
                                          <p:stCondLst>
                                            <p:cond delay="0"/>
                                          </p:stCondLst>
                                        </p:cTn>
                                        <p:tgtEl>
                                          <p:spTgt spid="20"/>
                                        </p:tgtEl>
                                        <p:attrNameLst>
                                          <p:attrName>style.visibility</p:attrName>
                                        </p:attrNameLst>
                                      </p:cBhvr>
                                      <p:to>
                                        <p:strVal val="visible"/>
                                      </p:to>
                                    </p:set>
                                    <p:animEffect transition="in" filter="fade">
                                      <p:cBhvr>
                                        <p:cTn id="61" dur="420"/>
                                        <p:tgtEl>
                                          <p:spTgt spid="20"/>
                                        </p:tgtEl>
                                      </p:cBhvr>
                                    </p:animEffect>
                                    <p:anim calcmode="lin" valueType="num">
                                      <p:cBhvr additive="base">
                                        <p:cTn id="62" dur="420" fill="hold"/>
                                        <p:tgtEl>
                                          <p:spTgt spid="20"/>
                                        </p:tgtEl>
                                        <p:attrNameLst>
                                          <p:attrName>ppt_y</p:attrName>
                                        </p:attrNameLst>
                                      </p:cBhvr>
                                      <p:tavLst>
                                        <p:tav tm="0">
                                          <p:val>
                                            <p:strVal val="#ppt_y+0.035"/>
                                          </p:val>
                                        </p:tav>
                                        <p:tav tm="100000">
                                          <p:val>
                                            <p:strVal val="#ppt_y"/>
                                          </p:val>
                                        </p:tav>
                                      </p:tavLst>
                                    </p:anim>
                                    <p:set>
                                      <p:cBhvr>
                                        <p:cTn id="63" dur="1" fill="hold">
                                          <p:stCondLst>
                                            <p:cond delay="0"/>
                                          </p:stCondLst>
                                        </p:cTn>
                                        <p:tgtEl>
                                          <p:spTgt spid="21"/>
                                        </p:tgtEl>
                                        <p:attrNameLst>
                                          <p:attrName>style.visibility</p:attrName>
                                        </p:attrNameLst>
                                      </p:cBhvr>
                                      <p:to>
                                        <p:strVal val="visible"/>
                                      </p:to>
                                    </p:set>
                                    <p:animEffect transition="in" filter="fade">
                                      <p:cBhvr>
                                        <p:cTn id="64" dur="420"/>
                                        <p:tgtEl>
                                          <p:spTgt spid="21"/>
                                        </p:tgtEl>
                                      </p:cBhvr>
                                    </p:animEffect>
                                    <p:anim calcmode="lin" valueType="num">
                                      <p:cBhvr additive="base">
                                        <p:cTn id="65" dur="420" fill="hold"/>
                                        <p:tgtEl>
                                          <p:spTgt spid="21"/>
                                        </p:tgtEl>
                                        <p:attrNameLst>
                                          <p:attrName>ppt_y</p:attrName>
                                        </p:attrNameLst>
                                      </p:cBhvr>
                                      <p:tavLst>
                                        <p:tav tm="0">
                                          <p:val>
                                            <p:strVal val="#ppt_y+0.035"/>
                                          </p:val>
                                        </p:tav>
                                        <p:tav tm="100000">
                                          <p:val>
                                            <p:strVal val="#ppt_y"/>
                                          </p:val>
                                        </p:tav>
                                      </p:tavLst>
                                    </p:anim>
                                    <p:set>
                                      <p:cBhvr>
                                        <p:cTn id="66" dur="1" fill="hold">
                                          <p:stCondLst>
                                            <p:cond delay="0"/>
                                          </p:stCondLst>
                                        </p:cTn>
                                        <p:tgtEl>
                                          <p:spTgt spid="22"/>
                                        </p:tgtEl>
                                        <p:attrNameLst>
                                          <p:attrName>style.visibility</p:attrName>
                                        </p:attrNameLst>
                                      </p:cBhvr>
                                      <p:to>
                                        <p:strVal val="visible"/>
                                      </p:to>
                                    </p:set>
                                    <p:animEffect transition="in" filter="fade">
                                      <p:cBhvr>
                                        <p:cTn id="67" dur="420"/>
                                        <p:tgtEl>
                                          <p:spTgt spid="22"/>
                                        </p:tgtEl>
                                      </p:cBhvr>
                                    </p:animEffect>
                                    <p:anim calcmode="lin" valueType="num">
                                      <p:cBhvr additive="base">
                                        <p:cTn id="68" dur="420" fill="hold"/>
                                        <p:tgtEl>
                                          <p:spTgt spid="22"/>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10" grpId="0"/>
      <p:bldP spid="11" grpId="0"/>
      <p:bldP spid="12" grpId="0"/>
      <p:bldP spid="13" grpId="0"/>
      <p:bldP spid="14" grpId="0"/>
      <p:bldP spid="15" grpId="0"/>
      <p:bldP spid="16" grpId="0"/>
      <p:bldP spid="17" grpId="0" animBg="1"/>
      <p:bldP spid="18" grpId="0"/>
      <p:bldP spid="19" grpId="0"/>
      <p:bldP spid="20" grpId="0"/>
      <p:bldP spid="21" grpId="0"/>
      <p:bldP spid="22"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00</a:t>
            </a:r>
            <a:r>
              <a:rPr lang="en-US" sz="1150" b="1" kern="0" spc="160" dirty="0">
                <a:solidFill>
                  <a:srgbClr val="6E7781"/>
                </a:solidFill>
                <a:latin typeface="Calibri" pitchFamily="34" charset="0"/>
                <a:ea typeface="Calibri" pitchFamily="34" charset="-122"/>
                <a:cs typeface="Calibri" pitchFamily="34" charset="-120"/>
              </a:rPr>
              <a:t>   HOW TO READ THIS DECK</a:t>
            </a:r>
            <a:endParaRPr lang="en-US" sz="1150" dirty="0"/>
          </a:p>
        </p:txBody>
      </p:sp>
      <p:sp>
        <p:nvSpPr>
          <p:cNvPr id="3" name="Text 1"/>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Six sections, two readers</a:t>
            </a:r>
            <a:endParaRPr lang="en-US" sz="3200" dirty="0"/>
          </a:p>
        </p:txBody>
      </p:sp>
      <p:sp>
        <p:nvSpPr>
          <p:cNvPr id="4" name="Text 2"/>
          <p:cNvSpPr/>
          <p:nvPr/>
        </p:nvSpPr>
        <p:spPr>
          <a:xfrm>
            <a:off x="566928" y="1389888"/>
            <a:ext cx="11055096" cy="658368"/>
          </a:xfrm>
          <a:prstGeom prst="rect">
            <a:avLst/>
          </a:prstGeom>
          <a:noFill/>
          <a:ln/>
        </p:spPr>
        <p:txBody>
          <a:bodyPr wrap="square" lIns="0" tIns="0" rIns="0" bIns="0" rtlCol="0" anchor="t"/>
          <a:lstStyle/>
          <a:p>
            <a:pPr marL="0" indent="0">
              <a:lnSpc>
                <a:spcPts val="1700"/>
              </a:lnSpc>
              <a:buNone/>
            </a:pPr>
            <a:r>
              <a:rPr lang="en-US" sz="1250" b="1" dirty="0">
                <a:solidFill>
                  <a:srgbClr val="C2410C"/>
                </a:solidFill>
                <a:latin typeface="Calibri" pitchFamily="34" charset="0"/>
                <a:ea typeface="Calibri" pitchFamily="34" charset="-122"/>
                <a:cs typeface="Calibri" pitchFamily="34" charset="-120"/>
              </a:rPr>
              <a:t>If you remember one sentence:  </a:t>
            </a:r>
            <a:r>
              <a:rPr lang="en-US" sz="1250" dirty="0">
                <a:solidFill>
                  <a:srgbClr val="2B3138"/>
                </a:solidFill>
                <a:latin typeface="Calibri" pitchFamily="34" charset="0"/>
                <a:ea typeface="Calibri" pitchFamily="34" charset="-122"/>
                <a:cs typeface="Calibri" pitchFamily="34" charset="-120"/>
              </a:rPr>
              <a:t>adopt both tools in lanes, cap the spend before day one, and judge them on whether a machine-checkable stop condition passed — not on how the demo felt.</a:t>
            </a:r>
            <a:endParaRPr lang="en-US" sz="1250" dirty="0"/>
          </a:p>
        </p:txBody>
      </p:sp>
      <p:sp>
        <p:nvSpPr>
          <p:cNvPr id="5" name="Shape 3"/>
          <p:cNvSpPr/>
          <p:nvPr/>
        </p:nvSpPr>
        <p:spPr>
          <a:xfrm>
            <a:off x="566928" y="2212848"/>
            <a:ext cx="6455664" cy="3401568"/>
          </a:xfrm>
          <a:prstGeom prst="roundRect">
            <a:avLst>
              <a:gd name="adj" fmla="val 1613"/>
            </a:avLst>
          </a:prstGeom>
          <a:solidFill>
            <a:srgbClr val="F6F8FA"/>
          </a:solidFill>
          <a:ln w="9525">
            <a:solidFill>
              <a:srgbClr val="D8DEE4"/>
            </a:solidFill>
            <a:prstDash val="solid"/>
          </a:ln>
          <a:effectLst>
            <a:outerShdw blurRad="177800" dist="38100" dir="5400000" algn="bl" rotWithShape="0">
              <a:srgbClr val="8C959F">
                <a:alpha val="16000"/>
              </a:srgbClr>
            </a:outerShdw>
          </a:effectLst>
        </p:spPr>
      </p:sp>
      <p:sp>
        <p:nvSpPr>
          <p:cNvPr id="6" name="Text 4"/>
          <p:cNvSpPr/>
          <p:nvPr/>
        </p:nvSpPr>
        <p:spPr>
          <a:xfrm>
            <a:off x="841248" y="2432304"/>
            <a:ext cx="5907024" cy="201168"/>
          </a:xfrm>
          <a:prstGeom prst="rect">
            <a:avLst/>
          </a:prstGeom>
          <a:noFill/>
          <a:ln/>
        </p:spPr>
        <p:txBody>
          <a:bodyPr wrap="square" lIns="0" tIns="0" rIns="0" bIns="0" rtlCol="0" anchor="t"/>
          <a:lstStyle/>
          <a:p>
            <a:pPr marL="0" indent="0" algn="l">
              <a:buNone/>
            </a:pPr>
            <a:r>
              <a:rPr lang="en-US" sz="900" b="1" kern="0" spc="140" dirty="0">
                <a:solidFill>
                  <a:srgbClr val="6E7781"/>
                </a:solidFill>
                <a:latin typeface="Calibri" pitchFamily="34" charset="0"/>
                <a:ea typeface="Calibri" pitchFamily="34" charset="-122"/>
                <a:cs typeface="Calibri" pitchFamily="34" charset="-120"/>
              </a:rPr>
              <a:t>THE MAP</a:t>
            </a:r>
            <a:endParaRPr lang="en-US" sz="900" dirty="0"/>
          </a:p>
        </p:txBody>
      </p:sp>
      <p:sp>
        <p:nvSpPr>
          <p:cNvPr id="7" name="Text 5"/>
          <p:cNvSpPr/>
          <p:nvPr/>
        </p:nvSpPr>
        <p:spPr>
          <a:xfrm>
            <a:off x="841248" y="2852928"/>
            <a:ext cx="5907024" cy="2560320"/>
          </a:xfrm>
          <a:prstGeom prst="rect">
            <a:avLst/>
          </a:prstGeom>
          <a:noFill/>
          <a:ln/>
        </p:spPr>
        <p:txBody>
          <a:bodyPr wrap="square" lIns="0" tIns="0" rIns="0" bIns="0" rtlCol="0" anchor="t"/>
          <a:lstStyle/>
          <a:p>
            <a:pPr marL="0" indent="0">
              <a:lnSpc>
                <a:spcPts val="3400"/>
              </a:lnSpc>
              <a:buNone/>
            </a:pPr>
            <a:r>
              <a:rPr lang="en-US" sz="1250" b="1" dirty="0">
                <a:solidFill>
                  <a:srgbClr val="C2410C"/>
                </a:solidFill>
                <a:latin typeface="Calibri" pitchFamily="34" charset="0"/>
                <a:ea typeface="Calibri" pitchFamily="34" charset="-122"/>
                <a:cs typeface="Calibri" pitchFamily="34" charset="-120"/>
              </a:rPr>
              <a:t>01   </a:t>
            </a:r>
            <a:r>
              <a:rPr lang="en-US" sz="1300" b="1" dirty="0">
                <a:solidFill>
                  <a:srgbClr val="15181D"/>
                </a:solidFill>
                <a:latin typeface="Calibri" pitchFamily="34" charset="0"/>
                <a:ea typeface="Calibri" pitchFamily="34" charset="-122"/>
                <a:cs typeface="Calibri" pitchFamily="34" charset="-120"/>
              </a:rPr>
              <a:t>Foundation</a:t>
            </a:r>
            <a:r>
              <a:rPr lang="en-US" sz="1150" dirty="0">
                <a:solidFill>
                  <a:srgbClr val="2B3138"/>
                </a:solidFill>
                <a:latin typeface="Calibri" pitchFamily="34" charset="0"/>
                <a:ea typeface="Calibri" pitchFamily="34" charset="-122"/>
                <a:cs typeface="Calibri" pitchFamily="34" charset="-120"/>
              </a:rPr>
              <a:t>   what an agent is, three ways to run one</a:t>
            </a:r>
            <a:endParaRPr lang="en-US" sz="1250" dirty="0"/>
          </a:p>
          <a:p>
            <a:pPr marL="0" indent="0">
              <a:lnSpc>
                <a:spcPts val="3400"/>
              </a:lnSpc>
              <a:buNone/>
            </a:pPr>
            <a:r>
              <a:rPr lang="en-US" sz="1250" b="1" dirty="0">
                <a:solidFill>
                  <a:srgbClr val="C2410C"/>
                </a:solidFill>
                <a:latin typeface="Calibri" pitchFamily="34" charset="0"/>
                <a:ea typeface="Calibri" pitchFamily="34" charset="-122"/>
                <a:cs typeface="Calibri" pitchFamily="34" charset="-120"/>
              </a:rPr>
              <a:t>02   </a:t>
            </a:r>
            <a:r>
              <a:rPr lang="en-US" sz="1300" b="1" dirty="0">
                <a:solidFill>
                  <a:srgbClr val="15181D"/>
                </a:solidFill>
                <a:latin typeface="Calibri" pitchFamily="34" charset="0"/>
                <a:ea typeface="Calibri" pitchFamily="34" charset="-122"/>
                <a:cs typeface="Calibri" pitchFamily="34" charset="-120"/>
              </a:rPr>
              <a:t>The two harnesses</a:t>
            </a:r>
            <a:r>
              <a:rPr lang="en-US" sz="1150" dirty="0">
                <a:solidFill>
                  <a:srgbClr val="2B3138"/>
                </a:solidFill>
                <a:latin typeface="Calibri" pitchFamily="34" charset="0"/>
                <a:ea typeface="Calibri" pitchFamily="34" charset="-122"/>
                <a:cs typeface="Calibri" pitchFamily="34" charset="-120"/>
              </a:rPr>
              <a:t>   same models, different stop rules</a:t>
            </a:r>
            <a:endParaRPr lang="en-US" sz="1250" dirty="0"/>
          </a:p>
          <a:p>
            <a:pPr marL="0" indent="0">
              <a:lnSpc>
                <a:spcPts val="3400"/>
              </a:lnSpc>
              <a:buNone/>
            </a:pPr>
            <a:r>
              <a:rPr lang="en-US" sz="1250" b="1" dirty="0">
                <a:solidFill>
                  <a:srgbClr val="C2410C"/>
                </a:solidFill>
                <a:latin typeface="Calibri" pitchFamily="34" charset="0"/>
                <a:ea typeface="Calibri" pitchFamily="34" charset="-122"/>
                <a:cs typeface="Calibri" pitchFamily="34" charset="-120"/>
              </a:rPr>
              <a:t>03   </a:t>
            </a:r>
            <a:r>
              <a:rPr lang="en-US" sz="1300" b="1" dirty="0">
                <a:solidFill>
                  <a:srgbClr val="15181D"/>
                </a:solidFill>
                <a:latin typeface="Calibri" pitchFamily="34" charset="0"/>
                <a:ea typeface="Calibri" pitchFamily="34" charset="-122"/>
                <a:cs typeface="Calibri" pitchFamily="34" charset="-120"/>
              </a:rPr>
              <a:t>The desktop apps</a:t>
            </a:r>
            <a:r>
              <a:rPr lang="en-US" sz="1150" dirty="0">
                <a:solidFill>
                  <a:srgbClr val="2B3138"/>
                </a:solidFill>
                <a:latin typeface="Calibri" pitchFamily="34" charset="0"/>
                <a:ea typeface="Calibri" pitchFamily="34" charset="-122"/>
                <a:cs typeface="Calibri" pitchFamily="34" charset="-120"/>
              </a:rPr>
              <a:t>   and where requirements come from</a:t>
            </a:r>
            <a:endParaRPr lang="en-US" sz="1250" dirty="0"/>
          </a:p>
          <a:p>
            <a:pPr marL="0" indent="0">
              <a:lnSpc>
                <a:spcPts val="3400"/>
              </a:lnSpc>
              <a:buNone/>
            </a:pPr>
            <a:r>
              <a:rPr lang="en-US" sz="1250" b="1" dirty="0">
                <a:solidFill>
                  <a:srgbClr val="C2410C"/>
                </a:solidFill>
                <a:latin typeface="Calibri" pitchFamily="34" charset="0"/>
                <a:ea typeface="Calibri" pitchFamily="34" charset="-122"/>
                <a:cs typeface="Calibri" pitchFamily="34" charset="-120"/>
              </a:rPr>
              <a:t>04   </a:t>
            </a:r>
            <a:r>
              <a:rPr lang="en-US" sz="1300" b="1" dirty="0">
                <a:solidFill>
                  <a:srgbClr val="15181D"/>
                </a:solidFill>
                <a:latin typeface="Calibri" pitchFamily="34" charset="0"/>
                <a:ea typeface="Calibri" pitchFamily="34" charset="-122"/>
                <a:cs typeface="Calibri" pitchFamily="34" charset="-120"/>
              </a:rPr>
              <a:t>What it costs</a:t>
            </a:r>
            <a:r>
              <a:rPr lang="en-US" sz="1150" dirty="0">
                <a:solidFill>
                  <a:srgbClr val="2B3138"/>
                </a:solidFill>
                <a:latin typeface="Calibri" pitchFamily="34" charset="0"/>
                <a:ea typeface="Calibri" pitchFamily="34" charset="-122"/>
                <a:cs typeface="Calibri" pitchFamily="34" charset="-120"/>
              </a:rPr>
              <a:t>   the enterprise seat, and the real bill</a:t>
            </a:r>
            <a:endParaRPr lang="en-US" sz="1250" dirty="0"/>
          </a:p>
          <a:p>
            <a:pPr marL="0" indent="0">
              <a:lnSpc>
                <a:spcPts val="3400"/>
              </a:lnSpc>
              <a:buNone/>
            </a:pPr>
            <a:r>
              <a:rPr lang="en-US" sz="1250" b="1" dirty="0">
                <a:solidFill>
                  <a:srgbClr val="C2410C"/>
                </a:solidFill>
                <a:latin typeface="Calibri" pitchFamily="34" charset="0"/>
                <a:ea typeface="Calibri" pitchFamily="34" charset="-122"/>
                <a:cs typeface="Calibri" pitchFamily="34" charset="-120"/>
              </a:rPr>
              <a:t>05   </a:t>
            </a:r>
            <a:r>
              <a:rPr lang="en-US" sz="1300" b="1" dirty="0">
                <a:solidFill>
                  <a:srgbClr val="15181D"/>
                </a:solidFill>
                <a:latin typeface="Calibri" pitchFamily="34" charset="0"/>
                <a:ea typeface="Calibri" pitchFamily="34" charset="-122"/>
                <a:cs typeface="Calibri" pitchFamily="34" charset="-120"/>
              </a:rPr>
              <a:t>The hands-on test</a:t>
            </a:r>
            <a:r>
              <a:rPr lang="en-US" sz="1150" dirty="0">
                <a:solidFill>
                  <a:srgbClr val="2B3138"/>
                </a:solidFill>
                <a:latin typeface="Calibri" pitchFamily="34" charset="0"/>
                <a:ea typeface="Calibri" pitchFamily="34" charset="-122"/>
                <a:cs typeface="Calibri" pitchFamily="34" charset="-120"/>
              </a:rPr>
              <a:t>   four apps, one scorecard</a:t>
            </a:r>
            <a:endParaRPr lang="en-US" sz="1250" dirty="0"/>
          </a:p>
          <a:p>
            <a:pPr marL="0" indent="0">
              <a:lnSpc>
                <a:spcPts val="3400"/>
              </a:lnSpc>
              <a:buNone/>
            </a:pPr>
            <a:r>
              <a:rPr lang="en-US" sz="1250" b="1" dirty="0">
                <a:solidFill>
                  <a:srgbClr val="C2410C"/>
                </a:solidFill>
                <a:latin typeface="Calibri" pitchFamily="34" charset="0"/>
                <a:ea typeface="Calibri" pitchFamily="34" charset="-122"/>
                <a:cs typeface="Calibri" pitchFamily="34" charset="-120"/>
              </a:rPr>
              <a:t>06   </a:t>
            </a:r>
            <a:r>
              <a:rPr lang="en-US" sz="1300" b="1" dirty="0">
                <a:solidFill>
                  <a:srgbClr val="15181D"/>
                </a:solidFill>
                <a:latin typeface="Calibri" pitchFamily="34" charset="0"/>
                <a:ea typeface="Calibri" pitchFamily="34" charset="-122"/>
                <a:cs typeface="Calibri" pitchFamily="34" charset="-120"/>
              </a:rPr>
              <a:t>The recommendation</a:t>
            </a:r>
            <a:r>
              <a:rPr lang="en-US" sz="1150" dirty="0">
                <a:solidFill>
                  <a:srgbClr val="2B3138"/>
                </a:solidFill>
                <a:latin typeface="Calibri" pitchFamily="34" charset="0"/>
                <a:ea typeface="Calibri" pitchFamily="34" charset="-122"/>
                <a:cs typeface="Calibri" pitchFamily="34" charset="-120"/>
              </a:rPr>
              <a:t>   both tools, in lanes</a:t>
            </a:r>
            <a:endParaRPr lang="en-US" sz="1250" dirty="0"/>
          </a:p>
        </p:txBody>
      </p:sp>
      <p:sp>
        <p:nvSpPr>
          <p:cNvPr id="8" name="Shape 6"/>
          <p:cNvSpPr/>
          <p:nvPr/>
        </p:nvSpPr>
        <p:spPr>
          <a:xfrm>
            <a:off x="7278624" y="2212848"/>
            <a:ext cx="4343400" cy="1572768"/>
          </a:xfrm>
          <a:prstGeom prst="roundRect">
            <a:avLst>
              <a:gd name="adj" fmla="val 3488"/>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9" name="Text 7"/>
          <p:cNvSpPr/>
          <p:nvPr/>
        </p:nvSpPr>
        <p:spPr>
          <a:xfrm>
            <a:off x="7534656" y="2377440"/>
            <a:ext cx="3831336" cy="310896"/>
          </a:xfrm>
          <a:prstGeom prst="rect">
            <a:avLst/>
          </a:prstGeom>
          <a:noFill/>
          <a:ln/>
        </p:spPr>
        <p:txBody>
          <a:bodyPr wrap="square" lIns="0" tIns="0" rIns="0" bIns="0" rtlCol="0" anchor="ctr"/>
          <a:lstStyle/>
          <a:p>
            <a:pPr marL="0" indent="0">
              <a:buNone/>
            </a:pPr>
            <a:r>
              <a:rPr lang="en-US" sz="1700" b="1" dirty="0">
                <a:solidFill>
                  <a:srgbClr val="0969DA"/>
                </a:solidFill>
                <a:latin typeface="Cambria" pitchFamily="34" charset="0"/>
                <a:ea typeface="Cambria" pitchFamily="34" charset="-122"/>
                <a:cs typeface="Cambria" pitchFamily="34" charset="-120"/>
              </a:rPr>
              <a:t>Manager</a:t>
            </a:r>
            <a:endParaRPr lang="en-US" sz="1700" dirty="0"/>
          </a:p>
        </p:txBody>
      </p:sp>
      <p:sp>
        <p:nvSpPr>
          <p:cNvPr id="10" name="Text 8"/>
          <p:cNvSpPr/>
          <p:nvPr/>
        </p:nvSpPr>
        <p:spPr>
          <a:xfrm>
            <a:off x="7534656" y="2779776"/>
            <a:ext cx="3831336" cy="841248"/>
          </a:xfrm>
          <a:prstGeom prst="rect">
            <a:avLst/>
          </a:prstGeom>
          <a:noFill/>
          <a:ln/>
        </p:spPr>
        <p:txBody>
          <a:bodyPr wrap="square" lIns="0" tIns="0" rIns="0" bIns="0" rtlCol="0" anchor="t"/>
          <a:lstStyle/>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Read 04 for the seat price and the spend cap.</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Read 06 for the lanes and what to measure.</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Skip 05 unless you want to watch the test.</a:t>
            </a:r>
            <a:endParaRPr lang="en-US" sz="1100" dirty="0"/>
          </a:p>
        </p:txBody>
      </p:sp>
      <p:sp>
        <p:nvSpPr>
          <p:cNvPr id="11" name="Shape 9"/>
          <p:cNvSpPr/>
          <p:nvPr/>
        </p:nvSpPr>
        <p:spPr>
          <a:xfrm>
            <a:off x="7278624" y="4041648"/>
            <a:ext cx="4343400" cy="1572768"/>
          </a:xfrm>
          <a:prstGeom prst="roundRect">
            <a:avLst>
              <a:gd name="adj" fmla="val 3488"/>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12" name="Text 10"/>
          <p:cNvSpPr/>
          <p:nvPr/>
        </p:nvSpPr>
        <p:spPr>
          <a:xfrm>
            <a:off x="7534656" y="4206240"/>
            <a:ext cx="3831336" cy="310896"/>
          </a:xfrm>
          <a:prstGeom prst="rect">
            <a:avLst/>
          </a:prstGeom>
          <a:noFill/>
          <a:ln/>
        </p:spPr>
        <p:txBody>
          <a:bodyPr wrap="square" lIns="0" tIns="0" rIns="0" bIns="0" rtlCol="0" anchor="ctr"/>
          <a:lstStyle/>
          <a:p>
            <a:pPr marL="0" indent="0">
              <a:buNone/>
            </a:pPr>
            <a:r>
              <a:rPr lang="en-US" sz="1700" b="1" dirty="0">
                <a:solidFill>
                  <a:srgbClr val="C2410C"/>
                </a:solidFill>
                <a:latin typeface="Cambria" pitchFamily="34" charset="0"/>
                <a:ea typeface="Cambria" pitchFamily="34" charset="-122"/>
                <a:cs typeface="Cambria" pitchFamily="34" charset="-120"/>
              </a:rPr>
              <a:t>Developer</a:t>
            </a:r>
            <a:endParaRPr lang="en-US" sz="1700" dirty="0"/>
          </a:p>
        </p:txBody>
      </p:sp>
      <p:sp>
        <p:nvSpPr>
          <p:cNvPr id="13" name="Text 11"/>
          <p:cNvSpPr/>
          <p:nvPr/>
        </p:nvSpPr>
        <p:spPr>
          <a:xfrm>
            <a:off x="7534656" y="4608576"/>
            <a:ext cx="3831336" cy="841248"/>
          </a:xfrm>
          <a:prstGeom prst="rect">
            <a:avLst/>
          </a:prstGeom>
          <a:noFill/>
          <a:ln/>
        </p:spPr>
        <p:txBody>
          <a:bodyPr wrap="square" lIns="0" tIns="0" rIns="0" bIns="0" rtlCol="0" anchor="t"/>
          <a:lstStyle/>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Read 01–02 for what the agent sees and when it stops.</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Read 05 for four apps you can run on both tools.</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Skip 04 unless you hold the budget.</a:t>
            </a:r>
            <a:endParaRPr lang="en-US" sz="1100" dirty="0"/>
          </a:p>
        </p:txBody>
      </p:sp>
      <p:sp>
        <p:nvSpPr>
          <p:cNvPr id="25"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anim calcmode="lin" valueType="num">
                                      <p:cBhvr additive="base">
                                        <p:cTn id="8" dur="420" fill="hold"/>
                                        <p:tgtEl>
                                          <p:spTgt spid="5"/>
                                        </p:tgtEl>
                                        <p:attrNameLst>
                                          <p:attrName>ppt_y</p:attrName>
                                        </p:attrNameLst>
                                      </p:cBhvr>
                                      <p:tavLst>
                                        <p:tav tm="0">
                                          <p:val>
                                            <p:strVal val="#ppt_y+0.035"/>
                                          </p:val>
                                        </p:tav>
                                        <p:tav tm="100000">
                                          <p:val>
                                            <p:strVal val="#ppt_y"/>
                                          </p:val>
                                        </p:tav>
                                      </p:tavLst>
                                    </p:anim>
                                    <p:set>
                                      <p:cBhvr>
                                        <p:cTn id="9" dur="1" fill="hold">
                                          <p:stCondLst>
                                            <p:cond delay="0"/>
                                          </p:stCondLst>
                                        </p:cTn>
                                        <p:tgtEl>
                                          <p:spTgt spid="8"/>
                                        </p:tgtEl>
                                        <p:attrNameLst>
                                          <p:attrName>style.visibility</p:attrName>
                                        </p:attrNameLst>
                                      </p:cBhvr>
                                      <p:to>
                                        <p:strVal val="visible"/>
                                      </p:to>
                                    </p:set>
                                    <p:animEffect transition="in" filter="fade">
                                      <p:cBhvr>
                                        <p:cTn id="10" dur="420"/>
                                        <p:tgtEl>
                                          <p:spTgt spid="8"/>
                                        </p:tgtEl>
                                      </p:cBhvr>
                                    </p:animEffect>
                                    <p:anim calcmode="lin" valueType="num">
                                      <p:cBhvr additive="base">
                                        <p:cTn id="11" dur="420" fill="hold"/>
                                        <p:tgtEl>
                                          <p:spTgt spid="8"/>
                                        </p:tgtEl>
                                        <p:attrNameLst>
                                          <p:attrName>ppt_y</p:attrName>
                                        </p:attrNameLst>
                                      </p:cBhvr>
                                      <p:tavLst>
                                        <p:tav tm="0">
                                          <p:val>
                                            <p:strVal val="#ppt_y+0.035"/>
                                          </p:val>
                                        </p:tav>
                                        <p:tav tm="100000">
                                          <p:val>
                                            <p:strVal val="#ppt_y"/>
                                          </p:val>
                                        </p:tav>
                                      </p:tavLst>
                                    </p:anim>
                                    <p:set>
                                      <p:cBhvr>
                                        <p:cTn id="12" dur="1" fill="hold">
                                          <p:stCondLst>
                                            <p:cond delay="0"/>
                                          </p:stCondLst>
                                        </p:cTn>
                                        <p:tgtEl>
                                          <p:spTgt spid="9"/>
                                        </p:tgtEl>
                                        <p:attrNameLst>
                                          <p:attrName>style.visibility</p:attrName>
                                        </p:attrNameLst>
                                      </p:cBhvr>
                                      <p:to>
                                        <p:strVal val="visible"/>
                                      </p:to>
                                    </p:set>
                                    <p:animEffect transition="in" filter="fade">
                                      <p:cBhvr>
                                        <p:cTn id="13" dur="420"/>
                                        <p:tgtEl>
                                          <p:spTgt spid="9"/>
                                        </p:tgtEl>
                                      </p:cBhvr>
                                    </p:animEffect>
                                    <p:anim calcmode="lin" valueType="num">
                                      <p:cBhvr additive="base">
                                        <p:cTn id="14" dur="420" fill="hold"/>
                                        <p:tgtEl>
                                          <p:spTgt spid="9"/>
                                        </p:tgtEl>
                                        <p:attrNameLst>
                                          <p:attrName>ppt_y</p:attrName>
                                        </p:attrNameLst>
                                      </p:cBhvr>
                                      <p:tavLst>
                                        <p:tav tm="0">
                                          <p:val>
                                            <p:strVal val="#ppt_y+0.035"/>
                                          </p:val>
                                        </p:tav>
                                        <p:tav tm="100000">
                                          <p:val>
                                            <p:strVal val="#ppt_y"/>
                                          </p:val>
                                        </p:tav>
                                      </p:tavLst>
                                    </p:anim>
                                    <p:set>
                                      <p:cBhvr>
                                        <p:cTn id="15" dur="1" fill="hold">
                                          <p:stCondLst>
                                            <p:cond delay="0"/>
                                          </p:stCondLst>
                                        </p:cTn>
                                        <p:tgtEl>
                                          <p:spTgt spid="6"/>
                                        </p:tgtEl>
                                        <p:attrNameLst>
                                          <p:attrName>style.visibility</p:attrName>
                                        </p:attrNameLst>
                                      </p:cBhvr>
                                      <p:to>
                                        <p:strVal val="visible"/>
                                      </p:to>
                                    </p:set>
                                    <p:animEffect transition="in" filter="fade">
                                      <p:cBhvr>
                                        <p:cTn id="16" dur="420"/>
                                        <p:tgtEl>
                                          <p:spTgt spid="6"/>
                                        </p:tgtEl>
                                      </p:cBhvr>
                                    </p:animEffect>
                                    <p:anim calcmode="lin" valueType="num">
                                      <p:cBhvr additive="base">
                                        <p:cTn id="17" dur="420" fill="hold"/>
                                        <p:tgtEl>
                                          <p:spTgt spid="6"/>
                                        </p:tgtEl>
                                        <p:attrNameLst>
                                          <p:attrName>ppt_y</p:attrName>
                                        </p:attrNameLst>
                                      </p:cBhvr>
                                      <p:tavLst>
                                        <p:tav tm="0">
                                          <p:val>
                                            <p:strVal val="#ppt_y+0.035"/>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20"/>
                                        <p:tgtEl>
                                          <p:spTgt spid="10"/>
                                        </p:tgtEl>
                                      </p:cBhvr>
                                    </p:animEffect>
                                    <p:anim calcmode="lin" valueType="num">
                                      <p:cBhvr additive="base">
                                        <p:cTn id="23" dur="420" fill="hold"/>
                                        <p:tgtEl>
                                          <p:spTgt spid="10"/>
                                        </p:tgtEl>
                                        <p:attrNameLst>
                                          <p:attrName>ppt_y</p:attrName>
                                        </p:attrNameLst>
                                      </p:cBhvr>
                                      <p:tavLst>
                                        <p:tav tm="0">
                                          <p:val>
                                            <p:strVal val="#ppt_y+0.035"/>
                                          </p:val>
                                        </p:tav>
                                        <p:tav tm="100000">
                                          <p:val>
                                            <p:strVal val="#ppt_y"/>
                                          </p:val>
                                        </p:tav>
                                      </p:tavLst>
                                    </p:anim>
                                    <p:set>
                                      <p:cBhvr>
                                        <p:cTn id="24" dur="1" fill="hold">
                                          <p:stCondLst>
                                            <p:cond delay="0"/>
                                          </p:stCondLst>
                                        </p:cTn>
                                        <p:tgtEl>
                                          <p:spTgt spid="7"/>
                                        </p:tgtEl>
                                        <p:attrNameLst>
                                          <p:attrName>style.visibility</p:attrName>
                                        </p:attrNameLst>
                                      </p:cBhvr>
                                      <p:to>
                                        <p:strVal val="visible"/>
                                      </p:to>
                                    </p:set>
                                    <p:animEffect transition="in" filter="fade">
                                      <p:cBhvr>
                                        <p:cTn id="25" dur="420"/>
                                        <p:tgtEl>
                                          <p:spTgt spid="7"/>
                                        </p:tgtEl>
                                      </p:cBhvr>
                                    </p:animEffect>
                                    <p:anim calcmode="lin" valueType="num">
                                      <p:cBhvr additive="base">
                                        <p:cTn id="26" dur="420" fill="hold"/>
                                        <p:tgtEl>
                                          <p:spTgt spid="7"/>
                                        </p:tgtEl>
                                        <p:attrNameLst>
                                          <p:attrName>ppt_y</p:attrName>
                                        </p:attrNameLst>
                                      </p:cBhvr>
                                      <p:tavLst>
                                        <p:tav tm="0">
                                          <p:val>
                                            <p:strVal val="#ppt_y+0.035"/>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20"/>
                                        <p:tgtEl>
                                          <p:spTgt spid="11"/>
                                        </p:tgtEl>
                                      </p:cBhvr>
                                    </p:animEffect>
                                    <p:anim calcmode="lin" valueType="num">
                                      <p:cBhvr additive="base">
                                        <p:cTn id="32" dur="420" fill="hold"/>
                                        <p:tgtEl>
                                          <p:spTgt spid="11"/>
                                        </p:tgtEl>
                                        <p:attrNameLst>
                                          <p:attrName>ppt_y</p:attrName>
                                        </p:attrNameLst>
                                      </p:cBhvr>
                                      <p:tavLst>
                                        <p:tav tm="0">
                                          <p:val>
                                            <p:strVal val="#ppt_y+0.035"/>
                                          </p:val>
                                        </p:tav>
                                        <p:tav tm="100000">
                                          <p:val>
                                            <p:strVal val="#ppt_y"/>
                                          </p:val>
                                        </p:tav>
                                      </p:tavLst>
                                    </p:anim>
                                    <p:set>
                                      <p:cBhvr>
                                        <p:cTn id="33" dur="1" fill="hold">
                                          <p:stCondLst>
                                            <p:cond delay="0"/>
                                          </p:stCondLst>
                                        </p:cTn>
                                        <p:tgtEl>
                                          <p:spTgt spid="12"/>
                                        </p:tgtEl>
                                        <p:attrNameLst>
                                          <p:attrName>style.visibility</p:attrName>
                                        </p:attrNameLst>
                                      </p:cBhvr>
                                      <p:to>
                                        <p:strVal val="visible"/>
                                      </p:to>
                                    </p:set>
                                    <p:animEffect transition="in" filter="fade">
                                      <p:cBhvr>
                                        <p:cTn id="34" dur="420"/>
                                        <p:tgtEl>
                                          <p:spTgt spid="12"/>
                                        </p:tgtEl>
                                      </p:cBhvr>
                                    </p:animEffect>
                                    <p:anim calcmode="lin" valueType="num">
                                      <p:cBhvr additive="base">
                                        <p:cTn id="35" dur="420" fill="hold"/>
                                        <p:tgtEl>
                                          <p:spTgt spid="12"/>
                                        </p:tgtEl>
                                        <p:attrNameLst>
                                          <p:attrName>ppt_y</p:attrName>
                                        </p:attrNameLst>
                                      </p:cBhvr>
                                      <p:tavLst>
                                        <p:tav tm="0">
                                          <p:val>
                                            <p:strVal val="#ppt_y+0.035"/>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20"/>
                                        <p:tgtEl>
                                          <p:spTgt spid="13"/>
                                        </p:tgtEl>
                                      </p:cBhvr>
                                    </p:animEffect>
                                    <p:anim calcmode="lin" valueType="num">
                                      <p:cBhvr additive="base">
                                        <p:cTn id="41" dur="420" fill="hold"/>
                                        <p:tgtEl>
                                          <p:spTgt spid="13"/>
                                        </p:tgtEl>
                                        <p:attrNameLst>
                                          <p:attrName>ppt_y</p:attrName>
                                        </p:attrNameLst>
                                      </p:cBhvr>
                                      <p:tavLst>
                                        <p:tav tm="0">
                                          <p:val>
                                            <p:strVal val="#ppt_y+0.035"/>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20"/>
                                        <p:tgtEl>
                                          <p:spTgt spid="25"/>
                                        </p:tgtEl>
                                      </p:cBhvr>
                                    </p:animEffect>
                                    <p:anim calcmode="lin" valueType="num">
                                      <p:cBhvr additive="base">
                                        <p:cTn id="47" dur="420" fill="hold"/>
                                        <p:tgtEl>
                                          <p:spTgt spid="2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p:bldP spid="9" grpId="0"/>
      <p:bldP spid="10" grpId="0" animBg="1"/>
      <p:bldP spid="11" grpId="0" animBg="1"/>
      <p:bldP spid="12" grpId="0"/>
      <p:bldP spid="13" grpId="0" animBg="1"/>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01</a:t>
            </a:r>
            <a:r>
              <a:rPr lang="en-US" sz="1150" b="1" kern="0" spc="160" dirty="0">
                <a:solidFill>
                  <a:srgbClr val="6E7781"/>
                </a:solidFill>
                <a:latin typeface="Calibri" pitchFamily="34" charset="0"/>
                <a:ea typeface="Calibri" pitchFamily="34" charset="-122"/>
                <a:cs typeface="Calibri" pitchFamily="34" charset="-120"/>
              </a:rPr>
              <a:t>   FOUNDATION</a:t>
            </a:r>
            <a:endParaRPr lang="en-US" sz="1150" dirty="0"/>
          </a:p>
        </p:txBody>
      </p:sp>
      <p:sp>
        <p:nvSpPr>
          <p:cNvPr id="3" name="Text 1"/>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What "agentic AI" actually means</a:t>
            </a:r>
            <a:endParaRPr lang="en-US" sz="3200" dirty="0"/>
          </a:p>
        </p:txBody>
      </p:sp>
      <p:sp>
        <p:nvSpPr>
          <p:cNvPr id="4" name="Text 2"/>
          <p:cNvSpPr/>
          <p:nvPr/>
        </p:nvSpPr>
        <p:spPr>
          <a:xfrm>
            <a:off x="566928" y="1389888"/>
            <a:ext cx="11055096" cy="566928"/>
          </a:xfrm>
          <a:prstGeom prst="rect">
            <a:avLst/>
          </a:prstGeom>
          <a:noFill/>
          <a:ln/>
        </p:spPr>
        <p:txBody>
          <a:bodyPr wrap="square" lIns="0" tIns="0" rIns="0" bIns="0" rtlCol="0" anchor="t"/>
          <a:lstStyle/>
          <a:p>
            <a:pPr marL="0" indent="0">
              <a:lnSpc>
                <a:spcPts val="1850"/>
              </a:lnSpc>
              <a:buNone/>
            </a:pPr>
            <a:r>
              <a:rPr lang="en-US" sz="1350" dirty="0">
                <a:solidFill>
                  <a:srgbClr val="2B3138"/>
                </a:solidFill>
                <a:latin typeface="Calibri" pitchFamily="34" charset="0"/>
                <a:ea typeface="Calibri" pitchFamily="34" charset="-122"/>
                <a:cs typeface="Calibri" pitchFamily="34" charset="-120"/>
              </a:rPr>
              <a:t>Old AI finished your line. An agent takes a goal in plain English and then loops — read the code, edit files, run tests, fix its own mistakes — until it is done or it needs you. A human still approves before anything ships.</a:t>
            </a:r>
            <a:endParaRPr lang="en-US" sz="1350" dirty="0"/>
          </a:p>
        </p:txBody>
      </p:sp>
      <p:sp>
        <p:nvSpPr>
          <p:cNvPr id="5" name="Shape 3"/>
          <p:cNvSpPr/>
          <p:nvPr/>
        </p:nvSpPr>
        <p:spPr>
          <a:xfrm>
            <a:off x="3054096" y="2395728"/>
            <a:ext cx="6419088" cy="3566160"/>
          </a:xfrm>
          <a:prstGeom prst="roundRect">
            <a:avLst>
              <a:gd name="adj" fmla="val 1026"/>
            </a:avLst>
          </a:prstGeom>
          <a:solidFill>
            <a:srgbClr val="EFF2F5"/>
          </a:solidFill>
          <a:ln w="9525">
            <a:solidFill>
              <a:srgbClr val="D8DEE4"/>
            </a:solidFill>
            <a:prstDash val="sysDash"/>
          </a:ln>
        </p:spPr>
      </p:sp>
      <p:sp>
        <p:nvSpPr>
          <p:cNvPr id="6" name="Shape 4"/>
          <p:cNvSpPr/>
          <p:nvPr/>
        </p:nvSpPr>
        <p:spPr>
          <a:xfrm>
            <a:off x="566928" y="3584448"/>
            <a:ext cx="2084832" cy="932688"/>
          </a:xfrm>
          <a:prstGeom prst="roundRect">
            <a:avLst>
              <a:gd name="adj" fmla="val 4902"/>
            </a:avLst>
          </a:prstGeom>
          <a:solidFill>
            <a:srgbClr val="F6F8FA"/>
          </a:solidFill>
          <a:ln w="13970">
            <a:solidFill>
              <a:srgbClr val="D8DEE4"/>
            </a:solidFill>
            <a:prstDash val="solid"/>
          </a:ln>
          <a:effectLst>
            <a:outerShdw blurRad="177800" dist="38100" dir="5400000" algn="bl" rotWithShape="0">
              <a:srgbClr val="8C959F">
                <a:alpha val="16000"/>
              </a:srgbClr>
            </a:outerShdw>
          </a:effectLst>
        </p:spPr>
      </p:sp>
      <p:sp>
        <p:nvSpPr>
          <p:cNvPr id="7" name="Text 5"/>
          <p:cNvSpPr/>
          <p:nvPr/>
        </p:nvSpPr>
        <p:spPr>
          <a:xfrm>
            <a:off x="658368" y="3685032"/>
            <a:ext cx="1901952" cy="274320"/>
          </a:xfrm>
          <a:prstGeom prst="rect">
            <a:avLst/>
          </a:prstGeom>
          <a:noFill/>
          <a:ln/>
        </p:spPr>
        <p:txBody>
          <a:bodyPr wrap="square" lIns="0" tIns="0" rIns="0" bIns="0" rtlCol="0" anchor="ctr"/>
          <a:lstStyle/>
          <a:p>
            <a:pPr marL="0" indent="0" algn="ctr">
              <a:buNone/>
            </a:pPr>
            <a:r>
              <a:rPr lang="en-US" sz="1150" b="1" dirty="0">
                <a:solidFill>
                  <a:srgbClr val="15181D"/>
                </a:solidFill>
                <a:latin typeface="Calibri" pitchFamily="34" charset="0"/>
                <a:ea typeface="Calibri" pitchFamily="34" charset="-122"/>
                <a:cs typeface="Calibri" pitchFamily="34" charset="-120"/>
              </a:rPr>
              <a:t>Your goal</a:t>
            </a:r>
            <a:endParaRPr lang="en-US" sz="1150" dirty="0"/>
          </a:p>
        </p:txBody>
      </p:sp>
      <p:sp>
        <p:nvSpPr>
          <p:cNvPr id="8" name="Text 6"/>
          <p:cNvSpPr/>
          <p:nvPr/>
        </p:nvSpPr>
        <p:spPr>
          <a:xfrm>
            <a:off x="658368" y="3959352"/>
            <a:ext cx="1901952" cy="475488"/>
          </a:xfrm>
          <a:prstGeom prst="rect">
            <a:avLst/>
          </a:prstGeom>
          <a:noFill/>
          <a:ln/>
        </p:spPr>
        <p:txBody>
          <a:bodyPr wrap="square" lIns="0" tIns="0" rIns="0" bIns="0" rtlCol="0" anchor="t"/>
          <a:lstStyle/>
          <a:p>
            <a:pPr marL="0" indent="0" algn="ctr">
              <a:lnSpc>
                <a:spcPts val="1200"/>
              </a:lnSpc>
              <a:buNone/>
            </a:pPr>
            <a:r>
              <a:rPr lang="en-US" sz="950" dirty="0">
                <a:solidFill>
                  <a:srgbClr val="2B3138"/>
                </a:solidFill>
                <a:latin typeface="Calibri" pitchFamily="34" charset="0"/>
                <a:ea typeface="Calibri" pitchFamily="34" charset="-122"/>
                <a:cs typeface="Calibri" pitchFamily="34" charset="-120"/>
              </a:rPr>
              <a:t>plain English</a:t>
            </a:r>
            <a:endParaRPr lang="en-US" sz="950" dirty="0"/>
          </a:p>
        </p:txBody>
      </p:sp>
      <p:sp>
        <p:nvSpPr>
          <p:cNvPr id="9" name="Shape 7"/>
          <p:cNvSpPr/>
          <p:nvPr/>
        </p:nvSpPr>
        <p:spPr>
          <a:xfrm>
            <a:off x="2761488" y="3968496"/>
            <a:ext cx="475488" cy="182880"/>
          </a:xfrm>
          <a:prstGeom prst="rightArrow">
            <a:avLst/>
          </a:prstGeom>
          <a:solidFill>
            <a:srgbClr val="1A7F37"/>
          </a:solidFill>
          <a:ln/>
        </p:spPr>
      </p:sp>
      <p:sp>
        <p:nvSpPr>
          <p:cNvPr id="10" name="Shape 8"/>
          <p:cNvSpPr/>
          <p:nvPr/>
        </p:nvSpPr>
        <p:spPr>
          <a:xfrm>
            <a:off x="3310128" y="2651760"/>
            <a:ext cx="1335024" cy="1335024"/>
          </a:xfrm>
          <a:prstGeom prst="ellipse">
            <a:avLst/>
          </a:prstGeom>
          <a:solidFill>
            <a:srgbClr val="EAF2FD"/>
          </a:solidFill>
          <a:ln w="20320">
            <a:solidFill>
              <a:srgbClr val="0969DA"/>
            </a:solidFill>
            <a:prstDash val="solid"/>
          </a:ln>
          <a:effectLst>
            <a:outerShdw blurRad="177800" dist="38100" dir="5400000" algn="bl" rotWithShape="0">
              <a:srgbClr val="8C959F">
                <a:alpha val="16000"/>
              </a:srgbClr>
            </a:outerShdw>
          </a:effectLst>
        </p:spPr>
      </p:sp>
      <p:sp>
        <p:nvSpPr>
          <p:cNvPr id="11" name="Text 9"/>
          <p:cNvSpPr/>
          <p:nvPr/>
        </p:nvSpPr>
        <p:spPr>
          <a:xfrm>
            <a:off x="3310128" y="2761488"/>
            <a:ext cx="1335024" cy="1225296"/>
          </a:xfrm>
          <a:prstGeom prst="rect">
            <a:avLst/>
          </a:prstGeom>
          <a:noFill/>
          <a:ln/>
        </p:spPr>
        <p:txBody>
          <a:bodyPr wrap="square" lIns="0" tIns="0" rIns="0" bIns="0" rtlCol="0" anchor="ctr"/>
          <a:lstStyle/>
          <a:p>
            <a:pPr marL="0" indent="0" algn="ctr">
              <a:lnSpc>
                <a:spcPts val="1400"/>
              </a:lnSpc>
              <a:buNone/>
            </a:pPr>
            <a:r>
              <a:rPr lang="en-US" sz="1350" b="1" dirty="0">
                <a:solidFill>
                  <a:srgbClr val="0969DA"/>
                </a:solidFill>
                <a:latin typeface="Calibri" pitchFamily="34" charset="0"/>
                <a:ea typeface="Calibri" pitchFamily="34" charset="-122"/>
                <a:cs typeface="Calibri" pitchFamily="34" charset="-120"/>
              </a:rPr>
              <a:t>Gather</a:t>
            </a:r>
            <a:endParaRPr lang="en-US" sz="1350" dirty="0"/>
          </a:p>
          <a:p>
            <a:pPr marL="0" indent="0" algn="ctr">
              <a:lnSpc>
                <a:spcPts val="1400"/>
              </a:lnSpc>
              <a:buNone/>
            </a:pPr>
            <a:r>
              <a:rPr lang="en-US" sz="900" dirty="0">
                <a:solidFill>
                  <a:srgbClr val="2B3138"/>
                </a:solidFill>
                <a:latin typeface="Calibri" pitchFamily="34" charset="0"/>
                <a:ea typeface="Calibri" pitchFamily="34" charset="-122"/>
                <a:cs typeface="Calibri" pitchFamily="34" charset="-120"/>
              </a:rPr>
              <a:t>read the files</a:t>
            </a:r>
            <a:endParaRPr lang="en-US" sz="1350" dirty="0"/>
          </a:p>
        </p:txBody>
      </p:sp>
      <p:sp>
        <p:nvSpPr>
          <p:cNvPr id="12" name="Shape 10"/>
          <p:cNvSpPr/>
          <p:nvPr/>
        </p:nvSpPr>
        <p:spPr>
          <a:xfrm>
            <a:off x="3840480" y="2514600"/>
            <a:ext cx="274320" cy="274320"/>
          </a:xfrm>
          <a:prstGeom prst="ellipse">
            <a:avLst/>
          </a:prstGeom>
          <a:solidFill>
            <a:srgbClr val="0969DA"/>
          </a:solidFill>
          <a:ln/>
        </p:spPr>
      </p:sp>
      <p:sp>
        <p:nvSpPr>
          <p:cNvPr id="13" name="Text 11"/>
          <p:cNvSpPr/>
          <p:nvPr/>
        </p:nvSpPr>
        <p:spPr>
          <a:xfrm>
            <a:off x="3840480" y="2514600"/>
            <a:ext cx="27432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14" name="Shape 12"/>
          <p:cNvSpPr/>
          <p:nvPr/>
        </p:nvSpPr>
        <p:spPr>
          <a:xfrm>
            <a:off x="7900416" y="2651760"/>
            <a:ext cx="1335024" cy="1335024"/>
          </a:xfrm>
          <a:prstGeom prst="ellipse">
            <a:avLst/>
          </a:prstGeom>
          <a:solidFill>
            <a:srgbClr val="EAF2FD"/>
          </a:solidFill>
          <a:ln w="20320">
            <a:solidFill>
              <a:srgbClr val="0969DA"/>
            </a:solidFill>
            <a:prstDash val="solid"/>
          </a:ln>
          <a:effectLst>
            <a:outerShdw blurRad="177800" dist="38100" dir="5400000" algn="bl" rotWithShape="0">
              <a:srgbClr val="8C959F">
                <a:alpha val="16000"/>
              </a:srgbClr>
            </a:outerShdw>
          </a:effectLst>
        </p:spPr>
      </p:sp>
      <p:sp>
        <p:nvSpPr>
          <p:cNvPr id="15" name="Text 13"/>
          <p:cNvSpPr/>
          <p:nvPr/>
        </p:nvSpPr>
        <p:spPr>
          <a:xfrm>
            <a:off x="7900416" y="2761488"/>
            <a:ext cx="1335024" cy="1225296"/>
          </a:xfrm>
          <a:prstGeom prst="rect">
            <a:avLst/>
          </a:prstGeom>
          <a:noFill/>
          <a:ln/>
        </p:spPr>
        <p:txBody>
          <a:bodyPr wrap="square" lIns="0" tIns="0" rIns="0" bIns="0" rtlCol="0" anchor="ctr"/>
          <a:lstStyle/>
          <a:p>
            <a:pPr marL="0" indent="0" algn="ctr">
              <a:lnSpc>
                <a:spcPts val="1400"/>
              </a:lnSpc>
              <a:buNone/>
            </a:pPr>
            <a:r>
              <a:rPr lang="en-US" sz="1350" b="1" dirty="0">
                <a:solidFill>
                  <a:srgbClr val="0969DA"/>
                </a:solidFill>
                <a:latin typeface="Calibri" pitchFamily="34" charset="0"/>
                <a:ea typeface="Calibri" pitchFamily="34" charset="-122"/>
                <a:cs typeface="Calibri" pitchFamily="34" charset="-120"/>
              </a:rPr>
              <a:t>Act</a:t>
            </a:r>
            <a:endParaRPr lang="en-US" sz="1350" dirty="0"/>
          </a:p>
          <a:p>
            <a:pPr marL="0" indent="0" algn="ctr">
              <a:lnSpc>
                <a:spcPts val="1400"/>
              </a:lnSpc>
              <a:buNone/>
            </a:pPr>
            <a:r>
              <a:rPr lang="en-US" sz="900" dirty="0">
                <a:solidFill>
                  <a:srgbClr val="2B3138"/>
                </a:solidFill>
                <a:latin typeface="Calibri" pitchFamily="34" charset="0"/>
                <a:ea typeface="Calibri" pitchFamily="34" charset="-122"/>
                <a:cs typeface="Calibri" pitchFamily="34" charset="-120"/>
              </a:rPr>
              <a:t>edit · run tests</a:t>
            </a:r>
            <a:endParaRPr lang="en-US" sz="1350" dirty="0"/>
          </a:p>
        </p:txBody>
      </p:sp>
      <p:sp>
        <p:nvSpPr>
          <p:cNvPr id="16" name="Shape 14"/>
          <p:cNvSpPr/>
          <p:nvPr/>
        </p:nvSpPr>
        <p:spPr>
          <a:xfrm>
            <a:off x="8430768" y="2514600"/>
            <a:ext cx="274320" cy="274320"/>
          </a:xfrm>
          <a:prstGeom prst="ellipse">
            <a:avLst/>
          </a:prstGeom>
          <a:solidFill>
            <a:srgbClr val="0969DA"/>
          </a:solidFill>
          <a:ln/>
        </p:spPr>
      </p:sp>
      <p:sp>
        <p:nvSpPr>
          <p:cNvPr id="17" name="Text 15"/>
          <p:cNvSpPr/>
          <p:nvPr/>
        </p:nvSpPr>
        <p:spPr>
          <a:xfrm>
            <a:off x="8430768" y="2514600"/>
            <a:ext cx="27432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18" name="Shape 16"/>
          <p:cNvSpPr/>
          <p:nvPr/>
        </p:nvSpPr>
        <p:spPr>
          <a:xfrm>
            <a:off x="7900416" y="4590288"/>
            <a:ext cx="1335024" cy="1335024"/>
          </a:xfrm>
          <a:prstGeom prst="ellipse">
            <a:avLst/>
          </a:prstGeom>
          <a:solidFill>
            <a:srgbClr val="EAF2FD"/>
          </a:solidFill>
          <a:ln w="20320">
            <a:solidFill>
              <a:srgbClr val="0969DA"/>
            </a:solidFill>
            <a:prstDash val="solid"/>
          </a:ln>
          <a:effectLst>
            <a:outerShdw blurRad="177800" dist="38100" dir="5400000" algn="bl" rotWithShape="0">
              <a:srgbClr val="8C959F">
                <a:alpha val="16000"/>
              </a:srgbClr>
            </a:outerShdw>
          </a:effectLst>
        </p:spPr>
      </p:sp>
      <p:sp>
        <p:nvSpPr>
          <p:cNvPr id="19" name="Text 17"/>
          <p:cNvSpPr/>
          <p:nvPr/>
        </p:nvSpPr>
        <p:spPr>
          <a:xfrm>
            <a:off x="7900416" y="4700016"/>
            <a:ext cx="1335024" cy="1225296"/>
          </a:xfrm>
          <a:prstGeom prst="rect">
            <a:avLst/>
          </a:prstGeom>
          <a:noFill/>
          <a:ln/>
        </p:spPr>
        <p:txBody>
          <a:bodyPr wrap="square" lIns="0" tIns="0" rIns="0" bIns="0" rtlCol="0" anchor="ctr"/>
          <a:lstStyle/>
          <a:p>
            <a:pPr marL="0" indent="0" algn="ctr">
              <a:lnSpc>
                <a:spcPts val="1400"/>
              </a:lnSpc>
              <a:buNone/>
            </a:pPr>
            <a:r>
              <a:rPr lang="en-US" sz="1350" b="1" dirty="0">
                <a:solidFill>
                  <a:srgbClr val="0969DA"/>
                </a:solidFill>
                <a:latin typeface="Calibri" pitchFamily="34" charset="0"/>
                <a:ea typeface="Calibri" pitchFamily="34" charset="-122"/>
                <a:cs typeface="Calibri" pitchFamily="34" charset="-120"/>
              </a:rPr>
              <a:t>Verify</a:t>
            </a:r>
            <a:endParaRPr lang="en-US" sz="1350" dirty="0"/>
          </a:p>
          <a:p>
            <a:pPr marL="0" indent="0" algn="ctr">
              <a:lnSpc>
                <a:spcPts val="1400"/>
              </a:lnSpc>
              <a:buNone/>
            </a:pPr>
            <a:r>
              <a:rPr lang="en-US" sz="900" dirty="0">
                <a:solidFill>
                  <a:srgbClr val="2B3138"/>
                </a:solidFill>
                <a:latin typeface="Calibri" pitchFamily="34" charset="0"/>
                <a:ea typeface="Calibri" pitchFamily="34" charset="-122"/>
                <a:cs typeface="Calibri" pitchFamily="34" charset="-120"/>
              </a:rPr>
              <a:t>read the errors</a:t>
            </a:r>
            <a:endParaRPr lang="en-US" sz="1350" dirty="0"/>
          </a:p>
        </p:txBody>
      </p:sp>
      <p:sp>
        <p:nvSpPr>
          <p:cNvPr id="20" name="Shape 18"/>
          <p:cNvSpPr/>
          <p:nvPr/>
        </p:nvSpPr>
        <p:spPr>
          <a:xfrm>
            <a:off x="8430768" y="4453128"/>
            <a:ext cx="274320" cy="274320"/>
          </a:xfrm>
          <a:prstGeom prst="ellipse">
            <a:avLst/>
          </a:prstGeom>
          <a:solidFill>
            <a:srgbClr val="0969DA"/>
          </a:solidFill>
          <a:ln/>
        </p:spPr>
      </p:sp>
      <p:sp>
        <p:nvSpPr>
          <p:cNvPr id="21" name="Text 19"/>
          <p:cNvSpPr/>
          <p:nvPr/>
        </p:nvSpPr>
        <p:spPr>
          <a:xfrm>
            <a:off x="8430768" y="4453128"/>
            <a:ext cx="27432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22" name="Shape 20"/>
          <p:cNvSpPr/>
          <p:nvPr/>
        </p:nvSpPr>
        <p:spPr>
          <a:xfrm>
            <a:off x="3310128" y="4590288"/>
            <a:ext cx="1335024" cy="1335024"/>
          </a:xfrm>
          <a:prstGeom prst="ellipse">
            <a:avLst/>
          </a:prstGeom>
          <a:solidFill>
            <a:srgbClr val="EAF2FD"/>
          </a:solidFill>
          <a:ln w="20320">
            <a:solidFill>
              <a:srgbClr val="0969DA"/>
            </a:solidFill>
            <a:prstDash val="solid"/>
          </a:ln>
          <a:effectLst>
            <a:outerShdw blurRad="177800" dist="38100" dir="5400000" algn="bl" rotWithShape="0">
              <a:srgbClr val="8C959F">
                <a:alpha val="16000"/>
              </a:srgbClr>
            </a:outerShdw>
          </a:effectLst>
        </p:spPr>
      </p:sp>
      <p:sp>
        <p:nvSpPr>
          <p:cNvPr id="23" name="Text 21"/>
          <p:cNvSpPr/>
          <p:nvPr/>
        </p:nvSpPr>
        <p:spPr>
          <a:xfrm>
            <a:off x="3310128" y="4700016"/>
            <a:ext cx="1335024" cy="1225296"/>
          </a:xfrm>
          <a:prstGeom prst="rect">
            <a:avLst/>
          </a:prstGeom>
          <a:noFill/>
          <a:ln/>
        </p:spPr>
        <p:txBody>
          <a:bodyPr wrap="square" lIns="0" tIns="0" rIns="0" bIns="0" rtlCol="0" anchor="ctr"/>
          <a:lstStyle/>
          <a:p>
            <a:pPr marL="0" indent="0" algn="ctr">
              <a:lnSpc>
                <a:spcPts val="1400"/>
              </a:lnSpc>
              <a:buNone/>
            </a:pPr>
            <a:r>
              <a:rPr lang="en-US" sz="1350" b="1" dirty="0">
                <a:solidFill>
                  <a:srgbClr val="0969DA"/>
                </a:solidFill>
                <a:latin typeface="Calibri" pitchFamily="34" charset="0"/>
                <a:ea typeface="Calibri" pitchFamily="34" charset="-122"/>
                <a:cs typeface="Calibri" pitchFamily="34" charset="-120"/>
              </a:rPr>
              <a:t>Decide</a:t>
            </a:r>
            <a:endParaRPr lang="en-US" sz="1350" dirty="0"/>
          </a:p>
          <a:p>
            <a:pPr marL="0" indent="0" algn="ctr">
              <a:lnSpc>
                <a:spcPts val="1400"/>
              </a:lnSpc>
              <a:buNone/>
            </a:pPr>
            <a:r>
              <a:rPr lang="en-US" sz="900" dirty="0">
                <a:solidFill>
                  <a:srgbClr val="2B3138"/>
                </a:solidFill>
                <a:latin typeface="Calibri" pitchFamily="34" charset="0"/>
                <a:ea typeface="Calibri" pitchFamily="34" charset="-122"/>
                <a:cs typeface="Calibri" pitchFamily="34" charset="-120"/>
              </a:rPr>
              <a:t>next step</a:t>
            </a:r>
            <a:endParaRPr lang="en-US" sz="1350" dirty="0"/>
          </a:p>
        </p:txBody>
      </p:sp>
      <p:sp>
        <p:nvSpPr>
          <p:cNvPr id="24" name="Shape 22"/>
          <p:cNvSpPr/>
          <p:nvPr/>
        </p:nvSpPr>
        <p:spPr>
          <a:xfrm>
            <a:off x="3840480" y="4453128"/>
            <a:ext cx="274320" cy="274320"/>
          </a:xfrm>
          <a:prstGeom prst="ellipse">
            <a:avLst/>
          </a:prstGeom>
          <a:solidFill>
            <a:srgbClr val="0969DA"/>
          </a:solidFill>
          <a:ln/>
        </p:spPr>
      </p:sp>
      <p:sp>
        <p:nvSpPr>
          <p:cNvPr id="25" name="Text 23"/>
          <p:cNvSpPr/>
          <p:nvPr/>
        </p:nvSpPr>
        <p:spPr>
          <a:xfrm>
            <a:off x="3840480" y="4453128"/>
            <a:ext cx="27432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26" name="Shape 24"/>
          <p:cNvSpPr/>
          <p:nvPr/>
        </p:nvSpPr>
        <p:spPr>
          <a:xfrm>
            <a:off x="4846320" y="3227832"/>
            <a:ext cx="2852928" cy="182880"/>
          </a:xfrm>
          <a:prstGeom prst="rightArrow">
            <a:avLst/>
          </a:prstGeom>
          <a:solidFill>
            <a:srgbClr val="0969DA"/>
          </a:solidFill>
          <a:ln/>
        </p:spPr>
      </p:sp>
      <p:sp>
        <p:nvSpPr>
          <p:cNvPr id="27" name="Shape 25"/>
          <p:cNvSpPr/>
          <p:nvPr/>
        </p:nvSpPr>
        <p:spPr>
          <a:xfrm>
            <a:off x="4846320" y="5166360"/>
            <a:ext cx="2852928" cy="182880"/>
          </a:xfrm>
          <a:prstGeom prst="leftArrow">
            <a:avLst/>
          </a:prstGeom>
          <a:solidFill>
            <a:srgbClr val="0969DA"/>
          </a:solidFill>
          <a:ln/>
        </p:spPr>
      </p:sp>
      <p:sp>
        <p:nvSpPr>
          <p:cNvPr id="28" name="Shape 26"/>
          <p:cNvSpPr/>
          <p:nvPr/>
        </p:nvSpPr>
        <p:spPr>
          <a:xfrm>
            <a:off x="8476488" y="4133088"/>
            <a:ext cx="182880" cy="310896"/>
          </a:xfrm>
          <a:prstGeom prst="downArrow">
            <a:avLst/>
          </a:prstGeom>
          <a:solidFill>
            <a:srgbClr val="0969DA"/>
          </a:solidFill>
          <a:ln/>
        </p:spPr>
      </p:sp>
      <p:sp>
        <p:nvSpPr>
          <p:cNvPr id="29" name="Shape 27"/>
          <p:cNvSpPr/>
          <p:nvPr/>
        </p:nvSpPr>
        <p:spPr>
          <a:xfrm>
            <a:off x="3886200" y="4133088"/>
            <a:ext cx="182880" cy="310896"/>
          </a:xfrm>
          <a:prstGeom prst="upArrow">
            <a:avLst/>
          </a:prstGeom>
          <a:solidFill>
            <a:srgbClr val="0969DA"/>
          </a:solidFill>
          <a:ln/>
        </p:spPr>
      </p:sp>
      <p:sp>
        <p:nvSpPr>
          <p:cNvPr id="30" name="Text 28"/>
          <p:cNvSpPr/>
          <p:nvPr/>
        </p:nvSpPr>
        <p:spPr>
          <a:xfrm>
            <a:off x="4864608" y="3712464"/>
            <a:ext cx="2816352" cy="658368"/>
          </a:xfrm>
          <a:prstGeom prst="rect">
            <a:avLst/>
          </a:prstGeom>
          <a:noFill/>
          <a:ln/>
        </p:spPr>
        <p:txBody>
          <a:bodyPr wrap="square" lIns="0" tIns="0" rIns="0" bIns="0" rtlCol="0" anchor="ctr"/>
          <a:lstStyle/>
          <a:p>
            <a:pPr marL="0" indent="0" algn="ctr">
              <a:lnSpc>
                <a:spcPts val="1400"/>
              </a:lnSpc>
              <a:buNone/>
            </a:pPr>
            <a:r>
              <a:rPr lang="en-US" sz="1050" i="1" dirty="0">
                <a:solidFill>
                  <a:srgbClr val="6E7781"/>
                </a:solidFill>
                <a:latin typeface="Calibri" pitchFamily="34" charset="0"/>
                <a:ea typeface="Calibri" pitchFamily="34" charset="-122"/>
                <a:cs typeface="Calibri" pitchFamily="34" charset="-120"/>
              </a:rPr>
              <a:t>the self-healing loop</a:t>
            </a:r>
            <a:endParaRPr lang="en-US" sz="1050" dirty="0"/>
          </a:p>
          <a:p>
            <a:pPr marL="0" indent="0" algn="ctr">
              <a:lnSpc>
                <a:spcPts val="1400"/>
              </a:lnSpc>
              <a:buNone/>
            </a:pPr>
            <a:r>
              <a:rPr lang="en-US" sz="1050" i="1" dirty="0">
                <a:solidFill>
                  <a:srgbClr val="6E7781"/>
                </a:solidFill>
                <a:latin typeface="Calibri" pitchFamily="34" charset="0"/>
                <a:ea typeface="Calibri" pitchFamily="34" charset="-122"/>
                <a:cs typeface="Calibri" pitchFamily="34" charset="-120"/>
              </a:rPr>
              <a:t>it runs this until the work stands up</a:t>
            </a:r>
            <a:endParaRPr lang="en-US" sz="1050" dirty="0"/>
          </a:p>
        </p:txBody>
      </p:sp>
      <p:sp>
        <p:nvSpPr>
          <p:cNvPr id="31" name="Shape 29"/>
          <p:cNvSpPr/>
          <p:nvPr/>
        </p:nvSpPr>
        <p:spPr>
          <a:xfrm>
            <a:off x="9436608" y="3968496"/>
            <a:ext cx="475488" cy="182880"/>
          </a:xfrm>
          <a:prstGeom prst="rightArrow">
            <a:avLst/>
          </a:prstGeom>
          <a:solidFill>
            <a:srgbClr val="1A7F37"/>
          </a:solidFill>
          <a:ln/>
        </p:spPr>
      </p:sp>
      <p:sp>
        <p:nvSpPr>
          <p:cNvPr id="32" name="Shape 30"/>
          <p:cNvSpPr/>
          <p:nvPr/>
        </p:nvSpPr>
        <p:spPr>
          <a:xfrm>
            <a:off x="9912096" y="3584448"/>
            <a:ext cx="1709928" cy="932688"/>
          </a:xfrm>
          <a:prstGeom prst="roundRect">
            <a:avLst>
              <a:gd name="adj" fmla="val 4902"/>
            </a:avLst>
          </a:prstGeom>
          <a:solidFill>
            <a:srgbClr val="EAF6ED"/>
          </a:solidFill>
          <a:ln w="13970">
            <a:solidFill>
              <a:srgbClr val="1A7F37"/>
            </a:solidFill>
            <a:prstDash val="solid"/>
          </a:ln>
          <a:effectLst>
            <a:outerShdw blurRad="177800" dist="38100" dir="5400000" algn="bl" rotWithShape="0">
              <a:srgbClr val="8C959F">
                <a:alpha val="16000"/>
              </a:srgbClr>
            </a:outerShdw>
          </a:effectLst>
        </p:spPr>
      </p:sp>
      <p:sp>
        <p:nvSpPr>
          <p:cNvPr id="33" name="Text 31"/>
          <p:cNvSpPr/>
          <p:nvPr/>
        </p:nvSpPr>
        <p:spPr>
          <a:xfrm>
            <a:off x="10003536" y="3685032"/>
            <a:ext cx="1527048" cy="274320"/>
          </a:xfrm>
          <a:prstGeom prst="rect">
            <a:avLst/>
          </a:prstGeom>
          <a:noFill/>
          <a:ln/>
        </p:spPr>
        <p:txBody>
          <a:bodyPr wrap="square" lIns="0" tIns="0" rIns="0" bIns="0" rtlCol="0" anchor="ctr"/>
          <a:lstStyle/>
          <a:p>
            <a:pPr marL="0" indent="0" algn="ctr">
              <a:buNone/>
            </a:pPr>
            <a:r>
              <a:rPr lang="en-US" sz="1150" b="1" dirty="0">
                <a:solidFill>
                  <a:srgbClr val="1A7F37"/>
                </a:solidFill>
                <a:latin typeface="Calibri" pitchFamily="34" charset="0"/>
                <a:ea typeface="Calibri" pitchFamily="34" charset="-122"/>
                <a:cs typeface="Calibri" pitchFamily="34" charset="-120"/>
              </a:rPr>
              <a:t>Reviewable</a:t>
            </a:r>
            <a:endParaRPr lang="en-US" sz="1150" dirty="0"/>
          </a:p>
        </p:txBody>
      </p:sp>
      <p:sp>
        <p:nvSpPr>
          <p:cNvPr id="34" name="Text 32"/>
          <p:cNvSpPr/>
          <p:nvPr/>
        </p:nvSpPr>
        <p:spPr>
          <a:xfrm>
            <a:off x="10003536" y="3959352"/>
            <a:ext cx="1527048" cy="475488"/>
          </a:xfrm>
          <a:prstGeom prst="rect">
            <a:avLst/>
          </a:prstGeom>
          <a:noFill/>
          <a:ln/>
        </p:spPr>
        <p:txBody>
          <a:bodyPr wrap="square" lIns="0" tIns="0" rIns="0" bIns="0" rtlCol="0" anchor="t"/>
          <a:lstStyle/>
          <a:p>
            <a:pPr marL="0" indent="0" algn="ctr">
              <a:lnSpc>
                <a:spcPts val="1200"/>
              </a:lnSpc>
              <a:buNone/>
            </a:pPr>
            <a:r>
              <a:rPr lang="en-US" sz="950" dirty="0">
                <a:solidFill>
                  <a:srgbClr val="2B3138"/>
                </a:solidFill>
                <a:latin typeface="Calibri" pitchFamily="34" charset="0"/>
                <a:ea typeface="Calibri" pitchFamily="34" charset="-122"/>
                <a:cs typeface="Calibri" pitchFamily="34" charset="-120"/>
              </a:rPr>
              <a:t>a diff · a pull request</a:t>
            </a:r>
            <a:endParaRPr lang="en-US" sz="950" dirty="0"/>
          </a:p>
        </p:txBody>
      </p:sp>
      <p:sp>
        <p:nvSpPr>
          <p:cNvPr id="35" name="Text 33"/>
          <p:cNvSpPr/>
          <p:nvPr/>
        </p:nvSpPr>
        <p:spPr>
          <a:xfrm>
            <a:off x="566928" y="6437376"/>
            <a:ext cx="10552176" cy="237744"/>
          </a:xfrm>
          <a:prstGeom prst="rect">
            <a:avLst/>
          </a:prstGeom>
          <a:noFill/>
          <a:ln/>
        </p:spPr>
        <p:txBody>
          <a:bodyPr wrap="square" lIns="0" tIns="0" rIns="0" bIns="0" rtlCol="0" anchor="ctr"/>
          <a:lstStyle/>
          <a:p>
            <a:pPr marL="0" indent="0">
              <a:buNone/>
            </a:pPr>
            <a:r>
              <a:rPr lang="en-US" sz="850" b="1" dirty="0">
                <a:solidFill>
                  <a:srgbClr val="6E7781"/>
                </a:solidFill>
                <a:latin typeface="Calibri" pitchFamily="34" charset="0"/>
                <a:ea typeface="Calibri" pitchFamily="34" charset="-122"/>
                <a:cs typeface="Calibri" pitchFamily="34" charset="-120"/>
              </a:rPr>
              <a:t>Sources   </a:t>
            </a:r>
            <a:r>
              <a:rPr lang="en-US" sz="850" dirty="0">
                <a:solidFill>
                  <a:srgbClr val="6E7781"/>
                </a:solidFill>
                <a:latin typeface="Calibri" pitchFamily="34" charset="0"/>
                <a:ea typeface="Calibri" pitchFamily="34" charset="-122"/>
                <a:cs typeface="Calibri" pitchFamily="34" charset="-120"/>
              </a:rPr>
              <a:t>claude.com/blog/getting-started-with-loops · learn.microsoft.com/visualstudio/ide/copilot-agent-mode</a:t>
            </a:r>
            <a:endParaRPr lang="en-US" sz="850" dirty="0"/>
          </a:p>
        </p:txBody>
      </p:sp>
      <p:sp>
        <p:nvSpPr>
          <p:cNvPr id="36"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anim calcmode="lin" valueType="num">
                                      <p:cBhvr additive="base">
                                        <p:cTn id="8" dur="420" fill="hold"/>
                                        <p:tgtEl>
                                          <p:spTgt spid="5"/>
                                        </p:tgtEl>
                                        <p:attrNameLst>
                                          <p:attrName>ppt_y</p:attrName>
                                        </p:attrNameLst>
                                      </p:cBhvr>
                                      <p:tavLst>
                                        <p:tav tm="0">
                                          <p:val>
                                            <p:strVal val="#ppt_y+0.035"/>
                                          </p:val>
                                        </p:tav>
                                        <p:tav tm="100000">
                                          <p:val>
                                            <p:strVal val="#ppt_y"/>
                                          </p:val>
                                        </p:tav>
                                      </p:tavLst>
                                    </p:anim>
                                    <p:set>
                                      <p:cBhvr>
                                        <p:cTn id="9" dur="1" fill="hold">
                                          <p:stCondLst>
                                            <p:cond delay="0"/>
                                          </p:stCondLst>
                                        </p:cTn>
                                        <p:tgtEl>
                                          <p:spTgt spid="12"/>
                                        </p:tgtEl>
                                        <p:attrNameLst>
                                          <p:attrName>style.visibility</p:attrName>
                                        </p:attrNameLst>
                                      </p:cBhvr>
                                      <p:to>
                                        <p:strVal val="visible"/>
                                      </p:to>
                                    </p:set>
                                    <p:animEffect transition="in" filter="fade">
                                      <p:cBhvr>
                                        <p:cTn id="10" dur="420"/>
                                        <p:tgtEl>
                                          <p:spTgt spid="12"/>
                                        </p:tgtEl>
                                      </p:cBhvr>
                                    </p:animEffect>
                                    <p:anim calcmode="lin" valueType="num">
                                      <p:cBhvr additive="base">
                                        <p:cTn id="11" dur="420" fill="hold"/>
                                        <p:tgtEl>
                                          <p:spTgt spid="12"/>
                                        </p:tgtEl>
                                        <p:attrNameLst>
                                          <p:attrName>ppt_y</p:attrName>
                                        </p:attrNameLst>
                                      </p:cBhvr>
                                      <p:tavLst>
                                        <p:tav tm="0">
                                          <p:val>
                                            <p:strVal val="#ppt_y+0.035"/>
                                          </p:val>
                                        </p:tav>
                                        <p:tav tm="100000">
                                          <p:val>
                                            <p:strVal val="#ppt_y"/>
                                          </p:val>
                                        </p:tav>
                                      </p:tavLst>
                                    </p:anim>
                                    <p:set>
                                      <p:cBhvr>
                                        <p:cTn id="12" dur="1" fill="hold">
                                          <p:stCondLst>
                                            <p:cond delay="0"/>
                                          </p:stCondLst>
                                        </p:cTn>
                                        <p:tgtEl>
                                          <p:spTgt spid="13"/>
                                        </p:tgtEl>
                                        <p:attrNameLst>
                                          <p:attrName>style.visibility</p:attrName>
                                        </p:attrNameLst>
                                      </p:cBhvr>
                                      <p:to>
                                        <p:strVal val="visible"/>
                                      </p:to>
                                    </p:set>
                                    <p:animEffect transition="in" filter="fade">
                                      <p:cBhvr>
                                        <p:cTn id="13" dur="420"/>
                                        <p:tgtEl>
                                          <p:spTgt spid="13"/>
                                        </p:tgtEl>
                                      </p:cBhvr>
                                    </p:animEffect>
                                    <p:anim calcmode="lin" valueType="num">
                                      <p:cBhvr additive="base">
                                        <p:cTn id="14" dur="420" fill="hold"/>
                                        <p:tgtEl>
                                          <p:spTgt spid="13"/>
                                        </p:tgtEl>
                                        <p:attrNameLst>
                                          <p:attrName>ppt_y</p:attrName>
                                        </p:attrNameLst>
                                      </p:cBhvr>
                                      <p:tavLst>
                                        <p:tav tm="0">
                                          <p:val>
                                            <p:strVal val="#ppt_y+0.035"/>
                                          </p:val>
                                        </p:tav>
                                        <p:tav tm="100000">
                                          <p:val>
                                            <p:strVal val="#ppt_y"/>
                                          </p:val>
                                        </p:tav>
                                      </p:tavLst>
                                    </p:anim>
                                    <p:set>
                                      <p:cBhvr>
                                        <p:cTn id="15" dur="1" fill="hold">
                                          <p:stCondLst>
                                            <p:cond delay="0"/>
                                          </p:stCondLst>
                                        </p:cTn>
                                        <p:tgtEl>
                                          <p:spTgt spid="16"/>
                                        </p:tgtEl>
                                        <p:attrNameLst>
                                          <p:attrName>style.visibility</p:attrName>
                                        </p:attrNameLst>
                                      </p:cBhvr>
                                      <p:to>
                                        <p:strVal val="visible"/>
                                      </p:to>
                                    </p:set>
                                    <p:animEffect transition="in" filter="fade">
                                      <p:cBhvr>
                                        <p:cTn id="16" dur="420"/>
                                        <p:tgtEl>
                                          <p:spTgt spid="16"/>
                                        </p:tgtEl>
                                      </p:cBhvr>
                                    </p:animEffect>
                                    <p:anim calcmode="lin" valueType="num">
                                      <p:cBhvr additive="base">
                                        <p:cTn id="17" dur="420" fill="hold"/>
                                        <p:tgtEl>
                                          <p:spTgt spid="16"/>
                                        </p:tgtEl>
                                        <p:attrNameLst>
                                          <p:attrName>ppt_y</p:attrName>
                                        </p:attrNameLst>
                                      </p:cBhvr>
                                      <p:tavLst>
                                        <p:tav tm="0">
                                          <p:val>
                                            <p:strVal val="#ppt_y+0.035"/>
                                          </p:val>
                                        </p:tav>
                                        <p:tav tm="100000">
                                          <p:val>
                                            <p:strVal val="#ppt_y"/>
                                          </p:val>
                                        </p:tav>
                                      </p:tavLst>
                                    </p:anim>
                                    <p:set>
                                      <p:cBhvr>
                                        <p:cTn id="18" dur="1" fill="hold">
                                          <p:stCondLst>
                                            <p:cond delay="0"/>
                                          </p:stCondLst>
                                        </p:cTn>
                                        <p:tgtEl>
                                          <p:spTgt spid="17"/>
                                        </p:tgtEl>
                                        <p:attrNameLst>
                                          <p:attrName>style.visibility</p:attrName>
                                        </p:attrNameLst>
                                      </p:cBhvr>
                                      <p:to>
                                        <p:strVal val="visible"/>
                                      </p:to>
                                    </p:set>
                                    <p:animEffect transition="in" filter="fade">
                                      <p:cBhvr>
                                        <p:cTn id="19" dur="420"/>
                                        <p:tgtEl>
                                          <p:spTgt spid="17"/>
                                        </p:tgtEl>
                                      </p:cBhvr>
                                    </p:animEffect>
                                    <p:anim calcmode="lin" valueType="num">
                                      <p:cBhvr additive="base">
                                        <p:cTn id="20" dur="420" fill="hold"/>
                                        <p:tgtEl>
                                          <p:spTgt spid="17"/>
                                        </p:tgtEl>
                                        <p:attrNameLst>
                                          <p:attrName>ppt_y</p:attrName>
                                        </p:attrNameLst>
                                      </p:cBhvr>
                                      <p:tavLst>
                                        <p:tav tm="0">
                                          <p:val>
                                            <p:strVal val="#ppt_y+0.035"/>
                                          </p:val>
                                        </p:tav>
                                        <p:tav tm="100000">
                                          <p:val>
                                            <p:strVal val="#ppt_y"/>
                                          </p:val>
                                        </p:tav>
                                      </p:tavLst>
                                    </p:anim>
                                    <p:set>
                                      <p:cBhvr>
                                        <p:cTn id="21" dur="1" fill="hold">
                                          <p:stCondLst>
                                            <p:cond delay="0"/>
                                          </p:stCondLst>
                                        </p:cTn>
                                        <p:tgtEl>
                                          <p:spTgt spid="10"/>
                                        </p:tgtEl>
                                        <p:attrNameLst>
                                          <p:attrName>style.visibility</p:attrName>
                                        </p:attrNameLst>
                                      </p:cBhvr>
                                      <p:to>
                                        <p:strVal val="visible"/>
                                      </p:to>
                                    </p:set>
                                    <p:animEffect transition="in" filter="fade">
                                      <p:cBhvr>
                                        <p:cTn id="22" dur="420"/>
                                        <p:tgtEl>
                                          <p:spTgt spid="10"/>
                                        </p:tgtEl>
                                      </p:cBhvr>
                                    </p:animEffect>
                                    <p:anim calcmode="lin" valueType="num">
                                      <p:cBhvr additive="base">
                                        <p:cTn id="23" dur="420" fill="hold"/>
                                        <p:tgtEl>
                                          <p:spTgt spid="10"/>
                                        </p:tgtEl>
                                        <p:attrNameLst>
                                          <p:attrName>ppt_y</p:attrName>
                                        </p:attrNameLst>
                                      </p:cBhvr>
                                      <p:tavLst>
                                        <p:tav tm="0">
                                          <p:val>
                                            <p:strVal val="#ppt_y+0.035"/>
                                          </p:val>
                                        </p:tav>
                                        <p:tav tm="100000">
                                          <p:val>
                                            <p:strVal val="#ppt_y"/>
                                          </p:val>
                                        </p:tav>
                                      </p:tavLst>
                                    </p:anim>
                                    <p:set>
                                      <p:cBhvr>
                                        <p:cTn id="24" dur="1" fill="hold">
                                          <p:stCondLst>
                                            <p:cond delay="0"/>
                                          </p:stCondLst>
                                        </p:cTn>
                                        <p:tgtEl>
                                          <p:spTgt spid="14"/>
                                        </p:tgtEl>
                                        <p:attrNameLst>
                                          <p:attrName>style.visibility</p:attrName>
                                        </p:attrNameLst>
                                      </p:cBhvr>
                                      <p:to>
                                        <p:strVal val="visible"/>
                                      </p:to>
                                    </p:set>
                                    <p:animEffect transition="in" filter="fade">
                                      <p:cBhvr>
                                        <p:cTn id="25" dur="420"/>
                                        <p:tgtEl>
                                          <p:spTgt spid="14"/>
                                        </p:tgtEl>
                                      </p:cBhvr>
                                    </p:animEffect>
                                    <p:anim calcmode="lin" valueType="num">
                                      <p:cBhvr additive="base">
                                        <p:cTn id="26" dur="420" fill="hold"/>
                                        <p:tgtEl>
                                          <p:spTgt spid="14"/>
                                        </p:tgtEl>
                                        <p:attrNameLst>
                                          <p:attrName>ppt_y</p:attrName>
                                        </p:attrNameLst>
                                      </p:cBhvr>
                                      <p:tavLst>
                                        <p:tav tm="0">
                                          <p:val>
                                            <p:strVal val="#ppt_y+0.035"/>
                                          </p:val>
                                        </p:tav>
                                        <p:tav tm="100000">
                                          <p:val>
                                            <p:strVal val="#ppt_y"/>
                                          </p:val>
                                        </p:tav>
                                      </p:tavLst>
                                    </p:anim>
                                    <p:set>
                                      <p:cBhvr>
                                        <p:cTn id="27" dur="1" fill="hold">
                                          <p:stCondLst>
                                            <p:cond delay="0"/>
                                          </p:stCondLst>
                                        </p:cTn>
                                        <p:tgtEl>
                                          <p:spTgt spid="11"/>
                                        </p:tgtEl>
                                        <p:attrNameLst>
                                          <p:attrName>style.visibility</p:attrName>
                                        </p:attrNameLst>
                                      </p:cBhvr>
                                      <p:to>
                                        <p:strVal val="visible"/>
                                      </p:to>
                                    </p:set>
                                    <p:animEffect transition="in" filter="fade">
                                      <p:cBhvr>
                                        <p:cTn id="28" dur="420"/>
                                        <p:tgtEl>
                                          <p:spTgt spid="11"/>
                                        </p:tgtEl>
                                      </p:cBhvr>
                                    </p:animEffect>
                                    <p:anim calcmode="lin" valueType="num">
                                      <p:cBhvr additive="base">
                                        <p:cTn id="29" dur="420" fill="hold"/>
                                        <p:tgtEl>
                                          <p:spTgt spid="11"/>
                                        </p:tgtEl>
                                        <p:attrNameLst>
                                          <p:attrName>ppt_y</p:attrName>
                                        </p:attrNameLst>
                                      </p:cBhvr>
                                      <p:tavLst>
                                        <p:tav tm="0">
                                          <p:val>
                                            <p:strVal val="#ppt_y+0.035"/>
                                          </p:val>
                                        </p:tav>
                                        <p:tav tm="100000">
                                          <p:val>
                                            <p:strVal val="#ppt_y"/>
                                          </p:val>
                                        </p:tav>
                                      </p:tavLst>
                                    </p:anim>
                                    <p:set>
                                      <p:cBhvr>
                                        <p:cTn id="30" dur="1" fill="hold">
                                          <p:stCondLst>
                                            <p:cond delay="0"/>
                                          </p:stCondLst>
                                        </p:cTn>
                                        <p:tgtEl>
                                          <p:spTgt spid="15"/>
                                        </p:tgtEl>
                                        <p:attrNameLst>
                                          <p:attrName>style.visibility</p:attrName>
                                        </p:attrNameLst>
                                      </p:cBhvr>
                                      <p:to>
                                        <p:strVal val="visible"/>
                                      </p:to>
                                    </p:set>
                                    <p:animEffect transition="in" filter="fade">
                                      <p:cBhvr>
                                        <p:cTn id="31" dur="420"/>
                                        <p:tgtEl>
                                          <p:spTgt spid="15"/>
                                        </p:tgtEl>
                                      </p:cBhvr>
                                    </p:animEffect>
                                    <p:anim calcmode="lin" valueType="num">
                                      <p:cBhvr additive="base">
                                        <p:cTn id="32" dur="420" fill="hold"/>
                                        <p:tgtEl>
                                          <p:spTgt spid="15"/>
                                        </p:tgtEl>
                                        <p:attrNameLst>
                                          <p:attrName>ppt_y</p:attrName>
                                        </p:attrNameLst>
                                      </p:cBhvr>
                                      <p:tavLst>
                                        <p:tav tm="0">
                                          <p:val>
                                            <p:strVal val="#ppt_y+0.035"/>
                                          </p:val>
                                        </p:tav>
                                        <p:tav tm="100000">
                                          <p:val>
                                            <p:strVal val="#ppt_y"/>
                                          </p:val>
                                        </p:tav>
                                      </p:tavLst>
                                    </p:anim>
                                    <p:set>
                                      <p:cBhvr>
                                        <p:cTn id="33" dur="1" fill="hold">
                                          <p:stCondLst>
                                            <p:cond delay="0"/>
                                          </p:stCondLst>
                                        </p:cTn>
                                        <p:tgtEl>
                                          <p:spTgt spid="26"/>
                                        </p:tgtEl>
                                        <p:attrNameLst>
                                          <p:attrName>style.visibility</p:attrName>
                                        </p:attrNameLst>
                                      </p:cBhvr>
                                      <p:to>
                                        <p:strVal val="visible"/>
                                      </p:to>
                                    </p:set>
                                    <p:animEffect transition="in" filter="fade">
                                      <p:cBhvr>
                                        <p:cTn id="34" dur="420"/>
                                        <p:tgtEl>
                                          <p:spTgt spid="26"/>
                                        </p:tgtEl>
                                      </p:cBhvr>
                                    </p:animEffect>
                                    <p:anim calcmode="lin" valueType="num">
                                      <p:cBhvr additive="base">
                                        <p:cTn id="35" dur="420" fill="hold"/>
                                        <p:tgtEl>
                                          <p:spTgt spid="26"/>
                                        </p:tgtEl>
                                        <p:attrNameLst>
                                          <p:attrName>ppt_y</p:attrName>
                                        </p:attrNameLst>
                                      </p:cBhvr>
                                      <p:tavLst>
                                        <p:tav tm="0">
                                          <p:val>
                                            <p:strVal val="#ppt_y+0.035"/>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420"/>
                                        <p:tgtEl>
                                          <p:spTgt spid="6"/>
                                        </p:tgtEl>
                                      </p:cBhvr>
                                    </p:animEffect>
                                    <p:anim calcmode="lin" valueType="num">
                                      <p:cBhvr additive="base">
                                        <p:cTn id="41" dur="420" fill="hold"/>
                                        <p:tgtEl>
                                          <p:spTgt spid="6"/>
                                        </p:tgtEl>
                                        <p:attrNameLst>
                                          <p:attrName>ppt_y</p:attrName>
                                        </p:attrNameLst>
                                      </p:cBhvr>
                                      <p:tavLst>
                                        <p:tav tm="0">
                                          <p:val>
                                            <p:strVal val="#ppt_y+0.035"/>
                                          </p:val>
                                        </p:tav>
                                        <p:tav tm="100000">
                                          <p:val>
                                            <p:strVal val="#ppt_y"/>
                                          </p:val>
                                        </p:tav>
                                      </p:tavLst>
                                    </p:anim>
                                    <p:set>
                                      <p:cBhvr>
                                        <p:cTn id="42" dur="1" fill="hold">
                                          <p:stCondLst>
                                            <p:cond delay="0"/>
                                          </p:stCondLst>
                                        </p:cTn>
                                        <p:tgtEl>
                                          <p:spTgt spid="32"/>
                                        </p:tgtEl>
                                        <p:attrNameLst>
                                          <p:attrName>style.visibility</p:attrName>
                                        </p:attrNameLst>
                                      </p:cBhvr>
                                      <p:to>
                                        <p:strVal val="visible"/>
                                      </p:to>
                                    </p:set>
                                    <p:animEffect transition="in" filter="fade">
                                      <p:cBhvr>
                                        <p:cTn id="43" dur="420"/>
                                        <p:tgtEl>
                                          <p:spTgt spid="32"/>
                                        </p:tgtEl>
                                      </p:cBhvr>
                                    </p:animEffect>
                                    <p:anim calcmode="lin" valueType="num">
                                      <p:cBhvr additive="base">
                                        <p:cTn id="44" dur="420" fill="hold"/>
                                        <p:tgtEl>
                                          <p:spTgt spid="32"/>
                                        </p:tgtEl>
                                        <p:attrNameLst>
                                          <p:attrName>ppt_y</p:attrName>
                                        </p:attrNameLst>
                                      </p:cBhvr>
                                      <p:tavLst>
                                        <p:tav tm="0">
                                          <p:val>
                                            <p:strVal val="#ppt_y+0.035"/>
                                          </p:val>
                                        </p:tav>
                                        <p:tav tm="100000">
                                          <p:val>
                                            <p:strVal val="#ppt_y"/>
                                          </p:val>
                                        </p:tav>
                                      </p:tavLst>
                                    </p:anim>
                                    <p:set>
                                      <p:cBhvr>
                                        <p:cTn id="45" dur="1" fill="hold">
                                          <p:stCondLst>
                                            <p:cond delay="0"/>
                                          </p:stCondLst>
                                        </p:cTn>
                                        <p:tgtEl>
                                          <p:spTgt spid="7"/>
                                        </p:tgtEl>
                                        <p:attrNameLst>
                                          <p:attrName>style.visibility</p:attrName>
                                        </p:attrNameLst>
                                      </p:cBhvr>
                                      <p:to>
                                        <p:strVal val="visible"/>
                                      </p:to>
                                    </p:set>
                                    <p:animEffect transition="in" filter="fade">
                                      <p:cBhvr>
                                        <p:cTn id="46" dur="420"/>
                                        <p:tgtEl>
                                          <p:spTgt spid="7"/>
                                        </p:tgtEl>
                                      </p:cBhvr>
                                    </p:animEffect>
                                    <p:anim calcmode="lin" valueType="num">
                                      <p:cBhvr additive="base">
                                        <p:cTn id="47" dur="420" fill="hold"/>
                                        <p:tgtEl>
                                          <p:spTgt spid="7"/>
                                        </p:tgtEl>
                                        <p:attrNameLst>
                                          <p:attrName>ppt_y</p:attrName>
                                        </p:attrNameLst>
                                      </p:cBhvr>
                                      <p:tavLst>
                                        <p:tav tm="0">
                                          <p:val>
                                            <p:strVal val="#ppt_y+0.035"/>
                                          </p:val>
                                        </p:tav>
                                        <p:tav tm="100000">
                                          <p:val>
                                            <p:strVal val="#ppt_y"/>
                                          </p:val>
                                        </p:tav>
                                      </p:tavLst>
                                    </p:anim>
                                    <p:set>
                                      <p:cBhvr>
                                        <p:cTn id="48" dur="1" fill="hold">
                                          <p:stCondLst>
                                            <p:cond delay="0"/>
                                          </p:stCondLst>
                                        </p:cTn>
                                        <p:tgtEl>
                                          <p:spTgt spid="33"/>
                                        </p:tgtEl>
                                        <p:attrNameLst>
                                          <p:attrName>style.visibility</p:attrName>
                                        </p:attrNameLst>
                                      </p:cBhvr>
                                      <p:to>
                                        <p:strVal val="visible"/>
                                      </p:to>
                                    </p:set>
                                    <p:animEffect transition="in" filter="fade">
                                      <p:cBhvr>
                                        <p:cTn id="49" dur="420"/>
                                        <p:tgtEl>
                                          <p:spTgt spid="33"/>
                                        </p:tgtEl>
                                      </p:cBhvr>
                                    </p:animEffect>
                                    <p:anim calcmode="lin" valueType="num">
                                      <p:cBhvr additive="base">
                                        <p:cTn id="50" dur="420" fill="hold"/>
                                        <p:tgtEl>
                                          <p:spTgt spid="33"/>
                                        </p:tgtEl>
                                        <p:attrNameLst>
                                          <p:attrName>ppt_y</p:attrName>
                                        </p:attrNameLst>
                                      </p:cBhvr>
                                      <p:tavLst>
                                        <p:tav tm="0">
                                          <p:val>
                                            <p:strVal val="#ppt_y+0.035"/>
                                          </p:val>
                                        </p:tav>
                                        <p:tav tm="100000">
                                          <p:val>
                                            <p:strVal val="#ppt_y"/>
                                          </p:val>
                                        </p:tav>
                                      </p:tavLst>
                                    </p:anim>
                                    <p:set>
                                      <p:cBhvr>
                                        <p:cTn id="51" dur="1" fill="hold">
                                          <p:stCondLst>
                                            <p:cond delay="0"/>
                                          </p:stCondLst>
                                        </p:cTn>
                                        <p:tgtEl>
                                          <p:spTgt spid="30"/>
                                        </p:tgtEl>
                                        <p:attrNameLst>
                                          <p:attrName>style.visibility</p:attrName>
                                        </p:attrNameLst>
                                      </p:cBhvr>
                                      <p:to>
                                        <p:strVal val="visible"/>
                                      </p:to>
                                    </p:set>
                                    <p:animEffect transition="in" filter="fade">
                                      <p:cBhvr>
                                        <p:cTn id="52" dur="420"/>
                                        <p:tgtEl>
                                          <p:spTgt spid="30"/>
                                        </p:tgtEl>
                                      </p:cBhvr>
                                    </p:animEffect>
                                    <p:anim calcmode="lin" valueType="num">
                                      <p:cBhvr additive="base">
                                        <p:cTn id="53" dur="420" fill="hold"/>
                                        <p:tgtEl>
                                          <p:spTgt spid="30"/>
                                        </p:tgtEl>
                                        <p:attrNameLst>
                                          <p:attrName>ppt_y</p:attrName>
                                        </p:attrNameLst>
                                      </p:cBhvr>
                                      <p:tavLst>
                                        <p:tav tm="0">
                                          <p:val>
                                            <p:strVal val="#ppt_y+0.035"/>
                                          </p:val>
                                        </p:tav>
                                        <p:tav tm="100000">
                                          <p:val>
                                            <p:strVal val="#ppt_y"/>
                                          </p:val>
                                        </p:tav>
                                      </p:tavLst>
                                    </p:anim>
                                    <p:set>
                                      <p:cBhvr>
                                        <p:cTn id="54" dur="1" fill="hold">
                                          <p:stCondLst>
                                            <p:cond delay="0"/>
                                          </p:stCondLst>
                                        </p:cTn>
                                        <p:tgtEl>
                                          <p:spTgt spid="8"/>
                                        </p:tgtEl>
                                        <p:attrNameLst>
                                          <p:attrName>style.visibility</p:attrName>
                                        </p:attrNameLst>
                                      </p:cBhvr>
                                      <p:to>
                                        <p:strVal val="visible"/>
                                      </p:to>
                                    </p:set>
                                    <p:animEffect transition="in" filter="fade">
                                      <p:cBhvr>
                                        <p:cTn id="55" dur="420"/>
                                        <p:tgtEl>
                                          <p:spTgt spid="8"/>
                                        </p:tgtEl>
                                      </p:cBhvr>
                                    </p:animEffect>
                                    <p:anim calcmode="lin" valueType="num">
                                      <p:cBhvr additive="base">
                                        <p:cTn id="56" dur="420" fill="hold"/>
                                        <p:tgtEl>
                                          <p:spTgt spid="8"/>
                                        </p:tgtEl>
                                        <p:attrNameLst>
                                          <p:attrName>ppt_y</p:attrName>
                                        </p:attrNameLst>
                                      </p:cBhvr>
                                      <p:tavLst>
                                        <p:tav tm="0">
                                          <p:val>
                                            <p:strVal val="#ppt_y+0.035"/>
                                          </p:val>
                                        </p:tav>
                                        <p:tav tm="100000">
                                          <p:val>
                                            <p:strVal val="#ppt_y"/>
                                          </p:val>
                                        </p:tav>
                                      </p:tavLst>
                                    </p:anim>
                                    <p:set>
                                      <p:cBhvr>
                                        <p:cTn id="57" dur="1" fill="hold">
                                          <p:stCondLst>
                                            <p:cond delay="0"/>
                                          </p:stCondLst>
                                        </p:cTn>
                                        <p:tgtEl>
                                          <p:spTgt spid="34"/>
                                        </p:tgtEl>
                                        <p:attrNameLst>
                                          <p:attrName>style.visibility</p:attrName>
                                        </p:attrNameLst>
                                      </p:cBhvr>
                                      <p:to>
                                        <p:strVal val="visible"/>
                                      </p:to>
                                    </p:set>
                                    <p:animEffect transition="in" filter="fade">
                                      <p:cBhvr>
                                        <p:cTn id="58" dur="420"/>
                                        <p:tgtEl>
                                          <p:spTgt spid="34"/>
                                        </p:tgtEl>
                                      </p:cBhvr>
                                    </p:animEffect>
                                    <p:anim calcmode="lin" valueType="num">
                                      <p:cBhvr additive="base">
                                        <p:cTn id="59" dur="420" fill="hold"/>
                                        <p:tgtEl>
                                          <p:spTgt spid="34"/>
                                        </p:tgtEl>
                                        <p:attrNameLst>
                                          <p:attrName>ppt_y</p:attrName>
                                        </p:attrNameLst>
                                      </p:cBhvr>
                                      <p:tavLst>
                                        <p:tav tm="0">
                                          <p:val>
                                            <p:strVal val="#ppt_y+0.035"/>
                                          </p:val>
                                        </p:tav>
                                        <p:tav tm="100000">
                                          <p:val>
                                            <p:strVal val="#ppt_y"/>
                                          </p:val>
                                        </p:tav>
                                      </p:tavLst>
                                    </p:anim>
                                    <p:set>
                                      <p:cBhvr>
                                        <p:cTn id="60" dur="1" fill="hold">
                                          <p:stCondLst>
                                            <p:cond delay="0"/>
                                          </p:stCondLst>
                                        </p:cTn>
                                        <p:tgtEl>
                                          <p:spTgt spid="9"/>
                                        </p:tgtEl>
                                        <p:attrNameLst>
                                          <p:attrName>style.visibility</p:attrName>
                                        </p:attrNameLst>
                                      </p:cBhvr>
                                      <p:to>
                                        <p:strVal val="visible"/>
                                      </p:to>
                                    </p:set>
                                    <p:animEffect transition="in" filter="fade">
                                      <p:cBhvr>
                                        <p:cTn id="61" dur="420"/>
                                        <p:tgtEl>
                                          <p:spTgt spid="9"/>
                                        </p:tgtEl>
                                      </p:cBhvr>
                                    </p:animEffect>
                                    <p:anim calcmode="lin" valueType="num">
                                      <p:cBhvr additive="base">
                                        <p:cTn id="62" dur="420" fill="hold"/>
                                        <p:tgtEl>
                                          <p:spTgt spid="9"/>
                                        </p:tgtEl>
                                        <p:attrNameLst>
                                          <p:attrName>ppt_y</p:attrName>
                                        </p:attrNameLst>
                                      </p:cBhvr>
                                      <p:tavLst>
                                        <p:tav tm="0">
                                          <p:val>
                                            <p:strVal val="#ppt_y+0.035"/>
                                          </p:val>
                                        </p:tav>
                                        <p:tav tm="100000">
                                          <p:val>
                                            <p:strVal val="#ppt_y"/>
                                          </p:val>
                                        </p:tav>
                                      </p:tavLst>
                                    </p:anim>
                                    <p:set>
                                      <p:cBhvr>
                                        <p:cTn id="63" dur="1" fill="hold">
                                          <p:stCondLst>
                                            <p:cond delay="0"/>
                                          </p:stCondLst>
                                        </p:cTn>
                                        <p:tgtEl>
                                          <p:spTgt spid="31"/>
                                        </p:tgtEl>
                                        <p:attrNameLst>
                                          <p:attrName>style.visibility</p:attrName>
                                        </p:attrNameLst>
                                      </p:cBhvr>
                                      <p:to>
                                        <p:strVal val="visible"/>
                                      </p:to>
                                    </p:set>
                                    <p:animEffect transition="in" filter="fade">
                                      <p:cBhvr>
                                        <p:cTn id="64" dur="420"/>
                                        <p:tgtEl>
                                          <p:spTgt spid="31"/>
                                        </p:tgtEl>
                                      </p:cBhvr>
                                    </p:animEffect>
                                    <p:anim calcmode="lin" valueType="num">
                                      <p:cBhvr additive="base">
                                        <p:cTn id="65" dur="420" fill="hold"/>
                                        <p:tgtEl>
                                          <p:spTgt spid="31"/>
                                        </p:tgtEl>
                                        <p:attrNameLst>
                                          <p:attrName>ppt_y</p:attrName>
                                        </p:attrNameLst>
                                      </p:cBhvr>
                                      <p:tavLst>
                                        <p:tav tm="0">
                                          <p:val>
                                            <p:strVal val="#ppt_y+0.035"/>
                                          </p:val>
                                        </p:tav>
                                        <p:tav tm="100000">
                                          <p:val>
                                            <p:strVal val="#ppt_y"/>
                                          </p:val>
                                        </p:tav>
                                      </p:tavLst>
                                    </p:anim>
                                    <p:set>
                                      <p:cBhvr>
                                        <p:cTn id="66" dur="1" fill="hold">
                                          <p:stCondLst>
                                            <p:cond delay="0"/>
                                          </p:stCondLst>
                                        </p:cTn>
                                        <p:tgtEl>
                                          <p:spTgt spid="28"/>
                                        </p:tgtEl>
                                        <p:attrNameLst>
                                          <p:attrName>style.visibility</p:attrName>
                                        </p:attrNameLst>
                                      </p:cBhvr>
                                      <p:to>
                                        <p:strVal val="visible"/>
                                      </p:to>
                                    </p:set>
                                    <p:animEffect transition="in" filter="fade">
                                      <p:cBhvr>
                                        <p:cTn id="67" dur="420"/>
                                        <p:tgtEl>
                                          <p:spTgt spid="28"/>
                                        </p:tgtEl>
                                      </p:cBhvr>
                                    </p:animEffect>
                                    <p:anim calcmode="lin" valueType="num">
                                      <p:cBhvr additive="base">
                                        <p:cTn id="68" dur="420" fill="hold"/>
                                        <p:tgtEl>
                                          <p:spTgt spid="28"/>
                                        </p:tgtEl>
                                        <p:attrNameLst>
                                          <p:attrName>ppt_y</p:attrName>
                                        </p:attrNameLst>
                                      </p:cBhvr>
                                      <p:tavLst>
                                        <p:tav tm="0">
                                          <p:val>
                                            <p:strVal val="#ppt_y+0.035"/>
                                          </p:val>
                                        </p:tav>
                                        <p:tav tm="100000">
                                          <p:val>
                                            <p:strVal val="#ppt_y"/>
                                          </p:val>
                                        </p:tav>
                                      </p:tavLst>
                                    </p:anim>
                                    <p:set>
                                      <p:cBhvr>
                                        <p:cTn id="69" dur="1" fill="hold">
                                          <p:stCondLst>
                                            <p:cond delay="0"/>
                                          </p:stCondLst>
                                        </p:cTn>
                                        <p:tgtEl>
                                          <p:spTgt spid="29"/>
                                        </p:tgtEl>
                                        <p:attrNameLst>
                                          <p:attrName>style.visibility</p:attrName>
                                        </p:attrNameLst>
                                      </p:cBhvr>
                                      <p:to>
                                        <p:strVal val="visible"/>
                                      </p:to>
                                    </p:set>
                                    <p:animEffect transition="in" filter="fade">
                                      <p:cBhvr>
                                        <p:cTn id="70" dur="420"/>
                                        <p:tgtEl>
                                          <p:spTgt spid="29"/>
                                        </p:tgtEl>
                                      </p:cBhvr>
                                    </p:animEffect>
                                    <p:anim calcmode="lin" valueType="num">
                                      <p:cBhvr additive="base">
                                        <p:cTn id="71" dur="420" fill="hold"/>
                                        <p:tgtEl>
                                          <p:spTgt spid="29"/>
                                        </p:tgtEl>
                                        <p:attrNameLst>
                                          <p:attrName>ppt_y</p:attrName>
                                        </p:attrNameLst>
                                      </p:cBhvr>
                                      <p:tavLst>
                                        <p:tav tm="0">
                                          <p:val>
                                            <p:strVal val="#ppt_y+0.035"/>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420"/>
                                        <p:tgtEl>
                                          <p:spTgt spid="20"/>
                                        </p:tgtEl>
                                      </p:cBhvr>
                                    </p:animEffect>
                                    <p:anim calcmode="lin" valueType="num">
                                      <p:cBhvr additive="base">
                                        <p:cTn id="77" dur="420" fill="hold"/>
                                        <p:tgtEl>
                                          <p:spTgt spid="20"/>
                                        </p:tgtEl>
                                        <p:attrNameLst>
                                          <p:attrName>ppt_y</p:attrName>
                                        </p:attrNameLst>
                                      </p:cBhvr>
                                      <p:tavLst>
                                        <p:tav tm="0">
                                          <p:val>
                                            <p:strVal val="#ppt_y+0.035"/>
                                          </p:val>
                                        </p:tav>
                                        <p:tav tm="100000">
                                          <p:val>
                                            <p:strVal val="#ppt_y"/>
                                          </p:val>
                                        </p:tav>
                                      </p:tavLst>
                                    </p:anim>
                                    <p:set>
                                      <p:cBhvr>
                                        <p:cTn id="78" dur="1" fill="hold">
                                          <p:stCondLst>
                                            <p:cond delay="0"/>
                                          </p:stCondLst>
                                        </p:cTn>
                                        <p:tgtEl>
                                          <p:spTgt spid="21"/>
                                        </p:tgtEl>
                                        <p:attrNameLst>
                                          <p:attrName>style.visibility</p:attrName>
                                        </p:attrNameLst>
                                      </p:cBhvr>
                                      <p:to>
                                        <p:strVal val="visible"/>
                                      </p:to>
                                    </p:set>
                                    <p:animEffect transition="in" filter="fade">
                                      <p:cBhvr>
                                        <p:cTn id="79" dur="420"/>
                                        <p:tgtEl>
                                          <p:spTgt spid="21"/>
                                        </p:tgtEl>
                                      </p:cBhvr>
                                    </p:animEffect>
                                    <p:anim calcmode="lin" valueType="num">
                                      <p:cBhvr additive="base">
                                        <p:cTn id="80" dur="420" fill="hold"/>
                                        <p:tgtEl>
                                          <p:spTgt spid="21"/>
                                        </p:tgtEl>
                                        <p:attrNameLst>
                                          <p:attrName>ppt_y</p:attrName>
                                        </p:attrNameLst>
                                      </p:cBhvr>
                                      <p:tavLst>
                                        <p:tav tm="0">
                                          <p:val>
                                            <p:strVal val="#ppt_y+0.035"/>
                                          </p:val>
                                        </p:tav>
                                        <p:tav tm="100000">
                                          <p:val>
                                            <p:strVal val="#ppt_y"/>
                                          </p:val>
                                        </p:tav>
                                      </p:tavLst>
                                    </p:anim>
                                    <p:set>
                                      <p:cBhvr>
                                        <p:cTn id="81" dur="1" fill="hold">
                                          <p:stCondLst>
                                            <p:cond delay="0"/>
                                          </p:stCondLst>
                                        </p:cTn>
                                        <p:tgtEl>
                                          <p:spTgt spid="24"/>
                                        </p:tgtEl>
                                        <p:attrNameLst>
                                          <p:attrName>style.visibility</p:attrName>
                                        </p:attrNameLst>
                                      </p:cBhvr>
                                      <p:to>
                                        <p:strVal val="visible"/>
                                      </p:to>
                                    </p:set>
                                    <p:animEffect transition="in" filter="fade">
                                      <p:cBhvr>
                                        <p:cTn id="82" dur="420"/>
                                        <p:tgtEl>
                                          <p:spTgt spid="24"/>
                                        </p:tgtEl>
                                      </p:cBhvr>
                                    </p:animEffect>
                                    <p:anim calcmode="lin" valueType="num">
                                      <p:cBhvr additive="base">
                                        <p:cTn id="83" dur="420" fill="hold"/>
                                        <p:tgtEl>
                                          <p:spTgt spid="24"/>
                                        </p:tgtEl>
                                        <p:attrNameLst>
                                          <p:attrName>ppt_y</p:attrName>
                                        </p:attrNameLst>
                                      </p:cBhvr>
                                      <p:tavLst>
                                        <p:tav tm="0">
                                          <p:val>
                                            <p:strVal val="#ppt_y+0.035"/>
                                          </p:val>
                                        </p:tav>
                                        <p:tav tm="100000">
                                          <p:val>
                                            <p:strVal val="#ppt_y"/>
                                          </p:val>
                                        </p:tav>
                                      </p:tavLst>
                                    </p:anim>
                                    <p:set>
                                      <p:cBhvr>
                                        <p:cTn id="84" dur="1" fill="hold">
                                          <p:stCondLst>
                                            <p:cond delay="0"/>
                                          </p:stCondLst>
                                        </p:cTn>
                                        <p:tgtEl>
                                          <p:spTgt spid="25"/>
                                        </p:tgtEl>
                                        <p:attrNameLst>
                                          <p:attrName>style.visibility</p:attrName>
                                        </p:attrNameLst>
                                      </p:cBhvr>
                                      <p:to>
                                        <p:strVal val="visible"/>
                                      </p:to>
                                    </p:set>
                                    <p:animEffect transition="in" filter="fade">
                                      <p:cBhvr>
                                        <p:cTn id="85" dur="420"/>
                                        <p:tgtEl>
                                          <p:spTgt spid="25"/>
                                        </p:tgtEl>
                                      </p:cBhvr>
                                    </p:animEffect>
                                    <p:anim calcmode="lin" valueType="num">
                                      <p:cBhvr additive="base">
                                        <p:cTn id="86" dur="420" fill="hold"/>
                                        <p:tgtEl>
                                          <p:spTgt spid="25"/>
                                        </p:tgtEl>
                                        <p:attrNameLst>
                                          <p:attrName>ppt_y</p:attrName>
                                        </p:attrNameLst>
                                      </p:cBhvr>
                                      <p:tavLst>
                                        <p:tav tm="0">
                                          <p:val>
                                            <p:strVal val="#ppt_y+0.035"/>
                                          </p:val>
                                        </p:tav>
                                        <p:tav tm="100000">
                                          <p:val>
                                            <p:strVal val="#ppt_y"/>
                                          </p:val>
                                        </p:tav>
                                      </p:tavLst>
                                    </p:anim>
                                    <p:set>
                                      <p:cBhvr>
                                        <p:cTn id="87" dur="1" fill="hold">
                                          <p:stCondLst>
                                            <p:cond delay="0"/>
                                          </p:stCondLst>
                                        </p:cTn>
                                        <p:tgtEl>
                                          <p:spTgt spid="18"/>
                                        </p:tgtEl>
                                        <p:attrNameLst>
                                          <p:attrName>style.visibility</p:attrName>
                                        </p:attrNameLst>
                                      </p:cBhvr>
                                      <p:to>
                                        <p:strVal val="visible"/>
                                      </p:to>
                                    </p:set>
                                    <p:animEffect transition="in" filter="fade">
                                      <p:cBhvr>
                                        <p:cTn id="88" dur="420"/>
                                        <p:tgtEl>
                                          <p:spTgt spid="18"/>
                                        </p:tgtEl>
                                      </p:cBhvr>
                                    </p:animEffect>
                                    <p:anim calcmode="lin" valueType="num">
                                      <p:cBhvr additive="base">
                                        <p:cTn id="89" dur="420" fill="hold"/>
                                        <p:tgtEl>
                                          <p:spTgt spid="18"/>
                                        </p:tgtEl>
                                        <p:attrNameLst>
                                          <p:attrName>ppt_y</p:attrName>
                                        </p:attrNameLst>
                                      </p:cBhvr>
                                      <p:tavLst>
                                        <p:tav tm="0">
                                          <p:val>
                                            <p:strVal val="#ppt_y+0.035"/>
                                          </p:val>
                                        </p:tav>
                                        <p:tav tm="100000">
                                          <p:val>
                                            <p:strVal val="#ppt_y"/>
                                          </p:val>
                                        </p:tav>
                                      </p:tavLst>
                                    </p:anim>
                                    <p:set>
                                      <p:cBhvr>
                                        <p:cTn id="90" dur="1" fill="hold">
                                          <p:stCondLst>
                                            <p:cond delay="0"/>
                                          </p:stCondLst>
                                        </p:cTn>
                                        <p:tgtEl>
                                          <p:spTgt spid="22"/>
                                        </p:tgtEl>
                                        <p:attrNameLst>
                                          <p:attrName>style.visibility</p:attrName>
                                        </p:attrNameLst>
                                      </p:cBhvr>
                                      <p:to>
                                        <p:strVal val="visible"/>
                                      </p:to>
                                    </p:set>
                                    <p:animEffect transition="in" filter="fade">
                                      <p:cBhvr>
                                        <p:cTn id="91" dur="420"/>
                                        <p:tgtEl>
                                          <p:spTgt spid="22"/>
                                        </p:tgtEl>
                                      </p:cBhvr>
                                    </p:animEffect>
                                    <p:anim calcmode="lin" valueType="num">
                                      <p:cBhvr additive="base">
                                        <p:cTn id="92" dur="420" fill="hold"/>
                                        <p:tgtEl>
                                          <p:spTgt spid="22"/>
                                        </p:tgtEl>
                                        <p:attrNameLst>
                                          <p:attrName>ppt_y</p:attrName>
                                        </p:attrNameLst>
                                      </p:cBhvr>
                                      <p:tavLst>
                                        <p:tav tm="0">
                                          <p:val>
                                            <p:strVal val="#ppt_y+0.035"/>
                                          </p:val>
                                        </p:tav>
                                        <p:tav tm="100000">
                                          <p:val>
                                            <p:strVal val="#ppt_y"/>
                                          </p:val>
                                        </p:tav>
                                      </p:tavLst>
                                    </p:anim>
                                    <p:set>
                                      <p:cBhvr>
                                        <p:cTn id="93" dur="1" fill="hold">
                                          <p:stCondLst>
                                            <p:cond delay="0"/>
                                          </p:stCondLst>
                                        </p:cTn>
                                        <p:tgtEl>
                                          <p:spTgt spid="19"/>
                                        </p:tgtEl>
                                        <p:attrNameLst>
                                          <p:attrName>style.visibility</p:attrName>
                                        </p:attrNameLst>
                                      </p:cBhvr>
                                      <p:to>
                                        <p:strVal val="visible"/>
                                      </p:to>
                                    </p:set>
                                    <p:animEffect transition="in" filter="fade">
                                      <p:cBhvr>
                                        <p:cTn id="94" dur="420"/>
                                        <p:tgtEl>
                                          <p:spTgt spid="19"/>
                                        </p:tgtEl>
                                      </p:cBhvr>
                                    </p:animEffect>
                                    <p:anim calcmode="lin" valueType="num">
                                      <p:cBhvr additive="base">
                                        <p:cTn id="95" dur="420" fill="hold"/>
                                        <p:tgtEl>
                                          <p:spTgt spid="19"/>
                                        </p:tgtEl>
                                        <p:attrNameLst>
                                          <p:attrName>ppt_y</p:attrName>
                                        </p:attrNameLst>
                                      </p:cBhvr>
                                      <p:tavLst>
                                        <p:tav tm="0">
                                          <p:val>
                                            <p:strVal val="#ppt_y+0.035"/>
                                          </p:val>
                                        </p:tav>
                                        <p:tav tm="100000">
                                          <p:val>
                                            <p:strVal val="#ppt_y"/>
                                          </p:val>
                                        </p:tav>
                                      </p:tavLst>
                                    </p:anim>
                                    <p:set>
                                      <p:cBhvr>
                                        <p:cTn id="96" dur="1" fill="hold">
                                          <p:stCondLst>
                                            <p:cond delay="0"/>
                                          </p:stCondLst>
                                        </p:cTn>
                                        <p:tgtEl>
                                          <p:spTgt spid="23"/>
                                        </p:tgtEl>
                                        <p:attrNameLst>
                                          <p:attrName>style.visibility</p:attrName>
                                        </p:attrNameLst>
                                      </p:cBhvr>
                                      <p:to>
                                        <p:strVal val="visible"/>
                                      </p:to>
                                    </p:set>
                                    <p:animEffect transition="in" filter="fade">
                                      <p:cBhvr>
                                        <p:cTn id="97" dur="420"/>
                                        <p:tgtEl>
                                          <p:spTgt spid="23"/>
                                        </p:tgtEl>
                                      </p:cBhvr>
                                    </p:animEffect>
                                    <p:anim calcmode="lin" valueType="num">
                                      <p:cBhvr additive="base">
                                        <p:cTn id="98" dur="420" fill="hold"/>
                                        <p:tgtEl>
                                          <p:spTgt spid="23"/>
                                        </p:tgtEl>
                                        <p:attrNameLst>
                                          <p:attrName>ppt_y</p:attrName>
                                        </p:attrNameLst>
                                      </p:cBhvr>
                                      <p:tavLst>
                                        <p:tav tm="0">
                                          <p:val>
                                            <p:strVal val="#ppt_y+0.035"/>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27"/>
                                        </p:tgtEl>
                                        <p:attrNameLst>
                                          <p:attrName>style.visibility</p:attrName>
                                        </p:attrNameLst>
                                      </p:cBhvr>
                                      <p:to>
                                        <p:strVal val="visible"/>
                                      </p:to>
                                    </p:set>
                                    <p:animEffect transition="in" filter="fade">
                                      <p:cBhvr>
                                        <p:cTn id="103" dur="420"/>
                                        <p:tgtEl>
                                          <p:spTgt spid="27"/>
                                        </p:tgtEl>
                                      </p:cBhvr>
                                    </p:animEffect>
                                    <p:anim calcmode="lin" valueType="num">
                                      <p:cBhvr additive="base">
                                        <p:cTn id="104" dur="420" fill="hold"/>
                                        <p:tgtEl>
                                          <p:spTgt spid="27"/>
                                        </p:tgtEl>
                                        <p:attrNameLst>
                                          <p:attrName>ppt_y</p:attrName>
                                        </p:attrNameLst>
                                      </p:cBhvr>
                                      <p:tavLst>
                                        <p:tav tm="0">
                                          <p:val>
                                            <p:strVal val="#ppt_y+0.035"/>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25"/>
                                        </p:tgtEl>
                                        <p:attrNameLst>
                                          <p:attrName>style.visibility</p:attrName>
                                        </p:attrNameLst>
                                      </p:cBhvr>
                                      <p:to>
                                        <p:strVal val="visible"/>
                                      </p:to>
                                    </p:set>
                                    <p:animEffect transition="in" filter="fade">
                                      <p:cBhvr>
                                        <p:cTn id="109" dur="420"/>
                                        <p:tgtEl>
                                          <p:spTgt spid="25"/>
                                        </p:tgtEl>
                                      </p:cBhvr>
                                    </p:animEffect>
                                    <p:anim calcmode="lin" valueType="num">
                                      <p:cBhvr additive="base">
                                        <p:cTn id="110" dur="420" fill="hold"/>
                                        <p:tgtEl>
                                          <p:spTgt spid="25"/>
                                        </p:tgtEl>
                                        <p:attrNameLst>
                                          <p:attrName>ppt_y</p:attrName>
                                        </p:attrNameLst>
                                      </p:cBhvr>
                                      <p:tavLst>
                                        <p:tav tm="0">
                                          <p:val>
                                            <p:strVal val="#ppt_y+0.035"/>
                                          </p:val>
                                        </p:tav>
                                        <p:tav tm="100000">
                                          <p:val>
                                            <p:strVal val="#ppt_y"/>
                                          </p:val>
                                        </p:tav>
                                      </p:tavLst>
                                    </p:anim>
                                    <p:set>
                                      <p:cBhvr>
                                        <p:cTn id="111" dur="1" fill="hold">
                                          <p:stCondLst>
                                            <p:cond delay="0"/>
                                          </p:stCondLst>
                                        </p:cTn>
                                        <p:tgtEl>
                                          <p:spTgt spid="35"/>
                                        </p:tgtEl>
                                        <p:attrNameLst>
                                          <p:attrName>style.visibility</p:attrName>
                                        </p:attrNameLst>
                                      </p:cBhvr>
                                      <p:to>
                                        <p:strVal val="visible"/>
                                      </p:to>
                                    </p:set>
                                    <p:animEffect transition="in" filter="fade">
                                      <p:cBhvr>
                                        <p:cTn id="112" dur="420"/>
                                        <p:tgtEl>
                                          <p:spTgt spid="35"/>
                                        </p:tgtEl>
                                      </p:cBhvr>
                                    </p:animEffect>
                                    <p:anim calcmode="lin" valueType="num">
                                      <p:cBhvr additive="base">
                                        <p:cTn id="113" dur="420" fill="hold"/>
                                        <p:tgtEl>
                                          <p:spTgt spid="3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P spid="9" grpId="0"/>
      <p:bldP spid="10" grpId="0"/>
      <p:bldP spid="11" grpId="0"/>
      <p:bldP spid="12" grpId="0"/>
      <p:bldP spid="13" grpId="0"/>
      <p:bldP spid="14" grpId="0"/>
      <p:bldP spid="15" grpId="0"/>
      <p:bldP spid="16" grpId="0"/>
      <p:bldP spid="17" grpId="0"/>
      <p:bldP spid="18" grpId="0"/>
      <p:bldP spid="19" grpId="0"/>
      <p:bldP spid="20" grpId="0" animBg="1"/>
      <p:bldP spid="21" grpId="0"/>
      <p:bldP spid="22" grpId="0"/>
      <p:bldP spid="23" grpId="0"/>
      <p:bldP spid="24" grpId="0"/>
      <p:bldP spid="25" grpId="0" animBg="1"/>
      <p:bldP spid="26" grpId="0"/>
      <p:bldP spid="27" grpId="0" animBg="1"/>
      <p:bldP spid="28" grpId="0"/>
      <p:bldP spid="29" grpId="0"/>
      <p:bldP spid="30" grpId="0"/>
      <p:bldP spid="31" grpId="0"/>
      <p:bldP spid="32" grpId="0"/>
      <p:bldP spid="33" grpId="0"/>
      <p:bldP spid="34" grpId="0"/>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01</a:t>
            </a:r>
            <a:r>
              <a:rPr lang="en-US" sz="1150" b="1" kern="0" spc="160" dirty="0">
                <a:solidFill>
                  <a:srgbClr val="6E7781"/>
                </a:solidFill>
                <a:latin typeface="Calibri" pitchFamily="34" charset="0"/>
                <a:ea typeface="Calibri" pitchFamily="34" charset="-122"/>
                <a:cs typeface="Calibri" pitchFamily="34" charset="-120"/>
              </a:rPr>
              <a:t>   HOW IT WORKS</a:t>
            </a:r>
            <a:endParaRPr lang="en-US" sz="1150" dirty="0"/>
          </a:p>
        </p:txBody>
      </p:sp>
      <p:sp>
        <p:nvSpPr>
          <p:cNvPr id="3" name="Text 1"/>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Three ways to run an agent</a:t>
            </a:r>
            <a:endParaRPr lang="en-US" sz="3200" dirty="0"/>
          </a:p>
        </p:txBody>
      </p:sp>
      <p:sp>
        <p:nvSpPr>
          <p:cNvPr id="4" name="Text 2"/>
          <p:cNvSpPr/>
          <p:nvPr/>
        </p:nvSpPr>
        <p:spPr>
          <a:xfrm>
            <a:off x="566928" y="1389888"/>
            <a:ext cx="11055096" cy="566928"/>
          </a:xfrm>
          <a:prstGeom prst="rect">
            <a:avLst/>
          </a:prstGeom>
          <a:noFill/>
          <a:ln/>
        </p:spPr>
        <p:txBody>
          <a:bodyPr wrap="square" lIns="0" tIns="0" rIns="0" bIns="0" rtlCol="0" anchor="t"/>
          <a:lstStyle/>
          <a:p>
            <a:pPr marL="0" indent="0">
              <a:lnSpc>
                <a:spcPts val="1850"/>
              </a:lnSpc>
              <a:buNone/>
            </a:pPr>
            <a:r>
              <a:rPr lang="en-US" sz="1350" dirty="0">
                <a:solidFill>
                  <a:srgbClr val="2B3138"/>
                </a:solidFill>
                <a:latin typeface="Calibri" pitchFamily="34" charset="0"/>
                <a:ea typeface="Calibri" pitchFamily="34" charset="-122"/>
                <a:cs typeface="Calibri" pitchFamily="34" charset="-120"/>
              </a:rPr>
              <a:t>Same underlying agent, three very different risk profiles. The choice is really about how long you are prepared to look away.</a:t>
            </a:r>
            <a:endParaRPr lang="en-US" sz="1350" dirty="0"/>
          </a:p>
        </p:txBody>
      </p:sp>
      <p:sp>
        <p:nvSpPr>
          <p:cNvPr id="5" name="Shape 3"/>
          <p:cNvSpPr/>
          <p:nvPr/>
        </p:nvSpPr>
        <p:spPr>
          <a:xfrm>
            <a:off x="566928" y="2157984"/>
            <a:ext cx="3538728" cy="3712464"/>
          </a:xfrm>
          <a:prstGeom prst="roundRect">
            <a:avLst>
              <a:gd name="adj" fmla="val 1550"/>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6" name="Shape 4"/>
          <p:cNvSpPr/>
          <p:nvPr/>
        </p:nvSpPr>
        <p:spPr>
          <a:xfrm>
            <a:off x="822960" y="2395728"/>
            <a:ext cx="420624" cy="420624"/>
          </a:xfrm>
          <a:prstGeom prst="ellipse">
            <a:avLst/>
          </a:prstGeom>
          <a:solidFill>
            <a:srgbClr val="FFFFFF"/>
          </a:solidFill>
          <a:ln w="15875">
            <a:solidFill>
              <a:srgbClr val="0969DA"/>
            </a:solidFill>
            <a:prstDash val="solid"/>
          </a:ln>
        </p:spPr>
      </p:sp>
      <p:sp>
        <p:nvSpPr>
          <p:cNvPr id="7" name="Text 5"/>
          <p:cNvSpPr/>
          <p:nvPr/>
        </p:nvSpPr>
        <p:spPr>
          <a:xfrm>
            <a:off x="822960" y="2395728"/>
            <a:ext cx="420624" cy="420624"/>
          </a:xfrm>
          <a:prstGeom prst="rect">
            <a:avLst/>
          </a:prstGeom>
          <a:noFill/>
          <a:ln/>
        </p:spPr>
        <p:txBody>
          <a:bodyPr wrap="square" lIns="0" tIns="0" rIns="0" bIns="0" rtlCol="0" anchor="ctr"/>
          <a:lstStyle/>
          <a:p>
            <a:pPr marL="0" indent="0" algn="ctr">
              <a:buNone/>
            </a:pPr>
            <a:r>
              <a:rPr lang="en-US" sz="1600" b="1" dirty="0">
                <a:solidFill>
                  <a:srgbClr val="0969DA"/>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353312" y="2377440"/>
            <a:ext cx="2496312" cy="256032"/>
          </a:xfrm>
          <a:prstGeom prst="rect">
            <a:avLst/>
          </a:prstGeom>
          <a:noFill/>
          <a:ln/>
        </p:spPr>
        <p:txBody>
          <a:bodyPr wrap="square" lIns="0" tIns="0" rIns="0" bIns="0" rtlCol="0" anchor="ctr"/>
          <a:lstStyle/>
          <a:p>
            <a:pPr marL="0" indent="0">
              <a:buNone/>
            </a:pPr>
            <a:r>
              <a:rPr lang="en-US" sz="1700" b="1" dirty="0">
                <a:solidFill>
                  <a:srgbClr val="0969DA"/>
                </a:solidFill>
                <a:latin typeface="Cambria" pitchFamily="34" charset="0"/>
                <a:ea typeface="Cambria" pitchFamily="34" charset="-122"/>
                <a:cs typeface="Cambria" pitchFamily="34" charset="-120"/>
              </a:rPr>
              <a:t>Agent mode</a:t>
            </a:r>
            <a:endParaRPr lang="en-US" sz="1700" dirty="0"/>
          </a:p>
        </p:txBody>
      </p:sp>
      <p:sp>
        <p:nvSpPr>
          <p:cNvPr id="9" name="Text 7"/>
          <p:cNvSpPr/>
          <p:nvPr/>
        </p:nvSpPr>
        <p:spPr>
          <a:xfrm>
            <a:off x="1353312" y="2633472"/>
            <a:ext cx="2496312" cy="219456"/>
          </a:xfrm>
          <a:prstGeom prst="rect">
            <a:avLst/>
          </a:prstGeom>
          <a:noFill/>
          <a:ln/>
        </p:spPr>
        <p:txBody>
          <a:bodyPr wrap="square" lIns="0" tIns="0" rIns="0" bIns="0" rtlCol="0" anchor="ctr"/>
          <a:lstStyle/>
          <a:p>
            <a:pPr marL="0" indent="0">
              <a:buNone/>
            </a:pPr>
            <a:r>
              <a:rPr lang="en-US" sz="1000" i="1" dirty="0">
                <a:solidFill>
                  <a:srgbClr val="6E7781"/>
                </a:solidFill>
                <a:latin typeface="Calibri" pitchFamily="34" charset="0"/>
                <a:ea typeface="Calibri" pitchFamily="34" charset="-122"/>
                <a:cs typeface="Calibri" pitchFamily="34" charset="-120"/>
              </a:rPr>
              <a:t>in your IDE</a:t>
            </a:r>
            <a:endParaRPr lang="en-US" sz="1000" dirty="0"/>
          </a:p>
        </p:txBody>
      </p:sp>
      <p:sp>
        <p:nvSpPr>
          <p:cNvPr id="10" name="Shape 8"/>
          <p:cNvSpPr/>
          <p:nvPr/>
        </p:nvSpPr>
        <p:spPr>
          <a:xfrm>
            <a:off x="822960" y="2999232"/>
            <a:ext cx="960120" cy="109728"/>
          </a:xfrm>
          <a:prstGeom prst="roundRect">
            <a:avLst>
              <a:gd name="adj" fmla="val 41667"/>
            </a:avLst>
          </a:prstGeom>
          <a:solidFill>
            <a:srgbClr val="0969DA"/>
          </a:solidFill>
          <a:ln w="9525">
            <a:solidFill>
              <a:srgbClr val="0969DA"/>
            </a:solidFill>
            <a:prstDash val="solid"/>
          </a:ln>
        </p:spPr>
      </p:sp>
      <p:sp>
        <p:nvSpPr>
          <p:cNvPr id="11" name="Shape 9"/>
          <p:cNvSpPr/>
          <p:nvPr/>
        </p:nvSpPr>
        <p:spPr>
          <a:xfrm>
            <a:off x="1856232" y="2999232"/>
            <a:ext cx="960120" cy="109728"/>
          </a:xfrm>
          <a:prstGeom prst="roundRect">
            <a:avLst>
              <a:gd name="adj" fmla="val 41667"/>
            </a:avLst>
          </a:prstGeom>
          <a:solidFill>
            <a:srgbClr val="FFFFFF"/>
          </a:solidFill>
          <a:ln w="9525">
            <a:solidFill>
              <a:srgbClr val="D8DEE4"/>
            </a:solidFill>
            <a:prstDash val="solid"/>
          </a:ln>
        </p:spPr>
      </p:sp>
      <p:sp>
        <p:nvSpPr>
          <p:cNvPr id="12" name="Shape 10"/>
          <p:cNvSpPr/>
          <p:nvPr/>
        </p:nvSpPr>
        <p:spPr>
          <a:xfrm>
            <a:off x="2889504" y="2999232"/>
            <a:ext cx="960120" cy="109728"/>
          </a:xfrm>
          <a:prstGeom prst="roundRect">
            <a:avLst>
              <a:gd name="adj" fmla="val 41667"/>
            </a:avLst>
          </a:prstGeom>
          <a:solidFill>
            <a:srgbClr val="FFFFFF"/>
          </a:solidFill>
          <a:ln w="9525">
            <a:solidFill>
              <a:srgbClr val="D8DEE4"/>
            </a:solidFill>
            <a:prstDash val="solid"/>
          </a:ln>
        </p:spPr>
      </p:sp>
      <p:sp>
        <p:nvSpPr>
          <p:cNvPr id="13" name="Text 11"/>
          <p:cNvSpPr/>
          <p:nvPr/>
        </p:nvSpPr>
        <p:spPr>
          <a:xfrm>
            <a:off x="822960" y="3145536"/>
            <a:ext cx="3026664" cy="182880"/>
          </a:xfrm>
          <a:prstGeom prst="rect">
            <a:avLst/>
          </a:prstGeom>
          <a:noFill/>
          <a:ln/>
        </p:spPr>
        <p:txBody>
          <a:bodyPr wrap="square" lIns="0" tIns="0" rIns="0" bIns="0" rtlCol="0" anchor="ctr"/>
          <a:lstStyle/>
          <a:p>
            <a:pPr marL="0" indent="0">
              <a:buNone/>
            </a:pPr>
            <a:r>
              <a:rPr lang="en-US" sz="850" kern="0" spc="60" dirty="0">
                <a:solidFill>
                  <a:srgbClr val="6E7781"/>
                </a:solidFill>
                <a:latin typeface="Calibri" pitchFamily="34" charset="0"/>
                <a:ea typeface="Calibri" pitchFamily="34" charset="-122"/>
                <a:cs typeface="Calibri" pitchFamily="34" charset="-120"/>
              </a:rPr>
              <a:t>watch every edit</a:t>
            </a:r>
            <a:endParaRPr lang="en-US" sz="850" dirty="0"/>
          </a:p>
        </p:txBody>
      </p:sp>
      <p:sp>
        <p:nvSpPr>
          <p:cNvPr id="14" name="Text 12"/>
          <p:cNvSpPr/>
          <p:nvPr/>
        </p:nvSpPr>
        <p:spPr>
          <a:xfrm>
            <a:off x="822960" y="3438144"/>
            <a:ext cx="3026664" cy="2249424"/>
          </a:xfrm>
          <a:prstGeom prst="rect">
            <a:avLst/>
          </a:prstGeom>
          <a:noFill/>
          <a:ln/>
        </p:spPr>
        <p:txBody>
          <a:bodyPr wrap="square" lIns="0" tIns="0" rIns="0" bIns="0" rtlCol="0" anchor="t"/>
          <a:lstStyle/>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Synchronous — you watch every edit land.</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Edits across files, runs the tests, fixes what it broke.</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Best for a focused feature or a refactor you can supervise.</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No cloud minutes, no sandbox to configure.</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Copilot in Visual Studio 2026 and VS Code; Claude Code in VS Code and JetBrains.</a:t>
            </a:r>
            <a:endParaRPr lang="en-US" sz="1100" dirty="0"/>
          </a:p>
        </p:txBody>
      </p:sp>
      <p:sp>
        <p:nvSpPr>
          <p:cNvPr id="15" name="Shape 13"/>
          <p:cNvSpPr/>
          <p:nvPr/>
        </p:nvSpPr>
        <p:spPr>
          <a:xfrm>
            <a:off x="4325112" y="2157984"/>
            <a:ext cx="3538728" cy="3712464"/>
          </a:xfrm>
          <a:prstGeom prst="roundRect">
            <a:avLst>
              <a:gd name="adj" fmla="val 1550"/>
            </a:avLst>
          </a:prstGeom>
          <a:solidFill>
            <a:srgbClr val="F6F8FA"/>
          </a:solidFill>
          <a:ln w="9525">
            <a:solidFill>
              <a:srgbClr val="D8DEE4"/>
            </a:solidFill>
            <a:prstDash val="solid"/>
          </a:ln>
          <a:effectLst>
            <a:outerShdw blurRad="177800" dist="38100" dir="5400000" algn="bl" rotWithShape="0">
              <a:srgbClr val="8C959F">
                <a:alpha val="16000"/>
              </a:srgbClr>
            </a:outerShdw>
          </a:effectLst>
        </p:spPr>
      </p:sp>
      <p:sp>
        <p:nvSpPr>
          <p:cNvPr id="16" name="Shape 14"/>
          <p:cNvSpPr/>
          <p:nvPr/>
        </p:nvSpPr>
        <p:spPr>
          <a:xfrm>
            <a:off x="4581144" y="2395728"/>
            <a:ext cx="420624" cy="420624"/>
          </a:xfrm>
          <a:prstGeom prst="ellipse">
            <a:avLst/>
          </a:prstGeom>
          <a:solidFill>
            <a:srgbClr val="FFFFFF"/>
          </a:solidFill>
          <a:ln w="15875">
            <a:solidFill>
              <a:srgbClr val="15181D"/>
            </a:solidFill>
            <a:prstDash val="solid"/>
          </a:ln>
        </p:spPr>
      </p:sp>
      <p:sp>
        <p:nvSpPr>
          <p:cNvPr id="17" name="Text 15"/>
          <p:cNvSpPr/>
          <p:nvPr/>
        </p:nvSpPr>
        <p:spPr>
          <a:xfrm>
            <a:off x="4581144" y="2395728"/>
            <a:ext cx="420624" cy="420624"/>
          </a:xfrm>
          <a:prstGeom prst="rect">
            <a:avLst/>
          </a:prstGeom>
          <a:noFill/>
          <a:ln/>
        </p:spPr>
        <p:txBody>
          <a:bodyPr wrap="square" lIns="0" tIns="0" rIns="0" bIns="0" rtlCol="0" anchor="ctr"/>
          <a:lstStyle/>
          <a:p>
            <a:pPr marL="0" indent="0" algn="ctr">
              <a:buNone/>
            </a:pPr>
            <a:r>
              <a:rPr lang="en-US" sz="1600" b="1" dirty="0">
                <a:solidFill>
                  <a:srgbClr val="15181D"/>
                </a:solidFill>
                <a:latin typeface="Cambria" pitchFamily="34" charset="0"/>
                <a:ea typeface="Cambria" pitchFamily="34" charset="-122"/>
                <a:cs typeface="Cambria" pitchFamily="34" charset="-120"/>
              </a:rPr>
              <a:t>2</a:t>
            </a:r>
            <a:endParaRPr lang="en-US" sz="1600" dirty="0"/>
          </a:p>
        </p:txBody>
      </p:sp>
      <p:sp>
        <p:nvSpPr>
          <p:cNvPr id="18" name="Text 16"/>
          <p:cNvSpPr/>
          <p:nvPr/>
        </p:nvSpPr>
        <p:spPr>
          <a:xfrm>
            <a:off x="5111496" y="2377440"/>
            <a:ext cx="2496312" cy="256032"/>
          </a:xfrm>
          <a:prstGeom prst="rect">
            <a:avLst/>
          </a:prstGeom>
          <a:noFill/>
          <a:ln/>
        </p:spPr>
        <p:txBody>
          <a:bodyPr wrap="square" lIns="0" tIns="0" rIns="0" bIns="0" rtlCol="0" anchor="ctr"/>
          <a:lstStyle/>
          <a:p>
            <a:pPr marL="0" indent="0">
              <a:buNone/>
            </a:pPr>
            <a:r>
              <a:rPr lang="en-US" sz="1700" b="1" dirty="0">
                <a:solidFill>
                  <a:srgbClr val="15181D"/>
                </a:solidFill>
                <a:latin typeface="Cambria" pitchFamily="34" charset="0"/>
                <a:ea typeface="Cambria" pitchFamily="34" charset="-122"/>
                <a:cs typeface="Cambria" pitchFamily="34" charset="-120"/>
              </a:rPr>
              <a:t>CLI and desktop app</a:t>
            </a:r>
            <a:endParaRPr lang="en-US" sz="1700" dirty="0"/>
          </a:p>
        </p:txBody>
      </p:sp>
      <p:sp>
        <p:nvSpPr>
          <p:cNvPr id="19" name="Text 17"/>
          <p:cNvSpPr/>
          <p:nvPr/>
        </p:nvSpPr>
        <p:spPr>
          <a:xfrm>
            <a:off x="5111496" y="2633472"/>
            <a:ext cx="2496312" cy="219456"/>
          </a:xfrm>
          <a:prstGeom prst="rect">
            <a:avLst/>
          </a:prstGeom>
          <a:noFill/>
          <a:ln/>
        </p:spPr>
        <p:txBody>
          <a:bodyPr wrap="square" lIns="0" tIns="0" rIns="0" bIns="0" rtlCol="0" anchor="ctr"/>
          <a:lstStyle/>
          <a:p>
            <a:pPr marL="0" indent="0">
              <a:buNone/>
            </a:pPr>
            <a:r>
              <a:rPr lang="en-US" sz="1000" i="1" dirty="0">
                <a:solidFill>
                  <a:srgbClr val="6E7781"/>
                </a:solidFill>
                <a:latin typeface="Calibri" pitchFamily="34" charset="0"/>
                <a:ea typeface="Calibri" pitchFamily="34" charset="-122"/>
                <a:cs typeface="Calibri" pitchFamily="34" charset="-120"/>
              </a:rPr>
              <a:t>terminal, or a window</a:t>
            </a:r>
            <a:endParaRPr lang="en-US" sz="1000" dirty="0"/>
          </a:p>
        </p:txBody>
      </p:sp>
      <p:sp>
        <p:nvSpPr>
          <p:cNvPr id="20" name="Shape 18"/>
          <p:cNvSpPr/>
          <p:nvPr/>
        </p:nvSpPr>
        <p:spPr>
          <a:xfrm>
            <a:off x="4581144" y="2999232"/>
            <a:ext cx="960120" cy="109728"/>
          </a:xfrm>
          <a:prstGeom prst="roundRect">
            <a:avLst>
              <a:gd name="adj" fmla="val 41667"/>
            </a:avLst>
          </a:prstGeom>
          <a:solidFill>
            <a:srgbClr val="57606A"/>
          </a:solidFill>
          <a:ln w="9525">
            <a:solidFill>
              <a:srgbClr val="57606A"/>
            </a:solidFill>
            <a:prstDash val="solid"/>
          </a:ln>
        </p:spPr>
      </p:sp>
      <p:sp>
        <p:nvSpPr>
          <p:cNvPr id="21" name="Shape 19"/>
          <p:cNvSpPr/>
          <p:nvPr/>
        </p:nvSpPr>
        <p:spPr>
          <a:xfrm>
            <a:off x="5614416" y="2999232"/>
            <a:ext cx="960120" cy="109728"/>
          </a:xfrm>
          <a:prstGeom prst="roundRect">
            <a:avLst>
              <a:gd name="adj" fmla="val 41667"/>
            </a:avLst>
          </a:prstGeom>
          <a:solidFill>
            <a:srgbClr val="57606A"/>
          </a:solidFill>
          <a:ln w="9525">
            <a:solidFill>
              <a:srgbClr val="57606A"/>
            </a:solidFill>
            <a:prstDash val="solid"/>
          </a:ln>
        </p:spPr>
      </p:sp>
      <p:sp>
        <p:nvSpPr>
          <p:cNvPr id="22" name="Shape 20"/>
          <p:cNvSpPr/>
          <p:nvPr/>
        </p:nvSpPr>
        <p:spPr>
          <a:xfrm>
            <a:off x="6647688" y="2999232"/>
            <a:ext cx="960120" cy="109728"/>
          </a:xfrm>
          <a:prstGeom prst="roundRect">
            <a:avLst>
              <a:gd name="adj" fmla="val 41667"/>
            </a:avLst>
          </a:prstGeom>
          <a:solidFill>
            <a:srgbClr val="FFFFFF"/>
          </a:solidFill>
          <a:ln w="9525">
            <a:solidFill>
              <a:srgbClr val="D8DEE4"/>
            </a:solidFill>
            <a:prstDash val="solid"/>
          </a:ln>
        </p:spPr>
      </p:sp>
      <p:sp>
        <p:nvSpPr>
          <p:cNvPr id="23" name="Text 21"/>
          <p:cNvSpPr/>
          <p:nvPr/>
        </p:nvSpPr>
        <p:spPr>
          <a:xfrm>
            <a:off x="4581144" y="3145536"/>
            <a:ext cx="3026664" cy="182880"/>
          </a:xfrm>
          <a:prstGeom prst="rect">
            <a:avLst/>
          </a:prstGeom>
          <a:noFill/>
          <a:ln/>
        </p:spPr>
        <p:txBody>
          <a:bodyPr wrap="square" lIns="0" tIns="0" rIns="0" bIns="0" rtlCol="0" anchor="ctr"/>
          <a:lstStyle/>
          <a:p>
            <a:pPr marL="0" indent="0">
              <a:buNone/>
            </a:pPr>
            <a:r>
              <a:rPr lang="en-US" sz="850" kern="0" spc="60" dirty="0">
                <a:solidFill>
                  <a:srgbClr val="6E7781"/>
                </a:solidFill>
                <a:latin typeface="Calibri" pitchFamily="34" charset="0"/>
                <a:ea typeface="Calibri" pitchFamily="34" charset="-122"/>
                <a:cs typeface="Calibri" pitchFamily="34" charset="-120"/>
              </a:rPr>
              <a:t>check in now and then</a:t>
            </a:r>
            <a:endParaRPr lang="en-US" sz="850" dirty="0"/>
          </a:p>
        </p:txBody>
      </p:sp>
      <p:sp>
        <p:nvSpPr>
          <p:cNvPr id="24" name="Text 22"/>
          <p:cNvSpPr/>
          <p:nvPr/>
        </p:nvSpPr>
        <p:spPr>
          <a:xfrm>
            <a:off x="4581144" y="3438144"/>
            <a:ext cx="3026664" cy="2249424"/>
          </a:xfrm>
          <a:prstGeom prst="rect">
            <a:avLst/>
          </a:prstGeom>
          <a:noFill/>
          <a:ln/>
        </p:spPr>
        <p:txBody>
          <a:bodyPr wrap="square" lIns="0" tIns="0" rIns="0" bIns="0" rtlCol="0" anchor="t"/>
          <a:lstStyle/>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Copilot CLI and Claude Code, scriptable — and the Claude Code desktop app runs the same engine.</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Plan first, then execute; headless with -p for CI.</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A git worktree per agent, so parallel runs do not collide.</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Where the hard caps live: --max-turns and --max-budget-usd.</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Note: --max-budget-usd applies to print mode only, not an interactive session.</a:t>
            </a:r>
            <a:endParaRPr lang="en-US" sz="1100" dirty="0"/>
          </a:p>
        </p:txBody>
      </p:sp>
      <p:sp>
        <p:nvSpPr>
          <p:cNvPr id="25" name="Shape 23"/>
          <p:cNvSpPr/>
          <p:nvPr/>
        </p:nvSpPr>
        <p:spPr>
          <a:xfrm>
            <a:off x="8083296" y="2157984"/>
            <a:ext cx="3538728" cy="3712464"/>
          </a:xfrm>
          <a:prstGeom prst="roundRect">
            <a:avLst>
              <a:gd name="adj" fmla="val 1550"/>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26" name="Shape 24"/>
          <p:cNvSpPr/>
          <p:nvPr/>
        </p:nvSpPr>
        <p:spPr>
          <a:xfrm>
            <a:off x="8339328" y="2395728"/>
            <a:ext cx="420624" cy="420624"/>
          </a:xfrm>
          <a:prstGeom prst="ellipse">
            <a:avLst/>
          </a:prstGeom>
          <a:solidFill>
            <a:srgbClr val="FFFFFF"/>
          </a:solidFill>
          <a:ln w="15875">
            <a:solidFill>
              <a:srgbClr val="C2410C"/>
            </a:solidFill>
            <a:prstDash val="solid"/>
          </a:ln>
        </p:spPr>
      </p:sp>
      <p:sp>
        <p:nvSpPr>
          <p:cNvPr id="27" name="Text 25"/>
          <p:cNvSpPr/>
          <p:nvPr/>
        </p:nvSpPr>
        <p:spPr>
          <a:xfrm>
            <a:off x="8339328" y="2395728"/>
            <a:ext cx="420624" cy="420624"/>
          </a:xfrm>
          <a:prstGeom prst="rect">
            <a:avLst/>
          </a:prstGeom>
          <a:noFill/>
          <a:ln/>
        </p:spPr>
        <p:txBody>
          <a:bodyPr wrap="square" lIns="0" tIns="0" rIns="0" bIns="0" rtlCol="0" anchor="ctr"/>
          <a:lstStyle/>
          <a:p>
            <a:pPr marL="0" indent="0" algn="ctr">
              <a:buNone/>
            </a:pPr>
            <a:r>
              <a:rPr lang="en-US" sz="1600" b="1" dirty="0">
                <a:solidFill>
                  <a:srgbClr val="C2410C"/>
                </a:solidFill>
                <a:latin typeface="Cambria" pitchFamily="34" charset="0"/>
                <a:ea typeface="Cambria" pitchFamily="34" charset="-122"/>
                <a:cs typeface="Cambria" pitchFamily="34" charset="-120"/>
              </a:rPr>
              <a:t>3</a:t>
            </a:r>
            <a:endParaRPr lang="en-US" sz="1600" dirty="0"/>
          </a:p>
        </p:txBody>
      </p:sp>
      <p:sp>
        <p:nvSpPr>
          <p:cNvPr id="28" name="Text 26"/>
          <p:cNvSpPr/>
          <p:nvPr/>
        </p:nvSpPr>
        <p:spPr>
          <a:xfrm>
            <a:off x="8869680" y="2377440"/>
            <a:ext cx="2496312" cy="256032"/>
          </a:xfrm>
          <a:prstGeom prst="rect">
            <a:avLst/>
          </a:prstGeom>
          <a:noFill/>
          <a:ln/>
        </p:spPr>
        <p:txBody>
          <a:bodyPr wrap="square" lIns="0" tIns="0" rIns="0" bIns="0" rtlCol="0" anchor="ctr"/>
          <a:lstStyle/>
          <a:p>
            <a:pPr marL="0" indent="0">
              <a:buNone/>
            </a:pPr>
            <a:r>
              <a:rPr lang="en-US" sz="1700" b="1" dirty="0">
                <a:solidFill>
                  <a:srgbClr val="C2410C"/>
                </a:solidFill>
                <a:latin typeface="Cambria" pitchFamily="34" charset="0"/>
                <a:ea typeface="Cambria" pitchFamily="34" charset="-122"/>
                <a:cs typeface="Cambria" pitchFamily="34" charset="-120"/>
              </a:rPr>
              <a:t>Cloud agent</a:t>
            </a:r>
            <a:endParaRPr lang="en-US" sz="1700" dirty="0"/>
          </a:p>
        </p:txBody>
      </p:sp>
      <p:sp>
        <p:nvSpPr>
          <p:cNvPr id="29" name="Text 27"/>
          <p:cNvSpPr/>
          <p:nvPr/>
        </p:nvSpPr>
        <p:spPr>
          <a:xfrm>
            <a:off x="8869680" y="2633472"/>
            <a:ext cx="2496312" cy="219456"/>
          </a:xfrm>
          <a:prstGeom prst="rect">
            <a:avLst/>
          </a:prstGeom>
          <a:noFill/>
          <a:ln/>
        </p:spPr>
        <p:txBody>
          <a:bodyPr wrap="square" lIns="0" tIns="0" rIns="0" bIns="0" rtlCol="0" anchor="ctr"/>
          <a:lstStyle/>
          <a:p>
            <a:pPr marL="0" indent="0">
              <a:buNone/>
            </a:pPr>
            <a:r>
              <a:rPr lang="en-US" sz="1000" i="1" dirty="0">
                <a:solidFill>
                  <a:srgbClr val="6E7781"/>
                </a:solidFill>
                <a:latin typeface="Calibri" pitchFamily="34" charset="0"/>
                <a:ea typeface="Calibri" pitchFamily="34" charset="-122"/>
                <a:cs typeface="Calibri" pitchFamily="34" charset="-120"/>
              </a:rPr>
              <a:t>asynchronous</a:t>
            </a:r>
            <a:endParaRPr lang="en-US" sz="1000" dirty="0"/>
          </a:p>
        </p:txBody>
      </p:sp>
      <p:sp>
        <p:nvSpPr>
          <p:cNvPr id="30" name="Shape 28"/>
          <p:cNvSpPr/>
          <p:nvPr/>
        </p:nvSpPr>
        <p:spPr>
          <a:xfrm>
            <a:off x="8339328" y="2999232"/>
            <a:ext cx="960120" cy="109728"/>
          </a:xfrm>
          <a:prstGeom prst="roundRect">
            <a:avLst>
              <a:gd name="adj" fmla="val 41667"/>
            </a:avLst>
          </a:prstGeom>
          <a:solidFill>
            <a:srgbClr val="C2410C"/>
          </a:solidFill>
          <a:ln w="9525">
            <a:solidFill>
              <a:srgbClr val="C2410C"/>
            </a:solidFill>
            <a:prstDash val="solid"/>
          </a:ln>
        </p:spPr>
      </p:sp>
      <p:sp>
        <p:nvSpPr>
          <p:cNvPr id="31" name="Shape 29"/>
          <p:cNvSpPr/>
          <p:nvPr/>
        </p:nvSpPr>
        <p:spPr>
          <a:xfrm>
            <a:off x="9372600" y="2999232"/>
            <a:ext cx="960120" cy="109728"/>
          </a:xfrm>
          <a:prstGeom prst="roundRect">
            <a:avLst>
              <a:gd name="adj" fmla="val 41667"/>
            </a:avLst>
          </a:prstGeom>
          <a:solidFill>
            <a:srgbClr val="C2410C"/>
          </a:solidFill>
          <a:ln w="9525">
            <a:solidFill>
              <a:srgbClr val="C2410C"/>
            </a:solidFill>
            <a:prstDash val="solid"/>
          </a:ln>
        </p:spPr>
      </p:sp>
      <p:sp>
        <p:nvSpPr>
          <p:cNvPr id="32" name="Shape 30"/>
          <p:cNvSpPr/>
          <p:nvPr/>
        </p:nvSpPr>
        <p:spPr>
          <a:xfrm>
            <a:off x="10405872" y="2999232"/>
            <a:ext cx="960120" cy="109728"/>
          </a:xfrm>
          <a:prstGeom prst="roundRect">
            <a:avLst>
              <a:gd name="adj" fmla="val 41667"/>
            </a:avLst>
          </a:prstGeom>
          <a:solidFill>
            <a:srgbClr val="C2410C"/>
          </a:solidFill>
          <a:ln w="9525">
            <a:solidFill>
              <a:srgbClr val="C2410C"/>
            </a:solidFill>
            <a:prstDash val="solid"/>
          </a:ln>
        </p:spPr>
      </p:sp>
      <p:sp>
        <p:nvSpPr>
          <p:cNvPr id="33" name="Text 31"/>
          <p:cNvSpPr/>
          <p:nvPr/>
        </p:nvSpPr>
        <p:spPr>
          <a:xfrm>
            <a:off x="8339328" y="3145536"/>
            <a:ext cx="3026664" cy="182880"/>
          </a:xfrm>
          <a:prstGeom prst="rect">
            <a:avLst/>
          </a:prstGeom>
          <a:noFill/>
          <a:ln/>
        </p:spPr>
        <p:txBody>
          <a:bodyPr wrap="square" lIns="0" tIns="0" rIns="0" bIns="0" rtlCol="0" anchor="ctr"/>
          <a:lstStyle/>
          <a:p>
            <a:pPr marL="0" indent="0">
              <a:buNone/>
            </a:pPr>
            <a:r>
              <a:rPr lang="en-US" sz="850" kern="0" spc="60" dirty="0">
                <a:solidFill>
                  <a:srgbClr val="6E7781"/>
                </a:solidFill>
                <a:latin typeface="Calibri" pitchFamily="34" charset="0"/>
                <a:ea typeface="Calibri" pitchFamily="34" charset="-122"/>
                <a:cs typeface="Calibri" pitchFamily="34" charset="-120"/>
              </a:rPr>
              <a:t>walk away entirely</a:t>
            </a:r>
            <a:endParaRPr lang="en-US" sz="850" dirty="0"/>
          </a:p>
        </p:txBody>
      </p:sp>
      <p:sp>
        <p:nvSpPr>
          <p:cNvPr id="34" name="Text 32"/>
          <p:cNvSpPr/>
          <p:nvPr/>
        </p:nvSpPr>
        <p:spPr>
          <a:xfrm>
            <a:off x="8339328" y="3438144"/>
            <a:ext cx="3026664" cy="2249424"/>
          </a:xfrm>
          <a:prstGeom prst="rect">
            <a:avLst/>
          </a:prstGeom>
          <a:noFill/>
          <a:ln/>
        </p:spPr>
        <p:txBody>
          <a:bodyPr wrap="square" lIns="0" tIns="0" rIns="0" bIns="0" rtlCol="0" anchor="t"/>
          <a:lstStyle/>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Assign an issue or work item and walk away.</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Runs in an ephemeral, firewalled sandbox and opens a draft PR.</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Best for backlog tickets that are boring but well-described.</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Entry points: GitHub issues, Jira, Azure Boards, Linear.</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Structurally a bot: it cannot mark its own PR ready, approve it or merge it.</a:t>
            </a:r>
            <a:endParaRPr lang="en-US" sz="1100" dirty="0"/>
          </a:p>
        </p:txBody>
      </p:sp>
      <p:sp>
        <p:nvSpPr>
          <p:cNvPr id="35" name="Text 33"/>
          <p:cNvSpPr/>
          <p:nvPr/>
        </p:nvSpPr>
        <p:spPr>
          <a:xfrm>
            <a:off x="566928" y="6437376"/>
            <a:ext cx="10552176" cy="237744"/>
          </a:xfrm>
          <a:prstGeom prst="rect">
            <a:avLst/>
          </a:prstGeom>
          <a:noFill/>
          <a:ln/>
        </p:spPr>
        <p:txBody>
          <a:bodyPr wrap="square" lIns="0" tIns="0" rIns="0" bIns="0" rtlCol="0" anchor="ctr"/>
          <a:lstStyle/>
          <a:p>
            <a:pPr marL="0" indent="0">
              <a:buNone/>
            </a:pPr>
            <a:r>
              <a:rPr lang="en-US" sz="850" b="1" dirty="0">
                <a:solidFill>
                  <a:srgbClr val="6E7781"/>
                </a:solidFill>
                <a:latin typeface="Calibri" pitchFamily="34" charset="0"/>
                <a:ea typeface="Calibri" pitchFamily="34" charset="-122"/>
                <a:cs typeface="Calibri" pitchFamily="34" charset="-120"/>
              </a:rPr>
              <a:t>Sources   </a:t>
            </a:r>
            <a:r>
              <a:rPr lang="en-US" sz="850" dirty="0">
                <a:solidFill>
                  <a:srgbClr val="6E7781"/>
                </a:solidFill>
                <a:latin typeface="Calibri" pitchFamily="34" charset="0"/>
                <a:ea typeface="Calibri" pitchFamily="34" charset="-122"/>
                <a:cs typeface="Calibri" pitchFamily="34" charset="-120"/>
              </a:rPr>
              <a:t>docs.github.com/en/copilot/concepts/agents/coding-agent/risks-and-mitigations · code.claude.com/docs/en/cli-reference</a:t>
            </a:r>
            <a:endParaRPr lang="en-US" sz="850" dirty="0"/>
          </a:p>
        </p:txBody>
      </p:sp>
      <p:sp>
        <p:nvSpPr>
          <p:cNvPr id="36"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anim calcmode="lin" valueType="num">
                                      <p:cBhvr additive="base">
                                        <p:cTn id="8" dur="420" fill="hold"/>
                                        <p:tgtEl>
                                          <p:spTgt spid="5"/>
                                        </p:tgtEl>
                                        <p:attrNameLst>
                                          <p:attrName>ppt_y</p:attrName>
                                        </p:attrNameLst>
                                      </p:cBhvr>
                                      <p:tavLst>
                                        <p:tav tm="0">
                                          <p:val>
                                            <p:strVal val="#ppt_y+0.035"/>
                                          </p:val>
                                        </p:tav>
                                        <p:tav tm="100000">
                                          <p:val>
                                            <p:strVal val="#ppt_y"/>
                                          </p:val>
                                        </p:tav>
                                      </p:tavLst>
                                    </p:anim>
                                    <p:set>
                                      <p:cBhvr>
                                        <p:cTn id="9" dur="1" fill="hold">
                                          <p:stCondLst>
                                            <p:cond delay="0"/>
                                          </p:stCondLst>
                                        </p:cTn>
                                        <p:tgtEl>
                                          <p:spTgt spid="15"/>
                                        </p:tgtEl>
                                        <p:attrNameLst>
                                          <p:attrName>style.visibility</p:attrName>
                                        </p:attrNameLst>
                                      </p:cBhvr>
                                      <p:to>
                                        <p:strVal val="visible"/>
                                      </p:to>
                                    </p:set>
                                    <p:animEffect transition="in" filter="fade">
                                      <p:cBhvr>
                                        <p:cTn id="10" dur="420"/>
                                        <p:tgtEl>
                                          <p:spTgt spid="15"/>
                                        </p:tgtEl>
                                      </p:cBhvr>
                                    </p:animEffect>
                                    <p:anim calcmode="lin" valueType="num">
                                      <p:cBhvr additive="base">
                                        <p:cTn id="11" dur="420" fill="hold"/>
                                        <p:tgtEl>
                                          <p:spTgt spid="15"/>
                                        </p:tgtEl>
                                        <p:attrNameLst>
                                          <p:attrName>ppt_y</p:attrName>
                                        </p:attrNameLst>
                                      </p:cBhvr>
                                      <p:tavLst>
                                        <p:tav tm="0">
                                          <p:val>
                                            <p:strVal val="#ppt_y+0.035"/>
                                          </p:val>
                                        </p:tav>
                                        <p:tav tm="100000">
                                          <p:val>
                                            <p:strVal val="#ppt_y"/>
                                          </p:val>
                                        </p:tav>
                                      </p:tavLst>
                                    </p:anim>
                                    <p:set>
                                      <p:cBhvr>
                                        <p:cTn id="12" dur="1" fill="hold">
                                          <p:stCondLst>
                                            <p:cond delay="0"/>
                                          </p:stCondLst>
                                        </p:cTn>
                                        <p:tgtEl>
                                          <p:spTgt spid="25"/>
                                        </p:tgtEl>
                                        <p:attrNameLst>
                                          <p:attrName>style.visibility</p:attrName>
                                        </p:attrNameLst>
                                      </p:cBhvr>
                                      <p:to>
                                        <p:strVal val="visible"/>
                                      </p:to>
                                    </p:set>
                                    <p:animEffect transition="in" filter="fade">
                                      <p:cBhvr>
                                        <p:cTn id="13" dur="420"/>
                                        <p:tgtEl>
                                          <p:spTgt spid="25"/>
                                        </p:tgtEl>
                                      </p:cBhvr>
                                    </p:animEffect>
                                    <p:anim calcmode="lin" valueType="num">
                                      <p:cBhvr additive="base">
                                        <p:cTn id="14" dur="420" fill="hold"/>
                                        <p:tgtEl>
                                          <p:spTgt spid="25"/>
                                        </p:tgtEl>
                                        <p:attrNameLst>
                                          <p:attrName>ppt_y</p:attrName>
                                        </p:attrNameLst>
                                      </p:cBhvr>
                                      <p:tavLst>
                                        <p:tav tm="0">
                                          <p:val>
                                            <p:strVal val="#ppt_y+0.035"/>
                                          </p:val>
                                        </p:tav>
                                        <p:tav tm="100000">
                                          <p:val>
                                            <p:strVal val="#ppt_y"/>
                                          </p:val>
                                        </p:tav>
                                      </p:tavLst>
                                    </p:anim>
                                    <p:set>
                                      <p:cBhvr>
                                        <p:cTn id="15" dur="1" fill="hold">
                                          <p:stCondLst>
                                            <p:cond delay="0"/>
                                          </p:stCondLst>
                                        </p:cTn>
                                        <p:tgtEl>
                                          <p:spTgt spid="8"/>
                                        </p:tgtEl>
                                        <p:attrNameLst>
                                          <p:attrName>style.visibility</p:attrName>
                                        </p:attrNameLst>
                                      </p:cBhvr>
                                      <p:to>
                                        <p:strVal val="visible"/>
                                      </p:to>
                                    </p:set>
                                    <p:animEffect transition="in" filter="fade">
                                      <p:cBhvr>
                                        <p:cTn id="16" dur="420"/>
                                        <p:tgtEl>
                                          <p:spTgt spid="8"/>
                                        </p:tgtEl>
                                      </p:cBhvr>
                                    </p:animEffect>
                                    <p:anim calcmode="lin" valueType="num">
                                      <p:cBhvr additive="base">
                                        <p:cTn id="17" dur="420" fill="hold"/>
                                        <p:tgtEl>
                                          <p:spTgt spid="8"/>
                                        </p:tgtEl>
                                        <p:attrNameLst>
                                          <p:attrName>ppt_y</p:attrName>
                                        </p:attrNameLst>
                                      </p:cBhvr>
                                      <p:tavLst>
                                        <p:tav tm="0">
                                          <p:val>
                                            <p:strVal val="#ppt_y+0.035"/>
                                          </p:val>
                                        </p:tav>
                                        <p:tav tm="100000">
                                          <p:val>
                                            <p:strVal val="#ppt_y"/>
                                          </p:val>
                                        </p:tav>
                                      </p:tavLst>
                                    </p:anim>
                                    <p:set>
                                      <p:cBhvr>
                                        <p:cTn id="18" dur="1" fill="hold">
                                          <p:stCondLst>
                                            <p:cond delay="0"/>
                                          </p:stCondLst>
                                        </p:cTn>
                                        <p:tgtEl>
                                          <p:spTgt spid="18"/>
                                        </p:tgtEl>
                                        <p:attrNameLst>
                                          <p:attrName>style.visibility</p:attrName>
                                        </p:attrNameLst>
                                      </p:cBhvr>
                                      <p:to>
                                        <p:strVal val="visible"/>
                                      </p:to>
                                    </p:set>
                                    <p:animEffect transition="in" filter="fade">
                                      <p:cBhvr>
                                        <p:cTn id="19" dur="420"/>
                                        <p:tgtEl>
                                          <p:spTgt spid="18"/>
                                        </p:tgtEl>
                                      </p:cBhvr>
                                    </p:animEffect>
                                    <p:anim calcmode="lin" valueType="num">
                                      <p:cBhvr additive="base">
                                        <p:cTn id="20" dur="420" fill="hold"/>
                                        <p:tgtEl>
                                          <p:spTgt spid="18"/>
                                        </p:tgtEl>
                                        <p:attrNameLst>
                                          <p:attrName>ppt_y</p:attrName>
                                        </p:attrNameLst>
                                      </p:cBhvr>
                                      <p:tavLst>
                                        <p:tav tm="0">
                                          <p:val>
                                            <p:strVal val="#ppt_y+0.035"/>
                                          </p:val>
                                        </p:tav>
                                        <p:tav tm="100000">
                                          <p:val>
                                            <p:strVal val="#ppt_y"/>
                                          </p:val>
                                        </p:tav>
                                      </p:tavLst>
                                    </p:anim>
                                    <p:set>
                                      <p:cBhvr>
                                        <p:cTn id="21" dur="1" fill="hold">
                                          <p:stCondLst>
                                            <p:cond delay="0"/>
                                          </p:stCondLst>
                                        </p:cTn>
                                        <p:tgtEl>
                                          <p:spTgt spid="28"/>
                                        </p:tgtEl>
                                        <p:attrNameLst>
                                          <p:attrName>style.visibility</p:attrName>
                                        </p:attrNameLst>
                                      </p:cBhvr>
                                      <p:to>
                                        <p:strVal val="visible"/>
                                      </p:to>
                                    </p:set>
                                    <p:animEffect transition="in" filter="fade">
                                      <p:cBhvr>
                                        <p:cTn id="22" dur="420"/>
                                        <p:tgtEl>
                                          <p:spTgt spid="28"/>
                                        </p:tgtEl>
                                      </p:cBhvr>
                                    </p:animEffect>
                                    <p:anim calcmode="lin" valueType="num">
                                      <p:cBhvr additive="base">
                                        <p:cTn id="23" dur="420" fill="hold"/>
                                        <p:tgtEl>
                                          <p:spTgt spid="28"/>
                                        </p:tgtEl>
                                        <p:attrNameLst>
                                          <p:attrName>ppt_y</p:attrName>
                                        </p:attrNameLst>
                                      </p:cBhvr>
                                      <p:tavLst>
                                        <p:tav tm="0">
                                          <p:val>
                                            <p:strVal val="#ppt_y+0.035"/>
                                          </p:val>
                                        </p:tav>
                                        <p:tav tm="100000">
                                          <p:val>
                                            <p:strVal val="#ppt_y"/>
                                          </p:val>
                                        </p:tav>
                                      </p:tavLst>
                                    </p:anim>
                                    <p:set>
                                      <p:cBhvr>
                                        <p:cTn id="24" dur="1" fill="hold">
                                          <p:stCondLst>
                                            <p:cond delay="0"/>
                                          </p:stCondLst>
                                        </p:cTn>
                                        <p:tgtEl>
                                          <p:spTgt spid="6"/>
                                        </p:tgtEl>
                                        <p:attrNameLst>
                                          <p:attrName>style.visibility</p:attrName>
                                        </p:attrNameLst>
                                      </p:cBhvr>
                                      <p:to>
                                        <p:strVal val="visible"/>
                                      </p:to>
                                    </p:set>
                                    <p:animEffect transition="in" filter="fade">
                                      <p:cBhvr>
                                        <p:cTn id="25" dur="420"/>
                                        <p:tgtEl>
                                          <p:spTgt spid="6"/>
                                        </p:tgtEl>
                                      </p:cBhvr>
                                    </p:animEffect>
                                    <p:anim calcmode="lin" valueType="num">
                                      <p:cBhvr additive="base">
                                        <p:cTn id="26" dur="420" fill="hold"/>
                                        <p:tgtEl>
                                          <p:spTgt spid="6"/>
                                        </p:tgtEl>
                                        <p:attrNameLst>
                                          <p:attrName>ppt_y</p:attrName>
                                        </p:attrNameLst>
                                      </p:cBhvr>
                                      <p:tavLst>
                                        <p:tav tm="0">
                                          <p:val>
                                            <p:strVal val="#ppt_y+0.035"/>
                                          </p:val>
                                        </p:tav>
                                        <p:tav tm="100000">
                                          <p:val>
                                            <p:strVal val="#ppt_y"/>
                                          </p:val>
                                        </p:tav>
                                      </p:tavLst>
                                    </p:anim>
                                    <p:set>
                                      <p:cBhvr>
                                        <p:cTn id="27" dur="1" fill="hold">
                                          <p:stCondLst>
                                            <p:cond delay="0"/>
                                          </p:stCondLst>
                                        </p:cTn>
                                        <p:tgtEl>
                                          <p:spTgt spid="7"/>
                                        </p:tgtEl>
                                        <p:attrNameLst>
                                          <p:attrName>style.visibility</p:attrName>
                                        </p:attrNameLst>
                                      </p:cBhvr>
                                      <p:to>
                                        <p:strVal val="visible"/>
                                      </p:to>
                                    </p:set>
                                    <p:animEffect transition="in" filter="fade">
                                      <p:cBhvr>
                                        <p:cTn id="28" dur="420"/>
                                        <p:tgtEl>
                                          <p:spTgt spid="7"/>
                                        </p:tgtEl>
                                      </p:cBhvr>
                                    </p:animEffect>
                                    <p:anim calcmode="lin" valueType="num">
                                      <p:cBhvr additive="base">
                                        <p:cTn id="29" dur="420" fill="hold"/>
                                        <p:tgtEl>
                                          <p:spTgt spid="7"/>
                                        </p:tgtEl>
                                        <p:attrNameLst>
                                          <p:attrName>ppt_y</p:attrName>
                                        </p:attrNameLst>
                                      </p:cBhvr>
                                      <p:tavLst>
                                        <p:tav tm="0">
                                          <p:val>
                                            <p:strVal val="#ppt_y+0.035"/>
                                          </p:val>
                                        </p:tav>
                                        <p:tav tm="100000">
                                          <p:val>
                                            <p:strVal val="#ppt_y"/>
                                          </p:val>
                                        </p:tav>
                                      </p:tavLst>
                                    </p:anim>
                                    <p:set>
                                      <p:cBhvr>
                                        <p:cTn id="30" dur="1" fill="hold">
                                          <p:stCondLst>
                                            <p:cond delay="0"/>
                                          </p:stCondLst>
                                        </p:cTn>
                                        <p:tgtEl>
                                          <p:spTgt spid="16"/>
                                        </p:tgtEl>
                                        <p:attrNameLst>
                                          <p:attrName>style.visibility</p:attrName>
                                        </p:attrNameLst>
                                      </p:cBhvr>
                                      <p:to>
                                        <p:strVal val="visible"/>
                                      </p:to>
                                    </p:set>
                                    <p:animEffect transition="in" filter="fade">
                                      <p:cBhvr>
                                        <p:cTn id="31" dur="420"/>
                                        <p:tgtEl>
                                          <p:spTgt spid="16"/>
                                        </p:tgtEl>
                                      </p:cBhvr>
                                    </p:animEffect>
                                    <p:anim calcmode="lin" valueType="num">
                                      <p:cBhvr additive="base">
                                        <p:cTn id="32" dur="420" fill="hold"/>
                                        <p:tgtEl>
                                          <p:spTgt spid="16"/>
                                        </p:tgtEl>
                                        <p:attrNameLst>
                                          <p:attrName>ppt_y</p:attrName>
                                        </p:attrNameLst>
                                      </p:cBhvr>
                                      <p:tavLst>
                                        <p:tav tm="0">
                                          <p:val>
                                            <p:strVal val="#ppt_y+0.035"/>
                                          </p:val>
                                        </p:tav>
                                        <p:tav tm="100000">
                                          <p:val>
                                            <p:strVal val="#ppt_y"/>
                                          </p:val>
                                        </p:tav>
                                      </p:tavLst>
                                    </p:anim>
                                    <p:set>
                                      <p:cBhvr>
                                        <p:cTn id="33" dur="1" fill="hold">
                                          <p:stCondLst>
                                            <p:cond delay="0"/>
                                          </p:stCondLst>
                                        </p:cTn>
                                        <p:tgtEl>
                                          <p:spTgt spid="17"/>
                                        </p:tgtEl>
                                        <p:attrNameLst>
                                          <p:attrName>style.visibility</p:attrName>
                                        </p:attrNameLst>
                                      </p:cBhvr>
                                      <p:to>
                                        <p:strVal val="visible"/>
                                      </p:to>
                                    </p:set>
                                    <p:animEffect transition="in" filter="fade">
                                      <p:cBhvr>
                                        <p:cTn id="34" dur="420"/>
                                        <p:tgtEl>
                                          <p:spTgt spid="17"/>
                                        </p:tgtEl>
                                      </p:cBhvr>
                                    </p:animEffect>
                                    <p:anim calcmode="lin" valueType="num">
                                      <p:cBhvr additive="base">
                                        <p:cTn id="35" dur="420" fill="hold"/>
                                        <p:tgtEl>
                                          <p:spTgt spid="17"/>
                                        </p:tgtEl>
                                        <p:attrNameLst>
                                          <p:attrName>ppt_y</p:attrName>
                                        </p:attrNameLst>
                                      </p:cBhvr>
                                      <p:tavLst>
                                        <p:tav tm="0">
                                          <p:val>
                                            <p:strVal val="#ppt_y+0.035"/>
                                          </p:val>
                                        </p:tav>
                                        <p:tav tm="100000">
                                          <p:val>
                                            <p:strVal val="#ppt_y"/>
                                          </p:val>
                                        </p:tav>
                                      </p:tavLst>
                                    </p:anim>
                                    <p:set>
                                      <p:cBhvr>
                                        <p:cTn id="36" dur="1" fill="hold">
                                          <p:stCondLst>
                                            <p:cond delay="0"/>
                                          </p:stCondLst>
                                        </p:cTn>
                                        <p:tgtEl>
                                          <p:spTgt spid="26"/>
                                        </p:tgtEl>
                                        <p:attrNameLst>
                                          <p:attrName>style.visibility</p:attrName>
                                        </p:attrNameLst>
                                      </p:cBhvr>
                                      <p:to>
                                        <p:strVal val="visible"/>
                                      </p:to>
                                    </p:set>
                                    <p:animEffect transition="in" filter="fade">
                                      <p:cBhvr>
                                        <p:cTn id="37" dur="420"/>
                                        <p:tgtEl>
                                          <p:spTgt spid="26"/>
                                        </p:tgtEl>
                                      </p:cBhvr>
                                    </p:animEffect>
                                    <p:anim calcmode="lin" valueType="num">
                                      <p:cBhvr additive="base">
                                        <p:cTn id="38" dur="420" fill="hold"/>
                                        <p:tgtEl>
                                          <p:spTgt spid="26"/>
                                        </p:tgtEl>
                                        <p:attrNameLst>
                                          <p:attrName>ppt_y</p:attrName>
                                        </p:attrNameLst>
                                      </p:cBhvr>
                                      <p:tavLst>
                                        <p:tav tm="0">
                                          <p:val>
                                            <p:strVal val="#ppt_y+0.035"/>
                                          </p:val>
                                        </p:tav>
                                        <p:tav tm="100000">
                                          <p:val>
                                            <p:strVal val="#ppt_y"/>
                                          </p:val>
                                        </p:tav>
                                      </p:tavLst>
                                    </p:anim>
                                    <p:set>
                                      <p:cBhvr>
                                        <p:cTn id="39" dur="1" fill="hold">
                                          <p:stCondLst>
                                            <p:cond delay="0"/>
                                          </p:stCondLst>
                                        </p:cTn>
                                        <p:tgtEl>
                                          <p:spTgt spid="27"/>
                                        </p:tgtEl>
                                        <p:attrNameLst>
                                          <p:attrName>style.visibility</p:attrName>
                                        </p:attrNameLst>
                                      </p:cBhvr>
                                      <p:to>
                                        <p:strVal val="visible"/>
                                      </p:to>
                                    </p:set>
                                    <p:animEffect transition="in" filter="fade">
                                      <p:cBhvr>
                                        <p:cTn id="40" dur="420"/>
                                        <p:tgtEl>
                                          <p:spTgt spid="27"/>
                                        </p:tgtEl>
                                      </p:cBhvr>
                                    </p:animEffect>
                                    <p:anim calcmode="lin" valueType="num">
                                      <p:cBhvr additive="base">
                                        <p:cTn id="41" dur="420" fill="hold"/>
                                        <p:tgtEl>
                                          <p:spTgt spid="27"/>
                                        </p:tgtEl>
                                        <p:attrNameLst>
                                          <p:attrName>ppt_y</p:attrName>
                                        </p:attrNameLst>
                                      </p:cBhvr>
                                      <p:tavLst>
                                        <p:tav tm="0">
                                          <p:val>
                                            <p:strVal val="#ppt_y+0.035"/>
                                          </p:val>
                                        </p:tav>
                                        <p:tav tm="100000">
                                          <p:val>
                                            <p:strVal val="#ppt_y"/>
                                          </p:val>
                                        </p:tav>
                                      </p:tavLst>
                                    </p:anim>
                                    <p:set>
                                      <p:cBhvr>
                                        <p:cTn id="42" dur="1" fill="hold">
                                          <p:stCondLst>
                                            <p:cond delay="0"/>
                                          </p:stCondLst>
                                        </p:cTn>
                                        <p:tgtEl>
                                          <p:spTgt spid="9"/>
                                        </p:tgtEl>
                                        <p:attrNameLst>
                                          <p:attrName>style.visibility</p:attrName>
                                        </p:attrNameLst>
                                      </p:cBhvr>
                                      <p:to>
                                        <p:strVal val="visible"/>
                                      </p:to>
                                    </p:set>
                                    <p:animEffect transition="in" filter="fade">
                                      <p:cBhvr>
                                        <p:cTn id="43" dur="420"/>
                                        <p:tgtEl>
                                          <p:spTgt spid="9"/>
                                        </p:tgtEl>
                                      </p:cBhvr>
                                    </p:animEffect>
                                    <p:anim calcmode="lin" valueType="num">
                                      <p:cBhvr additive="base">
                                        <p:cTn id="44" dur="420" fill="hold"/>
                                        <p:tgtEl>
                                          <p:spTgt spid="9"/>
                                        </p:tgtEl>
                                        <p:attrNameLst>
                                          <p:attrName>ppt_y</p:attrName>
                                        </p:attrNameLst>
                                      </p:cBhvr>
                                      <p:tavLst>
                                        <p:tav tm="0">
                                          <p:val>
                                            <p:strVal val="#ppt_y+0.035"/>
                                          </p:val>
                                        </p:tav>
                                        <p:tav tm="100000">
                                          <p:val>
                                            <p:strVal val="#ppt_y"/>
                                          </p:val>
                                        </p:tav>
                                      </p:tavLst>
                                    </p:anim>
                                    <p:set>
                                      <p:cBhvr>
                                        <p:cTn id="45" dur="1" fill="hold">
                                          <p:stCondLst>
                                            <p:cond delay="0"/>
                                          </p:stCondLst>
                                        </p:cTn>
                                        <p:tgtEl>
                                          <p:spTgt spid="19"/>
                                        </p:tgtEl>
                                        <p:attrNameLst>
                                          <p:attrName>style.visibility</p:attrName>
                                        </p:attrNameLst>
                                      </p:cBhvr>
                                      <p:to>
                                        <p:strVal val="visible"/>
                                      </p:to>
                                    </p:set>
                                    <p:animEffect transition="in" filter="fade">
                                      <p:cBhvr>
                                        <p:cTn id="46" dur="420"/>
                                        <p:tgtEl>
                                          <p:spTgt spid="19"/>
                                        </p:tgtEl>
                                      </p:cBhvr>
                                    </p:animEffect>
                                    <p:anim calcmode="lin" valueType="num">
                                      <p:cBhvr additive="base">
                                        <p:cTn id="47" dur="420" fill="hold"/>
                                        <p:tgtEl>
                                          <p:spTgt spid="19"/>
                                        </p:tgtEl>
                                        <p:attrNameLst>
                                          <p:attrName>ppt_y</p:attrName>
                                        </p:attrNameLst>
                                      </p:cBhvr>
                                      <p:tavLst>
                                        <p:tav tm="0">
                                          <p:val>
                                            <p:strVal val="#ppt_y+0.035"/>
                                          </p:val>
                                        </p:tav>
                                        <p:tav tm="100000">
                                          <p:val>
                                            <p:strVal val="#ppt_y"/>
                                          </p:val>
                                        </p:tav>
                                      </p:tavLst>
                                    </p:anim>
                                    <p:set>
                                      <p:cBhvr>
                                        <p:cTn id="48" dur="1" fill="hold">
                                          <p:stCondLst>
                                            <p:cond delay="0"/>
                                          </p:stCondLst>
                                        </p:cTn>
                                        <p:tgtEl>
                                          <p:spTgt spid="29"/>
                                        </p:tgtEl>
                                        <p:attrNameLst>
                                          <p:attrName>style.visibility</p:attrName>
                                        </p:attrNameLst>
                                      </p:cBhvr>
                                      <p:to>
                                        <p:strVal val="visible"/>
                                      </p:to>
                                    </p:set>
                                    <p:animEffect transition="in" filter="fade">
                                      <p:cBhvr>
                                        <p:cTn id="49" dur="420"/>
                                        <p:tgtEl>
                                          <p:spTgt spid="29"/>
                                        </p:tgtEl>
                                      </p:cBhvr>
                                    </p:animEffect>
                                    <p:anim calcmode="lin" valueType="num">
                                      <p:cBhvr additive="base">
                                        <p:cTn id="50" dur="420" fill="hold"/>
                                        <p:tgtEl>
                                          <p:spTgt spid="29"/>
                                        </p:tgtEl>
                                        <p:attrNameLst>
                                          <p:attrName>ppt_y</p:attrName>
                                        </p:attrNameLst>
                                      </p:cBhvr>
                                      <p:tavLst>
                                        <p:tav tm="0">
                                          <p:val>
                                            <p:strVal val="#ppt_y+0.035"/>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420"/>
                                        <p:tgtEl>
                                          <p:spTgt spid="10"/>
                                        </p:tgtEl>
                                      </p:cBhvr>
                                    </p:animEffect>
                                    <p:anim calcmode="lin" valueType="num">
                                      <p:cBhvr additive="base">
                                        <p:cTn id="56" dur="420" fill="hold"/>
                                        <p:tgtEl>
                                          <p:spTgt spid="10"/>
                                        </p:tgtEl>
                                        <p:attrNameLst>
                                          <p:attrName>ppt_y</p:attrName>
                                        </p:attrNameLst>
                                      </p:cBhvr>
                                      <p:tavLst>
                                        <p:tav tm="0">
                                          <p:val>
                                            <p:strVal val="#ppt_y+0.035"/>
                                          </p:val>
                                        </p:tav>
                                        <p:tav tm="100000">
                                          <p:val>
                                            <p:strVal val="#ppt_y"/>
                                          </p:val>
                                        </p:tav>
                                      </p:tavLst>
                                    </p:anim>
                                    <p:set>
                                      <p:cBhvr>
                                        <p:cTn id="57" dur="1" fill="hold">
                                          <p:stCondLst>
                                            <p:cond delay="0"/>
                                          </p:stCondLst>
                                        </p:cTn>
                                        <p:tgtEl>
                                          <p:spTgt spid="11"/>
                                        </p:tgtEl>
                                        <p:attrNameLst>
                                          <p:attrName>style.visibility</p:attrName>
                                        </p:attrNameLst>
                                      </p:cBhvr>
                                      <p:to>
                                        <p:strVal val="visible"/>
                                      </p:to>
                                    </p:set>
                                    <p:animEffect transition="in" filter="fade">
                                      <p:cBhvr>
                                        <p:cTn id="58" dur="420"/>
                                        <p:tgtEl>
                                          <p:spTgt spid="11"/>
                                        </p:tgtEl>
                                      </p:cBhvr>
                                    </p:animEffect>
                                    <p:anim calcmode="lin" valueType="num">
                                      <p:cBhvr additive="base">
                                        <p:cTn id="59" dur="420" fill="hold"/>
                                        <p:tgtEl>
                                          <p:spTgt spid="11"/>
                                        </p:tgtEl>
                                        <p:attrNameLst>
                                          <p:attrName>ppt_y</p:attrName>
                                        </p:attrNameLst>
                                      </p:cBhvr>
                                      <p:tavLst>
                                        <p:tav tm="0">
                                          <p:val>
                                            <p:strVal val="#ppt_y+0.035"/>
                                          </p:val>
                                        </p:tav>
                                        <p:tav tm="100000">
                                          <p:val>
                                            <p:strVal val="#ppt_y"/>
                                          </p:val>
                                        </p:tav>
                                      </p:tavLst>
                                    </p:anim>
                                    <p:set>
                                      <p:cBhvr>
                                        <p:cTn id="60" dur="1" fill="hold">
                                          <p:stCondLst>
                                            <p:cond delay="0"/>
                                          </p:stCondLst>
                                        </p:cTn>
                                        <p:tgtEl>
                                          <p:spTgt spid="12"/>
                                        </p:tgtEl>
                                        <p:attrNameLst>
                                          <p:attrName>style.visibility</p:attrName>
                                        </p:attrNameLst>
                                      </p:cBhvr>
                                      <p:to>
                                        <p:strVal val="visible"/>
                                      </p:to>
                                    </p:set>
                                    <p:animEffect transition="in" filter="fade">
                                      <p:cBhvr>
                                        <p:cTn id="61" dur="420"/>
                                        <p:tgtEl>
                                          <p:spTgt spid="12"/>
                                        </p:tgtEl>
                                      </p:cBhvr>
                                    </p:animEffect>
                                    <p:anim calcmode="lin" valueType="num">
                                      <p:cBhvr additive="base">
                                        <p:cTn id="62" dur="420" fill="hold"/>
                                        <p:tgtEl>
                                          <p:spTgt spid="12"/>
                                        </p:tgtEl>
                                        <p:attrNameLst>
                                          <p:attrName>ppt_y</p:attrName>
                                        </p:attrNameLst>
                                      </p:cBhvr>
                                      <p:tavLst>
                                        <p:tav tm="0">
                                          <p:val>
                                            <p:strVal val="#ppt_y+0.035"/>
                                          </p:val>
                                        </p:tav>
                                        <p:tav tm="100000">
                                          <p:val>
                                            <p:strVal val="#ppt_y"/>
                                          </p:val>
                                        </p:tav>
                                      </p:tavLst>
                                    </p:anim>
                                    <p:set>
                                      <p:cBhvr>
                                        <p:cTn id="63" dur="1" fill="hold">
                                          <p:stCondLst>
                                            <p:cond delay="0"/>
                                          </p:stCondLst>
                                        </p:cTn>
                                        <p:tgtEl>
                                          <p:spTgt spid="20"/>
                                        </p:tgtEl>
                                        <p:attrNameLst>
                                          <p:attrName>style.visibility</p:attrName>
                                        </p:attrNameLst>
                                      </p:cBhvr>
                                      <p:to>
                                        <p:strVal val="visible"/>
                                      </p:to>
                                    </p:set>
                                    <p:animEffect transition="in" filter="fade">
                                      <p:cBhvr>
                                        <p:cTn id="64" dur="420"/>
                                        <p:tgtEl>
                                          <p:spTgt spid="20"/>
                                        </p:tgtEl>
                                      </p:cBhvr>
                                    </p:animEffect>
                                    <p:anim calcmode="lin" valueType="num">
                                      <p:cBhvr additive="base">
                                        <p:cTn id="65" dur="420" fill="hold"/>
                                        <p:tgtEl>
                                          <p:spTgt spid="20"/>
                                        </p:tgtEl>
                                        <p:attrNameLst>
                                          <p:attrName>ppt_y</p:attrName>
                                        </p:attrNameLst>
                                      </p:cBhvr>
                                      <p:tavLst>
                                        <p:tav tm="0">
                                          <p:val>
                                            <p:strVal val="#ppt_y+0.035"/>
                                          </p:val>
                                        </p:tav>
                                        <p:tav tm="100000">
                                          <p:val>
                                            <p:strVal val="#ppt_y"/>
                                          </p:val>
                                        </p:tav>
                                      </p:tavLst>
                                    </p:anim>
                                    <p:set>
                                      <p:cBhvr>
                                        <p:cTn id="66" dur="1" fill="hold">
                                          <p:stCondLst>
                                            <p:cond delay="0"/>
                                          </p:stCondLst>
                                        </p:cTn>
                                        <p:tgtEl>
                                          <p:spTgt spid="21"/>
                                        </p:tgtEl>
                                        <p:attrNameLst>
                                          <p:attrName>style.visibility</p:attrName>
                                        </p:attrNameLst>
                                      </p:cBhvr>
                                      <p:to>
                                        <p:strVal val="visible"/>
                                      </p:to>
                                    </p:set>
                                    <p:animEffect transition="in" filter="fade">
                                      <p:cBhvr>
                                        <p:cTn id="67" dur="420"/>
                                        <p:tgtEl>
                                          <p:spTgt spid="21"/>
                                        </p:tgtEl>
                                      </p:cBhvr>
                                    </p:animEffect>
                                    <p:anim calcmode="lin" valueType="num">
                                      <p:cBhvr additive="base">
                                        <p:cTn id="68" dur="420" fill="hold"/>
                                        <p:tgtEl>
                                          <p:spTgt spid="21"/>
                                        </p:tgtEl>
                                        <p:attrNameLst>
                                          <p:attrName>ppt_y</p:attrName>
                                        </p:attrNameLst>
                                      </p:cBhvr>
                                      <p:tavLst>
                                        <p:tav tm="0">
                                          <p:val>
                                            <p:strVal val="#ppt_y+0.035"/>
                                          </p:val>
                                        </p:tav>
                                        <p:tav tm="100000">
                                          <p:val>
                                            <p:strVal val="#ppt_y"/>
                                          </p:val>
                                        </p:tav>
                                      </p:tavLst>
                                    </p:anim>
                                    <p:set>
                                      <p:cBhvr>
                                        <p:cTn id="69" dur="1" fill="hold">
                                          <p:stCondLst>
                                            <p:cond delay="0"/>
                                          </p:stCondLst>
                                        </p:cTn>
                                        <p:tgtEl>
                                          <p:spTgt spid="22"/>
                                        </p:tgtEl>
                                        <p:attrNameLst>
                                          <p:attrName>style.visibility</p:attrName>
                                        </p:attrNameLst>
                                      </p:cBhvr>
                                      <p:to>
                                        <p:strVal val="visible"/>
                                      </p:to>
                                    </p:set>
                                    <p:animEffect transition="in" filter="fade">
                                      <p:cBhvr>
                                        <p:cTn id="70" dur="420"/>
                                        <p:tgtEl>
                                          <p:spTgt spid="22"/>
                                        </p:tgtEl>
                                      </p:cBhvr>
                                    </p:animEffect>
                                    <p:anim calcmode="lin" valueType="num">
                                      <p:cBhvr additive="base">
                                        <p:cTn id="71" dur="420" fill="hold"/>
                                        <p:tgtEl>
                                          <p:spTgt spid="22"/>
                                        </p:tgtEl>
                                        <p:attrNameLst>
                                          <p:attrName>ppt_y</p:attrName>
                                        </p:attrNameLst>
                                      </p:cBhvr>
                                      <p:tavLst>
                                        <p:tav tm="0">
                                          <p:val>
                                            <p:strVal val="#ppt_y+0.035"/>
                                          </p:val>
                                        </p:tav>
                                        <p:tav tm="100000">
                                          <p:val>
                                            <p:strVal val="#ppt_y"/>
                                          </p:val>
                                        </p:tav>
                                      </p:tavLst>
                                    </p:anim>
                                    <p:set>
                                      <p:cBhvr>
                                        <p:cTn id="72"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anim calcmode="lin" valueType="num">
                                      <p:cBhvr additive="base">
                                        <p:cTn id="74" dur="420" fill="hold"/>
                                        <p:tgtEl>
                                          <p:spTgt spid="30"/>
                                        </p:tgtEl>
                                        <p:attrNameLst>
                                          <p:attrName>ppt_y</p:attrName>
                                        </p:attrNameLst>
                                      </p:cBhvr>
                                      <p:tavLst>
                                        <p:tav tm="0">
                                          <p:val>
                                            <p:strVal val="#ppt_y+0.035"/>
                                          </p:val>
                                        </p:tav>
                                        <p:tav tm="100000">
                                          <p:val>
                                            <p:strVal val="#ppt_y"/>
                                          </p:val>
                                        </p:tav>
                                      </p:tavLst>
                                    </p:anim>
                                    <p:set>
                                      <p:cBhvr>
                                        <p:cTn id="75"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anim calcmode="lin" valueType="num">
                                      <p:cBhvr additive="base">
                                        <p:cTn id="77" dur="420" fill="hold"/>
                                        <p:tgtEl>
                                          <p:spTgt spid="31"/>
                                        </p:tgtEl>
                                        <p:attrNameLst>
                                          <p:attrName>ppt_y</p:attrName>
                                        </p:attrNameLst>
                                      </p:cBhvr>
                                      <p:tavLst>
                                        <p:tav tm="0">
                                          <p:val>
                                            <p:strVal val="#ppt_y+0.035"/>
                                          </p:val>
                                        </p:tav>
                                        <p:tav tm="100000">
                                          <p:val>
                                            <p:strVal val="#ppt_y"/>
                                          </p:val>
                                        </p:tav>
                                      </p:tavLst>
                                    </p:anim>
                                    <p:set>
                                      <p:cBhvr>
                                        <p:cTn id="78"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anim calcmode="lin" valueType="num">
                                      <p:cBhvr additive="base">
                                        <p:cTn id="80" dur="420" fill="hold"/>
                                        <p:tgtEl>
                                          <p:spTgt spid="32"/>
                                        </p:tgtEl>
                                        <p:attrNameLst>
                                          <p:attrName>ppt_y</p:attrName>
                                        </p:attrNameLst>
                                      </p:cBhvr>
                                      <p:tavLst>
                                        <p:tav tm="0">
                                          <p:val>
                                            <p:strVal val="#ppt_y+0.035"/>
                                          </p:val>
                                        </p:tav>
                                        <p:tav tm="100000">
                                          <p:val>
                                            <p:strVal val="#ppt_y"/>
                                          </p:val>
                                        </p:tav>
                                      </p:tavLst>
                                    </p:anim>
                                    <p:set>
                                      <p:cBhvr>
                                        <p:cTn id="81" dur="1" fill="hold">
                                          <p:stCondLst>
                                            <p:cond delay="0"/>
                                          </p:stCondLst>
                                        </p:cTn>
                                        <p:tgtEl>
                                          <p:spTgt spid="13"/>
                                        </p:tgtEl>
                                        <p:attrNameLst>
                                          <p:attrName>style.visibility</p:attrName>
                                        </p:attrNameLst>
                                      </p:cBhvr>
                                      <p:to>
                                        <p:strVal val="visible"/>
                                      </p:to>
                                    </p:set>
                                    <p:animEffect transition="in" filter="fade">
                                      <p:cBhvr>
                                        <p:cTn id="82" dur="420"/>
                                        <p:tgtEl>
                                          <p:spTgt spid="13"/>
                                        </p:tgtEl>
                                      </p:cBhvr>
                                    </p:animEffect>
                                    <p:anim calcmode="lin" valueType="num">
                                      <p:cBhvr additive="base">
                                        <p:cTn id="83" dur="420" fill="hold"/>
                                        <p:tgtEl>
                                          <p:spTgt spid="13"/>
                                        </p:tgtEl>
                                        <p:attrNameLst>
                                          <p:attrName>ppt_y</p:attrName>
                                        </p:attrNameLst>
                                      </p:cBhvr>
                                      <p:tavLst>
                                        <p:tav tm="0">
                                          <p:val>
                                            <p:strVal val="#ppt_y+0.035"/>
                                          </p:val>
                                        </p:tav>
                                        <p:tav tm="100000">
                                          <p:val>
                                            <p:strVal val="#ppt_y"/>
                                          </p:val>
                                        </p:tav>
                                      </p:tavLst>
                                    </p:anim>
                                    <p:set>
                                      <p:cBhvr>
                                        <p:cTn id="84" dur="1" fill="hold">
                                          <p:stCondLst>
                                            <p:cond delay="0"/>
                                          </p:stCondLst>
                                        </p:cTn>
                                        <p:tgtEl>
                                          <p:spTgt spid="23"/>
                                        </p:tgtEl>
                                        <p:attrNameLst>
                                          <p:attrName>style.visibility</p:attrName>
                                        </p:attrNameLst>
                                      </p:cBhvr>
                                      <p:to>
                                        <p:strVal val="visible"/>
                                      </p:to>
                                    </p:set>
                                    <p:animEffect transition="in" filter="fade">
                                      <p:cBhvr>
                                        <p:cTn id="85" dur="420"/>
                                        <p:tgtEl>
                                          <p:spTgt spid="23"/>
                                        </p:tgtEl>
                                      </p:cBhvr>
                                    </p:animEffect>
                                    <p:anim calcmode="lin" valueType="num">
                                      <p:cBhvr additive="base">
                                        <p:cTn id="86" dur="420" fill="hold"/>
                                        <p:tgtEl>
                                          <p:spTgt spid="23"/>
                                        </p:tgtEl>
                                        <p:attrNameLst>
                                          <p:attrName>ppt_y</p:attrName>
                                        </p:attrNameLst>
                                      </p:cBhvr>
                                      <p:tavLst>
                                        <p:tav tm="0">
                                          <p:val>
                                            <p:strVal val="#ppt_y+0.035"/>
                                          </p:val>
                                        </p:tav>
                                        <p:tav tm="100000">
                                          <p:val>
                                            <p:strVal val="#ppt_y"/>
                                          </p:val>
                                        </p:tav>
                                      </p:tavLst>
                                    </p:anim>
                                    <p:set>
                                      <p:cBhvr>
                                        <p:cTn id="87" dur="1" fill="hold">
                                          <p:stCondLst>
                                            <p:cond delay="0"/>
                                          </p:stCondLst>
                                        </p:cTn>
                                        <p:tgtEl>
                                          <p:spTgt spid="33"/>
                                        </p:tgtEl>
                                        <p:attrNameLst>
                                          <p:attrName>style.visibility</p:attrName>
                                        </p:attrNameLst>
                                      </p:cBhvr>
                                      <p:to>
                                        <p:strVal val="visible"/>
                                      </p:to>
                                    </p:set>
                                    <p:animEffect transition="in" filter="fade">
                                      <p:cBhvr>
                                        <p:cTn id="88" dur="420"/>
                                        <p:tgtEl>
                                          <p:spTgt spid="33"/>
                                        </p:tgtEl>
                                      </p:cBhvr>
                                    </p:animEffect>
                                    <p:anim calcmode="lin" valueType="num">
                                      <p:cBhvr additive="base">
                                        <p:cTn id="89" dur="420" fill="hold"/>
                                        <p:tgtEl>
                                          <p:spTgt spid="33"/>
                                        </p:tgtEl>
                                        <p:attrNameLst>
                                          <p:attrName>ppt_y</p:attrName>
                                        </p:attrNameLst>
                                      </p:cBhvr>
                                      <p:tavLst>
                                        <p:tav tm="0">
                                          <p:val>
                                            <p:strVal val="#ppt_y+0.035"/>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14"/>
                                        </p:tgtEl>
                                        <p:attrNameLst>
                                          <p:attrName>style.visibility</p:attrName>
                                        </p:attrNameLst>
                                      </p:cBhvr>
                                      <p:to>
                                        <p:strVal val="visible"/>
                                      </p:to>
                                    </p:set>
                                    <p:animEffect transition="in" filter="fade">
                                      <p:cBhvr>
                                        <p:cTn id="94" dur="420"/>
                                        <p:tgtEl>
                                          <p:spTgt spid="14"/>
                                        </p:tgtEl>
                                      </p:cBhvr>
                                    </p:animEffect>
                                    <p:anim calcmode="lin" valueType="num">
                                      <p:cBhvr additive="base">
                                        <p:cTn id="95" dur="420" fill="hold"/>
                                        <p:tgtEl>
                                          <p:spTgt spid="14"/>
                                        </p:tgtEl>
                                        <p:attrNameLst>
                                          <p:attrName>ppt_y</p:attrName>
                                        </p:attrNameLst>
                                      </p:cBhvr>
                                      <p:tavLst>
                                        <p:tav tm="0">
                                          <p:val>
                                            <p:strVal val="#ppt_y+0.035"/>
                                          </p:val>
                                        </p:tav>
                                        <p:tav tm="100000">
                                          <p:val>
                                            <p:strVal val="#ppt_y"/>
                                          </p:val>
                                        </p:tav>
                                      </p:tavLst>
                                    </p:anim>
                                    <p:set>
                                      <p:cBhvr>
                                        <p:cTn id="96" dur="1" fill="hold">
                                          <p:stCondLst>
                                            <p:cond delay="0"/>
                                          </p:stCondLst>
                                        </p:cTn>
                                        <p:tgtEl>
                                          <p:spTgt spid="24"/>
                                        </p:tgtEl>
                                        <p:attrNameLst>
                                          <p:attrName>style.visibility</p:attrName>
                                        </p:attrNameLst>
                                      </p:cBhvr>
                                      <p:to>
                                        <p:strVal val="visible"/>
                                      </p:to>
                                    </p:set>
                                    <p:animEffect transition="in" filter="fade">
                                      <p:cBhvr>
                                        <p:cTn id="97" dur="420"/>
                                        <p:tgtEl>
                                          <p:spTgt spid="24"/>
                                        </p:tgtEl>
                                      </p:cBhvr>
                                    </p:animEffect>
                                    <p:anim calcmode="lin" valueType="num">
                                      <p:cBhvr additive="base">
                                        <p:cTn id="98" dur="420" fill="hold"/>
                                        <p:tgtEl>
                                          <p:spTgt spid="24"/>
                                        </p:tgtEl>
                                        <p:attrNameLst>
                                          <p:attrName>ppt_y</p:attrName>
                                        </p:attrNameLst>
                                      </p:cBhvr>
                                      <p:tavLst>
                                        <p:tav tm="0">
                                          <p:val>
                                            <p:strVal val="#ppt_y+0.035"/>
                                          </p:val>
                                        </p:tav>
                                        <p:tav tm="100000">
                                          <p:val>
                                            <p:strVal val="#ppt_y"/>
                                          </p:val>
                                        </p:tav>
                                      </p:tavLst>
                                    </p:anim>
                                    <p:set>
                                      <p:cBhvr>
                                        <p:cTn id="99" dur="1" fill="hold">
                                          <p:stCondLst>
                                            <p:cond delay="0"/>
                                          </p:stCondLst>
                                        </p:cTn>
                                        <p:tgtEl>
                                          <p:spTgt spid="34"/>
                                        </p:tgtEl>
                                        <p:attrNameLst>
                                          <p:attrName>style.visibility</p:attrName>
                                        </p:attrNameLst>
                                      </p:cBhvr>
                                      <p:to>
                                        <p:strVal val="visible"/>
                                      </p:to>
                                    </p:set>
                                    <p:animEffect transition="in" filter="fade">
                                      <p:cBhvr>
                                        <p:cTn id="100" dur="420"/>
                                        <p:tgtEl>
                                          <p:spTgt spid="34"/>
                                        </p:tgtEl>
                                      </p:cBhvr>
                                    </p:animEffect>
                                    <p:anim calcmode="lin" valueType="num">
                                      <p:cBhvr additive="base">
                                        <p:cTn id="101" dur="420" fill="hold"/>
                                        <p:tgtEl>
                                          <p:spTgt spid="34"/>
                                        </p:tgtEl>
                                        <p:attrNameLst>
                                          <p:attrName>ppt_y</p:attrName>
                                        </p:attrNameLst>
                                      </p:cBhvr>
                                      <p:tavLst>
                                        <p:tav tm="0">
                                          <p:val>
                                            <p:strVal val="#ppt_y+0.035"/>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420"/>
                                        <p:tgtEl>
                                          <p:spTgt spid="25"/>
                                        </p:tgtEl>
                                      </p:cBhvr>
                                    </p:animEffect>
                                    <p:anim calcmode="lin" valueType="num">
                                      <p:cBhvr additive="base">
                                        <p:cTn id="107" dur="420" fill="hold"/>
                                        <p:tgtEl>
                                          <p:spTgt spid="25"/>
                                        </p:tgtEl>
                                        <p:attrNameLst>
                                          <p:attrName>ppt_y</p:attrName>
                                        </p:attrNameLst>
                                      </p:cBhvr>
                                      <p:tavLst>
                                        <p:tav tm="0">
                                          <p:val>
                                            <p:strVal val="#ppt_y+0.035"/>
                                          </p:val>
                                        </p:tav>
                                        <p:tav tm="100000">
                                          <p:val>
                                            <p:strVal val="#ppt_y"/>
                                          </p:val>
                                        </p:tav>
                                      </p:tavLst>
                                    </p:anim>
                                    <p:set>
                                      <p:cBhvr>
                                        <p:cTn id="108" dur="1" fill="hold">
                                          <p:stCondLst>
                                            <p:cond delay="0"/>
                                          </p:stCondLst>
                                        </p:cTn>
                                        <p:tgtEl>
                                          <p:spTgt spid="35"/>
                                        </p:tgtEl>
                                        <p:attrNameLst>
                                          <p:attrName>style.visibility</p:attrName>
                                        </p:attrNameLst>
                                      </p:cBhvr>
                                      <p:to>
                                        <p:strVal val="visible"/>
                                      </p:to>
                                    </p:set>
                                    <p:animEffect transition="in" filter="fade">
                                      <p:cBhvr>
                                        <p:cTn id="109" dur="420"/>
                                        <p:tgtEl>
                                          <p:spTgt spid="35"/>
                                        </p:tgtEl>
                                      </p:cBhvr>
                                    </p:animEffect>
                                    <p:anim calcmode="lin" valueType="num">
                                      <p:cBhvr additive="base">
                                        <p:cTn id="110" dur="420" fill="hold"/>
                                        <p:tgtEl>
                                          <p:spTgt spid="3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p:bldP spid="9" grpId="0"/>
      <p:bldP spid="10" grpId="0" animBg="1"/>
      <p:bldP spid="11" grpId="0"/>
      <p:bldP spid="12" grpId="0"/>
      <p:bldP spid="13" grpId="0"/>
      <p:bldP spid="14" grpId="0" animBg="1"/>
      <p:bldP spid="15" grpId="0"/>
      <p:bldP spid="16" grpId="0"/>
      <p:bldP spid="17" grpId="0"/>
      <p:bldP spid="18" grpId="0"/>
      <p:bldP spid="19" grpId="0"/>
      <p:bldP spid="20" grpId="0"/>
      <p:bldP spid="21" grpId="0"/>
      <p:bldP spid="22" grpId="0"/>
      <p:bldP spid="23" grpId="0"/>
      <p:bldP spid="24" grpId="0"/>
      <p:bldP spid="25" grpId="0" animBg="1"/>
      <p:bldP spid="26" grpId="0"/>
      <p:bldP spid="27" grpId="0"/>
      <p:bldP spid="28" grpId="0"/>
      <p:bldP spid="29" grpId="0"/>
      <p:bldP spid="30" grpId="0"/>
      <p:bldP spid="31" grpId="0"/>
      <p:bldP spid="32" grpId="0"/>
      <p:bldP spid="33" grpId="0"/>
      <p:bldP spid="34" grpId="0"/>
      <p:bldP spid="35"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01</a:t>
            </a:r>
            <a:r>
              <a:rPr lang="en-US" sz="1150" b="1" kern="0" spc="160" dirty="0">
                <a:solidFill>
                  <a:srgbClr val="6E7781"/>
                </a:solidFill>
                <a:latin typeface="Calibri" pitchFamily="34" charset="0"/>
                <a:ea typeface="Calibri" pitchFamily="34" charset="-122"/>
                <a:cs typeface="Calibri" pitchFamily="34" charset="-120"/>
              </a:rPr>
              <a:t>   THE WORKFLOW</a:t>
            </a:r>
            <a:endParaRPr lang="en-US" sz="1150" dirty="0"/>
          </a:p>
        </p:txBody>
      </p:sp>
      <p:sp>
        <p:nvSpPr>
          <p:cNvPr id="3" name="Text 1"/>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The async cloud-agent workflow</a:t>
            </a:r>
            <a:endParaRPr lang="en-US" sz="3200" dirty="0"/>
          </a:p>
        </p:txBody>
      </p:sp>
      <p:sp>
        <p:nvSpPr>
          <p:cNvPr id="4" name="Text 2"/>
          <p:cNvSpPr/>
          <p:nvPr/>
        </p:nvSpPr>
        <p:spPr>
          <a:xfrm>
            <a:off x="566928" y="1389888"/>
            <a:ext cx="11055096" cy="566928"/>
          </a:xfrm>
          <a:prstGeom prst="rect">
            <a:avLst/>
          </a:prstGeom>
          <a:noFill/>
          <a:ln/>
        </p:spPr>
        <p:txBody>
          <a:bodyPr wrap="square" lIns="0" tIns="0" rIns="0" bIns="0" rtlCol="0" anchor="t"/>
          <a:lstStyle/>
          <a:p>
            <a:pPr marL="0" indent="0">
              <a:lnSpc>
                <a:spcPts val="1850"/>
              </a:lnSpc>
              <a:buNone/>
            </a:pPr>
            <a:r>
              <a:rPr lang="en-US" sz="1350" dirty="0">
                <a:solidFill>
                  <a:srgbClr val="2B3138"/>
                </a:solidFill>
                <a:latin typeface="Calibri" pitchFamily="34" charset="0"/>
                <a:ea typeface="Calibri" pitchFamily="34" charset="-122"/>
                <a:cs typeface="Calibri" pitchFamily="34" charset="-120"/>
              </a:rPr>
              <a:t>Six steps. A person opens it, a person closes it, and the four in the middle happen in a sandbox you never have to look at unless you want to.</a:t>
            </a:r>
            <a:endParaRPr lang="en-US" sz="1350" dirty="0"/>
          </a:p>
        </p:txBody>
      </p:sp>
      <p:sp>
        <p:nvSpPr>
          <p:cNvPr id="5" name="Shape 3"/>
          <p:cNvSpPr/>
          <p:nvPr/>
        </p:nvSpPr>
        <p:spPr>
          <a:xfrm>
            <a:off x="2276856" y="2688336"/>
            <a:ext cx="5724144" cy="2779776"/>
          </a:xfrm>
          <a:prstGeom prst="roundRect">
            <a:avLst>
              <a:gd name="adj" fmla="val 1645"/>
            </a:avLst>
          </a:prstGeom>
          <a:solidFill>
            <a:srgbClr val="EFF2F5"/>
          </a:solidFill>
          <a:ln w="9525">
            <a:solidFill>
              <a:srgbClr val="D8DEE4"/>
            </a:solidFill>
            <a:prstDash val="sysDash"/>
          </a:ln>
        </p:spPr>
      </p:sp>
      <p:sp>
        <p:nvSpPr>
          <p:cNvPr id="6" name="Text 4"/>
          <p:cNvSpPr/>
          <p:nvPr/>
        </p:nvSpPr>
        <p:spPr>
          <a:xfrm>
            <a:off x="566928" y="2907792"/>
            <a:ext cx="1572768" cy="201168"/>
          </a:xfrm>
          <a:prstGeom prst="rect">
            <a:avLst/>
          </a:prstGeom>
          <a:noFill/>
          <a:ln/>
        </p:spPr>
        <p:txBody>
          <a:bodyPr wrap="square" lIns="0" tIns="0" rIns="0" bIns="0" rtlCol="0" anchor="t"/>
          <a:lstStyle/>
          <a:p>
            <a:pPr marL="0" indent="0" algn="l">
              <a:buNone/>
            </a:pPr>
            <a:r>
              <a:rPr lang="en-US" sz="900" b="1" kern="0" spc="140" dirty="0">
                <a:solidFill>
                  <a:srgbClr val="0969DA"/>
                </a:solidFill>
                <a:latin typeface="Calibri" pitchFamily="34" charset="0"/>
                <a:ea typeface="Calibri" pitchFamily="34" charset="-122"/>
                <a:cs typeface="Calibri" pitchFamily="34" charset="-120"/>
              </a:rPr>
              <a:t>HUMAN</a:t>
            </a:r>
            <a:endParaRPr lang="en-US" sz="900" dirty="0"/>
          </a:p>
        </p:txBody>
      </p:sp>
      <p:sp>
        <p:nvSpPr>
          <p:cNvPr id="7" name="Text 5"/>
          <p:cNvSpPr/>
          <p:nvPr/>
        </p:nvSpPr>
        <p:spPr>
          <a:xfrm>
            <a:off x="2459736" y="2907792"/>
            <a:ext cx="5358384" cy="201168"/>
          </a:xfrm>
          <a:prstGeom prst="rect">
            <a:avLst/>
          </a:prstGeom>
          <a:noFill/>
          <a:ln/>
        </p:spPr>
        <p:txBody>
          <a:bodyPr wrap="square" lIns="0" tIns="0" rIns="0" bIns="0" rtlCol="0" anchor="t"/>
          <a:lstStyle/>
          <a:p>
            <a:pPr marL="0" indent="0" algn="ctr">
              <a:buNone/>
            </a:pPr>
            <a:r>
              <a:rPr lang="en-US" sz="900" b="1" kern="0" spc="140" dirty="0">
                <a:solidFill>
                  <a:srgbClr val="6E7781"/>
                </a:solidFill>
                <a:latin typeface="Calibri" pitchFamily="34" charset="0"/>
                <a:ea typeface="Calibri" pitchFamily="34" charset="-122"/>
                <a:cs typeface="Calibri" pitchFamily="34" charset="-120"/>
              </a:rPr>
              <a:t>AGENT, INSIDE THE SANDBOX</a:t>
            </a:r>
            <a:endParaRPr lang="en-US" sz="900" dirty="0"/>
          </a:p>
        </p:txBody>
      </p:sp>
      <p:sp>
        <p:nvSpPr>
          <p:cNvPr id="8" name="Text 6"/>
          <p:cNvSpPr/>
          <p:nvPr/>
        </p:nvSpPr>
        <p:spPr>
          <a:xfrm>
            <a:off x="8138160" y="2907792"/>
            <a:ext cx="3465576" cy="201168"/>
          </a:xfrm>
          <a:prstGeom prst="rect">
            <a:avLst/>
          </a:prstGeom>
          <a:noFill/>
          <a:ln/>
        </p:spPr>
        <p:txBody>
          <a:bodyPr wrap="square" lIns="0" tIns="0" rIns="0" bIns="0" rtlCol="0" anchor="t"/>
          <a:lstStyle/>
          <a:p>
            <a:pPr marL="0" indent="0" algn="r">
              <a:buNone/>
            </a:pPr>
            <a:r>
              <a:rPr lang="en-US" sz="900" b="1" kern="0" spc="140" dirty="0">
                <a:solidFill>
                  <a:srgbClr val="0969DA"/>
                </a:solidFill>
                <a:latin typeface="Calibri" pitchFamily="34" charset="0"/>
                <a:ea typeface="Calibri" pitchFamily="34" charset="-122"/>
                <a:cs typeface="Calibri" pitchFamily="34" charset="-120"/>
              </a:rPr>
              <a:t>HUMAN</a:t>
            </a:r>
            <a:endParaRPr lang="en-US" sz="900" dirty="0"/>
          </a:p>
        </p:txBody>
      </p:sp>
      <p:sp>
        <p:nvSpPr>
          <p:cNvPr id="9" name="Shape 7"/>
          <p:cNvSpPr/>
          <p:nvPr/>
        </p:nvSpPr>
        <p:spPr>
          <a:xfrm>
            <a:off x="566928" y="3291840"/>
            <a:ext cx="1572768" cy="1810512"/>
          </a:xfrm>
          <a:prstGeom prst="roundRect">
            <a:avLst>
              <a:gd name="adj" fmla="val 3488"/>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10" name="Shape 8"/>
          <p:cNvSpPr/>
          <p:nvPr/>
        </p:nvSpPr>
        <p:spPr>
          <a:xfrm>
            <a:off x="1197864" y="3438144"/>
            <a:ext cx="310896" cy="310896"/>
          </a:xfrm>
          <a:prstGeom prst="ellipse">
            <a:avLst/>
          </a:prstGeom>
          <a:solidFill>
            <a:srgbClr val="0969DA"/>
          </a:solidFill>
          <a:ln/>
        </p:spPr>
      </p:sp>
      <p:sp>
        <p:nvSpPr>
          <p:cNvPr id="11" name="Text 9"/>
          <p:cNvSpPr/>
          <p:nvPr/>
        </p:nvSpPr>
        <p:spPr>
          <a:xfrm>
            <a:off x="1197864" y="343814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Text 10"/>
          <p:cNvSpPr/>
          <p:nvPr/>
        </p:nvSpPr>
        <p:spPr>
          <a:xfrm>
            <a:off x="640080" y="3858768"/>
            <a:ext cx="1426464" cy="475488"/>
          </a:xfrm>
          <a:prstGeom prst="rect">
            <a:avLst/>
          </a:prstGeom>
          <a:noFill/>
          <a:ln/>
        </p:spPr>
        <p:txBody>
          <a:bodyPr wrap="square" lIns="0" tIns="0" rIns="0" bIns="0" rtlCol="0" anchor="t"/>
          <a:lstStyle/>
          <a:p>
            <a:pPr marL="0" indent="0" algn="ctr">
              <a:lnSpc>
                <a:spcPts val="1500"/>
              </a:lnSpc>
              <a:buNone/>
            </a:pPr>
            <a:r>
              <a:rPr lang="en-US" sz="1200" b="1" dirty="0">
                <a:solidFill>
                  <a:srgbClr val="15181D"/>
                </a:solidFill>
                <a:latin typeface="Calibri" pitchFamily="34" charset="0"/>
                <a:ea typeface="Calibri" pitchFamily="34" charset="-122"/>
                <a:cs typeface="Calibri" pitchFamily="34" charset="-120"/>
              </a:rPr>
              <a:t>Assign</a:t>
            </a:r>
            <a:endParaRPr lang="en-US" sz="1200" dirty="0"/>
          </a:p>
        </p:txBody>
      </p:sp>
      <p:sp>
        <p:nvSpPr>
          <p:cNvPr id="13" name="Text 11"/>
          <p:cNvSpPr/>
          <p:nvPr/>
        </p:nvSpPr>
        <p:spPr>
          <a:xfrm>
            <a:off x="640080" y="4425696"/>
            <a:ext cx="1426464" cy="566928"/>
          </a:xfrm>
          <a:prstGeom prst="rect">
            <a:avLst/>
          </a:prstGeom>
          <a:noFill/>
          <a:ln/>
        </p:spPr>
        <p:txBody>
          <a:bodyPr wrap="square" lIns="0" tIns="0" rIns="0" bIns="0" rtlCol="0" anchor="t"/>
          <a:lstStyle/>
          <a:p>
            <a:pPr marL="0" indent="0" algn="ctr">
              <a:lnSpc>
                <a:spcPts val="1250"/>
              </a:lnSpc>
              <a:buNone/>
            </a:pPr>
            <a:r>
              <a:rPr lang="en-US" sz="950" dirty="0">
                <a:solidFill>
                  <a:srgbClr val="2B3138"/>
                </a:solidFill>
                <a:latin typeface="Calibri" pitchFamily="34" charset="0"/>
                <a:ea typeface="Calibri" pitchFamily="34" charset="-122"/>
                <a:cs typeface="Calibri" pitchFamily="34" charset="-120"/>
              </a:rPr>
              <a:t>issue, Jira ticket</a:t>
            </a:r>
            <a:endParaRPr lang="en-US" sz="950" dirty="0"/>
          </a:p>
          <a:p>
            <a:pPr marL="0" indent="0" algn="ctr">
              <a:lnSpc>
                <a:spcPts val="1250"/>
              </a:lnSpc>
              <a:buNone/>
            </a:pPr>
            <a:r>
              <a:rPr lang="en-US" sz="950" dirty="0">
                <a:solidFill>
                  <a:srgbClr val="2B3138"/>
                </a:solidFill>
                <a:latin typeface="Calibri" pitchFamily="34" charset="0"/>
                <a:ea typeface="Calibri" pitchFamily="34" charset="-122"/>
                <a:cs typeface="Calibri" pitchFamily="34" charset="-120"/>
              </a:rPr>
              <a:t>or Azure Boards</a:t>
            </a:r>
            <a:endParaRPr lang="en-US" sz="950" dirty="0"/>
          </a:p>
          <a:p>
            <a:pPr marL="0" indent="0" algn="ctr">
              <a:lnSpc>
                <a:spcPts val="1250"/>
              </a:lnSpc>
              <a:buNone/>
            </a:pPr>
            <a:r>
              <a:rPr lang="en-US" sz="950" dirty="0">
                <a:solidFill>
                  <a:srgbClr val="2B3138"/>
                </a:solidFill>
                <a:latin typeface="Calibri" pitchFamily="34" charset="0"/>
                <a:ea typeface="Calibri" pitchFamily="34" charset="-122"/>
                <a:cs typeface="Calibri" pitchFamily="34" charset="-120"/>
              </a:rPr>
              <a:t>work item</a:t>
            </a:r>
            <a:endParaRPr lang="en-US" sz="950" dirty="0"/>
          </a:p>
        </p:txBody>
      </p:sp>
      <p:sp>
        <p:nvSpPr>
          <p:cNvPr id="14" name="Shape 12"/>
          <p:cNvSpPr/>
          <p:nvPr/>
        </p:nvSpPr>
        <p:spPr>
          <a:xfrm>
            <a:off x="2185416" y="4114800"/>
            <a:ext cx="228600" cy="164592"/>
          </a:xfrm>
          <a:prstGeom prst="rightArrow">
            <a:avLst/>
          </a:prstGeom>
          <a:solidFill>
            <a:srgbClr val="AEB7C0"/>
          </a:solidFill>
          <a:ln/>
        </p:spPr>
      </p:sp>
      <p:sp>
        <p:nvSpPr>
          <p:cNvPr id="15" name="Shape 13"/>
          <p:cNvSpPr/>
          <p:nvPr/>
        </p:nvSpPr>
        <p:spPr>
          <a:xfrm>
            <a:off x="2459736" y="3291840"/>
            <a:ext cx="1572768" cy="1810512"/>
          </a:xfrm>
          <a:prstGeom prst="roundRect">
            <a:avLst>
              <a:gd name="adj" fmla="val 3488"/>
            </a:avLst>
          </a:prstGeom>
          <a:solidFill>
            <a:srgbClr val="FFFFFF"/>
          </a:solidFill>
          <a:ln w="9525">
            <a:solidFill>
              <a:srgbClr val="D8DEE4"/>
            </a:solidFill>
            <a:prstDash val="solid"/>
          </a:ln>
          <a:effectLst>
            <a:outerShdw blurRad="177800" dist="38100" dir="5400000" algn="bl" rotWithShape="0">
              <a:srgbClr val="8C959F">
                <a:alpha val="16000"/>
              </a:srgbClr>
            </a:outerShdw>
          </a:effectLst>
        </p:spPr>
      </p:sp>
      <p:sp>
        <p:nvSpPr>
          <p:cNvPr id="16" name="Shape 14"/>
          <p:cNvSpPr/>
          <p:nvPr/>
        </p:nvSpPr>
        <p:spPr>
          <a:xfrm>
            <a:off x="3090672" y="3438144"/>
            <a:ext cx="310896" cy="310896"/>
          </a:xfrm>
          <a:prstGeom prst="ellipse">
            <a:avLst/>
          </a:prstGeom>
          <a:solidFill>
            <a:srgbClr val="15181D"/>
          </a:solidFill>
          <a:ln/>
        </p:spPr>
      </p:sp>
      <p:sp>
        <p:nvSpPr>
          <p:cNvPr id="17" name="Text 15"/>
          <p:cNvSpPr/>
          <p:nvPr/>
        </p:nvSpPr>
        <p:spPr>
          <a:xfrm>
            <a:off x="3090672" y="343814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2532888" y="3858768"/>
            <a:ext cx="1426464" cy="475488"/>
          </a:xfrm>
          <a:prstGeom prst="rect">
            <a:avLst/>
          </a:prstGeom>
          <a:noFill/>
          <a:ln/>
        </p:spPr>
        <p:txBody>
          <a:bodyPr wrap="square" lIns="0" tIns="0" rIns="0" bIns="0" rtlCol="0" anchor="t"/>
          <a:lstStyle/>
          <a:p>
            <a:pPr marL="0" indent="0" algn="ctr">
              <a:lnSpc>
                <a:spcPts val="1500"/>
              </a:lnSpc>
              <a:buNone/>
            </a:pPr>
            <a:r>
              <a:rPr lang="en-US" sz="1200" b="1" dirty="0">
                <a:solidFill>
                  <a:srgbClr val="15181D"/>
                </a:solidFill>
                <a:latin typeface="Calibri" pitchFamily="34" charset="0"/>
                <a:ea typeface="Calibri" pitchFamily="34" charset="-122"/>
                <a:cs typeface="Calibri" pitchFamily="34" charset="-120"/>
              </a:rPr>
              <a:t>Boot sandbox</a:t>
            </a:r>
            <a:endParaRPr lang="en-US" sz="1200" dirty="0"/>
          </a:p>
        </p:txBody>
      </p:sp>
      <p:sp>
        <p:nvSpPr>
          <p:cNvPr id="19" name="Text 17"/>
          <p:cNvSpPr/>
          <p:nvPr/>
        </p:nvSpPr>
        <p:spPr>
          <a:xfrm>
            <a:off x="2532888" y="4425696"/>
            <a:ext cx="1426464" cy="566928"/>
          </a:xfrm>
          <a:prstGeom prst="rect">
            <a:avLst/>
          </a:prstGeom>
          <a:noFill/>
          <a:ln/>
        </p:spPr>
        <p:txBody>
          <a:bodyPr wrap="square" lIns="0" tIns="0" rIns="0" bIns="0" rtlCol="0" anchor="t"/>
          <a:lstStyle/>
          <a:p>
            <a:pPr marL="0" indent="0" algn="ctr">
              <a:lnSpc>
                <a:spcPts val="1250"/>
              </a:lnSpc>
              <a:buNone/>
            </a:pPr>
            <a:r>
              <a:rPr lang="en-US" sz="950" dirty="0">
                <a:solidFill>
                  <a:srgbClr val="2B3138"/>
                </a:solidFill>
                <a:latin typeface="Calibri" pitchFamily="34" charset="0"/>
                <a:ea typeface="Calibri" pitchFamily="34" charset="-122"/>
                <a:cs typeface="Calibri" pitchFamily="34" charset="-120"/>
              </a:rPr>
              <a:t>ephemeral Actions</a:t>
            </a:r>
            <a:endParaRPr lang="en-US" sz="950" dirty="0"/>
          </a:p>
          <a:p>
            <a:pPr marL="0" indent="0" algn="ctr">
              <a:lnSpc>
                <a:spcPts val="1250"/>
              </a:lnSpc>
              <a:buNone/>
            </a:pPr>
            <a:r>
              <a:rPr lang="en-US" sz="950" dirty="0">
                <a:solidFill>
                  <a:srgbClr val="2B3138"/>
                </a:solidFill>
                <a:latin typeface="Calibri" pitchFamily="34" charset="0"/>
                <a:ea typeface="Calibri" pitchFamily="34" charset="-122"/>
                <a:cs typeface="Calibri" pitchFamily="34" charset="-120"/>
              </a:rPr>
              <a:t>runner, firewalled</a:t>
            </a:r>
            <a:endParaRPr lang="en-US" sz="950" dirty="0"/>
          </a:p>
          <a:p>
            <a:pPr marL="0" indent="0" algn="ctr">
              <a:lnSpc>
                <a:spcPts val="1250"/>
              </a:lnSpc>
              <a:buNone/>
            </a:pPr>
            <a:r>
              <a:rPr lang="en-US" sz="950" dirty="0">
                <a:solidFill>
                  <a:srgbClr val="2B3138"/>
                </a:solidFill>
                <a:latin typeface="Calibri" pitchFamily="34" charset="0"/>
                <a:ea typeface="Calibri" pitchFamily="34" charset="-122"/>
                <a:cs typeface="Calibri" pitchFamily="34" charset="-120"/>
              </a:rPr>
              <a:t>by default</a:t>
            </a:r>
            <a:endParaRPr lang="en-US" sz="950" dirty="0"/>
          </a:p>
        </p:txBody>
      </p:sp>
      <p:sp>
        <p:nvSpPr>
          <p:cNvPr id="20" name="Shape 18"/>
          <p:cNvSpPr/>
          <p:nvPr/>
        </p:nvSpPr>
        <p:spPr>
          <a:xfrm>
            <a:off x="4078224" y="4114800"/>
            <a:ext cx="228600" cy="164592"/>
          </a:xfrm>
          <a:prstGeom prst="rightArrow">
            <a:avLst/>
          </a:prstGeom>
          <a:solidFill>
            <a:srgbClr val="AEB7C0"/>
          </a:solidFill>
          <a:ln/>
        </p:spPr>
      </p:sp>
      <p:sp>
        <p:nvSpPr>
          <p:cNvPr id="21" name="Shape 19"/>
          <p:cNvSpPr/>
          <p:nvPr/>
        </p:nvSpPr>
        <p:spPr>
          <a:xfrm>
            <a:off x="4352544" y="3291840"/>
            <a:ext cx="1572768" cy="1810512"/>
          </a:xfrm>
          <a:prstGeom prst="roundRect">
            <a:avLst>
              <a:gd name="adj" fmla="val 3488"/>
            </a:avLst>
          </a:prstGeom>
          <a:solidFill>
            <a:srgbClr val="FFFFFF"/>
          </a:solidFill>
          <a:ln w="9525">
            <a:solidFill>
              <a:srgbClr val="D8DEE4"/>
            </a:solidFill>
            <a:prstDash val="solid"/>
          </a:ln>
          <a:effectLst>
            <a:outerShdw blurRad="177800" dist="38100" dir="5400000" algn="bl" rotWithShape="0">
              <a:srgbClr val="8C959F">
                <a:alpha val="16000"/>
              </a:srgbClr>
            </a:outerShdw>
          </a:effectLst>
        </p:spPr>
      </p:sp>
      <p:sp>
        <p:nvSpPr>
          <p:cNvPr id="22" name="Shape 20"/>
          <p:cNvSpPr/>
          <p:nvPr/>
        </p:nvSpPr>
        <p:spPr>
          <a:xfrm>
            <a:off x="4983480" y="3438144"/>
            <a:ext cx="310896" cy="310896"/>
          </a:xfrm>
          <a:prstGeom prst="ellipse">
            <a:avLst/>
          </a:prstGeom>
          <a:solidFill>
            <a:srgbClr val="15181D"/>
          </a:solidFill>
          <a:ln/>
        </p:spPr>
      </p:sp>
      <p:sp>
        <p:nvSpPr>
          <p:cNvPr id="23" name="Text 21"/>
          <p:cNvSpPr/>
          <p:nvPr/>
        </p:nvSpPr>
        <p:spPr>
          <a:xfrm>
            <a:off x="4983480" y="343814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Text 22"/>
          <p:cNvSpPr/>
          <p:nvPr/>
        </p:nvSpPr>
        <p:spPr>
          <a:xfrm>
            <a:off x="4425696" y="3858768"/>
            <a:ext cx="1426464" cy="475488"/>
          </a:xfrm>
          <a:prstGeom prst="rect">
            <a:avLst/>
          </a:prstGeom>
          <a:noFill/>
          <a:ln/>
        </p:spPr>
        <p:txBody>
          <a:bodyPr wrap="square" lIns="0" tIns="0" rIns="0" bIns="0" rtlCol="0" anchor="t"/>
          <a:lstStyle/>
          <a:p>
            <a:pPr marL="0" indent="0" algn="ctr">
              <a:lnSpc>
                <a:spcPts val="1500"/>
              </a:lnSpc>
              <a:buNone/>
            </a:pPr>
            <a:r>
              <a:rPr lang="en-US" sz="1200" b="1" dirty="0">
                <a:solidFill>
                  <a:srgbClr val="15181D"/>
                </a:solidFill>
                <a:latin typeface="Calibri" pitchFamily="34" charset="0"/>
                <a:ea typeface="Calibri" pitchFamily="34" charset="-122"/>
                <a:cs typeface="Calibri" pitchFamily="34" charset="-120"/>
              </a:rPr>
              <a:t>Plan + code</a:t>
            </a:r>
            <a:endParaRPr lang="en-US" sz="1200" dirty="0"/>
          </a:p>
        </p:txBody>
      </p:sp>
      <p:sp>
        <p:nvSpPr>
          <p:cNvPr id="25" name="Text 23"/>
          <p:cNvSpPr/>
          <p:nvPr/>
        </p:nvSpPr>
        <p:spPr>
          <a:xfrm>
            <a:off x="4425696" y="4425696"/>
            <a:ext cx="1426464" cy="566928"/>
          </a:xfrm>
          <a:prstGeom prst="rect">
            <a:avLst/>
          </a:prstGeom>
          <a:noFill/>
          <a:ln/>
        </p:spPr>
        <p:txBody>
          <a:bodyPr wrap="square" lIns="0" tIns="0" rIns="0" bIns="0" rtlCol="0" anchor="t"/>
          <a:lstStyle/>
          <a:p>
            <a:pPr marL="0" indent="0" algn="ctr">
              <a:lnSpc>
                <a:spcPts val="1250"/>
              </a:lnSpc>
              <a:buNone/>
            </a:pPr>
            <a:r>
              <a:rPr lang="en-US" sz="950" dirty="0">
                <a:solidFill>
                  <a:srgbClr val="2B3138"/>
                </a:solidFill>
                <a:latin typeface="Calibri" pitchFamily="34" charset="0"/>
                <a:ea typeface="Calibri" pitchFamily="34" charset="-122"/>
                <a:cs typeface="Calibri" pitchFamily="34" charset="-120"/>
              </a:rPr>
              <a:t>branch and DRAFT</a:t>
            </a:r>
            <a:endParaRPr lang="en-US" sz="950" dirty="0"/>
          </a:p>
          <a:p>
            <a:pPr marL="0" indent="0" algn="ctr">
              <a:lnSpc>
                <a:spcPts val="1250"/>
              </a:lnSpc>
              <a:buNone/>
            </a:pPr>
            <a:r>
              <a:rPr lang="en-US" sz="950" dirty="0">
                <a:solidFill>
                  <a:srgbClr val="2B3138"/>
                </a:solidFill>
                <a:latin typeface="Calibri" pitchFamily="34" charset="0"/>
                <a:ea typeface="Calibri" pitchFamily="34" charset="-122"/>
                <a:cs typeface="Calibri" pitchFamily="34" charset="-120"/>
              </a:rPr>
              <a:t>PR, iterative</a:t>
            </a:r>
            <a:endParaRPr lang="en-US" sz="950" dirty="0"/>
          </a:p>
          <a:p>
            <a:pPr marL="0" indent="0" algn="ctr">
              <a:lnSpc>
                <a:spcPts val="1250"/>
              </a:lnSpc>
              <a:buNone/>
            </a:pPr>
            <a:r>
              <a:rPr lang="en-US" sz="950" dirty="0">
                <a:solidFill>
                  <a:srgbClr val="2B3138"/>
                </a:solidFill>
                <a:latin typeface="Calibri" pitchFamily="34" charset="0"/>
                <a:ea typeface="Calibri" pitchFamily="34" charset="-122"/>
                <a:cs typeface="Calibri" pitchFamily="34" charset="-120"/>
              </a:rPr>
              <a:t>commits, runs tests</a:t>
            </a:r>
            <a:endParaRPr lang="en-US" sz="950" dirty="0"/>
          </a:p>
        </p:txBody>
      </p:sp>
      <p:sp>
        <p:nvSpPr>
          <p:cNvPr id="26" name="Shape 24"/>
          <p:cNvSpPr/>
          <p:nvPr/>
        </p:nvSpPr>
        <p:spPr>
          <a:xfrm>
            <a:off x="5971032" y="4114800"/>
            <a:ext cx="228600" cy="164592"/>
          </a:xfrm>
          <a:prstGeom prst="rightArrow">
            <a:avLst/>
          </a:prstGeom>
          <a:solidFill>
            <a:srgbClr val="AEB7C0"/>
          </a:solidFill>
          <a:ln/>
        </p:spPr>
      </p:sp>
      <p:sp>
        <p:nvSpPr>
          <p:cNvPr id="27" name="Shape 25"/>
          <p:cNvSpPr/>
          <p:nvPr/>
        </p:nvSpPr>
        <p:spPr>
          <a:xfrm>
            <a:off x="6245352" y="3291840"/>
            <a:ext cx="1572768" cy="1810512"/>
          </a:xfrm>
          <a:prstGeom prst="roundRect">
            <a:avLst>
              <a:gd name="adj" fmla="val 3488"/>
            </a:avLst>
          </a:prstGeom>
          <a:solidFill>
            <a:srgbClr val="FFFFFF"/>
          </a:solidFill>
          <a:ln w="9525">
            <a:solidFill>
              <a:srgbClr val="D8DEE4"/>
            </a:solidFill>
            <a:prstDash val="solid"/>
          </a:ln>
          <a:effectLst>
            <a:outerShdw blurRad="177800" dist="38100" dir="5400000" algn="bl" rotWithShape="0">
              <a:srgbClr val="8C959F">
                <a:alpha val="16000"/>
              </a:srgbClr>
            </a:outerShdw>
          </a:effectLst>
        </p:spPr>
      </p:sp>
      <p:sp>
        <p:nvSpPr>
          <p:cNvPr id="28" name="Shape 26"/>
          <p:cNvSpPr/>
          <p:nvPr/>
        </p:nvSpPr>
        <p:spPr>
          <a:xfrm>
            <a:off x="6876288" y="3438144"/>
            <a:ext cx="310896" cy="310896"/>
          </a:xfrm>
          <a:prstGeom prst="ellipse">
            <a:avLst/>
          </a:prstGeom>
          <a:solidFill>
            <a:srgbClr val="15181D"/>
          </a:solidFill>
          <a:ln/>
        </p:spPr>
      </p:sp>
      <p:sp>
        <p:nvSpPr>
          <p:cNvPr id="29" name="Text 27"/>
          <p:cNvSpPr/>
          <p:nvPr/>
        </p:nvSpPr>
        <p:spPr>
          <a:xfrm>
            <a:off x="6876288" y="343814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0" name="Text 28"/>
          <p:cNvSpPr/>
          <p:nvPr/>
        </p:nvSpPr>
        <p:spPr>
          <a:xfrm>
            <a:off x="6318504" y="3858768"/>
            <a:ext cx="1426464" cy="475488"/>
          </a:xfrm>
          <a:prstGeom prst="rect">
            <a:avLst/>
          </a:prstGeom>
          <a:noFill/>
          <a:ln/>
        </p:spPr>
        <p:txBody>
          <a:bodyPr wrap="square" lIns="0" tIns="0" rIns="0" bIns="0" rtlCol="0" anchor="t"/>
          <a:lstStyle/>
          <a:p>
            <a:pPr marL="0" indent="0" algn="ctr">
              <a:lnSpc>
                <a:spcPts val="1500"/>
              </a:lnSpc>
              <a:buNone/>
            </a:pPr>
            <a:r>
              <a:rPr lang="en-US" sz="1200" b="1" dirty="0">
                <a:solidFill>
                  <a:srgbClr val="15181D"/>
                </a:solidFill>
                <a:latin typeface="Calibri" pitchFamily="34" charset="0"/>
                <a:ea typeface="Calibri" pitchFamily="34" charset="-122"/>
                <a:cs typeface="Calibri" pitchFamily="34" charset="-120"/>
              </a:rPr>
              <a:t>Self-review</a:t>
            </a:r>
            <a:endParaRPr lang="en-US" sz="1200" dirty="0"/>
          </a:p>
        </p:txBody>
      </p:sp>
      <p:sp>
        <p:nvSpPr>
          <p:cNvPr id="31" name="Text 29"/>
          <p:cNvSpPr/>
          <p:nvPr/>
        </p:nvSpPr>
        <p:spPr>
          <a:xfrm>
            <a:off x="6318504" y="4425696"/>
            <a:ext cx="1426464" cy="566928"/>
          </a:xfrm>
          <a:prstGeom prst="rect">
            <a:avLst/>
          </a:prstGeom>
          <a:noFill/>
          <a:ln/>
        </p:spPr>
        <p:txBody>
          <a:bodyPr wrap="square" lIns="0" tIns="0" rIns="0" bIns="0" rtlCol="0" anchor="t"/>
          <a:lstStyle/>
          <a:p>
            <a:pPr marL="0" indent="0" algn="ctr">
              <a:lnSpc>
                <a:spcPts val="1250"/>
              </a:lnSpc>
              <a:buNone/>
            </a:pPr>
            <a:r>
              <a:rPr lang="en-US" sz="950" dirty="0">
                <a:solidFill>
                  <a:srgbClr val="2B3138"/>
                </a:solidFill>
                <a:latin typeface="Calibri" pitchFamily="34" charset="0"/>
                <a:ea typeface="Calibri" pitchFamily="34" charset="-122"/>
                <a:cs typeface="Calibri" pitchFamily="34" charset="-120"/>
              </a:rPr>
              <a:t>CodeQL, secret</a:t>
            </a:r>
            <a:endParaRPr lang="en-US" sz="950" dirty="0"/>
          </a:p>
          <a:p>
            <a:pPr marL="0" indent="0" algn="ctr">
              <a:lnSpc>
                <a:spcPts val="1250"/>
              </a:lnSpc>
              <a:buNone/>
            </a:pPr>
            <a:r>
              <a:rPr lang="en-US" sz="950" dirty="0">
                <a:solidFill>
                  <a:srgbClr val="2B3138"/>
                </a:solidFill>
                <a:latin typeface="Calibri" pitchFamily="34" charset="0"/>
                <a:ea typeface="Calibri" pitchFamily="34" charset="-122"/>
                <a:cs typeface="Calibri" pitchFamily="34" charset="-120"/>
              </a:rPr>
              <a:t>scan, fixes its</a:t>
            </a:r>
            <a:endParaRPr lang="en-US" sz="950" dirty="0"/>
          </a:p>
          <a:p>
            <a:pPr marL="0" indent="0" algn="ctr">
              <a:lnSpc>
                <a:spcPts val="1250"/>
              </a:lnSpc>
              <a:buNone/>
            </a:pPr>
            <a:r>
              <a:rPr lang="en-US" sz="950" dirty="0">
                <a:solidFill>
                  <a:srgbClr val="2B3138"/>
                </a:solidFill>
                <a:latin typeface="Calibri" pitchFamily="34" charset="0"/>
                <a:ea typeface="Calibri" pitchFamily="34" charset="-122"/>
                <a:cs typeface="Calibri" pitchFamily="34" charset="-120"/>
              </a:rPr>
              <a:t>own findings</a:t>
            </a:r>
            <a:endParaRPr lang="en-US" sz="950" dirty="0"/>
          </a:p>
        </p:txBody>
      </p:sp>
      <p:sp>
        <p:nvSpPr>
          <p:cNvPr id="32" name="Shape 30"/>
          <p:cNvSpPr/>
          <p:nvPr/>
        </p:nvSpPr>
        <p:spPr>
          <a:xfrm>
            <a:off x="7863840" y="4114800"/>
            <a:ext cx="228600" cy="164592"/>
          </a:xfrm>
          <a:prstGeom prst="rightArrow">
            <a:avLst/>
          </a:prstGeom>
          <a:solidFill>
            <a:srgbClr val="AEB7C0"/>
          </a:solidFill>
          <a:ln/>
        </p:spPr>
      </p:sp>
      <p:sp>
        <p:nvSpPr>
          <p:cNvPr id="33" name="Shape 31"/>
          <p:cNvSpPr/>
          <p:nvPr/>
        </p:nvSpPr>
        <p:spPr>
          <a:xfrm>
            <a:off x="8138160" y="3291840"/>
            <a:ext cx="1572768" cy="1810512"/>
          </a:xfrm>
          <a:prstGeom prst="roundRect">
            <a:avLst>
              <a:gd name="adj" fmla="val 3488"/>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34" name="Shape 32"/>
          <p:cNvSpPr/>
          <p:nvPr/>
        </p:nvSpPr>
        <p:spPr>
          <a:xfrm>
            <a:off x="8769096" y="3438144"/>
            <a:ext cx="310896" cy="310896"/>
          </a:xfrm>
          <a:prstGeom prst="ellipse">
            <a:avLst/>
          </a:prstGeom>
          <a:solidFill>
            <a:srgbClr val="0969DA"/>
          </a:solidFill>
          <a:ln/>
        </p:spPr>
      </p:sp>
      <p:sp>
        <p:nvSpPr>
          <p:cNvPr id="35" name="Text 33"/>
          <p:cNvSpPr/>
          <p:nvPr/>
        </p:nvSpPr>
        <p:spPr>
          <a:xfrm>
            <a:off x="8769096" y="343814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6" name="Text 34"/>
          <p:cNvSpPr/>
          <p:nvPr/>
        </p:nvSpPr>
        <p:spPr>
          <a:xfrm>
            <a:off x="8211312" y="3858768"/>
            <a:ext cx="1426464" cy="475488"/>
          </a:xfrm>
          <a:prstGeom prst="rect">
            <a:avLst/>
          </a:prstGeom>
          <a:noFill/>
          <a:ln/>
        </p:spPr>
        <p:txBody>
          <a:bodyPr wrap="square" lIns="0" tIns="0" rIns="0" bIns="0" rtlCol="0" anchor="t"/>
          <a:lstStyle/>
          <a:p>
            <a:pPr marL="0" indent="0" algn="ctr">
              <a:lnSpc>
                <a:spcPts val="1500"/>
              </a:lnSpc>
              <a:buNone/>
            </a:pPr>
            <a:r>
              <a:rPr lang="en-US" sz="1200" b="1" dirty="0">
                <a:solidFill>
                  <a:srgbClr val="15181D"/>
                </a:solidFill>
                <a:latin typeface="Calibri" pitchFamily="34" charset="0"/>
                <a:ea typeface="Calibri" pitchFamily="34" charset="-122"/>
                <a:cs typeface="Calibri" pitchFamily="34" charset="-120"/>
              </a:rPr>
              <a:t>Human review</a:t>
            </a:r>
            <a:endParaRPr lang="en-US" sz="1200" dirty="0"/>
          </a:p>
        </p:txBody>
      </p:sp>
      <p:sp>
        <p:nvSpPr>
          <p:cNvPr id="37" name="Text 35"/>
          <p:cNvSpPr/>
          <p:nvPr/>
        </p:nvSpPr>
        <p:spPr>
          <a:xfrm>
            <a:off x="8211312" y="4425696"/>
            <a:ext cx="1426464" cy="566928"/>
          </a:xfrm>
          <a:prstGeom prst="rect">
            <a:avLst/>
          </a:prstGeom>
          <a:noFill/>
          <a:ln/>
        </p:spPr>
        <p:txBody>
          <a:bodyPr wrap="square" lIns="0" tIns="0" rIns="0" bIns="0" rtlCol="0" anchor="t"/>
          <a:lstStyle/>
          <a:p>
            <a:pPr marL="0" indent="0" algn="ctr">
              <a:lnSpc>
                <a:spcPts val="1250"/>
              </a:lnSpc>
              <a:buNone/>
            </a:pPr>
            <a:r>
              <a:rPr lang="en-US" sz="950" dirty="0">
                <a:solidFill>
                  <a:srgbClr val="2B3138"/>
                </a:solidFill>
                <a:latin typeface="Calibri" pitchFamily="34" charset="0"/>
                <a:ea typeface="Calibri" pitchFamily="34" charset="-122"/>
                <a:cs typeface="Calibri" pitchFamily="34" charset="-120"/>
              </a:rPr>
              <a:t>comment on the</a:t>
            </a:r>
            <a:endParaRPr lang="en-US" sz="950" dirty="0"/>
          </a:p>
          <a:p>
            <a:pPr marL="0" indent="0" algn="ctr">
              <a:lnSpc>
                <a:spcPts val="1250"/>
              </a:lnSpc>
              <a:buNone/>
            </a:pPr>
            <a:r>
              <a:rPr lang="en-US" sz="950" dirty="0">
                <a:solidFill>
                  <a:srgbClr val="2B3138"/>
                </a:solidFill>
                <a:latin typeface="Calibri" pitchFamily="34" charset="0"/>
                <a:ea typeface="Calibri" pitchFamily="34" charset="-122"/>
                <a:cs typeface="Calibri" pitchFamily="34" charset="-120"/>
              </a:rPr>
              <a:t>diff to steer it</a:t>
            </a:r>
            <a:endParaRPr lang="en-US" sz="950" dirty="0"/>
          </a:p>
        </p:txBody>
      </p:sp>
      <p:sp>
        <p:nvSpPr>
          <p:cNvPr id="38" name="Shape 36"/>
          <p:cNvSpPr/>
          <p:nvPr/>
        </p:nvSpPr>
        <p:spPr>
          <a:xfrm>
            <a:off x="9756648" y="4114800"/>
            <a:ext cx="228600" cy="164592"/>
          </a:xfrm>
          <a:prstGeom prst="rightArrow">
            <a:avLst/>
          </a:prstGeom>
          <a:solidFill>
            <a:srgbClr val="7BC08A"/>
          </a:solidFill>
          <a:ln/>
        </p:spPr>
      </p:sp>
      <p:sp>
        <p:nvSpPr>
          <p:cNvPr id="39" name="Shape 37"/>
          <p:cNvSpPr/>
          <p:nvPr/>
        </p:nvSpPr>
        <p:spPr>
          <a:xfrm>
            <a:off x="10030968" y="3291840"/>
            <a:ext cx="1572768" cy="1810512"/>
          </a:xfrm>
          <a:prstGeom prst="roundRect">
            <a:avLst>
              <a:gd name="adj" fmla="val 3488"/>
            </a:avLst>
          </a:prstGeom>
          <a:solidFill>
            <a:srgbClr val="EAF6ED"/>
          </a:solidFill>
          <a:ln w="9525">
            <a:solidFill>
              <a:srgbClr val="D8DEE4"/>
            </a:solidFill>
            <a:prstDash val="solid"/>
          </a:ln>
          <a:effectLst>
            <a:outerShdw blurRad="177800" dist="38100" dir="5400000" algn="bl" rotWithShape="0">
              <a:srgbClr val="8C959F">
                <a:alpha val="16000"/>
              </a:srgbClr>
            </a:outerShdw>
          </a:effectLst>
        </p:spPr>
      </p:sp>
      <p:sp>
        <p:nvSpPr>
          <p:cNvPr id="40" name="Shape 38"/>
          <p:cNvSpPr/>
          <p:nvPr/>
        </p:nvSpPr>
        <p:spPr>
          <a:xfrm>
            <a:off x="10661904" y="3438144"/>
            <a:ext cx="310896" cy="310896"/>
          </a:xfrm>
          <a:prstGeom prst="ellipse">
            <a:avLst/>
          </a:prstGeom>
          <a:solidFill>
            <a:srgbClr val="1A7F37"/>
          </a:solidFill>
          <a:ln/>
        </p:spPr>
      </p:sp>
      <p:sp>
        <p:nvSpPr>
          <p:cNvPr id="41" name="Text 39"/>
          <p:cNvSpPr/>
          <p:nvPr/>
        </p:nvSpPr>
        <p:spPr>
          <a:xfrm>
            <a:off x="10661904" y="343814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2" name="Text 40"/>
          <p:cNvSpPr/>
          <p:nvPr/>
        </p:nvSpPr>
        <p:spPr>
          <a:xfrm>
            <a:off x="10104120" y="3858768"/>
            <a:ext cx="1426464" cy="475488"/>
          </a:xfrm>
          <a:prstGeom prst="rect">
            <a:avLst/>
          </a:prstGeom>
          <a:noFill/>
          <a:ln/>
        </p:spPr>
        <p:txBody>
          <a:bodyPr wrap="square" lIns="0" tIns="0" rIns="0" bIns="0" rtlCol="0" anchor="t"/>
          <a:lstStyle/>
          <a:p>
            <a:pPr marL="0" indent="0" algn="ctr">
              <a:lnSpc>
                <a:spcPts val="1500"/>
              </a:lnSpc>
              <a:buNone/>
            </a:pPr>
            <a:r>
              <a:rPr lang="en-US" sz="1200" b="1" dirty="0">
                <a:solidFill>
                  <a:srgbClr val="15181D"/>
                </a:solidFill>
                <a:latin typeface="Calibri" pitchFamily="34" charset="0"/>
                <a:ea typeface="Calibri" pitchFamily="34" charset="-122"/>
                <a:cs typeface="Calibri" pitchFamily="34" charset="-120"/>
              </a:rPr>
              <a:t>Approve + merge</a:t>
            </a:r>
            <a:endParaRPr lang="en-US" sz="1200" dirty="0"/>
          </a:p>
        </p:txBody>
      </p:sp>
      <p:sp>
        <p:nvSpPr>
          <p:cNvPr id="43" name="Text 41"/>
          <p:cNvSpPr/>
          <p:nvPr/>
        </p:nvSpPr>
        <p:spPr>
          <a:xfrm>
            <a:off x="10104120" y="4425696"/>
            <a:ext cx="1426464" cy="566928"/>
          </a:xfrm>
          <a:prstGeom prst="rect">
            <a:avLst/>
          </a:prstGeom>
          <a:noFill/>
          <a:ln/>
        </p:spPr>
        <p:txBody>
          <a:bodyPr wrap="square" lIns="0" tIns="0" rIns="0" bIns="0" rtlCol="0" anchor="t"/>
          <a:lstStyle/>
          <a:p>
            <a:pPr marL="0" indent="0" algn="ctr">
              <a:lnSpc>
                <a:spcPts val="1250"/>
              </a:lnSpc>
              <a:buNone/>
            </a:pPr>
            <a:r>
              <a:rPr lang="en-US" sz="950" dirty="0">
                <a:solidFill>
                  <a:srgbClr val="2B3138"/>
                </a:solidFill>
                <a:latin typeface="Calibri" pitchFamily="34" charset="0"/>
                <a:ea typeface="Calibri" pitchFamily="34" charset="-122"/>
                <a:cs typeface="Calibri" pitchFamily="34" charset="-120"/>
              </a:rPr>
              <a:t>a person,</a:t>
            </a:r>
            <a:endParaRPr lang="en-US" sz="950" dirty="0"/>
          </a:p>
          <a:p>
            <a:pPr marL="0" indent="0" algn="ctr">
              <a:lnSpc>
                <a:spcPts val="1250"/>
              </a:lnSpc>
              <a:buNone/>
            </a:pPr>
            <a:r>
              <a:rPr lang="en-US" sz="950" dirty="0">
                <a:solidFill>
                  <a:srgbClr val="2B3138"/>
                </a:solidFill>
                <a:latin typeface="Calibri" pitchFamily="34" charset="0"/>
                <a:ea typeface="Calibri" pitchFamily="34" charset="-122"/>
                <a:cs typeface="Calibri" pitchFamily="34" charset="-120"/>
              </a:rPr>
              <a:t>never the bot</a:t>
            </a:r>
            <a:endParaRPr lang="en-US" sz="950" dirty="0"/>
          </a:p>
        </p:txBody>
      </p:sp>
      <p:sp>
        <p:nvSpPr>
          <p:cNvPr id="44" name="Text 42"/>
          <p:cNvSpPr/>
          <p:nvPr/>
        </p:nvSpPr>
        <p:spPr>
          <a:xfrm>
            <a:off x="566928" y="6437376"/>
            <a:ext cx="10552176" cy="237744"/>
          </a:xfrm>
          <a:prstGeom prst="rect">
            <a:avLst/>
          </a:prstGeom>
          <a:noFill/>
          <a:ln/>
        </p:spPr>
        <p:txBody>
          <a:bodyPr wrap="square" lIns="0" tIns="0" rIns="0" bIns="0" rtlCol="0" anchor="ctr"/>
          <a:lstStyle/>
          <a:p>
            <a:pPr marL="0" indent="0">
              <a:buNone/>
            </a:pPr>
            <a:r>
              <a:rPr lang="en-US" sz="850" b="1" dirty="0">
                <a:solidFill>
                  <a:srgbClr val="6E7781"/>
                </a:solidFill>
                <a:latin typeface="Calibri" pitchFamily="34" charset="0"/>
                <a:ea typeface="Calibri" pitchFamily="34" charset="-122"/>
                <a:cs typeface="Calibri" pitchFamily="34" charset="-120"/>
              </a:rPr>
              <a:t>Sources   </a:t>
            </a:r>
            <a:r>
              <a:rPr lang="en-US" sz="850" dirty="0">
                <a:solidFill>
                  <a:srgbClr val="6E7781"/>
                </a:solidFill>
                <a:latin typeface="Calibri" pitchFamily="34" charset="0"/>
                <a:ea typeface="Calibri" pitchFamily="34" charset="-122"/>
                <a:cs typeface="Calibri" pitchFamily="34" charset="-120"/>
              </a:rPr>
              <a:t>docs.github.com/en/copilot/responsible-use/copilot-cloud-agent · docs.github.com/en/copilot/concepts/agents/coding-agent/risks-and-mitigations</a:t>
            </a:r>
            <a:endParaRPr lang="en-US" sz="850" dirty="0"/>
          </a:p>
        </p:txBody>
      </p:sp>
      <p:sp>
        <p:nvSpPr>
          <p:cNvPr id="45"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anim calcmode="lin" valueType="num">
                                      <p:cBhvr additive="base">
                                        <p:cTn id="8" dur="420" fill="hold"/>
                                        <p:tgtEl>
                                          <p:spTgt spid="5"/>
                                        </p:tgtEl>
                                        <p:attrNameLst>
                                          <p:attrName>ppt_y</p:attrName>
                                        </p:attrNameLst>
                                      </p:cBhvr>
                                      <p:tavLst>
                                        <p:tav tm="0">
                                          <p:val>
                                            <p:strVal val="#ppt_y+0.035"/>
                                          </p:val>
                                        </p:tav>
                                        <p:tav tm="100000">
                                          <p:val>
                                            <p:strVal val="#ppt_y"/>
                                          </p:val>
                                        </p:tav>
                                      </p:tavLst>
                                    </p:anim>
                                    <p:set>
                                      <p:cBhvr>
                                        <p:cTn id="9" dur="1" fill="hold">
                                          <p:stCondLst>
                                            <p:cond delay="0"/>
                                          </p:stCondLst>
                                        </p:cTn>
                                        <p:tgtEl>
                                          <p:spTgt spid="6"/>
                                        </p:tgtEl>
                                        <p:attrNameLst>
                                          <p:attrName>style.visibility</p:attrName>
                                        </p:attrNameLst>
                                      </p:cBhvr>
                                      <p:to>
                                        <p:strVal val="visible"/>
                                      </p:to>
                                    </p:set>
                                    <p:animEffect transition="in" filter="fade">
                                      <p:cBhvr>
                                        <p:cTn id="10" dur="420"/>
                                        <p:tgtEl>
                                          <p:spTgt spid="6"/>
                                        </p:tgtEl>
                                      </p:cBhvr>
                                    </p:animEffect>
                                    <p:anim calcmode="lin" valueType="num">
                                      <p:cBhvr additive="base">
                                        <p:cTn id="11" dur="420" fill="hold"/>
                                        <p:tgtEl>
                                          <p:spTgt spid="6"/>
                                        </p:tgtEl>
                                        <p:attrNameLst>
                                          <p:attrName>ppt_y</p:attrName>
                                        </p:attrNameLst>
                                      </p:cBhvr>
                                      <p:tavLst>
                                        <p:tav tm="0">
                                          <p:val>
                                            <p:strVal val="#ppt_y+0.035"/>
                                          </p:val>
                                        </p:tav>
                                        <p:tav tm="100000">
                                          <p:val>
                                            <p:strVal val="#ppt_y"/>
                                          </p:val>
                                        </p:tav>
                                      </p:tavLst>
                                    </p:anim>
                                    <p:set>
                                      <p:cBhvr>
                                        <p:cTn id="12" dur="1" fill="hold">
                                          <p:stCondLst>
                                            <p:cond delay="0"/>
                                          </p:stCondLst>
                                        </p:cTn>
                                        <p:tgtEl>
                                          <p:spTgt spid="7"/>
                                        </p:tgtEl>
                                        <p:attrNameLst>
                                          <p:attrName>style.visibility</p:attrName>
                                        </p:attrNameLst>
                                      </p:cBhvr>
                                      <p:to>
                                        <p:strVal val="visible"/>
                                      </p:to>
                                    </p:set>
                                    <p:animEffect transition="in" filter="fade">
                                      <p:cBhvr>
                                        <p:cTn id="13" dur="420"/>
                                        <p:tgtEl>
                                          <p:spTgt spid="7"/>
                                        </p:tgtEl>
                                      </p:cBhvr>
                                    </p:animEffect>
                                    <p:anim calcmode="lin" valueType="num">
                                      <p:cBhvr additive="base">
                                        <p:cTn id="14" dur="420" fill="hold"/>
                                        <p:tgtEl>
                                          <p:spTgt spid="7"/>
                                        </p:tgtEl>
                                        <p:attrNameLst>
                                          <p:attrName>ppt_y</p:attrName>
                                        </p:attrNameLst>
                                      </p:cBhvr>
                                      <p:tavLst>
                                        <p:tav tm="0">
                                          <p:val>
                                            <p:strVal val="#ppt_y+0.035"/>
                                          </p:val>
                                        </p:tav>
                                        <p:tav tm="100000">
                                          <p:val>
                                            <p:strVal val="#ppt_y"/>
                                          </p:val>
                                        </p:tav>
                                      </p:tavLst>
                                    </p:anim>
                                    <p:set>
                                      <p:cBhvr>
                                        <p:cTn id="15" dur="1" fill="hold">
                                          <p:stCondLst>
                                            <p:cond delay="0"/>
                                          </p:stCondLst>
                                        </p:cTn>
                                        <p:tgtEl>
                                          <p:spTgt spid="8"/>
                                        </p:tgtEl>
                                        <p:attrNameLst>
                                          <p:attrName>style.visibility</p:attrName>
                                        </p:attrNameLst>
                                      </p:cBhvr>
                                      <p:to>
                                        <p:strVal val="visible"/>
                                      </p:to>
                                    </p:set>
                                    <p:animEffect transition="in" filter="fade">
                                      <p:cBhvr>
                                        <p:cTn id="16" dur="420"/>
                                        <p:tgtEl>
                                          <p:spTgt spid="8"/>
                                        </p:tgtEl>
                                      </p:cBhvr>
                                    </p:animEffect>
                                    <p:anim calcmode="lin" valueType="num">
                                      <p:cBhvr additive="base">
                                        <p:cTn id="17" dur="420" fill="hold"/>
                                        <p:tgtEl>
                                          <p:spTgt spid="8"/>
                                        </p:tgtEl>
                                        <p:attrNameLst>
                                          <p:attrName>ppt_y</p:attrName>
                                        </p:attrNameLst>
                                      </p:cBhvr>
                                      <p:tavLst>
                                        <p:tav tm="0">
                                          <p:val>
                                            <p:strVal val="#ppt_y+0.035"/>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20"/>
                                        <p:tgtEl>
                                          <p:spTgt spid="9"/>
                                        </p:tgtEl>
                                      </p:cBhvr>
                                    </p:animEffect>
                                    <p:anim calcmode="lin" valueType="num">
                                      <p:cBhvr additive="base">
                                        <p:cTn id="23" dur="420" fill="hold"/>
                                        <p:tgtEl>
                                          <p:spTgt spid="9"/>
                                        </p:tgtEl>
                                        <p:attrNameLst>
                                          <p:attrName>ppt_y</p:attrName>
                                        </p:attrNameLst>
                                      </p:cBhvr>
                                      <p:tavLst>
                                        <p:tav tm="0">
                                          <p:val>
                                            <p:strVal val="#ppt_y+0.035"/>
                                          </p:val>
                                        </p:tav>
                                        <p:tav tm="100000">
                                          <p:val>
                                            <p:strVal val="#ppt_y"/>
                                          </p:val>
                                        </p:tav>
                                      </p:tavLst>
                                    </p:anim>
                                    <p:set>
                                      <p:cBhvr>
                                        <p:cTn id="24" dur="1" fill="hold">
                                          <p:stCondLst>
                                            <p:cond delay="0"/>
                                          </p:stCondLst>
                                        </p:cTn>
                                        <p:tgtEl>
                                          <p:spTgt spid="15"/>
                                        </p:tgtEl>
                                        <p:attrNameLst>
                                          <p:attrName>style.visibility</p:attrName>
                                        </p:attrNameLst>
                                      </p:cBhvr>
                                      <p:to>
                                        <p:strVal val="visible"/>
                                      </p:to>
                                    </p:set>
                                    <p:animEffect transition="in" filter="fade">
                                      <p:cBhvr>
                                        <p:cTn id="25" dur="420"/>
                                        <p:tgtEl>
                                          <p:spTgt spid="15"/>
                                        </p:tgtEl>
                                      </p:cBhvr>
                                    </p:animEffect>
                                    <p:anim calcmode="lin" valueType="num">
                                      <p:cBhvr additive="base">
                                        <p:cTn id="26" dur="420" fill="hold"/>
                                        <p:tgtEl>
                                          <p:spTgt spid="15"/>
                                        </p:tgtEl>
                                        <p:attrNameLst>
                                          <p:attrName>ppt_y</p:attrName>
                                        </p:attrNameLst>
                                      </p:cBhvr>
                                      <p:tavLst>
                                        <p:tav tm="0">
                                          <p:val>
                                            <p:strVal val="#ppt_y+0.035"/>
                                          </p:val>
                                        </p:tav>
                                        <p:tav tm="100000">
                                          <p:val>
                                            <p:strVal val="#ppt_y"/>
                                          </p:val>
                                        </p:tav>
                                      </p:tavLst>
                                    </p:anim>
                                    <p:set>
                                      <p:cBhvr>
                                        <p:cTn id="27" dur="1" fill="hold">
                                          <p:stCondLst>
                                            <p:cond delay="0"/>
                                          </p:stCondLst>
                                        </p:cTn>
                                        <p:tgtEl>
                                          <p:spTgt spid="21"/>
                                        </p:tgtEl>
                                        <p:attrNameLst>
                                          <p:attrName>style.visibility</p:attrName>
                                        </p:attrNameLst>
                                      </p:cBhvr>
                                      <p:to>
                                        <p:strVal val="visible"/>
                                      </p:to>
                                    </p:set>
                                    <p:animEffect transition="in" filter="fade">
                                      <p:cBhvr>
                                        <p:cTn id="28" dur="420"/>
                                        <p:tgtEl>
                                          <p:spTgt spid="21"/>
                                        </p:tgtEl>
                                      </p:cBhvr>
                                    </p:animEffect>
                                    <p:anim calcmode="lin" valueType="num">
                                      <p:cBhvr additive="base">
                                        <p:cTn id="29" dur="420" fill="hold"/>
                                        <p:tgtEl>
                                          <p:spTgt spid="21"/>
                                        </p:tgtEl>
                                        <p:attrNameLst>
                                          <p:attrName>ppt_y</p:attrName>
                                        </p:attrNameLst>
                                      </p:cBhvr>
                                      <p:tavLst>
                                        <p:tav tm="0">
                                          <p:val>
                                            <p:strVal val="#ppt_y+0.035"/>
                                          </p:val>
                                        </p:tav>
                                        <p:tav tm="100000">
                                          <p:val>
                                            <p:strVal val="#ppt_y"/>
                                          </p:val>
                                        </p:tav>
                                      </p:tavLst>
                                    </p:anim>
                                    <p:set>
                                      <p:cBhvr>
                                        <p:cTn id="30" dur="1" fill="hold">
                                          <p:stCondLst>
                                            <p:cond delay="0"/>
                                          </p:stCondLst>
                                        </p:cTn>
                                        <p:tgtEl>
                                          <p:spTgt spid="27"/>
                                        </p:tgtEl>
                                        <p:attrNameLst>
                                          <p:attrName>style.visibility</p:attrName>
                                        </p:attrNameLst>
                                      </p:cBhvr>
                                      <p:to>
                                        <p:strVal val="visible"/>
                                      </p:to>
                                    </p:set>
                                    <p:animEffect transition="in" filter="fade">
                                      <p:cBhvr>
                                        <p:cTn id="31" dur="420"/>
                                        <p:tgtEl>
                                          <p:spTgt spid="27"/>
                                        </p:tgtEl>
                                      </p:cBhvr>
                                    </p:animEffect>
                                    <p:anim calcmode="lin" valueType="num">
                                      <p:cBhvr additive="base">
                                        <p:cTn id="32" dur="420" fill="hold"/>
                                        <p:tgtEl>
                                          <p:spTgt spid="27"/>
                                        </p:tgtEl>
                                        <p:attrNameLst>
                                          <p:attrName>ppt_y</p:attrName>
                                        </p:attrNameLst>
                                      </p:cBhvr>
                                      <p:tavLst>
                                        <p:tav tm="0">
                                          <p:val>
                                            <p:strVal val="#ppt_y+0.035"/>
                                          </p:val>
                                        </p:tav>
                                        <p:tav tm="100000">
                                          <p:val>
                                            <p:strVal val="#ppt_y"/>
                                          </p:val>
                                        </p:tav>
                                      </p:tavLst>
                                    </p:anim>
                                    <p:set>
                                      <p:cBhvr>
                                        <p:cTn id="33" dur="1" fill="hold">
                                          <p:stCondLst>
                                            <p:cond delay="0"/>
                                          </p:stCondLst>
                                        </p:cTn>
                                        <p:tgtEl>
                                          <p:spTgt spid="33"/>
                                        </p:tgtEl>
                                        <p:attrNameLst>
                                          <p:attrName>style.visibility</p:attrName>
                                        </p:attrNameLst>
                                      </p:cBhvr>
                                      <p:to>
                                        <p:strVal val="visible"/>
                                      </p:to>
                                    </p:set>
                                    <p:animEffect transition="in" filter="fade">
                                      <p:cBhvr>
                                        <p:cTn id="34" dur="420"/>
                                        <p:tgtEl>
                                          <p:spTgt spid="33"/>
                                        </p:tgtEl>
                                      </p:cBhvr>
                                    </p:animEffect>
                                    <p:anim calcmode="lin" valueType="num">
                                      <p:cBhvr additive="base">
                                        <p:cTn id="35" dur="420" fill="hold"/>
                                        <p:tgtEl>
                                          <p:spTgt spid="33"/>
                                        </p:tgtEl>
                                        <p:attrNameLst>
                                          <p:attrName>ppt_y</p:attrName>
                                        </p:attrNameLst>
                                      </p:cBhvr>
                                      <p:tavLst>
                                        <p:tav tm="0">
                                          <p:val>
                                            <p:strVal val="#ppt_y+0.035"/>
                                          </p:val>
                                        </p:tav>
                                        <p:tav tm="100000">
                                          <p:val>
                                            <p:strVal val="#ppt_y"/>
                                          </p:val>
                                        </p:tav>
                                      </p:tavLst>
                                    </p:anim>
                                    <p:set>
                                      <p:cBhvr>
                                        <p:cTn id="36" dur="1" fill="hold">
                                          <p:stCondLst>
                                            <p:cond delay="0"/>
                                          </p:stCondLst>
                                        </p:cTn>
                                        <p:tgtEl>
                                          <p:spTgt spid="39"/>
                                        </p:tgtEl>
                                        <p:attrNameLst>
                                          <p:attrName>style.visibility</p:attrName>
                                        </p:attrNameLst>
                                      </p:cBhvr>
                                      <p:to>
                                        <p:strVal val="visible"/>
                                      </p:to>
                                    </p:set>
                                    <p:animEffect transition="in" filter="fade">
                                      <p:cBhvr>
                                        <p:cTn id="37" dur="420"/>
                                        <p:tgtEl>
                                          <p:spTgt spid="39"/>
                                        </p:tgtEl>
                                      </p:cBhvr>
                                    </p:animEffect>
                                    <p:anim calcmode="lin" valueType="num">
                                      <p:cBhvr additive="base">
                                        <p:cTn id="38" dur="420" fill="hold"/>
                                        <p:tgtEl>
                                          <p:spTgt spid="39"/>
                                        </p:tgtEl>
                                        <p:attrNameLst>
                                          <p:attrName>ppt_y</p:attrName>
                                        </p:attrNameLst>
                                      </p:cBhvr>
                                      <p:tavLst>
                                        <p:tav tm="0">
                                          <p:val>
                                            <p:strVal val="#ppt_y+0.035"/>
                                          </p:val>
                                        </p:tav>
                                        <p:tav tm="100000">
                                          <p:val>
                                            <p:strVal val="#ppt_y"/>
                                          </p:val>
                                        </p:tav>
                                      </p:tavLst>
                                    </p:anim>
                                    <p:set>
                                      <p:cBhvr>
                                        <p:cTn id="39" dur="1" fill="hold">
                                          <p:stCondLst>
                                            <p:cond delay="0"/>
                                          </p:stCondLst>
                                        </p:cTn>
                                        <p:tgtEl>
                                          <p:spTgt spid="10"/>
                                        </p:tgtEl>
                                        <p:attrNameLst>
                                          <p:attrName>style.visibility</p:attrName>
                                        </p:attrNameLst>
                                      </p:cBhvr>
                                      <p:to>
                                        <p:strVal val="visible"/>
                                      </p:to>
                                    </p:set>
                                    <p:animEffect transition="in" filter="fade">
                                      <p:cBhvr>
                                        <p:cTn id="40" dur="420"/>
                                        <p:tgtEl>
                                          <p:spTgt spid="10"/>
                                        </p:tgtEl>
                                      </p:cBhvr>
                                    </p:animEffect>
                                    <p:anim calcmode="lin" valueType="num">
                                      <p:cBhvr additive="base">
                                        <p:cTn id="41" dur="420" fill="hold"/>
                                        <p:tgtEl>
                                          <p:spTgt spid="10"/>
                                        </p:tgtEl>
                                        <p:attrNameLst>
                                          <p:attrName>ppt_y</p:attrName>
                                        </p:attrNameLst>
                                      </p:cBhvr>
                                      <p:tavLst>
                                        <p:tav tm="0">
                                          <p:val>
                                            <p:strVal val="#ppt_y+0.035"/>
                                          </p:val>
                                        </p:tav>
                                        <p:tav tm="100000">
                                          <p:val>
                                            <p:strVal val="#ppt_y"/>
                                          </p:val>
                                        </p:tav>
                                      </p:tavLst>
                                    </p:anim>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35"/>
                                          </p:val>
                                        </p:tav>
                                        <p:tav tm="100000">
                                          <p:val>
                                            <p:strVal val="#ppt_y"/>
                                          </p:val>
                                        </p:tav>
                                      </p:tavLst>
                                    </p:anim>
                                    <p:set>
                                      <p:cBhvr>
                                        <p:cTn id="45" dur="1" fill="hold">
                                          <p:stCondLst>
                                            <p:cond delay="0"/>
                                          </p:stCondLst>
                                        </p:cTn>
                                        <p:tgtEl>
                                          <p:spTgt spid="16"/>
                                        </p:tgtEl>
                                        <p:attrNameLst>
                                          <p:attrName>style.visibility</p:attrName>
                                        </p:attrNameLst>
                                      </p:cBhvr>
                                      <p:to>
                                        <p:strVal val="visible"/>
                                      </p:to>
                                    </p:set>
                                    <p:animEffect transition="in" filter="fade">
                                      <p:cBhvr>
                                        <p:cTn id="46" dur="420"/>
                                        <p:tgtEl>
                                          <p:spTgt spid="16"/>
                                        </p:tgtEl>
                                      </p:cBhvr>
                                    </p:animEffect>
                                    <p:anim calcmode="lin" valueType="num">
                                      <p:cBhvr additive="base">
                                        <p:cTn id="47" dur="420" fill="hold"/>
                                        <p:tgtEl>
                                          <p:spTgt spid="16"/>
                                        </p:tgtEl>
                                        <p:attrNameLst>
                                          <p:attrName>ppt_y</p:attrName>
                                        </p:attrNameLst>
                                      </p:cBhvr>
                                      <p:tavLst>
                                        <p:tav tm="0">
                                          <p:val>
                                            <p:strVal val="#ppt_y+0.035"/>
                                          </p:val>
                                        </p:tav>
                                        <p:tav tm="100000">
                                          <p:val>
                                            <p:strVal val="#ppt_y"/>
                                          </p:val>
                                        </p:tav>
                                      </p:tavLst>
                                    </p:anim>
                                    <p:set>
                                      <p:cBhvr>
                                        <p:cTn id="48" dur="1" fill="hold">
                                          <p:stCondLst>
                                            <p:cond delay="0"/>
                                          </p:stCondLst>
                                        </p:cTn>
                                        <p:tgtEl>
                                          <p:spTgt spid="17"/>
                                        </p:tgtEl>
                                        <p:attrNameLst>
                                          <p:attrName>style.visibility</p:attrName>
                                        </p:attrNameLst>
                                      </p:cBhvr>
                                      <p:to>
                                        <p:strVal val="visible"/>
                                      </p:to>
                                    </p:set>
                                    <p:animEffect transition="in" filter="fade">
                                      <p:cBhvr>
                                        <p:cTn id="49" dur="420"/>
                                        <p:tgtEl>
                                          <p:spTgt spid="17"/>
                                        </p:tgtEl>
                                      </p:cBhvr>
                                    </p:animEffect>
                                    <p:anim calcmode="lin" valueType="num">
                                      <p:cBhvr additive="base">
                                        <p:cTn id="50" dur="420" fill="hold"/>
                                        <p:tgtEl>
                                          <p:spTgt spid="17"/>
                                        </p:tgtEl>
                                        <p:attrNameLst>
                                          <p:attrName>ppt_y</p:attrName>
                                        </p:attrNameLst>
                                      </p:cBhvr>
                                      <p:tavLst>
                                        <p:tav tm="0">
                                          <p:val>
                                            <p:strVal val="#ppt_y+0.035"/>
                                          </p:val>
                                        </p:tav>
                                        <p:tav tm="100000">
                                          <p:val>
                                            <p:strVal val="#ppt_y"/>
                                          </p:val>
                                        </p:tav>
                                      </p:tavLst>
                                    </p:anim>
                                    <p:set>
                                      <p:cBhvr>
                                        <p:cTn id="51" dur="1" fill="hold">
                                          <p:stCondLst>
                                            <p:cond delay="0"/>
                                          </p:stCondLst>
                                        </p:cTn>
                                        <p:tgtEl>
                                          <p:spTgt spid="22"/>
                                        </p:tgtEl>
                                        <p:attrNameLst>
                                          <p:attrName>style.visibility</p:attrName>
                                        </p:attrNameLst>
                                      </p:cBhvr>
                                      <p:to>
                                        <p:strVal val="visible"/>
                                      </p:to>
                                    </p:set>
                                    <p:animEffect transition="in" filter="fade">
                                      <p:cBhvr>
                                        <p:cTn id="52" dur="420"/>
                                        <p:tgtEl>
                                          <p:spTgt spid="22"/>
                                        </p:tgtEl>
                                      </p:cBhvr>
                                    </p:animEffect>
                                    <p:anim calcmode="lin" valueType="num">
                                      <p:cBhvr additive="base">
                                        <p:cTn id="53" dur="420" fill="hold"/>
                                        <p:tgtEl>
                                          <p:spTgt spid="22"/>
                                        </p:tgtEl>
                                        <p:attrNameLst>
                                          <p:attrName>ppt_y</p:attrName>
                                        </p:attrNameLst>
                                      </p:cBhvr>
                                      <p:tavLst>
                                        <p:tav tm="0">
                                          <p:val>
                                            <p:strVal val="#ppt_y+0.035"/>
                                          </p:val>
                                        </p:tav>
                                        <p:tav tm="100000">
                                          <p:val>
                                            <p:strVal val="#ppt_y"/>
                                          </p:val>
                                        </p:tav>
                                      </p:tavLst>
                                    </p:anim>
                                    <p:set>
                                      <p:cBhvr>
                                        <p:cTn id="54"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6" dur="420" fill="hold"/>
                                        <p:tgtEl>
                                          <p:spTgt spid="23"/>
                                        </p:tgtEl>
                                        <p:attrNameLst>
                                          <p:attrName>ppt_y</p:attrName>
                                        </p:attrNameLst>
                                      </p:cBhvr>
                                      <p:tavLst>
                                        <p:tav tm="0">
                                          <p:val>
                                            <p:strVal val="#ppt_y+0.035"/>
                                          </p:val>
                                        </p:tav>
                                        <p:tav tm="100000">
                                          <p:val>
                                            <p:strVal val="#ppt_y"/>
                                          </p:val>
                                        </p:tav>
                                      </p:tavLst>
                                    </p:anim>
                                    <p:set>
                                      <p:cBhvr>
                                        <p:cTn id="57" dur="1" fill="hold">
                                          <p:stCondLst>
                                            <p:cond delay="0"/>
                                          </p:stCondLst>
                                        </p:cTn>
                                        <p:tgtEl>
                                          <p:spTgt spid="28"/>
                                        </p:tgtEl>
                                        <p:attrNameLst>
                                          <p:attrName>style.visibility</p:attrName>
                                        </p:attrNameLst>
                                      </p:cBhvr>
                                      <p:to>
                                        <p:strVal val="visible"/>
                                      </p:to>
                                    </p:set>
                                    <p:animEffect transition="in" filter="fade">
                                      <p:cBhvr>
                                        <p:cTn id="58" dur="420"/>
                                        <p:tgtEl>
                                          <p:spTgt spid="28"/>
                                        </p:tgtEl>
                                      </p:cBhvr>
                                    </p:animEffect>
                                    <p:anim calcmode="lin" valueType="num">
                                      <p:cBhvr additive="base">
                                        <p:cTn id="59" dur="420" fill="hold"/>
                                        <p:tgtEl>
                                          <p:spTgt spid="28"/>
                                        </p:tgtEl>
                                        <p:attrNameLst>
                                          <p:attrName>ppt_y</p:attrName>
                                        </p:attrNameLst>
                                      </p:cBhvr>
                                      <p:tavLst>
                                        <p:tav tm="0">
                                          <p:val>
                                            <p:strVal val="#ppt_y+0.035"/>
                                          </p:val>
                                        </p:tav>
                                        <p:tav tm="100000">
                                          <p:val>
                                            <p:strVal val="#ppt_y"/>
                                          </p:val>
                                        </p:tav>
                                      </p:tavLst>
                                    </p:anim>
                                    <p:set>
                                      <p:cBhvr>
                                        <p:cTn id="60" dur="1" fill="hold">
                                          <p:stCondLst>
                                            <p:cond delay="0"/>
                                          </p:stCondLst>
                                        </p:cTn>
                                        <p:tgtEl>
                                          <p:spTgt spid="29"/>
                                        </p:tgtEl>
                                        <p:attrNameLst>
                                          <p:attrName>style.visibility</p:attrName>
                                        </p:attrNameLst>
                                      </p:cBhvr>
                                      <p:to>
                                        <p:strVal val="visible"/>
                                      </p:to>
                                    </p:set>
                                    <p:animEffect transition="in" filter="fade">
                                      <p:cBhvr>
                                        <p:cTn id="61" dur="420"/>
                                        <p:tgtEl>
                                          <p:spTgt spid="29"/>
                                        </p:tgtEl>
                                      </p:cBhvr>
                                    </p:animEffect>
                                    <p:anim calcmode="lin" valueType="num">
                                      <p:cBhvr additive="base">
                                        <p:cTn id="62" dur="420" fill="hold"/>
                                        <p:tgtEl>
                                          <p:spTgt spid="29"/>
                                        </p:tgtEl>
                                        <p:attrNameLst>
                                          <p:attrName>ppt_y</p:attrName>
                                        </p:attrNameLst>
                                      </p:cBhvr>
                                      <p:tavLst>
                                        <p:tav tm="0">
                                          <p:val>
                                            <p:strVal val="#ppt_y+0.035"/>
                                          </p:val>
                                        </p:tav>
                                        <p:tav tm="100000">
                                          <p:val>
                                            <p:strVal val="#ppt_y"/>
                                          </p:val>
                                        </p:tav>
                                      </p:tavLst>
                                    </p:anim>
                                    <p:set>
                                      <p:cBhvr>
                                        <p:cTn id="63" dur="1" fill="hold">
                                          <p:stCondLst>
                                            <p:cond delay="0"/>
                                          </p:stCondLst>
                                        </p:cTn>
                                        <p:tgtEl>
                                          <p:spTgt spid="34"/>
                                        </p:tgtEl>
                                        <p:attrNameLst>
                                          <p:attrName>style.visibility</p:attrName>
                                        </p:attrNameLst>
                                      </p:cBhvr>
                                      <p:to>
                                        <p:strVal val="visible"/>
                                      </p:to>
                                    </p:set>
                                    <p:animEffect transition="in" filter="fade">
                                      <p:cBhvr>
                                        <p:cTn id="64" dur="420"/>
                                        <p:tgtEl>
                                          <p:spTgt spid="34"/>
                                        </p:tgtEl>
                                      </p:cBhvr>
                                    </p:animEffect>
                                    <p:anim calcmode="lin" valueType="num">
                                      <p:cBhvr additive="base">
                                        <p:cTn id="65" dur="420" fill="hold"/>
                                        <p:tgtEl>
                                          <p:spTgt spid="34"/>
                                        </p:tgtEl>
                                        <p:attrNameLst>
                                          <p:attrName>ppt_y</p:attrName>
                                        </p:attrNameLst>
                                      </p:cBhvr>
                                      <p:tavLst>
                                        <p:tav tm="0">
                                          <p:val>
                                            <p:strVal val="#ppt_y+0.035"/>
                                          </p:val>
                                        </p:tav>
                                        <p:tav tm="100000">
                                          <p:val>
                                            <p:strVal val="#ppt_y"/>
                                          </p:val>
                                        </p:tav>
                                      </p:tavLst>
                                    </p:anim>
                                    <p:set>
                                      <p:cBhvr>
                                        <p:cTn id="66" dur="1" fill="hold">
                                          <p:stCondLst>
                                            <p:cond delay="0"/>
                                          </p:stCondLst>
                                        </p:cTn>
                                        <p:tgtEl>
                                          <p:spTgt spid="35"/>
                                        </p:tgtEl>
                                        <p:attrNameLst>
                                          <p:attrName>style.visibility</p:attrName>
                                        </p:attrNameLst>
                                      </p:cBhvr>
                                      <p:to>
                                        <p:strVal val="visible"/>
                                      </p:to>
                                    </p:set>
                                    <p:animEffect transition="in" filter="fade">
                                      <p:cBhvr>
                                        <p:cTn id="67" dur="420"/>
                                        <p:tgtEl>
                                          <p:spTgt spid="35"/>
                                        </p:tgtEl>
                                      </p:cBhvr>
                                    </p:animEffect>
                                    <p:anim calcmode="lin" valueType="num">
                                      <p:cBhvr additive="base">
                                        <p:cTn id="68" dur="420" fill="hold"/>
                                        <p:tgtEl>
                                          <p:spTgt spid="35"/>
                                        </p:tgtEl>
                                        <p:attrNameLst>
                                          <p:attrName>ppt_y</p:attrName>
                                        </p:attrNameLst>
                                      </p:cBhvr>
                                      <p:tavLst>
                                        <p:tav tm="0">
                                          <p:val>
                                            <p:strVal val="#ppt_y+0.035"/>
                                          </p:val>
                                        </p:tav>
                                        <p:tav tm="100000">
                                          <p:val>
                                            <p:strVal val="#ppt_y"/>
                                          </p:val>
                                        </p:tav>
                                      </p:tavLst>
                                    </p:anim>
                                    <p:set>
                                      <p:cBhvr>
                                        <p:cTn id="69" dur="1" fill="hold">
                                          <p:stCondLst>
                                            <p:cond delay="0"/>
                                          </p:stCondLst>
                                        </p:cTn>
                                        <p:tgtEl>
                                          <p:spTgt spid="40"/>
                                        </p:tgtEl>
                                        <p:attrNameLst>
                                          <p:attrName>style.visibility</p:attrName>
                                        </p:attrNameLst>
                                      </p:cBhvr>
                                      <p:to>
                                        <p:strVal val="visible"/>
                                      </p:to>
                                    </p:set>
                                    <p:animEffect transition="in" filter="fade">
                                      <p:cBhvr>
                                        <p:cTn id="70" dur="420"/>
                                        <p:tgtEl>
                                          <p:spTgt spid="40"/>
                                        </p:tgtEl>
                                      </p:cBhvr>
                                    </p:animEffect>
                                    <p:anim calcmode="lin" valueType="num">
                                      <p:cBhvr additive="base">
                                        <p:cTn id="71" dur="420" fill="hold"/>
                                        <p:tgtEl>
                                          <p:spTgt spid="40"/>
                                        </p:tgtEl>
                                        <p:attrNameLst>
                                          <p:attrName>ppt_y</p:attrName>
                                        </p:attrNameLst>
                                      </p:cBhvr>
                                      <p:tavLst>
                                        <p:tav tm="0">
                                          <p:val>
                                            <p:strVal val="#ppt_y+0.035"/>
                                          </p:val>
                                        </p:tav>
                                        <p:tav tm="100000">
                                          <p:val>
                                            <p:strVal val="#ppt_y"/>
                                          </p:val>
                                        </p:tav>
                                      </p:tavLst>
                                    </p:anim>
                                    <p:set>
                                      <p:cBhvr>
                                        <p:cTn id="72" dur="1" fill="hold">
                                          <p:stCondLst>
                                            <p:cond delay="0"/>
                                          </p:stCondLst>
                                        </p:cTn>
                                        <p:tgtEl>
                                          <p:spTgt spid="41"/>
                                        </p:tgtEl>
                                        <p:attrNameLst>
                                          <p:attrName>style.visibility</p:attrName>
                                        </p:attrNameLst>
                                      </p:cBhvr>
                                      <p:to>
                                        <p:strVal val="visible"/>
                                      </p:to>
                                    </p:set>
                                    <p:animEffect transition="in" filter="fade">
                                      <p:cBhvr>
                                        <p:cTn id="73" dur="420"/>
                                        <p:tgtEl>
                                          <p:spTgt spid="41"/>
                                        </p:tgtEl>
                                      </p:cBhvr>
                                    </p:animEffect>
                                    <p:anim calcmode="lin" valueType="num">
                                      <p:cBhvr additive="base">
                                        <p:cTn id="74" dur="420" fill="hold"/>
                                        <p:tgtEl>
                                          <p:spTgt spid="41"/>
                                        </p:tgtEl>
                                        <p:attrNameLst>
                                          <p:attrName>ppt_y</p:attrName>
                                        </p:attrNameLst>
                                      </p:cBhvr>
                                      <p:tavLst>
                                        <p:tav tm="0">
                                          <p:val>
                                            <p:strVal val="#ppt_y+0.035"/>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12"/>
                                        </p:tgtEl>
                                        <p:attrNameLst>
                                          <p:attrName>style.visibility</p:attrName>
                                        </p:attrNameLst>
                                      </p:cBhvr>
                                      <p:to>
                                        <p:strVal val="visible"/>
                                      </p:to>
                                    </p:set>
                                    <p:animEffect transition="in" filter="fade">
                                      <p:cBhvr>
                                        <p:cTn id="79" dur="420"/>
                                        <p:tgtEl>
                                          <p:spTgt spid="12"/>
                                        </p:tgtEl>
                                      </p:cBhvr>
                                    </p:animEffect>
                                    <p:anim calcmode="lin" valueType="num">
                                      <p:cBhvr additive="base">
                                        <p:cTn id="80" dur="420" fill="hold"/>
                                        <p:tgtEl>
                                          <p:spTgt spid="12"/>
                                        </p:tgtEl>
                                        <p:attrNameLst>
                                          <p:attrName>ppt_y</p:attrName>
                                        </p:attrNameLst>
                                      </p:cBhvr>
                                      <p:tavLst>
                                        <p:tav tm="0">
                                          <p:val>
                                            <p:strVal val="#ppt_y+0.035"/>
                                          </p:val>
                                        </p:tav>
                                        <p:tav tm="100000">
                                          <p:val>
                                            <p:strVal val="#ppt_y"/>
                                          </p:val>
                                        </p:tav>
                                      </p:tavLst>
                                    </p:anim>
                                    <p:set>
                                      <p:cBhvr>
                                        <p:cTn id="81" dur="1" fill="hold">
                                          <p:stCondLst>
                                            <p:cond delay="0"/>
                                          </p:stCondLst>
                                        </p:cTn>
                                        <p:tgtEl>
                                          <p:spTgt spid="18"/>
                                        </p:tgtEl>
                                        <p:attrNameLst>
                                          <p:attrName>style.visibility</p:attrName>
                                        </p:attrNameLst>
                                      </p:cBhvr>
                                      <p:to>
                                        <p:strVal val="visible"/>
                                      </p:to>
                                    </p:set>
                                    <p:animEffect transition="in" filter="fade">
                                      <p:cBhvr>
                                        <p:cTn id="82" dur="420"/>
                                        <p:tgtEl>
                                          <p:spTgt spid="18"/>
                                        </p:tgtEl>
                                      </p:cBhvr>
                                    </p:animEffect>
                                    <p:anim calcmode="lin" valueType="num">
                                      <p:cBhvr additive="base">
                                        <p:cTn id="83" dur="420" fill="hold"/>
                                        <p:tgtEl>
                                          <p:spTgt spid="18"/>
                                        </p:tgtEl>
                                        <p:attrNameLst>
                                          <p:attrName>ppt_y</p:attrName>
                                        </p:attrNameLst>
                                      </p:cBhvr>
                                      <p:tavLst>
                                        <p:tav tm="0">
                                          <p:val>
                                            <p:strVal val="#ppt_y+0.035"/>
                                          </p:val>
                                        </p:tav>
                                        <p:tav tm="100000">
                                          <p:val>
                                            <p:strVal val="#ppt_y"/>
                                          </p:val>
                                        </p:tav>
                                      </p:tavLst>
                                    </p:anim>
                                    <p:set>
                                      <p:cBhvr>
                                        <p:cTn id="84" dur="1" fill="hold">
                                          <p:stCondLst>
                                            <p:cond delay="0"/>
                                          </p:stCondLst>
                                        </p:cTn>
                                        <p:tgtEl>
                                          <p:spTgt spid="24"/>
                                        </p:tgtEl>
                                        <p:attrNameLst>
                                          <p:attrName>style.visibility</p:attrName>
                                        </p:attrNameLst>
                                      </p:cBhvr>
                                      <p:to>
                                        <p:strVal val="visible"/>
                                      </p:to>
                                    </p:set>
                                    <p:animEffect transition="in" filter="fade">
                                      <p:cBhvr>
                                        <p:cTn id="85" dur="420"/>
                                        <p:tgtEl>
                                          <p:spTgt spid="24"/>
                                        </p:tgtEl>
                                      </p:cBhvr>
                                    </p:animEffect>
                                    <p:anim calcmode="lin" valueType="num">
                                      <p:cBhvr additive="base">
                                        <p:cTn id="86" dur="420" fill="hold"/>
                                        <p:tgtEl>
                                          <p:spTgt spid="24"/>
                                        </p:tgtEl>
                                        <p:attrNameLst>
                                          <p:attrName>ppt_y</p:attrName>
                                        </p:attrNameLst>
                                      </p:cBhvr>
                                      <p:tavLst>
                                        <p:tav tm="0">
                                          <p:val>
                                            <p:strVal val="#ppt_y+0.035"/>
                                          </p:val>
                                        </p:tav>
                                        <p:tav tm="100000">
                                          <p:val>
                                            <p:strVal val="#ppt_y"/>
                                          </p:val>
                                        </p:tav>
                                      </p:tavLst>
                                    </p:anim>
                                    <p:set>
                                      <p:cBhvr>
                                        <p:cTn id="87" dur="1" fill="hold">
                                          <p:stCondLst>
                                            <p:cond delay="0"/>
                                          </p:stCondLst>
                                        </p:cTn>
                                        <p:tgtEl>
                                          <p:spTgt spid="30"/>
                                        </p:tgtEl>
                                        <p:attrNameLst>
                                          <p:attrName>style.visibility</p:attrName>
                                        </p:attrNameLst>
                                      </p:cBhvr>
                                      <p:to>
                                        <p:strVal val="visible"/>
                                      </p:to>
                                    </p:set>
                                    <p:animEffect transition="in" filter="fade">
                                      <p:cBhvr>
                                        <p:cTn id="88" dur="420"/>
                                        <p:tgtEl>
                                          <p:spTgt spid="30"/>
                                        </p:tgtEl>
                                      </p:cBhvr>
                                    </p:animEffect>
                                    <p:anim calcmode="lin" valueType="num">
                                      <p:cBhvr additive="base">
                                        <p:cTn id="89" dur="420" fill="hold"/>
                                        <p:tgtEl>
                                          <p:spTgt spid="30"/>
                                        </p:tgtEl>
                                        <p:attrNameLst>
                                          <p:attrName>ppt_y</p:attrName>
                                        </p:attrNameLst>
                                      </p:cBhvr>
                                      <p:tavLst>
                                        <p:tav tm="0">
                                          <p:val>
                                            <p:strVal val="#ppt_y+0.035"/>
                                          </p:val>
                                        </p:tav>
                                        <p:tav tm="100000">
                                          <p:val>
                                            <p:strVal val="#ppt_y"/>
                                          </p:val>
                                        </p:tav>
                                      </p:tavLst>
                                    </p:anim>
                                    <p:set>
                                      <p:cBhvr>
                                        <p:cTn id="90"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anim calcmode="lin" valueType="num">
                                      <p:cBhvr additive="base">
                                        <p:cTn id="92" dur="420" fill="hold"/>
                                        <p:tgtEl>
                                          <p:spTgt spid="36"/>
                                        </p:tgtEl>
                                        <p:attrNameLst>
                                          <p:attrName>ppt_y</p:attrName>
                                        </p:attrNameLst>
                                      </p:cBhvr>
                                      <p:tavLst>
                                        <p:tav tm="0">
                                          <p:val>
                                            <p:strVal val="#ppt_y+0.035"/>
                                          </p:val>
                                        </p:tav>
                                        <p:tav tm="100000">
                                          <p:val>
                                            <p:strVal val="#ppt_y"/>
                                          </p:val>
                                        </p:tav>
                                      </p:tavLst>
                                    </p:anim>
                                    <p:set>
                                      <p:cBhvr>
                                        <p:cTn id="93" dur="1" fill="hold">
                                          <p:stCondLst>
                                            <p:cond delay="0"/>
                                          </p:stCondLst>
                                        </p:cTn>
                                        <p:tgtEl>
                                          <p:spTgt spid="42"/>
                                        </p:tgtEl>
                                        <p:attrNameLst>
                                          <p:attrName>style.visibility</p:attrName>
                                        </p:attrNameLst>
                                      </p:cBhvr>
                                      <p:to>
                                        <p:strVal val="visible"/>
                                      </p:to>
                                    </p:set>
                                    <p:animEffect transition="in" filter="fade">
                                      <p:cBhvr>
                                        <p:cTn id="94" dur="420"/>
                                        <p:tgtEl>
                                          <p:spTgt spid="42"/>
                                        </p:tgtEl>
                                      </p:cBhvr>
                                    </p:animEffect>
                                    <p:anim calcmode="lin" valueType="num">
                                      <p:cBhvr additive="base">
                                        <p:cTn id="95" dur="420" fill="hold"/>
                                        <p:tgtEl>
                                          <p:spTgt spid="42"/>
                                        </p:tgtEl>
                                        <p:attrNameLst>
                                          <p:attrName>ppt_y</p:attrName>
                                        </p:attrNameLst>
                                      </p:cBhvr>
                                      <p:tavLst>
                                        <p:tav tm="0">
                                          <p:val>
                                            <p:strVal val="#ppt_y+0.035"/>
                                          </p:val>
                                        </p:tav>
                                        <p:tav tm="100000">
                                          <p:val>
                                            <p:strVal val="#ppt_y"/>
                                          </p:val>
                                        </p:tav>
                                      </p:tavLst>
                                    </p:anim>
                                    <p:set>
                                      <p:cBhvr>
                                        <p:cTn id="96" dur="1" fill="hold">
                                          <p:stCondLst>
                                            <p:cond delay="0"/>
                                          </p:stCondLst>
                                        </p:cTn>
                                        <p:tgtEl>
                                          <p:spTgt spid="14"/>
                                        </p:tgtEl>
                                        <p:attrNameLst>
                                          <p:attrName>style.visibility</p:attrName>
                                        </p:attrNameLst>
                                      </p:cBhvr>
                                      <p:to>
                                        <p:strVal val="visible"/>
                                      </p:to>
                                    </p:set>
                                    <p:animEffect transition="in" filter="fade">
                                      <p:cBhvr>
                                        <p:cTn id="97" dur="420"/>
                                        <p:tgtEl>
                                          <p:spTgt spid="14"/>
                                        </p:tgtEl>
                                      </p:cBhvr>
                                    </p:animEffect>
                                    <p:anim calcmode="lin" valueType="num">
                                      <p:cBhvr additive="base">
                                        <p:cTn id="98" dur="420" fill="hold"/>
                                        <p:tgtEl>
                                          <p:spTgt spid="14"/>
                                        </p:tgtEl>
                                        <p:attrNameLst>
                                          <p:attrName>ppt_y</p:attrName>
                                        </p:attrNameLst>
                                      </p:cBhvr>
                                      <p:tavLst>
                                        <p:tav tm="0">
                                          <p:val>
                                            <p:strVal val="#ppt_y+0.035"/>
                                          </p:val>
                                        </p:tav>
                                        <p:tav tm="100000">
                                          <p:val>
                                            <p:strVal val="#ppt_y"/>
                                          </p:val>
                                        </p:tav>
                                      </p:tavLst>
                                    </p:anim>
                                    <p:set>
                                      <p:cBhvr>
                                        <p:cTn id="99" dur="1" fill="hold">
                                          <p:stCondLst>
                                            <p:cond delay="0"/>
                                          </p:stCondLst>
                                        </p:cTn>
                                        <p:tgtEl>
                                          <p:spTgt spid="20"/>
                                        </p:tgtEl>
                                        <p:attrNameLst>
                                          <p:attrName>style.visibility</p:attrName>
                                        </p:attrNameLst>
                                      </p:cBhvr>
                                      <p:to>
                                        <p:strVal val="visible"/>
                                      </p:to>
                                    </p:set>
                                    <p:animEffect transition="in" filter="fade">
                                      <p:cBhvr>
                                        <p:cTn id="100" dur="420"/>
                                        <p:tgtEl>
                                          <p:spTgt spid="20"/>
                                        </p:tgtEl>
                                      </p:cBhvr>
                                    </p:animEffect>
                                    <p:anim calcmode="lin" valueType="num">
                                      <p:cBhvr additive="base">
                                        <p:cTn id="101" dur="420" fill="hold"/>
                                        <p:tgtEl>
                                          <p:spTgt spid="20"/>
                                        </p:tgtEl>
                                        <p:attrNameLst>
                                          <p:attrName>ppt_y</p:attrName>
                                        </p:attrNameLst>
                                      </p:cBhvr>
                                      <p:tavLst>
                                        <p:tav tm="0">
                                          <p:val>
                                            <p:strVal val="#ppt_y+0.035"/>
                                          </p:val>
                                        </p:tav>
                                        <p:tav tm="100000">
                                          <p:val>
                                            <p:strVal val="#ppt_y"/>
                                          </p:val>
                                        </p:tav>
                                      </p:tavLst>
                                    </p:anim>
                                    <p:set>
                                      <p:cBhvr>
                                        <p:cTn id="102" dur="1" fill="hold">
                                          <p:stCondLst>
                                            <p:cond delay="0"/>
                                          </p:stCondLst>
                                        </p:cTn>
                                        <p:tgtEl>
                                          <p:spTgt spid="26"/>
                                        </p:tgtEl>
                                        <p:attrNameLst>
                                          <p:attrName>style.visibility</p:attrName>
                                        </p:attrNameLst>
                                      </p:cBhvr>
                                      <p:to>
                                        <p:strVal val="visible"/>
                                      </p:to>
                                    </p:set>
                                    <p:animEffect transition="in" filter="fade">
                                      <p:cBhvr>
                                        <p:cTn id="103" dur="420"/>
                                        <p:tgtEl>
                                          <p:spTgt spid="26"/>
                                        </p:tgtEl>
                                      </p:cBhvr>
                                    </p:animEffect>
                                    <p:anim calcmode="lin" valueType="num">
                                      <p:cBhvr additive="base">
                                        <p:cTn id="104" dur="420" fill="hold"/>
                                        <p:tgtEl>
                                          <p:spTgt spid="26"/>
                                        </p:tgtEl>
                                        <p:attrNameLst>
                                          <p:attrName>ppt_y</p:attrName>
                                        </p:attrNameLst>
                                      </p:cBhvr>
                                      <p:tavLst>
                                        <p:tav tm="0">
                                          <p:val>
                                            <p:strVal val="#ppt_y+0.035"/>
                                          </p:val>
                                        </p:tav>
                                        <p:tav tm="100000">
                                          <p:val>
                                            <p:strVal val="#ppt_y"/>
                                          </p:val>
                                        </p:tav>
                                      </p:tavLst>
                                    </p:anim>
                                    <p:set>
                                      <p:cBhvr>
                                        <p:cTn id="105" dur="1" fill="hold">
                                          <p:stCondLst>
                                            <p:cond delay="0"/>
                                          </p:stCondLst>
                                        </p:cTn>
                                        <p:tgtEl>
                                          <p:spTgt spid="32"/>
                                        </p:tgtEl>
                                        <p:attrNameLst>
                                          <p:attrName>style.visibility</p:attrName>
                                        </p:attrNameLst>
                                      </p:cBhvr>
                                      <p:to>
                                        <p:strVal val="visible"/>
                                      </p:to>
                                    </p:set>
                                    <p:animEffect transition="in" filter="fade">
                                      <p:cBhvr>
                                        <p:cTn id="106" dur="420"/>
                                        <p:tgtEl>
                                          <p:spTgt spid="32"/>
                                        </p:tgtEl>
                                      </p:cBhvr>
                                    </p:animEffect>
                                    <p:anim calcmode="lin" valueType="num">
                                      <p:cBhvr additive="base">
                                        <p:cTn id="107" dur="420" fill="hold"/>
                                        <p:tgtEl>
                                          <p:spTgt spid="32"/>
                                        </p:tgtEl>
                                        <p:attrNameLst>
                                          <p:attrName>ppt_y</p:attrName>
                                        </p:attrNameLst>
                                      </p:cBhvr>
                                      <p:tavLst>
                                        <p:tav tm="0">
                                          <p:val>
                                            <p:strVal val="#ppt_y+0.035"/>
                                          </p:val>
                                        </p:tav>
                                        <p:tav tm="100000">
                                          <p:val>
                                            <p:strVal val="#ppt_y"/>
                                          </p:val>
                                        </p:tav>
                                      </p:tavLst>
                                    </p:anim>
                                    <p:set>
                                      <p:cBhvr>
                                        <p:cTn id="108" dur="1" fill="hold">
                                          <p:stCondLst>
                                            <p:cond delay="0"/>
                                          </p:stCondLst>
                                        </p:cTn>
                                        <p:tgtEl>
                                          <p:spTgt spid="38"/>
                                        </p:tgtEl>
                                        <p:attrNameLst>
                                          <p:attrName>style.visibility</p:attrName>
                                        </p:attrNameLst>
                                      </p:cBhvr>
                                      <p:to>
                                        <p:strVal val="visible"/>
                                      </p:to>
                                    </p:set>
                                    <p:animEffect transition="in" filter="fade">
                                      <p:cBhvr>
                                        <p:cTn id="109" dur="420"/>
                                        <p:tgtEl>
                                          <p:spTgt spid="38"/>
                                        </p:tgtEl>
                                      </p:cBhvr>
                                    </p:animEffect>
                                    <p:anim calcmode="lin" valueType="num">
                                      <p:cBhvr additive="base">
                                        <p:cTn id="110" dur="420" fill="hold"/>
                                        <p:tgtEl>
                                          <p:spTgt spid="38"/>
                                        </p:tgtEl>
                                        <p:attrNameLst>
                                          <p:attrName>ppt_y</p:attrName>
                                        </p:attrNameLst>
                                      </p:cBhvr>
                                      <p:tavLst>
                                        <p:tav tm="0">
                                          <p:val>
                                            <p:strVal val="#ppt_y+0.035"/>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13"/>
                                        </p:tgtEl>
                                        <p:attrNameLst>
                                          <p:attrName>style.visibility</p:attrName>
                                        </p:attrNameLst>
                                      </p:cBhvr>
                                      <p:to>
                                        <p:strVal val="visible"/>
                                      </p:to>
                                    </p:set>
                                    <p:animEffect transition="in" filter="fade">
                                      <p:cBhvr>
                                        <p:cTn id="115" dur="420"/>
                                        <p:tgtEl>
                                          <p:spTgt spid="13"/>
                                        </p:tgtEl>
                                      </p:cBhvr>
                                    </p:animEffect>
                                    <p:anim calcmode="lin" valueType="num">
                                      <p:cBhvr additive="base">
                                        <p:cTn id="116" dur="420" fill="hold"/>
                                        <p:tgtEl>
                                          <p:spTgt spid="13"/>
                                        </p:tgtEl>
                                        <p:attrNameLst>
                                          <p:attrName>ppt_y</p:attrName>
                                        </p:attrNameLst>
                                      </p:cBhvr>
                                      <p:tavLst>
                                        <p:tav tm="0">
                                          <p:val>
                                            <p:strVal val="#ppt_y+0.035"/>
                                          </p:val>
                                        </p:tav>
                                        <p:tav tm="100000">
                                          <p:val>
                                            <p:strVal val="#ppt_y"/>
                                          </p:val>
                                        </p:tav>
                                      </p:tavLst>
                                    </p:anim>
                                    <p:set>
                                      <p:cBhvr>
                                        <p:cTn id="117" dur="1" fill="hold">
                                          <p:stCondLst>
                                            <p:cond delay="0"/>
                                          </p:stCondLst>
                                        </p:cTn>
                                        <p:tgtEl>
                                          <p:spTgt spid="19"/>
                                        </p:tgtEl>
                                        <p:attrNameLst>
                                          <p:attrName>style.visibility</p:attrName>
                                        </p:attrNameLst>
                                      </p:cBhvr>
                                      <p:to>
                                        <p:strVal val="visible"/>
                                      </p:to>
                                    </p:set>
                                    <p:animEffect transition="in" filter="fade">
                                      <p:cBhvr>
                                        <p:cTn id="118" dur="420"/>
                                        <p:tgtEl>
                                          <p:spTgt spid="19"/>
                                        </p:tgtEl>
                                      </p:cBhvr>
                                    </p:animEffect>
                                    <p:anim calcmode="lin" valueType="num">
                                      <p:cBhvr additive="base">
                                        <p:cTn id="119" dur="420" fill="hold"/>
                                        <p:tgtEl>
                                          <p:spTgt spid="19"/>
                                        </p:tgtEl>
                                        <p:attrNameLst>
                                          <p:attrName>ppt_y</p:attrName>
                                        </p:attrNameLst>
                                      </p:cBhvr>
                                      <p:tavLst>
                                        <p:tav tm="0">
                                          <p:val>
                                            <p:strVal val="#ppt_y+0.035"/>
                                          </p:val>
                                        </p:tav>
                                        <p:tav tm="100000">
                                          <p:val>
                                            <p:strVal val="#ppt_y"/>
                                          </p:val>
                                        </p:tav>
                                      </p:tavLst>
                                    </p:anim>
                                    <p:set>
                                      <p:cBhvr>
                                        <p:cTn id="120" dur="1" fill="hold">
                                          <p:stCondLst>
                                            <p:cond delay="0"/>
                                          </p:stCondLst>
                                        </p:cTn>
                                        <p:tgtEl>
                                          <p:spTgt spid="25"/>
                                        </p:tgtEl>
                                        <p:attrNameLst>
                                          <p:attrName>style.visibility</p:attrName>
                                        </p:attrNameLst>
                                      </p:cBhvr>
                                      <p:to>
                                        <p:strVal val="visible"/>
                                      </p:to>
                                    </p:set>
                                    <p:animEffect transition="in" filter="fade">
                                      <p:cBhvr>
                                        <p:cTn id="121" dur="420"/>
                                        <p:tgtEl>
                                          <p:spTgt spid="25"/>
                                        </p:tgtEl>
                                      </p:cBhvr>
                                    </p:animEffect>
                                    <p:anim calcmode="lin" valueType="num">
                                      <p:cBhvr additive="base">
                                        <p:cTn id="122" dur="420" fill="hold"/>
                                        <p:tgtEl>
                                          <p:spTgt spid="25"/>
                                        </p:tgtEl>
                                        <p:attrNameLst>
                                          <p:attrName>ppt_y</p:attrName>
                                        </p:attrNameLst>
                                      </p:cBhvr>
                                      <p:tavLst>
                                        <p:tav tm="0">
                                          <p:val>
                                            <p:strVal val="#ppt_y+0.035"/>
                                          </p:val>
                                        </p:tav>
                                        <p:tav tm="100000">
                                          <p:val>
                                            <p:strVal val="#ppt_y"/>
                                          </p:val>
                                        </p:tav>
                                      </p:tavLst>
                                    </p:anim>
                                    <p:set>
                                      <p:cBhvr>
                                        <p:cTn id="123" dur="1" fill="hold">
                                          <p:stCondLst>
                                            <p:cond delay="0"/>
                                          </p:stCondLst>
                                        </p:cTn>
                                        <p:tgtEl>
                                          <p:spTgt spid="31"/>
                                        </p:tgtEl>
                                        <p:attrNameLst>
                                          <p:attrName>style.visibility</p:attrName>
                                        </p:attrNameLst>
                                      </p:cBhvr>
                                      <p:to>
                                        <p:strVal val="visible"/>
                                      </p:to>
                                    </p:set>
                                    <p:animEffect transition="in" filter="fade">
                                      <p:cBhvr>
                                        <p:cTn id="124" dur="420"/>
                                        <p:tgtEl>
                                          <p:spTgt spid="31"/>
                                        </p:tgtEl>
                                      </p:cBhvr>
                                    </p:animEffect>
                                    <p:anim calcmode="lin" valueType="num">
                                      <p:cBhvr additive="base">
                                        <p:cTn id="125" dur="420" fill="hold"/>
                                        <p:tgtEl>
                                          <p:spTgt spid="31"/>
                                        </p:tgtEl>
                                        <p:attrNameLst>
                                          <p:attrName>ppt_y</p:attrName>
                                        </p:attrNameLst>
                                      </p:cBhvr>
                                      <p:tavLst>
                                        <p:tav tm="0">
                                          <p:val>
                                            <p:strVal val="#ppt_y+0.035"/>
                                          </p:val>
                                        </p:tav>
                                        <p:tav tm="100000">
                                          <p:val>
                                            <p:strVal val="#ppt_y"/>
                                          </p:val>
                                        </p:tav>
                                      </p:tavLst>
                                    </p:anim>
                                    <p:set>
                                      <p:cBhvr>
                                        <p:cTn id="126" dur="1" fill="hold">
                                          <p:stCondLst>
                                            <p:cond delay="0"/>
                                          </p:stCondLst>
                                        </p:cTn>
                                        <p:tgtEl>
                                          <p:spTgt spid="37"/>
                                        </p:tgtEl>
                                        <p:attrNameLst>
                                          <p:attrName>style.visibility</p:attrName>
                                        </p:attrNameLst>
                                      </p:cBhvr>
                                      <p:to>
                                        <p:strVal val="visible"/>
                                      </p:to>
                                    </p:set>
                                    <p:animEffect transition="in" filter="fade">
                                      <p:cBhvr>
                                        <p:cTn id="127" dur="420"/>
                                        <p:tgtEl>
                                          <p:spTgt spid="37"/>
                                        </p:tgtEl>
                                      </p:cBhvr>
                                    </p:animEffect>
                                    <p:anim calcmode="lin" valueType="num">
                                      <p:cBhvr additive="base">
                                        <p:cTn id="128" dur="420" fill="hold"/>
                                        <p:tgtEl>
                                          <p:spTgt spid="37"/>
                                        </p:tgtEl>
                                        <p:attrNameLst>
                                          <p:attrName>ppt_y</p:attrName>
                                        </p:attrNameLst>
                                      </p:cBhvr>
                                      <p:tavLst>
                                        <p:tav tm="0">
                                          <p:val>
                                            <p:strVal val="#ppt_y+0.035"/>
                                          </p:val>
                                        </p:tav>
                                        <p:tav tm="100000">
                                          <p:val>
                                            <p:strVal val="#ppt_y"/>
                                          </p:val>
                                        </p:tav>
                                      </p:tavLst>
                                    </p:anim>
                                    <p:set>
                                      <p:cBhvr>
                                        <p:cTn id="129" dur="1" fill="hold">
                                          <p:stCondLst>
                                            <p:cond delay="0"/>
                                          </p:stCondLst>
                                        </p:cTn>
                                        <p:tgtEl>
                                          <p:spTgt spid="43"/>
                                        </p:tgtEl>
                                        <p:attrNameLst>
                                          <p:attrName>style.visibility</p:attrName>
                                        </p:attrNameLst>
                                      </p:cBhvr>
                                      <p:to>
                                        <p:strVal val="visible"/>
                                      </p:to>
                                    </p:set>
                                    <p:animEffect transition="in" filter="fade">
                                      <p:cBhvr>
                                        <p:cTn id="130" dur="420"/>
                                        <p:tgtEl>
                                          <p:spTgt spid="43"/>
                                        </p:tgtEl>
                                      </p:cBhvr>
                                    </p:animEffect>
                                    <p:anim calcmode="lin" valueType="num">
                                      <p:cBhvr additive="base">
                                        <p:cTn id="131" dur="420" fill="hold"/>
                                        <p:tgtEl>
                                          <p:spTgt spid="43"/>
                                        </p:tgtEl>
                                        <p:attrNameLst>
                                          <p:attrName>ppt_y</p:attrName>
                                        </p:attrNameLst>
                                      </p:cBhvr>
                                      <p:tavLst>
                                        <p:tav tm="0">
                                          <p:val>
                                            <p:strVal val="#ppt_y+0.035"/>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grpId="0" nodeType="clickEffect">
                                  <p:stCondLst>
                                    <p:cond delay="0"/>
                                  </p:stCondLst>
                                  <p:childTnLst>
                                    <p:set>
                                      <p:cBhvr>
                                        <p:cTn id="135" dur="1" fill="hold">
                                          <p:stCondLst>
                                            <p:cond delay="0"/>
                                          </p:stCondLst>
                                        </p:cTn>
                                        <p:tgtEl>
                                          <p:spTgt spid="25"/>
                                        </p:tgtEl>
                                        <p:attrNameLst>
                                          <p:attrName>style.visibility</p:attrName>
                                        </p:attrNameLst>
                                      </p:cBhvr>
                                      <p:to>
                                        <p:strVal val="visible"/>
                                      </p:to>
                                    </p:set>
                                    <p:animEffect transition="in" filter="fade">
                                      <p:cBhvr>
                                        <p:cTn id="136" dur="420"/>
                                        <p:tgtEl>
                                          <p:spTgt spid="25"/>
                                        </p:tgtEl>
                                      </p:cBhvr>
                                    </p:animEffect>
                                    <p:anim calcmode="lin" valueType="num">
                                      <p:cBhvr additive="base">
                                        <p:cTn id="137" dur="420" fill="hold"/>
                                        <p:tgtEl>
                                          <p:spTgt spid="25"/>
                                        </p:tgtEl>
                                        <p:attrNameLst>
                                          <p:attrName>ppt_y</p:attrName>
                                        </p:attrNameLst>
                                      </p:cBhvr>
                                      <p:tavLst>
                                        <p:tav tm="0">
                                          <p:val>
                                            <p:strVal val="#ppt_y+0.035"/>
                                          </p:val>
                                        </p:tav>
                                        <p:tav tm="100000">
                                          <p:val>
                                            <p:strVal val="#ppt_y"/>
                                          </p:val>
                                        </p:tav>
                                      </p:tavLst>
                                    </p:anim>
                                    <p:set>
                                      <p:cBhvr>
                                        <p:cTn id="138" dur="1" fill="hold">
                                          <p:stCondLst>
                                            <p:cond delay="0"/>
                                          </p:stCondLst>
                                        </p:cTn>
                                        <p:tgtEl>
                                          <p:spTgt spid="44"/>
                                        </p:tgtEl>
                                        <p:attrNameLst>
                                          <p:attrName>style.visibility</p:attrName>
                                        </p:attrNameLst>
                                      </p:cBhvr>
                                      <p:to>
                                        <p:strVal val="visible"/>
                                      </p:to>
                                    </p:set>
                                    <p:animEffect transition="in" filter="fade">
                                      <p:cBhvr>
                                        <p:cTn id="139" dur="420"/>
                                        <p:tgtEl>
                                          <p:spTgt spid="44"/>
                                        </p:tgtEl>
                                      </p:cBhvr>
                                    </p:animEffect>
                                    <p:anim calcmode="lin" valueType="num">
                                      <p:cBhvr additive="base">
                                        <p:cTn id="140" dur="420" fill="hold"/>
                                        <p:tgtEl>
                                          <p:spTgt spid="44"/>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p:bldP spid="9" grpId="0" animBg="1"/>
      <p:bldP spid="10" grpId="0"/>
      <p:bldP spid="11" grpId="0"/>
      <p:bldP spid="12" grpId="0" animBg="1"/>
      <p:bldP spid="13" grpId="0" animBg="1"/>
      <p:bldP spid="14" grpId="0"/>
      <p:bldP spid="15" grpId="0"/>
      <p:bldP spid="16" grpId="0"/>
      <p:bldP spid="17" grpId="0"/>
      <p:bldP spid="18" grpId="0"/>
      <p:bldP spid="19" grpId="0"/>
      <p:bldP spid="20" grpId="0"/>
      <p:bldP spid="21" grpId="0"/>
      <p:bldP spid="22" grpId="0"/>
      <p:bldP spid="23" grpId="0"/>
      <p:bldP spid="24" grpId="0"/>
      <p:bldP spid="25" grpId="0" animBg="1"/>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01</a:t>
            </a:r>
            <a:r>
              <a:rPr lang="en-US" sz="1150" b="1" kern="0" spc="160" dirty="0">
                <a:solidFill>
                  <a:srgbClr val="6E7781"/>
                </a:solidFill>
                <a:latin typeface="Calibri" pitchFamily="34" charset="0"/>
                <a:ea typeface="Calibri" pitchFamily="34" charset="-122"/>
                <a:cs typeface="Calibri" pitchFamily="34" charset="-120"/>
              </a:rPr>
              <a:t>   THE WORKFLOW</a:t>
            </a:r>
            <a:endParaRPr lang="en-US" sz="1150" dirty="0"/>
          </a:p>
        </p:txBody>
      </p:sp>
      <p:sp>
        <p:nvSpPr>
          <p:cNvPr id="3" name="Text 1"/>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The guardrails are structural, not procedural</a:t>
            </a:r>
            <a:endParaRPr lang="en-US" sz="3200" dirty="0"/>
          </a:p>
        </p:txBody>
      </p:sp>
      <p:sp>
        <p:nvSpPr>
          <p:cNvPr id="4" name="Text 2"/>
          <p:cNvSpPr/>
          <p:nvPr/>
        </p:nvSpPr>
        <p:spPr>
          <a:xfrm>
            <a:off x="566928" y="1389888"/>
            <a:ext cx="11055096" cy="566928"/>
          </a:xfrm>
          <a:prstGeom prst="rect">
            <a:avLst/>
          </a:prstGeom>
          <a:noFill/>
          <a:ln/>
        </p:spPr>
        <p:txBody>
          <a:bodyPr wrap="square" lIns="0" tIns="0" rIns="0" bIns="0" rtlCol="0" anchor="t"/>
          <a:lstStyle/>
          <a:p>
            <a:pPr marL="0" indent="0">
              <a:lnSpc>
                <a:spcPts val="1850"/>
              </a:lnSpc>
              <a:buNone/>
            </a:pPr>
            <a:r>
              <a:rPr lang="en-US" sz="1350" dirty="0">
                <a:solidFill>
                  <a:srgbClr val="2B3138"/>
                </a:solidFill>
                <a:latin typeface="Calibri" pitchFamily="34" charset="0"/>
                <a:ea typeface="Calibri" pitchFamily="34" charset="-122"/>
                <a:cs typeface="Calibri" pitchFamily="34" charset="-120"/>
              </a:rPr>
              <a:t>Nobody has to remember a policy. Three constraints do the work, and only the third one is yours to configure.</a:t>
            </a:r>
            <a:endParaRPr lang="en-US" sz="1350" dirty="0"/>
          </a:p>
        </p:txBody>
      </p:sp>
      <p:sp>
        <p:nvSpPr>
          <p:cNvPr id="5" name="Shape 3"/>
          <p:cNvSpPr/>
          <p:nvPr/>
        </p:nvSpPr>
        <p:spPr>
          <a:xfrm>
            <a:off x="566928" y="2560320"/>
            <a:ext cx="3538728" cy="3017520"/>
          </a:xfrm>
          <a:prstGeom prst="roundRect">
            <a:avLst>
              <a:gd name="adj" fmla="val 1818"/>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6" name="Text 4"/>
          <p:cNvSpPr/>
          <p:nvPr/>
        </p:nvSpPr>
        <p:spPr>
          <a:xfrm>
            <a:off x="822960" y="2743200"/>
            <a:ext cx="3026664" cy="310896"/>
          </a:xfrm>
          <a:prstGeom prst="rect">
            <a:avLst/>
          </a:prstGeom>
          <a:noFill/>
          <a:ln/>
        </p:spPr>
        <p:txBody>
          <a:bodyPr wrap="square" lIns="0" tIns="0" rIns="0" bIns="0" rtlCol="0" anchor="ctr"/>
          <a:lstStyle/>
          <a:p>
            <a:pPr marL="0" indent="0">
              <a:buNone/>
            </a:pPr>
            <a:r>
              <a:rPr lang="en-US" sz="1550" b="1" dirty="0">
                <a:solidFill>
                  <a:srgbClr val="C2410C"/>
                </a:solidFill>
                <a:latin typeface="Cambria" pitchFamily="34" charset="0"/>
                <a:ea typeface="Cambria" pitchFamily="34" charset="-122"/>
                <a:cs typeface="Cambria" pitchFamily="34" charset="-120"/>
              </a:rPr>
              <a:t>The bot cannot finish</a:t>
            </a:r>
            <a:endParaRPr lang="en-US" sz="1550" dirty="0"/>
          </a:p>
        </p:txBody>
      </p:sp>
      <p:sp>
        <p:nvSpPr>
          <p:cNvPr id="7" name="Text 5"/>
          <p:cNvSpPr/>
          <p:nvPr/>
        </p:nvSpPr>
        <p:spPr>
          <a:xfrm>
            <a:off x="822960" y="3072384"/>
            <a:ext cx="3026664" cy="219456"/>
          </a:xfrm>
          <a:prstGeom prst="rect">
            <a:avLst/>
          </a:prstGeom>
          <a:noFill/>
          <a:ln/>
        </p:spPr>
        <p:txBody>
          <a:bodyPr wrap="square" lIns="0" tIns="0" rIns="0" bIns="0" rtlCol="0" anchor="ctr"/>
          <a:lstStyle/>
          <a:p>
            <a:pPr marL="0" indent="0">
              <a:buNone/>
            </a:pPr>
            <a:r>
              <a:rPr lang="en-US" sz="950" dirty="0">
                <a:solidFill>
                  <a:srgbClr val="6E7781"/>
                </a:solidFill>
                <a:latin typeface="Calibri" pitchFamily="34" charset="0"/>
                <a:ea typeface="Calibri" pitchFamily="34" charset="-122"/>
                <a:cs typeface="Calibri" pitchFamily="34" charset="-120"/>
              </a:rPr>
              <a:t>enforced by GitHub, not by you</a:t>
            </a:r>
            <a:endParaRPr lang="en-US" sz="950" dirty="0"/>
          </a:p>
        </p:txBody>
      </p:sp>
      <p:sp>
        <p:nvSpPr>
          <p:cNvPr id="8" name="Text 6"/>
          <p:cNvSpPr/>
          <p:nvPr/>
        </p:nvSpPr>
        <p:spPr>
          <a:xfrm>
            <a:off x="822960" y="3493008"/>
            <a:ext cx="3026664" cy="1883664"/>
          </a:xfrm>
          <a:prstGeom prst="rect">
            <a:avLst/>
          </a:prstGeom>
          <a:noFill/>
          <a:ln/>
        </p:spPr>
        <p:txBody>
          <a:bodyPr wrap="square" lIns="0" tIns="0" rIns="0" bIns="0" rtlCol="0" anchor="t"/>
          <a:lstStyle/>
          <a:p>
            <a:pPr marL="177800" indent="-177800">
              <a:lnSpc>
                <a:spcPts val="1584"/>
              </a:lnSpc>
              <a:spcAft>
                <a:spcPts val="700"/>
              </a:spcAft>
              <a:buSzPct val="100000"/>
              <a:buChar char="•"/>
            </a:pPr>
            <a:r>
              <a:rPr lang="en-US" sz="1200" dirty="0">
                <a:solidFill>
                  <a:srgbClr val="2B3138"/>
                </a:solidFill>
                <a:latin typeface="Calibri" pitchFamily="34" charset="0"/>
                <a:ea typeface="Calibri" pitchFamily="34" charset="-122"/>
                <a:cs typeface="Calibri" pitchFamily="34" charset="-120"/>
              </a:rPr>
              <a:t>It cannot mark its own pull request "Ready for review".</a:t>
            </a:r>
            <a:endParaRPr lang="en-US" sz="1200" dirty="0"/>
          </a:p>
          <a:p>
            <a:pPr marL="177800" indent="-177800">
              <a:lnSpc>
                <a:spcPts val="1584"/>
              </a:lnSpc>
              <a:spcAft>
                <a:spcPts val="700"/>
              </a:spcAft>
              <a:buSzPct val="100000"/>
              <a:buChar char="•"/>
            </a:pPr>
            <a:r>
              <a:rPr lang="en-US" sz="1200" dirty="0">
                <a:solidFill>
                  <a:srgbClr val="2B3138"/>
                </a:solidFill>
                <a:latin typeface="Calibri" pitchFamily="34" charset="0"/>
                <a:ea typeface="Calibri" pitchFamily="34" charset="-122"/>
                <a:cs typeface="Calibri" pitchFamily="34" charset="-120"/>
              </a:rPr>
              <a:t>It cannot approve a pull request.</a:t>
            </a:r>
            <a:endParaRPr lang="en-US" sz="1200" dirty="0"/>
          </a:p>
          <a:p>
            <a:pPr marL="177800" indent="-177800">
              <a:lnSpc>
                <a:spcPts val="1584"/>
              </a:lnSpc>
              <a:spcAft>
                <a:spcPts val="700"/>
              </a:spcAft>
              <a:buSzPct val="100000"/>
              <a:buChar char="•"/>
            </a:pPr>
            <a:r>
              <a:rPr lang="en-US" sz="1200" dirty="0">
                <a:solidFill>
                  <a:srgbClr val="2B3138"/>
                </a:solidFill>
                <a:latin typeface="Calibri" pitchFamily="34" charset="0"/>
                <a:ea typeface="Calibri" pitchFamily="34" charset="-122"/>
                <a:cs typeface="Calibri" pitchFamily="34" charset="-120"/>
              </a:rPr>
              <a:t>It cannot merge one.</a:t>
            </a:r>
            <a:endParaRPr lang="en-US" sz="1200" dirty="0"/>
          </a:p>
          <a:p>
            <a:pPr marL="177800" indent="-177800">
              <a:lnSpc>
                <a:spcPts val="1584"/>
              </a:lnSpc>
              <a:spcAft>
                <a:spcPts val="700"/>
              </a:spcAft>
              <a:buSzPct val="100000"/>
              <a:buChar char="•"/>
            </a:pPr>
            <a:r>
              <a:rPr lang="en-US" sz="1200" dirty="0">
                <a:solidFill>
                  <a:srgbClr val="2B3138"/>
                </a:solidFill>
                <a:latin typeface="Calibri" pitchFamily="34" charset="0"/>
                <a:ea typeface="Calibri" pitchFamily="34" charset="-122"/>
                <a:cs typeface="Calibri" pitchFamily="34" charset="-120"/>
              </a:rPr>
              <a:t>Every change still lands through a person.</a:t>
            </a:r>
            <a:endParaRPr lang="en-US" sz="1200" dirty="0"/>
          </a:p>
        </p:txBody>
      </p:sp>
      <p:sp>
        <p:nvSpPr>
          <p:cNvPr id="9" name="Shape 7"/>
          <p:cNvSpPr/>
          <p:nvPr/>
        </p:nvSpPr>
        <p:spPr>
          <a:xfrm>
            <a:off x="4325112" y="2560320"/>
            <a:ext cx="3538728" cy="3017520"/>
          </a:xfrm>
          <a:prstGeom prst="roundRect">
            <a:avLst>
              <a:gd name="adj" fmla="val 1818"/>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10" name="Text 8"/>
          <p:cNvSpPr/>
          <p:nvPr/>
        </p:nvSpPr>
        <p:spPr>
          <a:xfrm>
            <a:off x="4581144" y="2743200"/>
            <a:ext cx="3026664" cy="310896"/>
          </a:xfrm>
          <a:prstGeom prst="rect">
            <a:avLst/>
          </a:prstGeom>
          <a:noFill/>
          <a:ln/>
        </p:spPr>
        <p:txBody>
          <a:bodyPr wrap="square" lIns="0" tIns="0" rIns="0" bIns="0" rtlCol="0" anchor="ctr"/>
          <a:lstStyle/>
          <a:p>
            <a:pPr marL="0" indent="0">
              <a:buNone/>
            </a:pPr>
            <a:r>
              <a:rPr lang="en-US" sz="1550" b="1" dirty="0">
                <a:solidFill>
                  <a:srgbClr val="0969DA"/>
                </a:solidFill>
                <a:latin typeface="Cambria" pitchFamily="34" charset="0"/>
                <a:ea typeface="Cambria" pitchFamily="34" charset="-122"/>
                <a:cs typeface="Cambria" pitchFamily="34" charset="-120"/>
              </a:rPr>
              <a:t>Your controls still apply</a:t>
            </a:r>
            <a:endParaRPr lang="en-US" sz="1550" dirty="0"/>
          </a:p>
        </p:txBody>
      </p:sp>
      <p:sp>
        <p:nvSpPr>
          <p:cNvPr id="11" name="Text 9"/>
          <p:cNvSpPr/>
          <p:nvPr/>
        </p:nvSpPr>
        <p:spPr>
          <a:xfrm>
            <a:off x="4581144" y="3072384"/>
            <a:ext cx="3026664" cy="219456"/>
          </a:xfrm>
          <a:prstGeom prst="rect">
            <a:avLst/>
          </a:prstGeom>
          <a:noFill/>
          <a:ln/>
        </p:spPr>
        <p:txBody>
          <a:bodyPr wrap="square" lIns="0" tIns="0" rIns="0" bIns="0" rtlCol="0" anchor="ctr"/>
          <a:lstStyle/>
          <a:p>
            <a:pPr marL="0" indent="0">
              <a:buNone/>
            </a:pPr>
            <a:r>
              <a:rPr lang="en-US" sz="950" dirty="0">
                <a:solidFill>
                  <a:srgbClr val="6E7781"/>
                </a:solidFill>
                <a:latin typeface="Calibri" pitchFamily="34" charset="0"/>
                <a:ea typeface="Calibri" pitchFamily="34" charset="-122"/>
                <a:cs typeface="Calibri" pitchFamily="34" charset="-120"/>
              </a:rPr>
              <a:t>the same ones you have today</a:t>
            </a:r>
            <a:endParaRPr lang="en-US" sz="950" dirty="0"/>
          </a:p>
        </p:txBody>
      </p:sp>
      <p:sp>
        <p:nvSpPr>
          <p:cNvPr id="12" name="Text 10"/>
          <p:cNvSpPr/>
          <p:nvPr/>
        </p:nvSpPr>
        <p:spPr>
          <a:xfrm>
            <a:off x="4581144" y="3493008"/>
            <a:ext cx="3026664" cy="1883664"/>
          </a:xfrm>
          <a:prstGeom prst="rect">
            <a:avLst/>
          </a:prstGeom>
          <a:noFill/>
          <a:ln/>
        </p:spPr>
        <p:txBody>
          <a:bodyPr wrap="square" lIns="0" tIns="0" rIns="0" bIns="0" rtlCol="0" anchor="t"/>
          <a:lstStyle/>
          <a:p>
            <a:pPr marL="177800" indent="-177800">
              <a:lnSpc>
                <a:spcPts val="1584"/>
              </a:lnSpc>
              <a:spcAft>
                <a:spcPts val="700"/>
              </a:spcAft>
              <a:buSzPct val="100000"/>
              <a:buChar char="•"/>
            </a:pPr>
            <a:r>
              <a:rPr lang="en-US" sz="1200" dirty="0">
                <a:solidFill>
                  <a:srgbClr val="2B3138"/>
                </a:solidFill>
                <a:latin typeface="Calibri" pitchFamily="34" charset="0"/>
                <a:ea typeface="Calibri" pitchFamily="34" charset="-122"/>
                <a:cs typeface="Calibri" pitchFamily="34" charset="-120"/>
              </a:rPr>
              <a:t>Branch protections and required status checks are unchanged.</a:t>
            </a:r>
            <a:endParaRPr lang="en-US" sz="1200" dirty="0"/>
          </a:p>
          <a:p>
            <a:pPr marL="177800" indent="-177800">
              <a:lnSpc>
                <a:spcPts val="1584"/>
              </a:lnSpc>
              <a:spcAft>
                <a:spcPts val="700"/>
              </a:spcAft>
              <a:buSzPct val="100000"/>
              <a:buChar char="•"/>
            </a:pPr>
            <a:r>
              <a:rPr lang="en-US" sz="1200" dirty="0">
                <a:solidFill>
                  <a:srgbClr val="2B3138"/>
                </a:solidFill>
                <a:latin typeface="Calibri" pitchFamily="34" charset="0"/>
                <a:ea typeface="Calibri" pitchFamily="34" charset="-122"/>
                <a:cs typeface="Calibri" pitchFamily="34" charset="-120"/>
              </a:rPr>
              <a:t>Actions workflows stay idle until someone with write access clicks "Approve and run".</a:t>
            </a:r>
            <a:endParaRPr lang="en-US" sz="1200" dirty="0"/>
          </a:p>
          <a:p>
            <a:pPr marL="177800" indent="-177800">
              <a:lnSpc>
                <a:spcPts val="1584"/>
              </a:lnSpc>
              <a:spcAft>
                <a:spcPts val="700"/>
              </a:spcAft>
              <a:buSzPct val="100000"/>
              <a:buChar char="•"/>
            </a:pPr>
            <a:r>
              <a:rPr lang="en-US" sz="1200" dirty="0">
                <a:solidFill>
                  <a:srgbClr val="2B3138"/>
                </a:solidFill>
                <a:latin typeface="Calibri" pitchFamily="34" charset="0"/>
                <a:ea typeface="Calibri" pitchFamily="34" charset="-122"/>
                <a:cs typeface="Calibri" pitchFamily="34" charset="-120"/>
              </a:rPr>
              <a:t>The sandbox is ephemeral and firewalled by default.</a:t>
            </a:r>
            <a:endParaRPr lang="en-US" sz="1200" dirty="0"/>
          </a:p>
        </p:txBody>
      </p:sp>
      <p:sp>
        <p:nvSpPr>
          <p:cNvPr id="13" name="Shape 11"/>
          <p:cNvSpPr/>
          <p:nvPr/>
        </p:nvSpPr>
        <p:spPr>
          <a:xfrm>
            <a:off x="8083296" y="2560320"/>
            <a:ext cx="3538728" cy="3017520"/>
          </a:xfrm>
          <a:prstGeom prst="roundRect">
            <a:avLst>
              <a:gd name="adj" fmla="val 1818"/>
            </a:avLst>
          </a:prstGeom>
          <a:solidFill>
            <a:srgbClr val="F6F8FA"/>
          </a:solidFill>
          <a:ln w="9525">
            <a:solidFill>
              <a:srgbClr val="D8DEE4"/>
            </a:solidFill>
            <a:prstDash val="solid"/>
          </a:ln>
          <a:effectLst>
            <a:outerShdw blurRad="177800" dist="38100" dir="5400000" algn="bl" rotWithShape="0">
              <a:srgbClr val="8C959F">
                <a:alpha val="16000"/>
              </a:srgbClr>
            </a:outerShdw>
          </a:effectLst>
        </p:spPr>
      </p:sp>
      <p:sp>
        <p:nvSpPr>
          <p:cNvPr id="14" name="Text 12"/>
          <p:cNvSpPr/>
          <p:nvPr/>
        </p:nvSpPr>
        <p:spPr>
          <a:xfrm>
            <a:off x="8339328" y="2743200"/>
            <a:ext cx="3026664" cy="310896"/>
          </a:xfrm>
          <a:prstGeom prst="rect">
            <a:avLst/>
          </a:prstGeom>
          <a:noFill/>
          <a:ln/>
        </p:spPr>
        <p:txBody>
          <a:bodyPr wrap="square" lIns="0" tIns="0" rIns="0" bIns="0" rtlCol="0" anchor="ctr"/>
          <a:lstStyle/>
          <a:p>
            <a:pPr marL="0" indent="0">
              <a:buNone/>
            </a:pPr>
            <a:r>
              <a:rPr lang="en-US" sz="1550" b="1" dirty="0">
                <a:solidFill>
                  <a:srgbClr val="15181D"/>
                </a:solidFill>
                <a:latin typeface="Cambria" pitchFamily="34" charset="0"/>
                <a:ea typeface="Cambria" pitchFamily="34" charset="-122"/>
                <a:cs typeface="Cambria" pitchFamily="34" charset="-120"/>
              </a:rPr>
              <a:t>The one thing to configure</a:t>
            </a:r>
            <a:endParaRPr lang="en-US" sz="1550" dirty="0"/>
          </a:p>
        </p:txBody>
      </p:sp>
      <p:sp>
        <p:nvSpPr>
          <p:cNvPr id="15" name="Text 13"/>
          <p:cNvSpPr/>
          <p:nvPr/>
        </p:nvSpPr>
        <p:spPr>
          <a:xfrm>
            <a:off x="8339328" y="3072384"/>
            <a:ext cx="3026664" cy="219456"/>
          </a:xfrm>
          <a:prstGeom prst="rect">
            <a:avLst/>
          </a:prstGeom>
          <a:noFill/>
          <a:ln/>
        </p:spPr>
        <p:txBody>
          <a:bodyPr wrap="square" lIns="0" tIns="0" rIns="0" bIns="0" rtlCol="0" anchor="ctr"/>
          <a:lstStyle/>
          <a:p>
            <a:pPr marL="0" indent="0">
              <a:buNone/>
            </a:pPr>
            <a:r>
              <a:rPr lang="en-US" sz="950" dirty="0">
                <a:solidFill>
                  <a:srgbClr val="6E7781"/>
                </a:solidFill>
                <a:latin typeface="Calibri" pitchFamily="34" charset="0"/>
                <a:ea typeface="Calibri" pitchFamily="34" charset="-122"/>
                <a:cs typeface="Calibri" pitchFamily="34" charset="-120"/>
              </a:rPr>
              <a:t>do this before the pilot starts</a:t>
            </a:r>
            <a:endParaRPr lang="en-US" sz="950" dirty="0"/>
          </a:p>
        </p:txBody>
      </p:sp>
      <p:sp>
        <p:nvSpPr>
          <p:cNvPr id="16" name="Text 14"/>
          <p:cNvSpPr/>
          <p:nvPr/>
        </p:nvSpPr>
        <p:spPr>
          <a:xfrm>
            <a:off x="8339328" y="3493008"/>
            <a:ext cx="3026664" cy="1883664"/>
          </a:xfrm>
          <a:prstGeom prst="rect">
            <a:avLst/>
          </a:prstGeom>
          <a:noFill/>
          <a:ln/>
        </p:spPr>
        <p:txBody>
          <a:bodyPr wrap="square" lIns="0" tIns="0" rIns="0" bIns="0" rtlCol="0" anchor="t"/>
          <a:lstStyle/>
          <a:p>
            <a:pPr marL="177800" indent="-177800">
              <a:lnSpc>
                <a:spcPts val="1584"/>
              </a:lnSpc>
              <a:spcAft>
                <a:spcPts val="700"/>
              </a:spcAft>
              <a:buSzPct val="100000"/>
              <a:buChar char="•"/>
            </a:pPr>
            <a:r>
              <a:rPr lang="en-US" sz="1200" dirty="0">
                <a:solidFill>
                  <a:srgbClr val="2B3138"/>
                </a:solidFill>
                <a:latin typeface="Calibri" pitchFamily="34" charset="0"/>
                <a:ea typeface="Calibri" pitchFamily="34" charset="-122"/>
                <a:cs typeface="Calibri" pitchFamily="34" charset="-120"/>
              </a:rPr>
              <a:t>Put copilot-instructions.md behind CODEOWNERS.</a:t>
            </a:r>
            <a:endParaRPr lang="en-US" sz="1200" dirty="0"/>
          </a:p>
          <a:p>
            <a:pPr marL="177800" indent="-177800">
              <a:lnSpc>
                <a:spcPts val="1584"/>
              </a:lnSpc>
              <a:spcAft>
                <a:spcPts val="700"/>
              </a:spcAft>
              <a:buSzPct val="100000"/>
              <a:buChar char="•"/>
            </a:pPr>
            <a:r>
              <a:rPr lang="en-US" sz="1200" dirty="0">
                <a:solidFill>
                  <a:srgbClr val="2B3138"/>
                </a:solidFill>
                <a:latin typeface="Calibri" pitchFamily="34" charset="0"/>
                <a:ea typeface="Calibri" pitchFamily="34" charset="-122"/>
                <a:cs typeface="Calibri" pitchFamily="34" charset="-120"/>
              </a:rPr>
              <a:t>Do the same for your MCP configuration.</a:t>
            </a:r>
            <a:endParaRPr lang="en-US" sz="1200" dirty="0"/>
          </a:p>
          <a:p>
            <a:pPr marL="177800" indent="-177800">
              <a:lnSpc>
                <a:spcPts val="1584"/>
              </a:lnSpc>
              <a:spcAft>
                <a:spcPts val="700"/>
              </a:spcAft>
              <a:buSzPct val="100000"/>
              <a:buChar char="•"/>
            </a:pPr>
            <a:r>
              <a:rPr lang="en-US" sz="1200" dirty="0">
                <a:solidFill>
                  <a:srgbClr val="2B3138"/>
                </a:solidFill>
                <a:latin typeface="Calibri" pitchFamily="34" charset="0"/>
                <a:ea typeface="Calibri" pitchFamily="34" charset="-122"/>
                <a:cs typeface="Calibri" pitchFamily="34" charset="-120"/>
              </a:rPr>
              <a:t>Those two files steer every future run — treat them like production config.</a:t>
            </a:r>
            <a:endParaRPr lang="en-US" sz="1200" dirty="0"/>
          </a:p>
        </p:txBody>
      </p:sp>
      <p:sp>
        <p:nvSpPr>
          <p:cNvPr id="17" name="Text 15"/>
          <p:cNvSpPr/>
          <p:nvPr/>
        </p:nvSpPr>
        <p:spPr>
          <a:xfrm>
            <a:off x="566928" y="6437376"/>
            <a:ext cx="10552176" cy="237744"/>
          </a:xfrm>
          <a:prstGeom prst="rect">
            <a:avLst/>
          </a:prstGeom>
          <a:noFill/>
          <a:ln/>
        </p:spPr>
        <p:txBody>
          <a:bodyPr wrap="square" lIns="0" tIns="0" rIns="0" bIns="0" rtlCol="0" anchor="ctr"/>
          <a:lstStyle/>
          <a:p>
            <a:pPr marL="0" indent="0">
              <a:buNone/>
            </a:pPr>
            <a:r>
              <a:rPr lang="en-US" sz="850" b="1" dirty="0">
                <a:solidFill>
                  <a:srgbClr val="6E7781"/>
                </a:solidFill>
                <a:latin typeface="Calibri" pitchFamily="34" charset="0"/>
                <a:ea typeface="Calibri" pitchFamily="34" charset="-122"/>
                <a:cs typeface="Calibri" pitchFamily="34" charset="-120"/>
              </a:rPr>
              <a:t>Sources   </a:t>
            </a:r>
            <a:r>
              <a:rPr lang="en-US" sz="850" dirty="0">
                <a:solidFill>
                  <a:srgbClr val="6E7781"/>
                </a:solidFill>
                <a:latin typeface="Calibri" pitchFamily="34" charset="0"/>
                <a:ea typeface="Calibri" pitchFamily="34" charset="-122"/>
                <a:cs typeface="Calibri" pitchFamily="34" charset="-120"/>
              </a:rPr>
              <a:t>docs.github.com/en/copilot/concepts/agents/coding-agent/risks-and-mitigations</a:t>
            </a:r>
            <a:endParaRPr lang="en-US" sz="850" dirty="0"/>
          </a:p>
        </p:txBody>
      </p:sp>
      <p:sp>
        <p:nvSpPr>
          <p:cNvPr id="25"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anim calcmode="lin" valueType="num">
                                      <p:cBhvr additive="base">
                                        <p:cTn id="8" dur="420" fill="hold"/>
                                        <p:tgtEl>
                                          <p:spTgt spid="5"/>
                                        </p:tgtEl>
                                        <p:attrNameLst>
                                          <p:attrName>ppt_y</p:attrName>
                                        </p:attrNameLst>
                                      </p:cBhvr>
                                      <p:tavLst>
                                        <p:tav tm="0">
                                          <p:val>
                                            <p:strVal val="#ppt_y+0.035"/>
                                          </p:val>
                                        </p:tav>
                                        <p:tav tm="100000">
                                          <p:val>
                                            <p:strVal val="#ppt_y"/>
                                          </p:val>
                                        </p:tav>
                                      </p:tavLst>
                                    </p:anim>
                                    <p:set>
                                      <p:cBhvr>
                                        <p:cTn id="9" dur="1" fill="hold">
                                          <p:stCondLst>
                                            <p:cond delay="0"/>
                                          </p:stCondLst>
                                        </p:cTn>
                                        <p:tgtEl>
                                          <p:spTgt spid="9"/>
                                        </p:tgtEl>
                                        <p:attrNameLst>
                                          <p:attrName>style.visibility</p:attrName>
                                        </p:attrNameLst>
                                      </p:cBhvr>
                                      <p:to>
                                        <p:strVal val="visible"/>
                                      </p:to>
                                    </p:set>
                                    <p:animEffect transition="in" filter="fade">
                                      <p:cBhvr>
                                        <p:cTn id="10" dur="420"/>
                                        <p:tgtEl>
                                          <p:spTgt spid="9"/>
                                        </p:tgtEl>
                                      </p:cBhvr>
                                    </p:animEffect>
                                    <p:anim calcmode="lin" valueType="num">
                                      <p:cBhvr additive="base">
                                        <p:cTn id="11" dur="420" fill="hold"/>
                                        <p:tgtEl>
                                          <p:spTgt spid="9"/>
                                        </p:tgtEl>
                                        <p:attrNameLst>
                                          <p:attrName>ppt_y</p:attrName>
                                        </p:attrNameLst>
                                      </p:cBhvr>
                                      <p:tavLst>
                                        <p:tav tm="0">
                                          <p:val>
                                            <p:strVal val="#ppt_y+0.035"/>
                                          </p:val>
                                        </p:tav>
                                        <p:tav tm="100000">
                                          <p:val>
                                            <p:strVal val="#ppt_y"/>
                                          </p:val>
                                        </p:tav>
                                      </p:tavLst>
                                    </p:anim>
                                    <p:set>
                                      <p:cBhvr>
                                        <p:cTn id="12" dur="1" fill="hold">
                                          <p:stCondLst>
                                            <p:cond delay="0"/>
                                          </p:stCondLst>
                                        </p:cTn>
                                        <p:tgtEl>
                                          <p:spTgt spid="13"/>
                                        </p:tgtEl>
                                        <p:attrNameLst>
                                          <p:attrName>style.visibility</p:attrName>
                                        </p:attrNameLst>
                                      </p:cBhvr>
                                      <p:to>
                                        <p:strVal val="visible"/>
                                      </p:to>
                                    </p:set>
                                    <p:animEffect transition="in" filter="fade">
                                      <p:cBhvr>
                                        <p:cTn id="13" dur="420"/>
                                        <p:tgtEl>
                                          <p:spTgt spid="13"/>
                                        </p:tgtEl>
                                      </p:cBhvr>
                                    </p:animEffect>
                                    <p:anim calcmode="lin" valueType="num">
                                      <p:cBhvr additive="base">
                                        <p:cTn id="14" dur="420" fill="hold"/>
                                        <p:tgtEl>
                                          <p:spTgt spid="13"/>
                                        </p:tgtEl>
                                        <p:attrNameLst>
                                          <p:attrName>ppt_y</p:attrName>
                                        </p:attrNameLst>
                                      </p:cBhvr>
                                      <p:tavLst>
                                        <p:tav tm="0">
                                          <p:val>
                                            <p:strVal val="#ppt_y+0.035"/>
                                          </p:val>
                                        </p:tav>
                                        <p:tav tm="100000">
                                          <p:val>
                                            <p:strVal val="#ppt_y"/>
                                          </p:val>
                                        </p:tav>
                                      </p:tavLst>
                                    </p:anim>
                                    <p:set>
                                      <p:cBhvr>
                                        <p:cTn id="15" dur="1" fill="hold">
                                          <p:stCondLst>
                                            <p:cond delay="0"/>
                                          </p:stCondLst>
                                        </p:cTn>
                                        <p:tgtEl>
                                          <p:spTgt spid="6"/>
                                        </p:tgtEl>
                                        <p:attrNameLst>
                                          <p:attrName>style.visibility</p:attrName>
                                        </p:attrNameLst>
                                      </p:cBhvr>
                                      <p:to>
                                        <p:strVal val="visible"/>
                                      </p:to>
                                    </p:set>
                                    <p:animEffect transition="in" filter="fade">
                                      <p:cBhvr>
                                        <p:cTn id="16" dur="420"/>
                                        <p:tgtEl>
                                          <p:spTgt spid="6"/>
                                        </p:tgtEl>
                                      </p:cBhvr>
                                    </p:animEffect>
                                    <p:anim calcmode="lin" valueType="num">
                                      <p:cBhvr additive="base">
                                        <p:cTn id="17" dur="420" fill="hold"/>
                                        <p:tgtEl>
                                          <p:spTgt spid="6"/>
                                        </p:tgtEl>
                                        <p:attrNameLst>
                                          <p:attrName>ppt_y</p:attrName>
                                        </p:attrNameLst>
                                      </p:cBhvr>
                                      <p:tavLst>
                                        <p:tav tm="0">
                                          <p:val>
                                            <p:strVal val="#ppt_y+0.035"/>
                                          </p:val>
                                        </p:tav>
                                        <p:tav tm="100000">
                                          <p:val>
                                            <p:strVal val="#ppt_y"/>
                                          </p:val>
                                        </p:tav>
                                      </p:tavLst>
                                    </p:anim>
                                    <p:set>
                                      <p:cBhvr>
                                        <p:cTn id="18" dur="1" fill="hold">
                                          <p:stCondLst>
                                            <p:cond delay="0"/>
                                          </p:stCondLst>
                                        </p:cTn>
                                        <p:tgtEl>
                                          <p:spTgt spid="10"/>
                                        </p:tgtEl>
                                        <p:attrNameLst>
                                          <p:attrName>style.visibility</p:attrName>
                                        </p:attrNameLst>
                                      </p:cBhvr>
                                      <p:to>
                                        <p:strVal val="visible"/>
                                      </p:to>
                                    </p:set>
                                    <p:animEffect transition="in" filter="fade">
                                      <p:cBhvr>
                                        <p:cTn id="19" dur="420"/>
                                        <p:tgtEl>
                                          <p:spTgt spid="10"/>
                                        </p:tgtEl>
                                      </p:cBhvr>
                                    </p:animEffect>
                                    <p:anim calcmode="lin" valueType="num">
                                      <p:cBhvr additive="base">
                                        <p:cTn id="20" dur="420" fill="hold"/>
                                        <p:tgtEl>
                                          <p:spTgt spid="10"/>
                                        </p:tgtEl>
                                        <p:attrNameLst>
                                          <p:attrName>ppt_y</p:attrName>
                                        </p:attrNameLst>
                                      </p:cBhvr>
                                      <p:tavLst>
                                        <p:tav tm="0">
                                          <p:val>
                                            <p:strVal val="#ppt_y+0.035"/>
                                          </p:val>
                                        </p:tav>
                                        <p:tav tm="100000">
                                          <p:val>
                                            <p:strVal val="#ppt_y"/>
                                          </p:val>
                                        </p:tav>
                                      </p:tavLst>
                                    </p:anim>
                                    <p:set>
                                      <p:cBhvr>
                                        <p:cTn id="21" dur="1" fill="hold">
                                          <p:stCondLst>
                                            <p:cond delay="0"/>
                                          </p:stCondLst>
                                        </p:cTn>
                                        <p:tgtEl>
                                          <p:spTgt spid="14"/>
                                        </p:tgtEl>
                                        <p:attrNameLst>
                                          <p:attrName>style.visibility</p:attrName>
                                        </p:attrNameLst>
                                      </p:cBhvr>
                                      <p:to>
                                        <p:strVal val="visible"/>
                                      </p:to>
                                    </p:set>
                                    <p:animEffect transition="in" filter="fade">
                                      <p:cBhvr>
                                        <p:cTn id="22" dur="420"/>
                                        <p:tgtEl>
                                          <p:spTgt spid="14"/>
                                        </p:tgtEl>
                                      </p:cBhvr>
                                    </p:animEffect>
                                    <p:anim calcmode="lin" valueType="num">
                                      <p:cBhvr additive="base">
                                        <p:cTn id="23" dur="420" fill="hold"/>
                                        <p:tgtEl>
                                          <p:spTgt spid="14"/>
                                        </p:tgtEl>
                                        <p:attrNameLst>
                                          <p:attrName>ppt_y</p:attrName>
                                        </p:attrNameLst>
                                      </p:cBhvr>
                                      <p:tavLst>
                                        <p:tav tm="0">
                                          <p:val>
                                            <p:strVal val="#ppt_y+0.035"/>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420"/>
                                        <p:tgtEl>
                                          <p:spTgt spid="7"/>
                                        </p:tgtEl>
                                      </p:cBhvr>
                                    </p:animEffect>
                                    <p:anim calcmode="lin" valueType="num">
                                      <p:cBhvr additive="base">
                                        <p:cTn id="29" dur="420" fill="hold"/>
                                        <p:tgtEl>
                                          <p:spTgt spid="7"/>
                                        </p:tgtEl>
                                        <p:attrNameLst>
                                          <p:attrName>ppt_y</p:attrName>
                                        </p:attrNameLst>
                                      </p:cBhvr>
                                      <p:tavLst>
                                        <p:tav tm="0">
                                          <p:val>
                                            <p:strVal val="#ppt_y+0.035"/>
                                          </p:val>
                                        </p:tav>
                                        <p:tav tm="100000">
                                          <p:val>
                                            <p:strVal val="#ppt_y"/>
                                          </p:val>
                                        </p:tav>
                                      </p:tavLst>
                                    </p:anim>
                                    <p:set>
                                      <p:cBhvr>
                                        <p:cTn id="30" dur="1" fill="hold">
                                          <p:stCondLst>
                                            <p:cond delay="0"/>
                                          </p:stCondLst>
                                        </p:cTn>
                                        <p:tgtEl>
                                          <p:spTgt spid="11"/>
                                        </p:tgtEl>
                                        <p:attrNameLst>
                                          <p:attrName>style.visibility</p:attrName>
                                        </p:attrNameLst>
                                      </p:cBhvr>
                                      <p:to>
                                        <p:strVal val="visible"/>
                                      </p:to>
                                    </p:set>
                                    <p:animEffect transition="in" filter="fade">
                                      <p:cBhvr>
                                        <p:cTn id="31" dur="420"/>
                                        <p:tgtEl>
                                          <p:spTgt spid="11"/>
                                        </p:tgtEl>
                                      </p:cBhvr>
                                    </p:animEffect>
                                    <p:anim calcmode="lin" valueType="num">
                                      <p:cBhvr additive="base">
                                        <p:cTn id="32" dur="420" fill="hold"/>
                                        <p:tgtEl>
                                          <p:spTgt spid="11"/>
                                        </p:tgtEl>
                                        <p:attrNameLst>
                                          <p:attrName>ppt_y</p:attrName>
                                        </p:attrNameLst>
                                      </p:cBhvr>
                                      <p:tavLst>
                                        <p:tav tm="0">
                                          <p:val>
                                            <p:strVal val="#ppt_y+0.035"/>
                                          </p:val>
                                        </p:tav>
                                        <p:tav tm="100000">
                                          <p:val>
                                            <p:strVal val="#ppt_y"/>
                                          </p:val>
                                        </p:tav>
                                      </p:tavLst>
                                    </p:anim>
                                    <p:set>
                                      <p:cBhvr>
                                        <p:cTn id="33" dur="1" fill="hold">
                                          <p:stCondLst>
                                            <p:cond delay="0"/>
                                          </p:stCondLst>
                                        </p:cTn>
                                        <p:tgtEl>
                                          <p:spTgt spid="15"/>
                                        </p:tgtEl>
                                        <p:attrNameLst>
                                          <p:attrName>style.visibility</p:attrName>
                                        </p:attrNameLst>
                                      </p:cBhvr>
                                      <p:to>
                                        <p:strVal val="visible"/>
                                      </p:to>
                                    </p:set>
                                    <p:animEffect transition="in" filter="fade">
                                      <p:cBhvr>
                                        <p:cTn id="34" dur="420"/>
                                        <p:tgtEl>
                                          <p:spTgt spid="15"/>
                                        </p:tgtEl>
                                      </p:cBhvr>
                                    </p:animEffect>
                                    <p:anim calcmode="lin" valueType="num">
                                      <p:cBhvr additive="base">
                                        <p:cTn id="35" dur="420" fill="hold"/>
                                        <p:tgtEl>
                                          <p:spTgt spid="15"/>
                                        </p:tgtEl>
                                        <p:attrNameLst>
                                          <p:attrName>ppt_y</p:attrName>
                                        </p:attrNameLst>
                                      </p:cBhvr>
                                      <p:tavLst>
                                        <p:tav tm="0">
                                          <p:val>
                                            <p:strVal val="#ppt_y+0.035"/>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420"/>
                                        <p:tgtEl>
                                          <p:spTgt spid="8"/>
                                        </p:tgtEl>
                                      </p:cBhvr>
                                    </p:animEffect>
                                    <p:anim calcmode="lin" valueType="num">
                                      <p:cBhvr additive="base">
                                        <p:cTn id="41" dur="420" fill="hold"/>
                                        <p:tgtEl>
                                          <p:spTgt spid="8"/>
                                        </p:tgtEl>
                                        <p:attrNameLst>
                                          <p:attrName>ppt_y</p:attrName>
                                        </p:attrNameLst>
                                      </p:cBhvr>
                                      <p:tavLst>
                                        <p:tav tm="0">
                                          <p:val>
                                            <p:strVal val="#ppt_y+0.035"/>
                                          </p:val>
                                        </p:tav>
                                        <p:tav tm="100000">
                                          <p:val>
                                            <p:strVal val="#ppt_y"/>
                                          </p:val>
                                        </p:tav>
                                      </p:tavLst>
                                    </p:anim>
                                    <p:set>
                                      <p:cBhvr>
                                        <p:cTn id="42" dur="1" fill="hold">
                                          <p:stCondLst>
                                            <p:cond delay="0"/>
                                          </p:stCondLst>
                                        </p:cTn>
                                        <p:tgtEl>
                                          <p:spTgt spid="12"/>
                                        </p:tgtEl>
                                        <p:attrNameLst>
                                          <p:attrName>style.visibility</p:attrName>
                                        </p:attrNameLst>
                                      </p:cBhvr>
                                      <p:to>
                                        <p:strVal val="visible"/>
                                      </p:to>
                                    </p:set>
                                    <p:animEffect transition="in" filter="fade">
                                      <p:cBhvr>
                                        <p:cTn id="43" dur="420"/>
                                        <p:tgtEl>
                                          <p:spTgt spid="12"/>
                                        </p:tgtEl>
                                      </p:cBhvr>
                                    </p:animEffect>
                                    <p:anim calcmode="lin" valueType="num">
                                      <p:cBhvr additive="base">
                                        <p:cTn id="44" dur="420" fill="hold"/>
                                        <p:tgtEl>
                                          <p:spTgt spid="12"/>
                                        </p:tgtEl>
                                        <p:attrNameLst>
                                          <p:attrName>ppt_y</p:attrName>
                                        </p:attrNameLst>
                                      </p:cBhvr>
                                      <p:tavLst>
                                        <p:tav tm="0">
                                          <p:val>
                                            <p:strVal val="#ppt_y+0.035"/>
                                          </p:val>
                                        </p:tav>
                                        <p:tav tm="100000">
                                          <p:val>
                                            <p:strVal val="#ppt_y"/>
                                          </p:val>
                                        </p:tav>
                                      </p:tavLst>
                                    </p:anim>
                                    <p:set>
                                      <p:cBhvr>
                                        <p:cTn id="45" dur="1" fill="hold">
                                          <p:stCondLst>
                                            <p:cond delay="0"/>
                                          </p:stCondLst>
                                        </p:cTn>
                                        <p:tgtEl>
                                          <p:spTgt spid="16"/>
                                        </p:tgtEl>
                                        <p:attrNameLst>
                                          <p:attrName>style.visibility</p:attrName>
                                        </p:attrNameLst>
                                      </p:cBhvr>
                                      <p:to>
                                        <p:strVal val="visible"/>
                                      </p:to>
                                    </p:set>
                                    <p:animEffect transition="in" filter="fade">
                                      <p:cBhvr>
                                        <p:cTn id="46" dur="420"/>
                                        <p:tgtEl>
                                          <p:spTgt spid="16"/>
                                        </p:tgtEl>
                                      </p:cBhvr>
                                    </p:animEffect>
                                    <p:anim calcmode="lin" valueType="num">
                                      <p:cBhvr additive="base">
                                        <p:cTn id="47" dur="420" fill="hold"/>
                                        <p:tgtEl>
                                          <p:spTgt spid="16"/>
                                        </p:tgtEl>
                                        <p:attrNameLst>
                                          <p:attrName>ppt_y</p:attrName>
                                        </p:attrNameLst>
                                      </p:cBhvr>
                                      <p:tavLst>
                                        <p:tav tm="0">
                                          <p:val>
                                            <p:strVal val="#ppt_y+0.035"/>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20"/>
                                        <p:tgtEl>
                                          <p:spTgt spid="17"/>
                                        </p:tgtEl>
                                      </p:cBhvr>
                                    </p:animEffect>
                                    <p:anim calcmode="lin" valueType="num">
                                      <p:cBhvr additive="base">
                                        <p:cTn id="53" dur="420" fill="hold"/>
                                        <p:tgtEl>
                                          <p:spTgt spid="17"/>
                                        </p:tgtEl>
                                        <p:attrNameLst>
                                          <p:attrName>ppt_y</p:attrName>
                                        </p:attrNameLst>
                                      </p:cBhvr>
                                      <p:tavLst>
                                        <p:tav tm="0">
                                          <p:val>
                                            <p:strVal val="#ppt_y+0.035"/>
                                          </p:val>
                                        </p:tav>
                                        <p:tav tm="100000">
                                          <p:val>
                                            <p:strVal val="#ppt_y"/>
                                          </p:val>
                                        </p:tav>
                                      </p:tavLst>
                                    </p:anim>
                                    <p:set>
                                      <p:cBhvr>
                                        <p:cTn id="54" dur="1" fill="hold">
                                          <p:stCondLst>
                                            <p:cond delay="0"/>
                                          </p:stCondLst>
                                        </p:cTn>
                                        <p:tgtEl>
                                          <p:spTgt spid="25"/>
                                        </p:tgtEl>
                                        <p:attrNameLst>
                                          <p:attrName>style.visibility</p:attrName>
                                        </p:attrNameLst>
                                      </p:cBhvr>
                                      <p:to>
                                        <p:strVal val="visible"/>
                                      </p:to>
                                    </p:set>
                                    <p:animEffect transition="in" filter="fade">
                                      <p:cBhvr>
                                        <p:cTn id="55" dur="420"/>
                                        <p:tgtEl>
                                          <p:spTgt spid="25"/>
                                        </p:tgtEl>
                                      </p:cBhvr>
                                    </p:animEffect>
                                    <p:anim calcmode="lin" valueType="num">
                                      <p:cBhvr additive="base">
                                        <p:cTn id="56" dur="420" fill="hold"/>
                                        <p:tgtEl>
                                          <p:spTgt spid="2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animBg="1"/>
      <p:bldP spid="9" grpId="0"/>
      <p:bldP spid="10" grpId="0"/>
      <p:bldP spid="11" grpId="0"/>
      <p:bldP spid="12" grpId="0"/>
      <p:bldP spid="13" grpId="0"/>
      <p:bldP spid="14" grpId="0"/>
      <p:bldP spid="15" grpId="0"/>
      <p:bldP spid="16" grpId="0"/>
      <p:bldP spid="17" grpId="0" animBg="1"/>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02</a:t>
            </a:r>
            <a:r>
              <a:rPr lang="en-US" sz="1150" b="1" kern="0" spc="160" dirty="0">
                <a:solidFill>
                  <a:srgbClr val="6E7781"/>
                </a:solidFill>
                <a:latin typeface="Calibri" pitchFamily="34" charset="0"/>
                <a:ea typeface="Calibri" pitchFamily="34" charset="-122"/>
                <a:cs typeface="Calibri" pitchFamily="34" charset="-120"/>
              </a:rPr>
              <a:t>   WHAT EACH TOOL ACTUALLY IS</a:t>
            </a:r>
            <a:endParaRPr lang="en-US" sz="1150" dirty="0"/>
          </a:p>
        </p:txBody>
      </p:sp>
      <p:sp>
        <p:nvSpPr>
          <p:cNvPr id="3" name="Text 1"/>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Same models. Different harness.</a:t>
            </a:r>
            <a:endParaRPr lang="en-US" sz="3200" dirty="0"/>
          </a:p>
        </p:txBody>
      </p:sp>
      <p:sp>
        <p:nvSpPr>
          <p:cNvPr id="4" name="Text 2"/>
          <p:cNvSpPr/>
          <p:nvPr/>
        </p:nvSpPr>
        <p:spPr>
          <a:xfrm>
            <a:off x="566928" y="1389888"/>
            <a:ext cx="11055096" cy="658368"/>
          </a:xfrm>
          <a:prstGeom prst="rect">
            <a:avLst/>
          </a:prstGeom>
          <a:noFill/>
          <a:ln/>
        </p:spPr>
        <p:txBody>
          <a:bodyPr wrap="square" lIns="0" tIns="0" rIns="0" bIns="0" rtlCol="0" anchor="t"/>
          <a:lstStyle/>
          <a:p>
            <a:pPr marL="0" indent="0">
              <a:lnSpc>
                <a:spcPts val="1700"/>
              </a:lnSpc>
              <a:buNone/>
            </a:pPr>
            <a:r>
              <a:rPr lang="en-US" sz="1250" b="1" dirty="0">
                <a:solidFill>
                  <a:srgbClr val="15181D"/>
                </a:solidFill>
                <a:latin typeface="Calibri" pitchFamily="34" charset="0"/>
                <a:ea typeface="Calibri" pitchFamily="34" charset="-122"/>
                <a:cs typeface="Calibri" pitchFamily="34" charset="-120"/>
              </a:rPr>
              <a:t>The reframe:  </a:t>
            </a:r>
            <a:r>
              <a:rPr lang="en-US" sz="1250" dirty="0">
                <a:solidFill>
                  <a:srgbClr val="2B3138"/>
                </a:solidFill>
                <a:latin typeface="Calibri" pitchFamily="34" charset="0"/>
                <a:ea typeface="Calibri" pitchFamily="34" charset="-122"/>
                <a:cs typeface="Calibri" pitchFamily="34" charset="-120"/>
              </a:rPr>
              <a:t>both can run Claude Opus and Sonnet at the same per-token price, so you are not comparing model quality. You are comparing harnesses — and the harness decides how far the work gets before it needs you.</a:t>
            </a:r>
            <a:endParaRPr lang="en-US" sz="1250" dirty="0"/>
          </a:p>
        </p:txBody>
      </p:sp>
      <p:sp>
        <p:nvSpPr>
          <p:cNvPr id="5" name="Shape 3"/>
          <p:cNvSpPr/>
          <p:nvPr/>
        </p:nvSpPr>
        <p:spPr>
          <a:xfrm>
            <a:off x="566928" y="2212848"/>
            <a:ext cx="5294376" cy="3931920"/>
          </a:xfrm>
          <a:prstGeom prst="roundRect">
            <a:avLst>
              <a:gd name="adj" fmla="val 1395"/>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6" name="Shape 4"/>
          <p:cNvSpPr/>
          <p:nvPr/>
        </p:nvSpPr>
        <p:spPr>
          <a:xfrm>
            <a:off x="6327648" y="2212848"/>
            <a:ext cx="5294376" cy="3931920"/>
          </a:xfrm>
          <a:prstGeom prst="roundRect">
            <a:avLst>
              <a:gd name="adj" fmla="val 1395"/>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7" name="Shape 5"/>
          <p:cNvSpPr/>
          <p:nvPr/>
        </p:nvSpPr>
        <p:spPr>
          <a:xfrm>
            <a:off x="859536" y="2487168"/>
            <a:ext cx="566928" cy="566928"/>
          </a:xfrm>
          <a:prstGeom prst="ellipse">
            <a:avLst/>
          </a:prstGeom>
          <a:solidFill>
            <a:srgbClr val="0969DA"/>
          </a:solidFill>
          <a:ln w="12700">
            <a:solidFill>
              <a:srgbClr val="0969DA"/>
            </a:solidFill>
            <a:prstDash val="solid"/>
          </a:ln>
        </p:spPr>
      </p:sp>
      <p:pic>
        <p:nvPicPr>
          <p:cNvPr id="8" name="Image 0" descr="/home/claude/deck/build/img/copilot_white.png"/>
          <p:cNvPicPr>
            <a:picLocks noChangeAspect="1"/>
          </p:cNvPicPr>
          <p:nvPr/>
        </p:nvPicPr>
        <p:blipFill>
          <a:blip r:embed="rId3"/>
          <a:stretch>
            <a:fillRect/>
          </a:stretch>
        </p:blipFill>
        <p:spPr>
          <a:xfrm>
            <a:off x="1006937" y="2634569"/>
            <a:ext cx="272125" cy="272125"/>
          </a:xfrm>
          <a:prstGeom prst="rect">
            <a:avLst/>
          </a:prstGeom>
        </p:spPr>
      </p:pic>
      <p:sp>
        <p:nvSpPr>
          <p:cNvPr id="9" name="Text 6"/>
          <p:cNvSpPr/>
          <p:nvPr/>
        </p:nvSpPr>
        <p:spPr>
          <a:xfrm>
            <a:off x="1572768" y="2542032"/>
            <a:ext cx="4023360" cy="365760"/>
          </a:xfrm>
          <a:prstGeom prst="rect">
            <a:avLst/>
          </a:prstGeom>
          <a:noFill/>
          <a:ln/>
        </p:spPr>
        <p:txBody>
          <a:bodyPr wrap="square" lIns="0" tIns="0" rIns="0" bIns="0" rtlCol="0" anchor="ctr"/>
          <a:lstStyle/>
          <a:p>
            <a:pPr marL="0" indent="0">
              <a:buNone/>
            </a:pPr>
            <a:r>
              <a:rPr lang="en-US" sz="2000" b="1" dirty="0">
                <a:solidFill>
                  <a:srgbClr val="0969DA"/>
                </a:solidFill>
                <a:latin typeface="Cambria" pitchFamily="34" charset="0"/>
                <a:ea typeface="Cambria" pitchFamily="34" charset="-122"/>
                <a:cs typeface="Cambria" pitchFamily="34" charset="-120"/>
              </a:rPr>
              <a:t>GitHub Copilot</a:t>
            </a:r>
            <a:endParaRPr lang="en-US" sz="2000" dirty="0"/>
          </a:p>
        </p:txBody>
      </p:sp>
      <p:sp>
        <p:nvSpPr>
          <p:cNvPr id="10" name="Shape 7"/>
          <p:cNvSpPr/>
          <p:nvPr/>
        </p:nvSpPr>
        <p:spPr>
          <a:xfrm>
            <a:off x="6620256" y="2487168"/>
            <a:ext cx="566928" cy="566928"/>
          </a:xfrm>
          <a:prstGeom prst="ellipse">
            <a:avLst/>
          </a:prstGeom>
          <a:solidFill>
            <a:srgbClr val="C2410C"/>
          </a:solidFill>
          <a:ln w="12700">
            <a:solidFill>
              <a:srgbClr val="C2410C"/>
            </a:solidFill>
            <a:prstDash val="solid"/>
          </a:ln>
        </p:spPr>
      </p:sp>
      <p:pic>
        <p:nvPicPr>
          <p:cNvPr id="11" name="Image 1" descr="/home/claude/deck/build/img/claude_white.png"/>
          <p:cNvPicPr>
            <a:picLocks noChangeAspect="1"/>
          </p:cNvPicPr>
          <p:nvPr/>
        </p:nvPicPr>
        <p:blipFill>
          <a:blip r:embed="rId4"/>
          <a:stretch>
            <a:fillRect/>
          </a:stretch>
        </p:blipFill>
        <p:spPr>
          <a:xfrm>
            <a:off x="6767657" y="2634569"/>
            <a:ext cx="272125" cy="272125"/>
          </a:xfrm>
          <a:prstGeom prst="rect">
            <a:avLst/>
          </a:prstGeom>
        </p:spPr>
      </p:pic>
      <p:sp>
        <p:nvSpPr>
          <p:cNvPr id="12" name="Text 8"/>
          <p:cNvSpPr/>
          <p:nvPr/>
        </p:nvSpPr>
        <p:spPr>
          <a:xfrm>
            <a:off x="7333488" y="2542032"/>
            <a:ext cx="4023360" cy="365760"/>
          </a:xfrm>
          <a:prstGeom prst="rect">
            <a:avLst/>
          </a:prstGeom>
          <a:noFill/>
          <a:ln/>
        </p:spPr>
        <p:txBody>
          <a:bodyPr wrap="square" lIns="0" tIns="0" rIns="0" bIns="0" rtlCol="0" anchor="ctr"/>
          <a:lstStyle/>
          <a:p>
            <a:pPr marL="0" indent="0">
              <a:buNone/>
            </a:pPr>
            <a:r>
              <a:rPr lang="en-US" sz="2000" b="1" dirty="0">
                <a:solidFill>
                  <a:srgbClr val="C2410C"/>
                </a:solidFill>
                <a:latin typeface="Cambria" pitchFamily="34" charset="0"/>
                <a:ea typeface="Cambria" pitchFamily="34" charset="-122"/>
                <a:cs typeface="Cambria" pitchFamily="34" charset="-120"/>
              </a:rPr>
              <a:t>Claude Code</a:t>
            </a:r>
            <a:endParaRPr lang="en-US" sz="2000" dirty="0"/>
          </a:p>
        </p:txBody>
      </p:sp>
      <p:sp>
        <p:nvSpPr>
          <p:cNvPr id="13" name="Text 9"/>
          <p:cNvSpPr/>
          <p:nvPr/>
        </p:nvSpPr>
        <p:spPr>
          <a:xfrm>
            <a:off x="859536" y="3346704"/>
            <a:ext cx="1572768" cy="256032"/>
          </a:xfrm>
          <a:prstGeom prst="rect">
            <a:avLst/>
          </a:prstGeom>
          <a:noFill/>
          <a:ln/>
        </p:spPr>
        <p:txBody>
          <a:bodyPr wrap="square" lIns="0" tIns="0" rIns="0" bIns="0" rtlCol="0" anchor="t"/>
          <a:lstStyle/>
          <a:p>
            <a:pPr marL="0" indent="0">
              <a:buNone/>
            </a:pPr>
            <a:r>
              <a:rPr lang="en-US" sz="1050" b="1" dirty="0">
                <a:solidFill>
                  <a:srgbClr val="0969DA"/>
                </a:solidFill>
                <a:latin typeface="Calibri" pitchFamily="34" charset="0"/>
                <a:ea typeface="Calibri" pitchFamily="34" charset="-122"/>
                <a:cs typeface="Calibri" pitchFamily="34" charset="-120"/>
              </a:rPr>
              <a:t>Lives in</a:t>
            </a:r>
            <a:endParaRPr lang="en-US" sz="1050" dirty="0"/>
          </a:p>
        </p:txBody>
      </p:sp>
      <p:sp>
        <p:nvSpPr>
          <p:cNvPr id="14" name="Text 10"/>
          <p:cNvSpPr/>
          <p:nvPr/>
        </p:nvSpPr>
        <p:spPr>
          <a:xfrm>
            <a:off x="2487168" y="3328416"/>
            <a:ext cx="3063240" cy="676656"/>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Visual Studio 2026 (in-process), VS Code, GitHub.com, the Copilot CLI and the Copilot app</a:t>
            </a:r>
            <a:endParaRPr lang="en-US" sz="1050" dirty="0"/>
          </a:p>
        </p:txBody>
      </p:sp>
      <p:sp>
        <p:nvSpPr>
          <p:cNvPr id="15" name="Text 11"/>
          <p:cNvSpPr/>
          <p:nvPr/>
        </p:nvSpPr>
        <p:spPr>
          <a:xfrm>
            <a:off x="859536" y="4041648"/>
            <a:ext cx="1572768" cy="256032"/>
          </a:xfrm>
          <a:prstGeom prst="rect">
            <a:avLst/>
          </a:prstGeom>
          <a:noFill/>
          <a:ln/>
        </p:spPr>
        <p:txBody>
          <a:bodyPr wrap="square" lIns="0" tIns="0" rIns="0" bIns="0" rtlCol="0" anchor="t"/>
          <a:lstStyle/>
          <a:p>
            <a:pPr marL="0" indent="0">
              <a:buNone/>
            </a:pPr>
            <a:r>
              <a:rPr lang="en-US" sz="1050" b="1" dirty="0">
                <a:solidFill>
                  <a:srgbClr val="0969DA"/>
                </a:solidFill>
                <a:latin typeface="Calibri" pitchFamily="34" charset="0"/>
                <a:ea typeface="Calibri" pitchFamily="34" charset="-122"/>
                <a:cs typeface="Calibri" pitchFamily="34" charset="-120"/>
              </a:rPr>
              <a:t>Drives work from</a:t>
            </a:r>
            <a:endParaRPr lang="en-US" sz="1050" dirty="0"/>
          </a:p>
        </p:txBody>
      </p:sp>
      <p:sp>
        <p:nvSpPr>
          <p:cNvPr id="16" name="Text 12"/>
          <p:cNvSpPr/>
          <p:nvPr/>
        </p:nvSpPr>
        <p:spPr>
          <a:xfrm>
            <a:off x="2487168" y="4023360"/>
            <a:ext cx="3063240" cy="676656"/>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An issue or work item → a draft PR, unattended, in the cloud</a:t>
            </a:r>
            <a:endParaRPr lang="en-US" sz="1050" dirty="0"/>
          </a:p>
        </p:txBody>
      </p:sp>
      <p:sp>
        <p:nvSpPr>
          <p:cNvPr id="17" name="Text 13"/>
          <p:cNvSpPr/>
          <p:nvPr/>
        </p:nvSpPr>
        <p:spPr>
          <a:xfrm>
            <a:off x="859536" y="4736592"/>
            <a:ext cx="1572768" cy="256032"/>
          </a:xfrm>
          <a:prstGeom prst="rect">
            <a:avLst/>
          </a:prstGeom>
          <a:noFill/>
          <a:ln/>
        </p:spPr>
        <p:txBody>
          <a:bodyPr wrap="square" lIns="0" tIns="0" rIns="0" bIns="0" rtlCol="0" anchor="t"/>
          <a:lstStyle/>
          <a:p>
            <a:pPr marL="0" indent="0">
              <a:buNone/>
            </a:pPr>
            <a:r>
              <a:rPr lang="en-US" sz="1050" b="1" dirty="0">
                <a:solidFill>
                  <a:srgbClr val="0969DA"/>
                </a:solidFill>
                <a:latin typeface="Calibri" pitchFamily="34" charset="0"/>
                <a:ea typeface="Calibri" pitchFamily="34" charset="-122"/>
                <a:cs typeface="Calibri" pitchFamily="34" charset="-120"/>
              </a:rPr>
              <a:t>Sees your code via</a:t>
            </a:r>
            <a:endParaRPr lang="en-US" sz="1050" dirty="0"/>
          </a:p>
        </p:txBody>
      </p:sp>
      <p:sp>
        <p:nvSpPr>
          <p:cNvPr id="18" name="Text 14"/>
          <p:cNvSpPr/>
          <p:nvPr/>
        </p:nvSpPr>
        <p:spPr>
          <a:xfrm>
            <a:off x="2487168" y="4718304"/>
            <a:ext cx="3063240" cy="676656"/>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The compiler — the Roslyn semantic model, through the find_symbol tool</a:t>
            </a:r>
            <a:endParaRPr lang="en-US" sz="1050" dirty="0"/>
          </a:p>
        </p:txBody>
      </p:sp>
      <p:sp>
        <p:nvSpPr>
          <p:cNvPr id="19" name="Text 15"/>
          <p:cNvSpPr/>
          <p:nvPr/>
        </p:nvSpPr>
        <p:spPr>
          <a:xfrm>
            <a:off x="859536" y="5431536"/>
            <a:ext cx="1572768" cy="256032"/>
          </a:xfrm>
          <a:prstGeom prst="rect">
            <a:avLst/>
          </a:prstGeom>
          <a:noFill/>
          <a:ln/>
        </p:spPr>
        <p:txBody>
          <a:bodyPr wrap="square" lIns="0" tIns="0" rIns="0" bIns="0" rtlCol="0" anchor="t"/>
          <a:lstStyle/>
          <a:p>
            <a:pPr marL="0" indent="0">
              <a:buNone/>
            </a:pPr>
            <a:r>
              <a:rPr lang="en-US" sz="1050" b="1" dirty="0">
                <a:solidFill>
                  <a:srgbClr val="0969DA"/>
                </a:solidFill>
                <a:latin typeface="Calibri" pitchFamily="34" charset="0"/>
                <a:ea typeface="Calibri" pitchFamily="34" charset="-122"/>
                <a:cs typeface="Calibri" pitchFamily="34" charset="-120"/>
              </a:rPr>
              <a:t>Stops when</a:t>
            </a:r>
            <a:endParaRPr lang="en-US" sz="1050" dirty="0"/>
          </a:p>
        </p:txBody>
      </p:sp>
      <p:sp>
        <p:nvSpPr>
          <p:cNvPr id="20" name="Text 16"/>
          <p:cNvSpPr/>
          <p:nvPr/>
        </p:nvSpPr>
        <p:spPr>
          <a:xfrm>
            <a:off x="2487168" y="5413248"/>
            <a:ext cx="3063240" cy="676656"/>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It judges the task done, or you stop it. You cannot hand it a condition it must satisfy</a:t>
            </a:r>
            <a:endParaRPr lang="en-US" sz="1050" dirty="0"/>
          </a:p>
        </p:txBody>
      </p:sp>
      <p:sp>
        <p:nvSpPr>
          <p:cNvPr id="21" name="Text 17"/>
          <p:cNvSpPr/>
          <p:nvPr/>
        </p:nvSpPr>
        <p:spPr>
          <a:xfrm>
            <a:off x="6620256" y="3346704"/>
            <a:ext cx="1572768" cy="256032"/>
          </a:xfrm>
          <a:prstGeom prst="rect">
            <a:avLst/>
          </a:prstGeom>
          <a:noFill/>
          <a:ln/>
        </p:spPr>
        <p:txBody>
          <a:bodyPr wrap="square" lIns="0" tIns="0" rIns="0" bIns="0" rtlCol="0" anchor="t"/>
          <a:lstStyle/>
          <a:p>
            <a:pPr marL="0" indent="0">
              <a:buNone/>
            </a:pPr>
            <a:r>
              <a:rPr lang="en-US" sz="1050" b="1" dirty="0">
                <a:solidFill>
                  <a:srgbClr val="C2410C"/>
                </a:solidFill>
                <a:latin typeface="Calibri" pitchFamily="34" charset="0"/>
                <a:ea typeface="Calibri" pitchFamily="34" charset="-122"/>
                <a:cs typeface="Calibri" pitchFamily="34" charset="-120"/>
              </a:rPr>
              <a:t>Lives in</a:t>
            </a:r>
            <a:endParaRPr lang="en-US" sz="1050" dirty="0"/>
          </a:p>
        </p:txBody>
      </p:sp>
      <p:sp>
        <p:nvSpPr>
          <p:cNvPr id="22" name="Text 18"/>
          <p:cNvSpPr/>
          <p:nvPr/>
        </p:nvSpPr>
        <p:spPr>
          <a:xfrm>
            <a:off x="8247888" y="3328416"/>
            <a:ext cx="3063240" cy="676656"/>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Terminal first; VS Code and JetBrains; the web; Microsoft Foundry on Azure; Cowork on the desktop</a:t>
            </a:r>
            <a:endParaRPr lang="en-US" sz="1050" dirty="0"/>
          </a:p>
        </p:txBody>
      </p:sp>
      <p:sp>
        <p:nvSpPr>
          <p:cNvPr id="23" name="Text 19"/>
          <p:cNvSpPr/>
          <p:nvPr/>
        </p:nvSpPr>
        <p:spPr>
          <a:xfrm>
            <a:off x="6620256" y="4041648"/>
            <a:ext cx="1572768" cy="256032"/>
          </a:xfrm>
          <a:prstGeom prst="rect">
            <a:avLst/>
          </a:prstGeom>
          <a:noFill/>
          <a:ln/>
        </p:spPr>
        <p:txBody>
          <a:bodyPr wrap="square" lIns="0" tIns="0" rIns="0" bIns="0" rtlCol="0" anchor="t"/>
          <a:lstStyle/>
          <a:p>
            <a:pPr marL="0" indent="0">
              <a:buNone/>
            </a:pPr>
            <a:r>
              <a:rPr lang="en-US" sz="1050" b="1" dirty="0">
                <a:solidFill>
                  <a:srgbClr val="C2410C"/>
                </a:solidFill>
                <a:latin typeface="Calibri" pitchFamily="34" charset="0"/>
                <a:ea typeface="Calibri" pitchFamily="34" charset="-122"/>
                <a:cs typeface="Calibri" pitchFamily="34" charset="-120"/>
              </a:rPr>
              <a:t>Drives work from</a:t>
            </a:r>
            <a:endParaRPr lang="en-US" sz="1050" dirty="0"/>
          </a:p>
        </p:txBody>
      </p:sp>
      <p:sp>
        <p:nvSpPr>
          <p:cNvPr id="24" name="Text 20"/>
          <p:cNvSpPr/>
          <p:nvPr/>
        </p:nvSpPr>
        <p:spPr>
          <a:xfrm>
            <a:off x="8247888" y="4023360"/>
            <a:ext cx="3063240" cy="676656"/>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A prompt plus a stop condition you write, which it has to satisfy</a:t>
            </a:r>
            <a:endParaRPr lang="en-US" sz="1050" dirty="0"/>
          </a:p>
        </p:txBody>
      </p:sp>
      <p:sp>
        <p:nvSpPr>
          <p:cNvPr id="25" name="Text 21"/>
          <p:cNvSpPr/>
          <p:nvPr/>
        </p:nvSpPr>
        <p:spPr>
          <a:xfrm>
            <a:off x="6620256" y="4736592"/>
            <a:ext cx="1572768" cy="256032"/>
          </a:xfrm>
          <a:prstGeom prst="rect">
            <a:avLst/>
          </a:prstGeom>
          <a:noFill/>
          <a:ln/>
        </p:spPr>
        <p:txBody>
          <a:bodyPr wrap="square" lIns="0" tIns="0" rIns="0" bIns="0" rtlCol="0" anchor="t"/>
          <a:lstStyle/>
          <a:p>
            <a:pPr marL="0" indent="0">
              <a:buNone/>
            </a:pPr>
            <a:r>
              <a:rPr lang="en-US" sz="1050" b="1" dirty="0">
                <a:solidFill>
                  <a:srgbClr val="C2410C"/>
                </a:solidFill>
                <a:latin typeface="Calibri" pitchFamily="34" charset="0"/>
                <a:ea typeface="Calibri" pitchFamily="34" charset="-122"/>
                <a:cs typeface="Calibri" pitchFamily="34" charset="-120"/>
              </a:rPr>
              <a:t>Sees your code via</a:t>
            </a:r>
            <a:endParaRPr lang="en-US" sz="1050" dirty="0"/>
          </a:p>
        </p:txBody>
      </p:sp>
      <p:sp>
        <p:nvSpPr>
          <p:cNvPr id="26" name="Text 22"/>
          <p:cNvSpPr/>
          <p:nvPr/>
        </p:nvSpPr>
        <p:spPr>
          <a:xfrm>
            <a:off x="8247888" y="4718304"/>
            <a:ext cx="3063240" cy="676656"/>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Text — ripgrep and Glob. There is an LSP tool, but it stays inactive until you install a language plugin</a:t>
            </a:r>
            <a:endParaRPr lang="en-US" sz="1050" dirty="0"/>
          </a:p>
        </p:txBody>
      </p:sp>
      <p:sp>
        <p:nvSpPr>
          <p:cNvPr id="27" name="Text 23"/>
          <p:cNvSpPr/>
          <p:nvPr/>
        </p:nvSpPr>
        <p:spPr>
          <a:xfrm>
            <a:off x="6620256" y="5431536"/>
            <a:ext cx="1572768" cy="256032"/>
          </a:xfrm>
          <a:prstGeom prst="rect">
            <a:avLst/>
          </a:prstGeom>
          <a:noFill/>
          <a:ln/>
        </p:spPr>
        <p:txBody>
          <a:bodyPr wrap="square" lIns="0" tIns="0" rIns="0" bIns="0" rtlCol="0" anchor="t"/>
          <a:lstStyle/>
          <a:p>
            <a:pPr marL="0" indent="0">
              <a:buNone/>
            </a:pPr>
            <a:r>
              <a:rPr lang="en-US" sz="1050" b="1" dirty="0">
                <a:solidFill>
                  <a:srgbClr val="C2410C"/>
                </a:solidFill>
                <a:latin typeface="Calibri" pitchFamily="34" charset="0"/>
                <a:ea typeface="Calibri" pitchFamily="34" charset="-122"/>
                <a:cs typeface="Calibri" pitchFamily="34" charset="-120"/>
              </a:rPr>
              <a:t>Stops when</a:t>
            </a:r>
            <a:endParaRPr lang="en-US" sz="1050" dirty="0"/>
          </a:p>
        </p:txBody>
      </p:sp>
      <p:sp>
        <p:nvSpPr>
          <p:cNvPr id="28" name="Text 24"/>
          <p:cNvSpPr/>
          <p:nvPr/>
        </p:nvSpPr>
        <p:spPr>
          <a:xfrm>
            <a:off x="8247888" y="5413248"/>
            <a:ext cx="3063240" cy="676656"/>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A separate evaluator confirms the condition you wrote actually holds</a:t>
            </a:r>
            <a:endParaRPr lang="en-US" sz="1050" dirty="0"/>
          </a:p>
        </p:txBody>
      </p:sp>
      <p:sp>
        <p:nvSpPr>
          <p:cNvPr id="29" name="Text 25"/>
          <p:cNvSpPr/>
          <p:nvPr/>
        </p:nvSpPr>
        <p:spPr>
          <a:xfrm>
            <a:off x="566928" y="6437376"/>
            <a:ext cx="10552176" cy="237744"/>
          </a:xfrm>
          <a:prstGeom prst="rect">
            <a:avLst/>
          </a:prstGeom>
          <a:noFill/>
          <a:ln/>
        </p:spPr>
        <p:txBody>
          <a:bodyPr wrap="square" lIns="0" tIns="0" rIns="0" bIns="0" rtlCol="0" anchor="ctr"/>
          <a:lstStyle/>
          <a:p>
            <a:pPr marL="0" indent="0">
              <a:buNone/>
            </a:pPr>
            <a:r>
              <a:rPr lang="en-US" sz="850" b="1" dirty="0">
                <a:solidFill>
                  <a:srgbClr val="6E7781"/>
                </a:solidFill>
                <a:latin typeface="Calibri" pitchFamily="34" charset="0"/>
                <a:ea typeface="Calibri" pitchFamily="34" charset="-122"/>
                <a:cs typeface="Calibri" pitchFamily="34" charset="-120"/>
              </a:rPr>
              <a:t>Sources   </a:t>
            </a:r>
            <a:r>
              <a:rPr lang="en-US" sz="850" dirty="0">
                <a:solidFill>
                  <a:srgbClr val="6E7781"/>
                </a:solidFill>
                <a:latin typeface="Calibri" pitchFamily="34" charset="0"/>
                <a:ea typeface="Calibri" pitchFamily="34" charset="-122"/>
                <a:cs typeface="Calibri" pitchFamily="34" charset="-120"/>
              </a:rPr>
              <a:t>learn.microsoft.com/visualstudio/ide/copilot-agent-mode · code.claude.com/docs/en/tools-reference · platform.claude.com/docs/en/about-claude/pricing</a:t>
            </a:r>
            <a:endParaRPr lang="en-US" sz="850" dirty="0"/>
          </a:p>
        </p:txBody>
      </p:sp>
      <p:sp>
        <p:nvSpPr>
          <p:cNvPr id="30"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anim calcmode="lin" valueType="num">
                                      <p:cBhvr additive="base">
                                        <p:cTn id="8" dur="420" fill="hold"/>
                                        <p:tgtEl>
                                          <p:spTgt spid="5"/>
                                        </p:tgtEl>
                                        <p:attrNameLst>
                                          <p:attrName>ppt_y</p:attrName>
                                        </p:attrNameLst>
                                      </p:cBhvr>
                                      <p:tavLst>
                                        <p:tav tm="0">
                                          <p:val>
                                            <p:strVal val="#ppt_y+0.035"/>
                                          </p:val>
                                        </p:tav>
                                        <p:tav tm="100000">
                                          <p:val>
                                            <p:strVal val="#ppt_y"/>
                                          </p:val>
                                        </p:tav>
                                      </p:tavLst>
                                    </p:anim>
                                    <p:set>
                                      <p:cBhvr>
                                        <p:cTn id="9" dur="1" fill="hold">
                                          <p:stCondLst>
                                            <p:cond delay="0"/>
                                          </p:stCondLst>
                                        </p:cTn>
                                        <p:tgtEl>
                                          <p:spTgt spid="6"/>
                                        </p:tgtEl>
                                        <p:attrNameLst>
                                          <p:attrName>style.visibility</p:attrName>
                                        </p:attrNameLst>
                                      </p:cBhvr>
                                      <p:to>
                                        <p:strVal val="visible"/>
                                      </p:to>
                                    </p:set>
                                    <p:animEffect transition="in" filter="fade">
                                      <p:cBhvr>
                                        <p:cTn id="10" dur="420"/>
                                        <p:tgtEl>
                                          <p:spTgt spid="6"/>
                                        </p:tgtEl>
                                      </p:cBhvr>
                                    </p:animEffect>
                                    <p:anim calcmode="lin" valueType="num">
                                      <p:cBhvr additive="base">
                                        <p:cTn id="11" dur="420" fill="hold"/>
                                        <p:tgtEl>
                                          <p:spTgt spid="6"/>
                                        </p:tgtEl>
                                        <p:attrNameLst>
                                          <p:attrName>ppt_y</p:attrName>
                                        </p:attrNameLst>
                                      </p:cBhvr>
                                      <p:tavLst>
                                        <p:tav tm="0">
                                          <p:val>
                                            <p:strVal val="#ppt_y+0.035"/>
                                          </p:val>
                                        </p:tav>
                                        <p:tav tm="100000">
                                          <p:val>
                                            <p:strVal val="#ppt_y"/>
                                          </p:val>
                                        </p:tav>
                                      </p:tavLst>
                                    </p:anim>
                                    <p:set>
                                      <p:cBhvr>
                                        <p:cTn id="12" dur="1" fill="hold">
                                          <p:stCondLst>
                                            <p:cond delay="0"/>
                                          </p:stCondLst>
                                        </p:cTn>
                                        <p:tgtEl>
                                          <p:spTgt spid="7"/>
                                        </p:tgtEl>
                                        <p:attrNameLst>
                                          <p:attrName>style.visibility</p:attrName>
                                        </p:attrNameLst>
                                      </p:cBhvr>
                                      <p:to>
                                        <p:strVal val="visible"/>
                                      </p:to>
                                    </p:set>
                                    <p:animEffect transition="in" filter="fade">
                                      <p:cBhvr>
                                        <p:cTn id="13" dur="420"/>
                                        <p:tgtEl>
                                          <p:spTgt spid="7"/>
                                        </p:tgtEl>
                                      </p:cBhvr>
                                    </p:animEffect>
                                    <p:anim calcmode="lin" valueType="num">
                                      <p:cBhvr additive="base">
                                        <p:cTn id="14" dur="420" fill="hold"/>
                                        <p:tgtEl>
                                          <p:spTgt spid="7"/>
                                        </p:tgtEl>
                                        <p:attrNameLst>
                                          <p:attrName>ppt_y</p:attrName>
                                        </p:attrNameLst>
                                      </p:cBhvr>
                                      <p:tavLst>
                                        <p:tav tm="0">
                                          <p:val>
                                            <p:strVal val="#ppt_y+0.035"/>
                                          </p:val>
                                        </p:tav>
                                        <p:tav tm="100000">
                                          <p:val>
                                            <p:strVal val="#ppt_y"/>
                                          </p:val>
                                        </p:tav>
                                      </p:tavLst>
                                    </p:anim>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anim calcmode="lin" valueType="num">
                                      <p:cBhvr additive="base">
                                        <p:cTn id="17" dur="420" fill="hold"/>
                                        <p:tgtEl>
                                          <p:spTgt spid="10"/>
                                        </p:tgtEl>
                                        <p:attrNameLst>
                                          <p:attrName>ppt_y</p:attrName>
                                        </p:attrNameLst>
                                      </p:cBhvr>
                                      <p:tavLst>
                                        <p:tav tm="0">
                                          <p:val>
                                            <p:strVal val="#ppt_y+0.035"/>
                                          </p:val>
                                        </p:tav>
                                        <p:tav tm="100000">
                                          <p:val>
                                            <p:strVal val="#ppt_y"/>
                                          </p:val>
                                        </p:tav>
                                      </p:tavLst>
                                    </p:anim>
                                    <p:set>
                                      <p:cBhvr>
                                        <p:cTn id="18" dur="1" fill="hold">
                                          <p:stCondLst>
                                            <p:cond delay="0"/>
                                          </p:stCondLst>
                                        </p:cTn>
                                        <p:tgtEl>
                                          <p:spTgt spid="9"/>
                                        </p:tgtEl>
                                        <p:attrNameLst>
                                          <p:attrName>style.visibility</p:attrName>
                                        </p:attrNameLst>
                                      </p:cBhvr>
                                      <p:to>
                                        <p:strVal val="visible"/>
                                      </p:to>
                                    </p:set>
                                    <p:animEffect transition="in" filter="fade">
                                      <p:cBhvr>
                                        <p:cTn id="19" dur="420"/>
                                        <p:tgtEl>
                                          <p:spTgt spid="9"/>
                                        </p:tgtEl>
                                      </p:cBhvr>
                                    </p:animEffect>
                                    <p:anim calcmode="lin" valueType="num">
                                      <p:cBhvr additive="base">
                                        <p:cTn id="20" dur="420" fill="hold"/>
                                        <p:tgtEl>
                                          <p:spTgt spid="9"/>
                                        </p:tgtEl>
                                        <p:attrNameLst>
                                          <p:attrName>ppt_y</p:attrName>
                                        </p:attrNameLst>
                                      </p:cBhvr>
                                      <p:tavLst>
                                        <p:tav tm="0">
                                          <p:val>
                                            <p:strVal val="#ppt_y+0.035"/>
                                          </p:val>
                                        </p:tav>
                                        <p:tav tm="100000">
                                          <p:val>
                                            <p:strVal val="#ppt_y"/>
                                          </p:val>
                                        </p:tav>
                                      </p:tavLst>
                                    </p:anim>
                                    <p:set>
                                      <p:cBhvr>
                                        <p:cTn id="21" dur="1" fill="hold">
                                          <p:stCondLst>
                                            <p:cond delay="0"/>
                                          </p:stCondLst>
                                        </p:cTn>
                                        <p:tgtEl>
                                          <p:spTgt spid="12"/>
                                        </p:tgtEl>
                                        <p:attrNameLst>
                                          <p:attrName>style.visibility</p:attrName>
                                        </p:attrNameLst>
                                      </p:cBhvr>
                                      <p:to>
                                        <p:strVal val="visible"/>
                                      </p:to>
                                    </p:set>
                                    <p:animEffect transition="in" filter="fade">
                                      <p:cBhvr>
                                        <p:cTn id="22" dur="420"/>
                                        <p:tgtEl>
                                          <p:spTgt spid="12"/>
                                        </p:tgtEl>
                                      </p:cBhvr>
                                    </p:animEffect>
                                    <p:anim calcmode="lin" valueType="num">
                                      <p:cBhvr additive="base">
                                        <p:cTn id="23" dur="420" fill="hold"/>
                                        <p:tgtEl>
                                          <p:spTgt spid="12"/>
                                        </p:tgtEl>
                                        <p:attrNameLst>
                                          <p:attrName>ppt_y</p:attrName>
                                        </p:attrNameLst>
                                      </p:cBhvr>
                                      <p:tavLst>
                                        <p:tav tm="0">
                                          <p:val>
                                            <p:strVal val="#ppt_y+0.035"/>
                                          </p:val>
                                        </p:tav>
                                        <p:tav tm="100000">
                                          <p:val>
                                            <p:strVal val="#ppt_y"/>
                                          </p:val>
                                        </p:tav>
                                      </p:tavLst>
                                    </p:anim>
                                    <p:set>
                                      <p:cBhvr>
                                        <p:cTn id="24" dur="1" fill="hold">
                                          <p:stCondLst>
                                            <p:cond delay="0"/>
                                          </p:stCondLst>
                                        </p:cTn>
                                        <p:tgtEl>
                                          <p:spTgt spid="8"/>
                                        </p:tgtEl>
                                        <p:attrNameLst>
                                          <p:attrName>style.visibility</p:attrName>
                                        </p:attrNameLst>
                                      </p:cBhvr>
                                      <p:to>
                                        <p:strVal val="visible"/>
                                      </p:to>
                                    </p:set>
                                    <p:animEffect transition="in" filter="fade">
                                      <p:cBhvr>
                                        <p:cTn id="25" dur="420"/>
                                        <p:tgtEl>
                                          <p:spTgt spid="8"/>
                                        </p:tgtEl>
                                      </p:cBhvr>
                                    </p:animEffect>
                                    <p:anim calcmode="lin" valueType="num">
                                      <p:cBhvr additive="base">
                                        <p:cTn id="26" dur="420" fill="hold"/>
                                        <p:tgtEl>
                                          <p:spTgt spid="8"/>
                                        </p:tgtEl>
                                        <p:attrNameLst>
                                          <p:attrName>ppt_y</p:attrName>
                                        </p:attrNameLst>
                                      </p:cBhvr>
                                      <p:tavLst>
                                        <p:tav tm="0">
                                          <p:val>
                                            <p:strVal val="#ppt_y+0.035"/>
                                          </p:val>
                                        </p:tav>
                                        <p:tav tm="100000">
                                          <p:val>
                                            <p:strVal val="#ppt_y"/>
                                          </p:val>
                                        </p:tav>
                                      </p:tavLst>
                                    </p:anim>
                                    <p:set>
                                      <p:cBhvr>
                                        <p:cTn id="27" dur="1" fill="hold">
                                          <p:stCondLst>
                                            <p:cond delay="0"/>
                                          </p:stCondLst>
                                        </p:cTn>
                                        <p:tgtEl>
                                          <p:spTgt spid="11"/>
                                        </p:tgtEl>
                                        <p:attrNameLst>
                                          <p:attrName>style.visibility</p:attrName>
                                        </p:attrNameLst>
                                      </p:cBhvr>
                                      <p:to>
                                        <p:strVal val="visible"/>
                                      </p:to>
                                    </p:set>
                                    <p:animEffect transition="in" filter="fade">
                                      <p:cBhvr>
                                        <p:cTn id="28" dur="420"/>
                                        <p:tgtEl>
                                          <p:spTgt spid="11"/>
                                        </p:tgtEl>
                                      </p:cBhvr>
                                    </p:animEffect>
                                    <p:anim calcmode="lin" valueType="num">
                                      <p:cBhvr additive="base">
                                        <p:cTn id="29" dur="420" fill="hold"/>
                                        <p:tgtEl>
                                          <p:spTgt spid="11"/>
                                        </p:tgtEl>
                                        <p:attrNameLst>
                                          <p:attrName>ppt_y</p:attrName>
                                        </p:attrNameLst>
                                      </p:cBhvr>
                                      <p:tavLst>
                                        <p:tav tm="0">
                                          <p:val>
                                            <p:strVal val="#ppt_y+0.035"/>
                                          </p:val>
                                        </p:tav>
                                        <p:tav tm="100000">
                                          <p:val>
                                            <p:strVal val="#ppt_y"/>
                                          </p:val>
                                        </p:tav>
                                      </p:tavLst>
                                    </p:anim>
                                    <p:set>
                                      <p:cBhvr>
                                        <p:cTn id="30" dur="1" fill="hold">
                                          <p:stCondLst>
                                            <p:cond delay="0"/>
                                          </p:stCondLst>
                                        </p:cTn>
                                        <p:tgtEl>
                                          <p:spTgt spid="14"/>
                                        </p:tgtEl>
                                        <p:attrNameLst>
                                          <p:attrName>style.visibility</p:attrName>
                                        </p:attrNameLst>
                                      </p:cBhvr>
                                      <p:to>
                                        <p:strVal val="visible"/>
                                      </p:to>
                                    </p:set>
                                    <p:animEffect transition="in" filter="fade">
                                      <p:cBhvr>
                                        <p:cTn id="31" dur="420"/>
                                        <p:tgtEl>
                                          <p:spTgt spid="14"/>
                                        </p:tgtEl>
                                      </p:cBhvr>
                                    </p:animEffect>
                                    <p:anim calcmode="lin" valueType="num">
                                      <p:cBhvr additive="base">
                                        <p:cTn id="32" dur="420" fill="hold"/>
                                        <p:tgtEl>
                                          <p:spTgt spid="14"/>
                                        </p:tgtEl>
                                        <p:attrNameLst>
                                          <p:attrName>ppt_y</p:attrName>
                                        </p:attrNameLst>
                                      </p:cBhvr>
                                      <p:tavLst>
                                        <p:tav tm="0">
                                          <p:val>
                                            <p:strVal val="#ppt_y+0.035"/>
                                          </p:val>
                                        </p:tav>
                                        <p:tav tm="100000">
                                          <p:val>
                                            <p:strVal val="#ppt_y"/>
                                          </p:val>
                                        </p:tav>
                                      </p:tavLst>
                                    </p:anim>
                                    <p:set>
                                      <p:cBhvr>
                                        <p:cTn id="33" dur="1" fill="hold">
                                          <p:stCondLst>
                                            <p:cond delay="0"/>
                                          </p:stCondLst>
                                        </p:cTn>
                                        <p:tgtEl>
                                          <p:spTgt spid="22"/>
                                        </p:tgtEl>
                                        <p:attrNameLst>
                                          <p:attrName>style.visibility</p:attrName>
                                        </p:attrNameLst>
                                      </p:cBhvr>
                                      <p:to>
                                        <p:strVal val="visible"/>
                                      </p:to>
                                    </p:set>
                                    <p:animEffect transition="in" filter="fade">
                                      <p:cBhvr>
                                        <p:cTn id="34" dur="420"/>
                                        <p:tgtEl>
                                          <p:spTgt spid="22"/>
                                        </p:tgtEl>
                                      </p:cBhvr>
                                    </p:animEffect>
                                    <p:anim calcmode="lin" valueType="num">
                                      <p:cBhvr additive="base">
                                        <p:cTn id="35" dur="420" fill="hold"/>
                                        <p:tgtEl>
                                          <p:spTgt spid="22"/>
                                        </p:tgtEl>
                                        <p:attrNameLst>
                                          <p:attrName>ppt_y</p:attrName>
                                        </p:attrNameLst>
                                      </p:cBhvr>
                                      <p:tavLst>
                                        <p:tav tm="0">
                                          <p:val>
                                            <p:strVal val="#ppt_y+0.035"/>
                                          </p:val>
                                        </p:tav>
                                        <p:tav tm="100000">
                                          <p:val>
                                            <p:strVal val="#ppt_y"/>
                                          </p:val>
                                        </p:tav>
                                      </p:tavLst>
                                    </p:anim>
                                    <p:set>
                                      <p:cBhvr>
                                        <p:cTn id="36" dur="1" fill="hold">
                                          <p:stCondLst>
                                            <p:cond delay="0"/>
                                          </p:stCondLst>
                                        </p:cTn>
                                        <p:tgtEl>
                                          <p:spTgt spid="13"/>
                                        </p:tgtEl>
                                        <p:attrNameLst>
                                          <p:attrName>style.visibility</p:attrName>
                                        </p:attrNameLst>
                                      </p:cBhvr>
                                      <p:to>
                                        <p:strVal val="visible"/>
                                      </p:to>
                                    </p:set>
                                    <p:animEffect transition="in" filter="fade">
                                      <p:cBhvr>
                                        <p:cTn id="37" dur="420"/>
                                        <p:tgtEl>
                                          <p:spTgt spid="13"/>
                                        </p:tgtEl>
                                      </p:cBhvr>
                                    </p:animEffect>
                                    <p:anim calcmode="lin" valueType="num">
                                      <p:cBhvr additive="base">
                                        <p:cTn id="38" dur="420" fill="hold"/>
                                        <p:tgtEl>
                                          <p:spTgt spid="13"/>
                                        </p:tgtEl>
                                        <p:attrNameLst>
                                          <p:attrName>ppt_y</p:attrName>
                                        </p:attrNameLst>
                                      </p:cBhvr>
                                      <p:tavLst>
                                        <p:tav tm="0">
                                          <p:val>
                                            <p:strVal val="#ppt_y+0.035"/>
                                          </p:val>
                                        </p:tav>
                                        <p:tav tm="100000">
                                          <p:val>
                                            <p:strVal val="#ppt_y"/>
                                          </p:val>
                                        </p:tav>
                                      </p:tavLst>
                                    </p:anim>
                                    <p:set>
                                      <p:cBhvr>
                                        <p:cTn id="39"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anim calcmode="lin" valueType="num">
                                      <p:cBhvr additive="base">
                                        <p:cTn id="41" dur="420" fill="hold"/>
                                        <p:tgtEl>
                                          <p:spTgt spid="21"/>
                                        </p:tgtEl>
                                        <p:attrNameLst>
                                          <p:attrName>ppt_y</p:attrName>
                                        </p:attrNameLst>
                                      </p:cBhvr>
                                      <p:tavLst>
                                        <p:tav tm="0">
                                          <p:val>
                                            <p:strVal val="#ppt_y+0.035"/>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20"/>
                                        <p:tgtEl>
                                          <p:spTgt spid="16"/>
                                        </p:tgtEl>
                                      </p:cBhvr>
                                    </p:animEffect>
                                    <p:anim calcmode="lin" valueType="num">
                                      <p:cBhvr additive="base">
                                        <p:cTn id="47" dur="420" fill="hold"/>
                                        <p:tgtEl>
                                          <p:spTgt spid="16"/>
                                        </p:tgtEl>
                                        <p:attrNameLst>
                                          <p:attrName>ppt_y</p:attrName>
                                        </p:attrNameLst>
                                      </p:cBhvr>
                                      <p:tavLst>
                                        <p:tav tm="0">
                                          <p:val>
                                            <p:strVal val="#ppt_y+0.035"/>
                                          </p:val>
                                        </p:tav>
                                        <p:tav tm="100000">
                                          <p:val>
                                            <p:strVal val="#ppt_y"/>
                                          </p:val>
                                        </p:tav>
                                      </p:tavLst>
                                    </p:anim>
                                    <p:set>
                                      <p:cBhvr>
                                        <p:cTn id="48" dur="1" fill="hold">
                                          <p:stCondLst>
                                            <p:cond delay="0"/>
                                          </p:stCondLst>
                                        </p:cTn>
                                        <p:tgtEl>
                                          <p:spTgt spid="24"/>
                                        </p:tgtEl>
                                        <p:attrNameLst>
                                          <p:attrName>style.visibility</p:attrName>
                                        </p:attrNameLst>
                                      </p:cBhvr>
                                      <p:to>
                                        <p:strVal val="visible"/>
                                      </p:to>
                                    </p:set>
                                    <p:animEffect transition="in" filter="fade">
                                      <p:cBhvr>
                                        <p:cTn id="49" dur="420"/>
                                        <p:tgtEl>
                                          <p:spTgt spid="24"/>
                                        </p:tgtEl>
                                      </p:cBhvr>
                                    </p:animEffect>
                                    <p:anim calcmode="lin" valueType="num">
                                      <p:cBhvr additive="base">
                                        <p:cTn id="50" dur="420" fill="hold"/>
                                        <p:tgtEl>
                                          <p:spTgt spid="24"/>
                                        </p:tgtEl>
                                        <p:attrNameLst>
                                          <p:attrName>ppt_y</p:attrName>
                                        </p:attrNameLst>
                                      </p:cBhvr>
                                      <p:tavLst>
                                        <p:tav tm="0">
                                          <p:val>
                                            <p:strVal val="#ppt_y+0.035"/>
                                          </p:val>
                                        </p:tav>
                                        <p:tav tm="100000">
                                          <p:val>
                                            <p:strVal val="#ppt_y"/>
                                          </p:val>
                                        </p:tav>
                                      </p:tavLst>
                                    </p:anim>
                                    <p:set>
                                      <p:cBhvr>
                                        <p:cTn id="51" dur="1" fill="hold">
                                          <p:stCondLst>
                                            <p:cond delay="0"/>
                                          </p:stCondLst>
                                        </p:cTn>
                                        <p:tgtEl>
                                          <p:spTgt spid="15"/>
                                        </p:tgtEl>
                                        <p:attrNameLst>
                                          <p:attrName>style.visibility</p:attrName>
                                        </p:attrNameLst>
                                      </p:cBhvr>
                                      <p:to>
                                        <p:strVal val="visible"/>
                                      </p:to>
                                    </p:set>
                                    <p:animEffect transition="in" filter="fade">
                                      <p:cBhvr>
                                        <p:cTn id="52" dur="420"/>
                                        <p:tgtEl>
                                          <p:spTgt spid="15"/>
                                        </p:tgtEl>
                                      </p:cBhvr>
                                    </p:animEffect>
                                    <p:anim calcmode="lin" valueType="num">
                                      <p:cBhvr additive="base">
                                        <p:cTn id="53" dur="420" fill="hold"/>
                                        <p:tgtEl>
                                          <p:spTgt spid="15"/>
                                        </p:tgtEl>
                                        <p:attrNameLst>
                                          <p:attrName>ppt_y</p:attrName>
                                        </p:attrNameLst>
                                      </p:cBhvr>
                                      <p:tavLst>
                                        <p:tav tm="0">
                                          <p:val>
                                            <p:strVal val="#ppt_y+0.035"/>
                                          </p:val>
                                        </p:tav>
                                        <p:tav tm="100000">
                                          <p:val>
                                            <p:strVal val="#ppt_y"/>
                                          </p:val>
                                        </p:tav>
                                      </p:tavLst>
                                    </p:anim>
                                    <p:set>
                                      <p:cBhvr>
                                        <p:cTn id="54"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6" dur="420" fill="hold"/>
                                        <p:tgtEl>
                                          <p:spTgt spid="23"/>
                                        </p:tgtEl>
                                        <p:attrNameLst>
                                          <p:attrName>ppt_y</p:attrName>
                                        </p:attrNameLst>
                                      </p:cBhvr>
                                      <p:tavLst>
                                        <p:tav tm="0">
                                          <p:val>
                                            <p:strVal val="#ppt_y+0.035"/>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420"/>
                                        <p:tgtEl>
                                          <p:spTgt spid="18"/>
                                        </p:tgtEl>
                                      </p:cBhvr>
                                    </p:animEffect>
                                    <p:anim calcmode="lin" valueType="num">
                                      <p:cBhvr additive="base">
                                        <p:cTn id="62" dur="420" fill="hold"/>
                                        <p:tgtEl>
                                          <p:spTgt spid="18"/>
                                        </p:tgtEl>
                                        <p:attrNameLst>
                                          <p:attrName>ppt_y</p:attrName>
                                        </p:attrNameLst>
                                      </p:cBhvr>
                                      <p:tavLst>
                                        <p:tav tm="0">
                                          <p:val>
                                            <p:strVal val="#ppt_y+0.035"/>
                                          </p:val>
                                        </p:tav>
                                        <p:tav tm="100000">
                                          <p:val>
                                            <p:strVal val="#ppt_y"/>
                                          </p:val>
                                        </p:tav>
                                      </p:tavLst>
                                    </p:anim>
                                    <p:set>
                                      <p:cBhvr>
                                        <p:cTn id="63" dur="1" fill="hold">
                                          <p:stCondLst>
                                            <p:cond delay="0"/>
                                          </p:stCondLst>
                                        </p:cTn>
                                        <p:tgtEl>
                                          <p:spTgt spid="26"/>
                                        </p:tgtEl>
                                        <p:attrNameLst>
                                          <p:attrName>style.visibility</p:attrName>
                                        </p:attrNameLst>
                                      </p:cBhvr>
                                      <p:to>
                                        <p:strVal val="visible"/>
                                      </p:to>
                                    </p:set>
                                    <p:animEffect transition="in" filter="fade">
                                      <p:cBhvr>
                                        <p:cTn id="64" dur="420"/>
                                        <p:tgtEl>
                                          <p:spTgt spid="26"/>
                                        </p:tgtEl>
                                      </p:cBhvr>
                                    </p:animEffect>
                                    <p:anim calcmode="lin" valueType="num">
                                      <p:cBhvr additive="base">
                                        <p:cTn id="65" dur="420" fill="hold"/>
                                        <p:tgtEl>
                                          <p:spTgt spid="26"/>
                                        </p:tgtEl>
                                        <p:attrNameLst>
                                          <p:attrName>ppt_y</p:attrName>
                                        </p:attrNameLst>
                                      </p:cBhvr>
                                      <p:tavLst>
                                        <p:tav tm="0">
                                          <p:val>
                                            <p:strVal val="#ppt_y+0.035"/>
                                          </p:val>
                                        </p:tav>
                                        <p:tav tm="100000">
                                          <p:val>
                                            <p:strVal val="#ppt_y"/>
                                          </p:val>
                                        </p:tav>
                                      </p:tavLst>
                                    </p:anim>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35"/>
                                          </p:val>
                                        </p:tav>
                                        <p:tav tm="100000">
                                          <p:val>
                                            <p:strVal val="#ppt_y"/>
                                          </p:val>
                                        </p:tav>
                                      </p:tavLst>
                                    </p:anim>
                                    <p:set>
                                      <p:cBhvr>
                                        <p:cTn id="69" dur="1" fill="hold">
                                          <p:stCondLst>
                                            <p:cond delay="0"/>
                                          </p:stCondLst>
                                        </p:cTn>
                                        <p:tgtEl>
                                          <p:spTgt spid="25"/>
                                        </p:tgtEl>
                                        <p:attrNameLst>
                                          <p:attrName>style.visibility</p:attrName>
                                        </p:attrNameLst>
                                      </p:cBhvr>
                                      <p:to>
                                        <p:strVal val="visible"/>
                                      </p:to>
                                    </p:set>
                                    <p:animEffect transition="in" filter="fade">
                                      <p:cBhvr>
                                        <p:cTn id="70" dur="420"/>
                                        <p:tgtEl>
                                          <p:spTgt spid="25"/>
                                        </p:tgtEl>
                                      </p:cBhvr>
                                    </p:animEffect>
                                    <p:anim calcmode="lin" valueType="num">
                                      <p:cBhvr additive="base">
                                        <p:cTn id="71" dur="420" fill="hold"/>
                                        <p:tgtEl>
                                          <p:spTgt spid="25"/>
                                        </p:tgtEl>
                                        <p:attrNameLst>
                                          <p:attrName>ppt_y</p:attrName>
                                        </p:attrNameLst>
                                      </p:cBhvr>
                                      <p:tavLst>
                                        <p:tav tm="0">
                                          <p:val>
                                            <p:strVal val="#ppt_y+0.035"/>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420"/>
                                        <p:tgtEl>
                                          <p:spTgt spid="20"/>
                                        </p:tgtEl>
                                      </p:cBhvr>
                                    </p:animEffect>
                                    <p:anim calcmode="lin" valueType="num">
                                      <p:cBhvr additive="base">
                                        <p:cTn id="77" dur="420" fill="hold"/>
                                        <p:tgtEl>
                                          <p:spTgt spid="20"/>
                                        </p:tgtEl>
                                        <p:attrNameLst>
                                          <p:attrName>ppt_y</p:attrName>
                                        </p:attrNameLst>
                                      </p:cBhvr>
                                      <p:tavLst>
                                        <p:tav tm="0">
                                          <p:val>
                                            <p:strVal val="#ppt_y+0.035"/>
                                          </p:val>
                                        </p:tav>
                                        <p:tav tm="100000">
                                          <p:val>
                                            <p:strVal val="#ppt_y"/>
                                          </p:val>
                                        </p:tav>
                                      </p:tavLst>
                                    </p:anim>
                                    <p:set>
                                      <p:cBhvr>
                                        <p:cTn id="78" dur="1" fill="hold">
                                          <p:stCondLst>
                                            <p:cond delay="0"/>
                                          </p:stCondLst>
                                        </p:cTn>
                                        <p:tgtEl>
                                          <p:spTgt spid="28"/>
                                        </p:tgtEl>
                                        <p:attrNameLst>
                                          <p:attrName>style.visibility</p:attrName>
                                        </p:attrNameLst>
                                      </p:cBhvr>
                                      <p:to>
                                        <p:strVal val="visible"/>
                                      </p:to>
                                    </p:set>
                                    <p:animEffect transition="in" filter="fade">
                                      <p:cBhvr>
                                        <p:cTn id="79" dur="420"/>
                                        <p:tgtEl>
                                          <p:spTgt spid="28"/>
                                        </p:tgtEl>
                                      </p:cBhvr>
                                    </p:animEffect>
                                    <p:anim calcmode="lin" valueType="num">
                                      <p:cBhvr additive="base">
                                        <p:cTn id="80" dur="420" fill="hold"/>
                                        <p:tgtEl>
                                          <p:spTgt spid="28"/>
                                        </p:tgtEl>
                                        <p:attrNameLst>
                                          <p:attrName>ppt_y</p:attrName>
                                        </p:attrNameLst>
                                      </p:cBhvr>
                                      <p:tavLst>
                                        <p:tav tm="0">
                                          <p:val>
                                            <p:strVal val="#ppt_y+0.035"/>
                                          </p:val>
                                        </p:tav>
                                        <p:tav tm="100000">
                                          <p:val>
                                            <p:strVal val="#ppt_y"/>
                                          </p:val>
                                        </p:tav>
                                      </p:tavLst>
                                    </p:anim>
                                    <p:set>
                                      <p:cBhvr>
                                        <p:cTn id="81" dur="1" fill="hold">
                                          <p:stCondLst>
                                            <p:cond delay="0"/>
                                          </p:stCondLst>
                                        </p:cTn>
                                        <p:tgtEl>
                                          <p:spTgt spid="19"/>
                                        </p:tgtEl>
                                        <p:attrNameLst>
                                          <p:attrName>style.visibility</p:attrName>
                                        </p:attrNameLst>
                                      </p:cBhvr>
                                      <p:to>
                                        <p:strVal val="visible"/>
                                      </p:to>
                                    </p:set>
                                    <p:animEffect transition="in" filter="fade">
                                      <p:cBhvr>
                                        <p:cTn id="82" dur="420"/>
                                        <p:tgtEl>
                                          <p:spTgt spid="19"/>
                                        </p:tgtEl>
                                      </p:cBhvr>
                                    </p:animEffect>
                                    <p:anim calcmode="lin" valueType="num">
                                      <p:cBhvr additive="base">
                                        <p:cTn id="83" dur="420" fill="hold"/>
                                        <p:tgtEl>
                                          <p:spTgt spid="19"/>
                                        </p:tgtEl>
                                        <p:attrNameLst>
                                          <p:attrName>ppt_y</p:attrName>
                                        </p:attrNameLst>
                                      </p:cBhvr>
                                      <p:tavLst>
                                        <p:tav tm="0">
                                          <p:val>
                                            <p:strVal val="#ppt_y+0.035"/>
                                          </p:val>
                                        </p:tav>
                                        <p:tav tm="100000">
                                          <p:val>
                                            <p:strVal val="#ppt_y"/>
                                          </p:val>
                                        </p:tav>
                                      </p:tavLst>
                                    </p:anim>
                                    <p:set>
                                      <p:cBhvr>
                                        <p:cTn id="84" dur="1" fill="hold">
                                          <p:stCondLst>
                                            <p:cond delay="0"/>
                                          </p:stCondLst>
                                        </p:cTn>
                                        <p:tgtEl>
                                          <p:spTgt spid="27"/>
                                        </p:tgtEl>
                                        <p:attrNameLst>
                                          <p:attrName>style.visibility</p:attrName>
                                        </p:attrNameLst>
                                      </p:cBhvr>
                                      <p:to>
                                        <p:strVal val="visible"/>
                                      </p:to>
                                    </p:set>
                                    <p:animEffect transition="in" filter="fade">
                                      <p:cBhvr>
                                        <p:cTn id="85" dur="420"/>
                                        <p:tgtEl>
                                          <p:spTgt spid="27"/>
                                        </p:tgtEl>
                                      </p:cBhvr>
                                    </p:animEffect>
                                    <p:anim calcmode="lin" valueType="num">
                                      <p:cBhvr additive="base">
                                        <p:cTn id="86" dur="420" fill="hold"/>
                                        <p:tgtEl>
                                          <p:spTgt spid="27"/>
                                        </p:tgtEl>
                                        <p:attrNameLst>
                                          <p:attrName>ppt_y</p:attrName>
                                        </p:attrNameLst>
                                      </p:cBhvr>
                                      <p:tavLst>
                                        <p:tav tm="0">
                                          <p:val>
                                            <p:strVal val="#ppt_y+0.035"/>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25"/>
                                        </p:tgtEl>
                                        <p:attrNameLst>
                                          <p:attrName>style.visibility</p:attrName>
                                        </p:attrNameLst>
                                      </p:cBhvr>
                                      <p:to>
                                        <p:strVal val="visible"/>
                                      </p:to>
                                    </p:set>
                                    <p:animEffect transition="in" filter="fade">
                                      <p:cBhvr>
                                        <p:cTn id="91" dur="420"/>
                                        <p:tgtEl>
                                          <p:spTgt spid="25"/>
                                        </p:tgtEl>
                                      </p:cBhvr>
                                    </p:animEffect>
                                    <p:anim calcmode="lin" valueType="num">
                                      <p:cBhvr additive="base">
                                        <p:cTn id="92" dur="420" fill="hold"/>
                                        <p:tgtEl>
                                          <p:spTgt spid="25"/>
                                        </p:tgtEl>
                                        <p:attrNameLst>
                                          <p:attrName>ppt_y</p:attrName>
                                        </p:attrNameLst>
                                      </p:cBhvr>
                                      <p:tavLst>
                                        <p:tav tm="0">
                                          <p:val>
                                            <p:strVal val="#ppt_y+0.035"/>
                                          </p:val>
                                        </p:tav>
                                        <p:tav tm="100000">
                                          <p:val>
                                            <p:strVal val="#ppt_y"/>
                                          </p:val>
                                        </p:tav>
                                      </p:tavLst>
                                    </p:anim>
                                    <p:set>
                                      <p:cBhvr>
                                        <p:cTn id="93" dur="1" fill="hold">
                                          <p:stCondLst>
                                            <p:cond delay="0"/>
                                          </p:stCondLst>
                                        </p:cTn>
                                        <p:tgtEl>
                                          <p:spTgt spid="29"/>
                                        </p:tgtEl>
                                        <p:attrNameLst>
                                          <p:attrName>style.visibility</p:attrName>
                                        </p:attrNameLst>
                                      </p:cBhvr>
                                      <p:to>
                                        <p:strVal val="visible"/>
                                      </p:to>
                                    </p:set>
                                    <p:animEffect transition="in" filter="fade">
                                      <p:cBhvr>
                                        <p:cTn id="94" dur="420"/>
                                        <p:tgtEl>
                                          <p:spTgt spid="29"/>
                                        </p:tgtEl>
                                      </p:cBhvr>
                                    </p:animEffect>
                                    <p:anim calcmode="lin" valueType="num">
                                      <p:cBhvr additive="base">
                                        <p:cTn id="95" dur="420" fill="hold"/>
                                        <p:tgtEl>
                                          <p:spTgt spid="29"/>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p:bldP spid="9" grpId="0"/>
      <p:bldP spid="10" grpId="0"/>
      <p:bldP spid="11" grpId="0"/>
      <p:bldP spid="12" grpId="0"/>
      <p:bldP spid="13" grpId="0"/>
      <p:bldP spid="14" grpId="0"/>
      <p:bldP spid="15" grpId="0"/>
      <p:bldP spid="16" grpId="0" animBg="1"/>
      <p:bldP spid="17" grpId="0"/>
      <p:bldP spid="18" grpId="0" animBg="1"/>
      <p:bldP spid="19" grpId="0"/>
      <p:bldP spid="20" grpId="0" animBg="1"/>
      <p:bldP spid="21" grpId="0"/>
      <p:bldP spid="22" grpId="0"/>
      <p:bldP spid="23" grpId="0"/>
      <p:bldP spid="24" grpId="0"/>
      <p:bldP spid="25" grpId="0" animBg="1"/>
      <p:bldP spid="26" grpId="0"/>
      <p:bldP spid="27" grpId="0"/>
      <p:bldP spid="28" grpId="0"/>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02</a:t>
            </a:r>
            <a:r>
              <a:rPr lang="en-US" sz="1150" b="1" kern="0" spc="160" dirty="0">
                <a:solidFill>
                  <a:srgbClr val="6E7781"/>
                </a:solidFill>
                <a:latin typeface="Calibri" pitchFamily="34" charset="0"/>
                <a:ea typeface="Calibri" pitchFamily="34" charset="-122"/>
                <a:cs typeface="Calibri" pitchFamily="34" charset="-120"/>
              </a:rPr>
              <a:t>   THE ONE STRUCTURAL DIFFERENCE</a:t>
            </a:r>
            <a:endParaRPr lang="en-US" sz="1150" dirty="0"/>
          </a:p>
        </p:txBody>
      </p:sp>
      <p:sp>
        <p:nvSpPr>
          <p:cNvPr id="3" name="Text 1"/>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Who decides the work is finished?</a:t>
            </a:r>
            <a:endParaRPr lang="en-US" sz="3200" dirty="0"/>
          </a:p>
        </p:txBody>
      </p:sp>
      <p:sp>
        <p:nvSpPr>
          <p:cNvPr id="4" name="Text 2"/>
          <p:cNvSpPr/>
          <p:nvPr/>
        </p:nvSpPr>
        <p:spPr>
          <a:xfrm>
            <a:off x="566928" y="1389888"/>
            <a:ext cx="11055096" cy="566928"/>
          </a:xfrm>
          <a:prstGeom prst="rect">
            <a:avLst/>
          </a:prstGeom>
          <a:noFill/>
          <a:ln/>
        </p:spPr>
        <p:txBody>
          <a:bodyPr wrap="square" lIns="0" tIns="0" rIns="0" bIns="0" rtlCol="0" anchor="t"/>
          <a:lstStyle/>
          <a:p>
            <a:pPr marL="0" indent="0">
              <a:lnSpc>
                <a:spcPts val="1850"/>
              </a:lnSpc>
              <a:buNone/>
            </a:pPr>
            <a:r>
              <a:rPr lang="en-US" sz="1350" dirty="0">
                <a:solidFill>
                  <a:srgbClr val="2B3138"/>
                </a:solidFill>
                <a:latin typeface="Calibri" pitchFamily="34" charset="0"/>
                <a:ea typeface="Calibri" pitchFamily="34" charset="-122"/>
                <a:cs typeface="Calibri" pitchFamily="34" charset="-120"/>
              </a:rPr>
              <a:t>Anthropic defines a loop as "agents repeating cycles of work until a stop condition is met." Every iteration is the same four beats — the two tools differ at step four, and only at step four.</a:t>
            </a:r>
            <a:endParaRPr lang="en-US" sz="1350" dirty="0"/>
          </a:p>
        </p:txBody>
      </p:sp>
      <p:sp>
        <p:nvSpPr>
          <p:cNvPr id="5" name="Shape 3"/>
          <p:cNvSpPr/>
          <p:nvPr/>
        </p:nvSpPr>
        <p:spPr>
          <a:xfrm>
            <a:off x="566928" y="2212848"/>
            <a:ext cx="5120640" cy="841248"/>
          </a:xfrm>
          <a:prstGeom prst="roundRect">
            <a:avLst>
              <a:gd name="adj" fmla="val 5435"/>
            </a:avLst>
          </a:prstGeom>
          <a:solidFill>
            <a:srgbClr val="F6F8FA"/>
          </a:solidFill>
          <a:ln w="12700">
            <a:solidFill>
              <a:srgbClr val="D8DEE4"/>
            </a:solidFill>
            <a:prstDash val="solid"/>
          </a:ln>
          <a:effectLst>
            <a:outerShdw blurRad="177800" dist="38100" dir="5400000" algn="bl" rotWithShape="0">
              <a:srgbClr val="8C959F">
                <a:alpha val="16000"/>
              </a:srgbClr>
            </a:outerShdw>
          </a:effectLst>
        </p:spPr>
      </p:sp>
      <p:sp>
        <p:nvSpPr>
          <p:cNvPr id="6" name="Shape 4"/>
          <p:cNvSpPr/>
          <p:nvPr/>
        </p:nvSpPr>
        <p:spPr>
          <a:xfrm>
            <a:off x="786384" y="2459736"/>
            <a:ext cx="347472" cy="347472"/>
          </a:xfrm>
          <a:prstGeom prst="ellipse">
            <a:avLst/>
          </a:prstGeom>
          <a:solidFill>
            <a:srgbClr val="6E7781"/>
          </a:solidFill>
          <a:ln/>
        </p:spPr>
      </p:sp>
      <p:sp>
        <p:nvSpPr>
          <p:cNvPr id="7" name="Text 5"/>
          <p:cNvSpPr/>
          <p:nvPr/>
        </p:nvSpPr>
        <p:spPr>
          <a:xfrm>
            <a:off x="786384" y="245973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280160" y="2212848"/>
            <a:ext cx="4187952" cy="841248"/>
          </a:xfrm>
          <a:prstGeom prst="rect">
            <a:avLst/>
          </a:prstGeom>
          <a:noFill/>
          <a:ln/>
        </p:spPr>
        <p:txBody>
          <a:bodyPr wrap="square" lIns="0" tIns="0" rIns="0" bIns="0" rtlCol="0" anchor="ctr"/>
          <a:lstStyle/>
          <a:p>
            <a:pPr marL="0" indent="0">
              <a:lnSpc>
                <a:spcPts val="1500"/>
              </a:lnSpc>
              <a:buNone/>
            </a:pPr>
            <a:r>
              <a:rPr lang="en-US" sz="1300" b="1" dirty="0">
                <a:solidFill>
                  <a:srgbClr val="15181D"/>
                </a:solidFill>
                <a:latin typeface="Calibri" pitchFamily="34" charset="0"/>
                <a:ea typeface="Calibri" pitchFamily="34" charset="-122"/>
                <a:cs typeface="Calibri" pitchFamily="34" charset="-120"/>
              </a:rPr>
              <a:t>Gather context</a:t>
            </a:r>
            <a:endParaRPr lang="en-US" sz="1300" dirty="0"/>
          </a:p>
          <a:p>
            <a:pPr marL="0" indent="0">
              <a:lnSpc>
                <a:spcPts val="1500"/>
              </a:lnSpc>
              <a:buNone/>
            </a:pPr>
            <a:r>
              <a:rPr lang="en-US" sz="1050" dirty="0">
                <a:solidFill>
                  <a:srgbClr val="2B3138"/>
                </a:solidFill>
                <a:latin typeface="Calibri" pitchFamily="34" charset="0"/>
                <a:ea typeface="Calibri" pitchFamily="34" charset="-122"/>
                <a:cs typeface="Calibri" pitchFamily="34" charset="-120"/>
              </a:rPr>
              <a:t>read the files it needs</a:t>
            </a:r>
            <a:endParaRPr lang="en-US" sz="1300" dirty="0"/>
          </a:p>
        </p:txBody>
      </p:sp>
      <p:sp>
        <p:nvSpPr>
          <p:cNvPr id="9" name="Shape 7"/>
          <p:cNvSpPr/>
          <p:nvPr/>
        </p:nvSpPr>
        <p:spPr>
          <a:xfrm>
            <a:off x="886968" y="3090672"/>
            <a:ext cx="146304" cy="182880"/>
          </a:xfrm>
          <a:prstGeom prst="downArrow">
            <a:avLst/>
          </a:prstGeom>
          <a:solidFill>
            <a:srgbClr val="AEB7C0"/>
          </a:solidFill>
          <a:ln/>
        </p:spPr>
      </p:sp>
      <p:sp>
        <p:nvSpPr>
          <p:cNvPr id="10" name="Shape 8"/>
          <p:cNvSpPr/>
          <p:nvPr/>
        </p:nvSpPr>
        <p:spPr>
          <a:xfrm>
            <a:off x="566928" y="3273552"/>
            <a:ext cx="5120640" cy="841248"/>
          </a:xfrm>
          <a:prstGeom prst="roundRect">
            <a:avLst>
              <a:gd name="adj" fmla="val 5435"/>
            </a:avLst>
          </a:prstGeom>
          <a:solidFill>
            <a:srgbClr val="F6F8FA"/>
          </a:solidFill>
          <a:ln w="12700">
            <a:solidFill>
              <a:srgbClr val="D8DEE4"/>
            </a:solidFill>
            <a:prstDash val="solid"/>
          </a:ln>
          <a:effectLst>
            <a:outerShdw blurRad="177800" dist="38100" dir="5400000" algn="bl" rotWithShape="0">
              <a:srgbClr val="8C959F">
                <a:alpha val="16000"/>
              </a:srgbClr>
            </a:outerShdw>
          </a:effectLst>
        </p:spPr>
      </p:sp>
      <p:sp>
        <p:nvSpPr>
          <p:cNvPr id="11" name="Shape 9"/>
          <p:cNvSpPr/>
          <p:nvPr/>
        </p:nvSpPr>
        <p:spPr>
          <a:xfrm>
            <a:off x="786384" y="3520440"/>
            <a:ext cx="347472" cy="347472"/>
          </a:xfrm>
          <a:prstGeom prst="ellipse">
            <a:avLst/>
          </a:prstGeom>
          <a:solidFill>
            <a:srgbClr val="6E7781"/>
          </a:solidFill>
          <a:ln/>
        </p:spPr>
      </p:sp>
      <p:sp>
        <p:nvSpPr>
          <p:cNvPr id="12" name="Text 10"/>
          <p:cNvSpPr/>
          <p:nvPr/>
        </p:nvSpPr>
        <p:spPr>
          <a:xfrm>
            <a:off x="786384" y="352044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1280160" y="3273552"/>
            <a:ext cx="4187952" cy="841248"/>
          </a:xfrm>
          <a:prstGeom prst="rect">
            <a:avLst/>
          </a:prstGeom>
          <a:noFill/>
          <a:ln/>
        </p:spPr>
        <p:txBody>
          <a:bodyPr wrap="square" lIns="0" tIns="0" rIns="0" bIns="0" rtlCol="0" anchor="ctr"/>
          <a:lstStyle/>
          <a:p>
            <a:pPr marL="0" indent="0">
              <a:lnSpc>
                <a:spcPts val="1500"/>
              </a:lnSpc>
              <a:buNone/>
            </a:pPr>
            <a:r>
              <a:rPr lang="en-US" sz="1300" b="1" dirty="0">
                <a:solidFill>
                  <a:srgbClr val="15181D"/>
                </a:solidFill>
                <a:latin typeface="Calibri" pitchFamily="34" charset="0"/>
                <a:ea typeface="Calibri" pitchFamily="34" charset="-122"/>
                <a:cs typeface="Calibri" pitchFamily="34" charset="-120"/>
              </a:rPr>
              <a:t>Take action</a:t>
            </a:r>
            <a:endParaRPr lang="en-US" sz="1300" dirty="0"/>
          </a:p>
          <a:p>
            <a:pPr marL="0" indent="0">
              <a:lnSpc>
                <a:spcPts val="1500"/>
              </a:lnSpc>
              <a:buNone/>
            </a:pPr>
            <a:r>
              <a:rPr lang="en-US" sz="1050" dirty="0">
                <a:solidFill>
                  <a:srgbClr val="2B3138"/>
                </a:solidFill>
                <a:latin typeface="Calibri" pitchFamily="34" charset="0"/>
                <a:ea typeface="Calibri" pitchFamily="34" charset="-122"/>
                <a:cs typeface="Calibri" pitchFamily="34" charset="-120"/>
              </a:rPr>
              <a:t>edit code, run the tests</a:t>
            </a:r>
            <a:endParaRPr lang="en-US" sz="1300" dirty="0"/>
          </a:p>
        </p:txBody>
      </p:sp>
      <p:sp>
        <p:nvSpPr>
          <p:cNvPr id="14" name="Shape 12"/>
          <p:cNvSpPr/>
          <p:nvPr/>
        </p:nvSpPr>
        <p:spPr>
          <a:xfrm>
            <a:off x="886968" y="4151376"/>
            <a:ext cx="146304" cy="182880"/>
          </a:xfrm>
          <a:prstGeom prst="downArrow">
            <a:avLst/>
          </a:prstGeom>
          <a:solidFill>
            <a:srgbClr val="AEB7C0"/>
          </a:solidFill>
          <a:ln/>
        </p:spPr>
      </p:sp>
      <p:sp>
        <p:nvSpPr>
          <p:cNvPr id="15" name="Shape 13"/>
          <p:cNvSpPr/>
          <p:nvPr/>
        </p:nvSpPr>
        <p:spPr>
          <a:xfrm>
            <a:off x="566928" y="4334256"/>
            <a:ext cx="5120640" cy="841248"/>
          </a:xfrm>
          <a:prstGeom prst="roundRect">
            <a:avLst>
              <a:gd name="adj" fmla="val 5435"/>
            </a:avLst>
          </a:prstGeom>
          <a:solidFill>
            <a:srgbClr val="F6F8FA"/>
          </a:solidFill>
          <a:ln w="12700">
            <a:solidFill>
              <a:srgbClr val="D8DEE4"/>
            </a:solidFill>
            <a:prstDash val="solid"/>
          </a:ln>
          <a:effectLst>
            <a:outerShdw blurRad="177800" dist="38100" dir="5400000" algn="bl" rotWithShape="0">
              <a:srgbClr val="8C959F">
                <a:alpha val="16000"/>
              </a:srgbClr>
            </a:outerShdw>
          </a:effectLst>
        </p:spPr>
      </p:sp>
      <p:sp>
        <p:nvSpPr>
          <p:cNvPr id="16" name="Shape 14"/>
          <p:cNvSpPr/>
          <p:nvPr/>
        </p:nvSpPr>
        <p:spPr>
          <a:xfrm>
            <a:off x="786384" y="4581144"/>
            <a:ext cx="347472" cy="347472"/>
          </a:xfrm>
          <a:prstGeom prst="ellipse">
            <a:avLst/>
          </a:prstGeom>
          <a:solidFill>
            <a:srgbClr val="6E7781"/>
          </a:solidFill>
          <a:ln/>
        </p:spPr>
      </p:sp>
      <p:sp>
        <p:nvSpPr>
          <p:cNvPr id="17" name="Text 15"/>
          <p:cNvSpPr/>
          <p:nvPr/>
        </p:nvSpPr>
        <p:spPr>
          <a:xfrm>
            <a:off x="786384" y="458114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1280160" y="4334256"/>
            <a:ext cx="4187952" cy="841248"/>
          </a:xfrm>
          <a:prstGeom prst="rect">
            <a:avLst/>
          </a:prstGeom>
          <a:noFill/>
          <a:ln/>
        </p:spPr>
        <p:txBody>
          <a:bodyPr wrap="square" lIns="0" tIns="0" rIns="0" bIns="0" rtlCol="0" anchor="ctr"/>
          <a:lstStyle/>
          <a:p>
            <a:pPr marL="0" indent="0">
              <a:lnSpc>
                <a:spcPts val="1500"/>
              </a:lnSpc>
              <a:buNone/>
            </a:pPr>
            <a:r>
              <a:rPr lang="en-US" sz="1300" b="1" dirty="0">
                <a:solidFill>
                  <a:srgbClr val="15181D"/>
                </a:solidFill>
                <a:latin typeface="Calibri" pitchFamily="34" charset="0"/>
                <a:ea typeface="Calibri" pitchFamily="34" charset="-122"/>
                <a:cs typeface="Calibri" pitchFamily="34" charset="-120"/>
              </a:rPr>
              <a:t>Check its work</a:t>
            </a:r>
            <a:endParaRPr lang="en-US" sz="1300" dirty="0"/>
          </a:p>
          <a:p>
            <a:pPr marL="0" indent="0">
              <a:lnSpc>
                <a:spcPts val="1500"/>
              </a:lnSpc>
              <a:buNone/>
            </a:pPr>
            <a:r>
              <a:rPr lang="en-US" sz="1050" dirty="0">
                <a:solidFill>
                  <a:srgbClr val="2B3138"/>
                </a:solidFill>
                <a:latin typeface="Calibri" pitchFamily="34" charset="0"/>
                <a:ea typeface="Calibri" pitchFamily="34" charset="-122"/>
                <a:cs typeface="Calibri" pitchFamily="34" charset="-120"/>
              </a:rPr>
              <a:t>read what came back</a:t>
            </a:r>
            <a:endParaRPr lang="en-US" sz="1300" dirty="0"/>
          </a:p>
        </p:txBody>
      </p:sp>
      <p:sp>
        <p:nvSpPr>
          <p:cNvPr id="19" name="Shape 17"/>
          <p:cNvSpPr/>
          <p:nvPr/>
        </p:nvSpPr>
        <p:spPr>
          <a:xfrm>
            <a:off x="886968" y="5212080"/>
            <a:ext cx="146304" cy="182880"/>
          </a:xfrm>
          <a:prstGeom prst="downArrow">
            <a:avLst/>
          </a:prstGeom>
          <a:solidFill>
            <a:srgbClr val="AEB7C0"/>
          </a:solidFill>
          <a:ln/>
        </p:spPr>
      </p:sp>
      <p:sp>
        <p:nvSpPr>
          <p:cNvPr id="20" name="Shape 18"/>
          <p:cNvSpPr/>
          <p:nvPr/>
        </p:nvSpPr>
        <p:spPr>
          <a:xfrm>
            <a:off x="566928" y="5394960"/>
            <a:ext cx="5120640" cy="841248"/>
          </a:xfrm>
          <a:prstGeom prst="roundRect">
            <a:avLst>
              <a:gd name="adj" fmla="val 5435"/>
            </a:avLst>
          </a:prstGeom>
          <a:solidFill>
            <a:srgbClr val="FDF2EC"/>
          </a:solidFill>
          <a:ln w="22225">
            <a:solidFill>
              <a:srgbClr val="C2410C"/>
            </a:solidFill>
            <a:prstDash val="solid"/>
          </a:ln>
          <a:effectLst>
            <a:outerShdw blurRad="177800" dist="38100" dir="5400000" algn="bl" rotWithShape="0">
              <a:srgbClr val="8C959F">
                <a:alpha val="16000"/>
              </a:srgbClr>
            </a:outerShdw>
          </a:effectLst>
        </p:spPr>
      </p:sp>
      <p:sp>
        <p:nvSpPr>
          <p:cNvPr id="21" name="Shape 19"/>
          <p:cNvSpPr/>
          <p:nvPr/>
        </p:nvSpPr>
        <p:spPr>
          <a:xfrm>
            <a:off x="786384" y="5641848"/>
            <a:ext cx="347472" cy="347472"/>
          </a:xfrm>
          <a:prstGeom prst="ellipse">
            <a:avLst/>
          </a:prstGeom>
          <a:solidFill>
            <a:srgbClr val="C2410C"/>
          </a:solidFill>
          <a:ln/>
        </p:spPr>
      </p:sp>
      <p:sp>
        <p:nvSpPr>
          <p:cNvPr id="22" name="Text 20"/>
          <p:cNvSpPr/>
          <p:nvPr/>
        </p:nvSpPr>
        <p:spPr>
          <a:xfrm>
            <a:off x="786384" y="564184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1280160" y="5394960"/>
            <a:ext cx="4187952" cy="841248"/>
          </a:xfrm>
          <a:prstGeom prst="rect">
            <a:avLst/>
          </a:prstGeom>
          <a:noFill/>
          <a:ln/>
        </p:spPr>
        <p:txBody>
          <a:bodyPr wrap="square" lIns="0" tIns="0" rIns="0" bIns="0" rtlCol="0" anchor="ctr"/>
          <a:lstStyle/>
          <a:p>
            <a:pPr marL="0" indent="0">
              <a:lnSpc>
                <a:spcPts val="1500"/>
              </a:lnSpc>
              <a:buNone/>
            </a:pPr>
            <a:r>
              <a:rPr lang="en-US" sz="1300" b="1" dirty="0">
                <a:solidFill>
                  <a:srgbClr val="C2410C"/>
                </a:solidFill>
                <a:latin typeface="Calibri" pitchFamily="34" charset="0"/>
                <a:ea typeface="Calibri" pitchFamily="34" charset="-122"/>
                <a:cs typeface="Calibri" pitchFamily="34" charset="-120"/>
              </a:rPr>
              <a:t>Repeat or stop  ↺</a:t>
            </a:r>
            <a:endParaRPr lang="en-US" sz="1300" dirty="0"/>
          </a:p>
          <a:p>
            <a:pPr marL="0" indent="0">
              <a:lnSpc>
                <a:spcPts val="1500"/>
              </a:lnSpc>
              <a:buNone/>
            </a:pPr>
            <a:r>
              <a:rPr lang="en-US" sz="1050" dirty="0">
                <a:solidFill>
                  <a:srgbClr val="2B3138"/>
                </a:solidFill>
                <a:latin typeface="Calibri" pitchFamily="34" charset="0"/>
                <a:ea typeface="Calibri" pitchFamily="34" charset="-122"/>
                <a:cs typeface="Calibri" pitchFamily="34" charset="-120"/>
              </a:rPr>
              <a:t>and again, until the condition holds</a:t>
            </a:r>
            <a:endParaRPr lang="en-US" sz="1300" dirty="0"/>
          </a:p>
        </p:txBody>
      </p:sp>
      <p:sp>
        <p:nvSpPr>
          <p:cNvPr id="24" name="Shape 22"/>
          <p:cNvSpPr/>
          <p:nvPr/>
        </p:nvSpPr>
        <p:spPr>
          <a:xfrm>
            <a:off x="5998464" y="2212848"/>
            <a:ext cx="5623560" cy="1865376"/>
          </a:xfrm>
          <a:prstGeom prst="roundRect">
            <a:avLst>
              <a:gd name="adj" fmla="val 2941"/>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25" name="Text 23"/>
          <p:cNvSpPr/>
          <p:nvPr/>
        </p:nvSpPr>
        <p:spPr>
          <a:xfrm>
            <a:off x="6272784" y="2395728"/>
            <a:ext cx="5074920" cy="292608"/>
          </a:xfrm>
          <a:prstGeom prst="rect">
            <a:avLst/>
          </a:prstGeom>
          <a:noFill/>
          <a:ln/>
        </p:spPr>
        <p:txBody>
          <a:bodyPr wrap="square" lIns="0" tIns="0" rIns="0" bIns="0" rtlCol="0" anchor="ctr"/>
          <a:lstStyle/>
          <a:p>
            <a:pPr marL="0" indent="0">
              <a:buNone/>
            </a:pPr>
            <a:r>
              <a:rPr lang="en-US" sz="1550" b="1" dirty="0">
                <a:solidFill>
                  <a:srgbClr val="0969DA"/>
                </a:solidFill>
                <a:latin typeface="Cambria" pitchFamily="34" charset="0"/>
                <a:ea typeface="Cambria" pitchFamily="34" charset="-122"/>
                <a:cs typeface="Cambria" pitchFamily="34" charset="-120"/>
              </a:rPr>
              <a:t>Copilot — the model decides</a:t>
            </a:r>
            <a:endParaRPr lang="en-US" sz="1550" dirty="0"/>
          </a:p>
        </p:txBody>
      </p:sp>
      <p:sp>
        <p:nvSpPr>
          <p:cNvPr id="26" name="Text 24"/>
          <p:cNvSpPr/>
          <p:nvPr/>
        </p:nvSpPr>
        <p:spPr>
          <a:xfrm>
            <a:off x="6272784" y="2816352"/>
            <a:ext cx="5074920" cy="1078992"/>
          </a:xfrm>
          <a:prstGeom prst="rect">
            <a:avLst/>
          </a:prstGeom>
          <a:noFill/>
          <a:ln/>
        </p:spPr>
        <p:txBody>
          <a:bodyPr wrap="square" lIns="0" tIns="0" rIns="0" bIns="0" rtlCol="0" anchor="t"/>
          <a:lstStyle/>
          <a:p>
            <a:pPr marL="177800" indent="-177800">
              <a:lnSpc>
                <a:spcPts val="1518"/>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It notices an error, fixes it, repeats until it judges the work done.</a:t>
            </a:r>
            <a:endParaRPr lang="en-US" sz="1150" dirty="0"/>
          </a:p>
          <a:p>
            <a:pPr marL="177800" indent="-177800">
              <a:lnSpc>
                <a:spcPts val="1518"/>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You can approve or reject the result — but you cannot hand it a condition it is obliged to satisfy first.</a:t>
            </a:r>
            <a:endParaRPr lang="en-US" sz="1150" dirty="0"/>
          </a:p>
        </p:txBody>
      </p:sp>
      <p:sp>
        <p:nvSpPr>
          <p:cNvPr id="27" name="Shape 25"/>
          <p:cNvSpPr/>
          <p:nvPr/>
        </p:nvSpPr>
        <p:spPr>
          <a:xfrm>
            <a:off x="5998464" y="4315968"/>
            <a:ext cx="5623560" cy="1920240"/>
          </a:xfrm>
          <a:prstGeom prst="roundRect">
            <a:avLst>
              <a:gd name="adj" fmla="val 2857"/>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28" name="Text 26"/>
          <p:cNvSpPr/>
          <p:nvPr/>
        </p:nvSpPr>
        <p:spPr>
          <a:xfrm>
            <a:off x="6272784" y="4498848"/>
            <a:ext cx="5074920" cy="292608"/>
          </a:xfrm>
          <a:prstGeom prst="rect">
            <a:avLst/>
          </a:prstGeom>
          <a:noFill/>
          <a:ln/>
        </p:spPr>
        <p:txBody>
          <a:bodyPr wrap="square" lIns="0" tIns="0" rIns="0" bIns="0" rtlCol="0" anchor="ctr"/>
          <a:lstStyle/>
          <a:p>
            <a:pPr marL="0" indent="0">
              <a:buNone/>
            </a:pPr>
            <a:r>
              <a:rPr lang="en-US" sz="1550" b="1" dirty="0">
                <a:solidFill>
                  <a:srgbClr val="C2410C"/>
                </a:solidFill>
                <a:latin typeface="Cambria" pitchFamily="34" charset="0"/>
                <a:ea typeface="Cambria" pitchFamily="34" charset="-122"/>
                <a:cs typeface="Cambria" pitchFamily="34" charset="-120"/>
              </a:rPr>
              <a:t>Claude Code — a check decides</a:t>
            </a:r>
            <a:endParaRPr lang="en-US" sz="1550" dirty="0"/>
          </a:p>
        </p:txBody>
      </p:sp>
      <p:sp>
        <p:nvSpPr>
          <p:cNvPr id="29" name="Text 27"/>
          <p:cNvSpPr/>
          <p:nvPr/>
        </p:nvSpPr>
        <p:spPr>
          <a:xfrm>
            <a:off x="6272784" y="4882896"/>
            <a:ext cx="5074920" cy="1280160"/>
          </a:xfrm>
          <a:prstGeom prst="rect">
            <a:avLst/>
          </a:prstGeom>
          <a:noFill/>
          <a:ln/>
        </p:spPr>
        <p:txBody>
          <a:bodyPr wrap="square" lIns="0" tIns="0" rIns="0" bIns="0" rtlCol="0" anchor="t"/>
          <a:lstStyle/>
          <a:p>
            <a:pPr marL="177800" indent="-177800">
              <a:lnSpc>
                <a:spcPts val="1518"/>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/goal writes the condition down; after every turn a small fast model re-reads it against the transcript.</a:t>
            </a:r>
            <a:endParaRPr lang="en-US" sz="1150" dirty="0"/>
          </a:p>
          <a:p>
            <a:pPr marL="177800" indent="-177800">
              <a:lnSpc>
                <a:spcPts val="1518"/>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If it does not hold, Claude keeps working with the reason attached.</a:t>
            </a:r>
            <a:endParaRPr lang="en-US" sz="1150" dirty="0"/>
          </a:p>
          <a:p>
            <a:pPr marL="177800" indent="-177800">
              <a:lnSpc>
                <a:spcPts val="1518"/>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Hooks go further and block the tool call itself — exit 2 blocks, exit 1 only logs.</a:t>
            </a:r>
            <a:endParaRPr lang="en-US" sz="1150" dirty="0"/>
          </a:p>
        </p:txBody>
      </p:sp>
      <p:sp>
        <p:nvSpPr>
          <p:cNvPr id="30" name="Text 28"/>
          <p:cNvSpPr/>
          <p:nvPr/>
        </p:nvSpPr>
        <p:spPr>
          <a:xfrm>
            <a:off x="566928" y="6437376"/>
            <a:ext cx="10552176" cy="237744"/>
          </a:xfrm>
          <a:prstGeom prst="rect">
            <a:avLst/>
          </a:prstGeom>
          <a:noFill/>
          <a:ln/>
        </p:spPr>
        <p:txBody>
          <a:bodyPr wrap="square" lIns="0" tIns="0" rIns="0" bIns="0" rtlCol="0" anchor="ctr"/>
          <a:lstStyle/>
          <a:p>
            <a:pPr marL="0" indent="0">
              <a:buNone/>
            </a:pPr>
            <a:r>
              <a:rPr lang="en-US" sz="850" b="1" dirty="0">
                <a:solidFill>
                  <a:srgbClr val="6E7781"/>
                </a:solidFill>
                <a:latin typeface="Calibri" pitchFamily="34" charset="0"/>
                <a:ea typeface="Calibri" pitchFamily="34" charset="-122"/>
                <a:cs typeface="Calibri" pitchFamily="34" charset="-120"/>
              </a:rPr>
              <a:t>Sources   </a:t>
            </a:r>
            <a:r>
              <a:rPr lang="en-US" sz="850" dirty="0">
                <a:solidFill>
                  <a:srgbClr val="6E7781"/>
                </a:solidFill>
                <a:latin typeface="Calibri" pitchFamily="34" charset="0"/>
                <a:ea typeface="Calibri" pitchFamily="34" charset="-122"/>
                <a:cs typeface="Calibri" pitchFamily="34" charset="-120"/>
              </a:rPr>
              <a:t>claude.com/blog/getting-started-with-loops · code.claude.com/docs/en/goal · code.claude.com/docs/en/hooks</a:t>
            </a:r>
            <a:endParaRPr lang="en-US" sz="850" dirty="0"/>
          </a:p>
        </p:txBody>
      </p:sp>
      <p:sp>
        <p:nvSpPr>
          <p:cNvPr id="31"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anim calcmode="lin" valueType="num">
                                      <p:cBhvr additive="base">
                                        <p:cTn id="8" dur="420" fill="hold"/>
                                        <p:tgtEl>
                                          <p:spTgt spid="5"/>
                                        </p:tgtEl>
                                        <p:attrNameLst>
                                          <p:attrName>ppt_y</p:attrName>
                                        </p:attrNameLst>
                                      </p:cBhvr>
                                      <p:tavLst>
                                        <p:tav tm="0">
                                          <p:val>
                                            <p:strVal val="#ppt_y+0.035"/>
                                          </p:val>
                                        </p:tav>
                                        <p:tav tm="100000">
                                          <p:val>
                                            <p:strVal val="#ppt_y"/>
                                          </p:val>
                                        </p:tav>
                                      </p:tavLst>
                                    </p:anim>
                                    <p:set>
                                      <p:cBhvr>
                                        <p:cTn id="9" dur="1" fill="hold">
                                          <p:stCondLst>
                                            <p:cond delay="0"/>
                                          </p:stCondLst>
                                        </p:cTn>
                                        <p:tgtEl>
                                          <p:spTgt spid="8"/>
                                        </p:tgtEl>
                                        <p:attrNameLst>
                                          <p:attrName>style.visibility</p:attrName>
                                        </p:attrNameLst>
                                      </p:cBhvr>
                                      <p:to>
                                        <p:strVal val="visible"/>
                                      </p:to>
                                    </p:set>
                                    <p:animEffect transition="in" filter="fade">
                                      <p:cBhvr>
                                        <p:cTn id="10" dur="420"/>
                                        <p:tgtEl>
                                          <p:spTgt spid="8"/>
                                        </p:tgtEl>
                                      </p:cBhvr>
                                    </p:animEffect>
                                    <p:anim calcmode="lin" valueType="num">
                                      <p:cBhvr additive="base">
                                        <p:cTn id="11" dur="420" fill="hold"/>
                                        <p:tgtEl>
                                          <p:spTgt spid="8"/>
                                        </p:tgtEl>
                                        <p:attrNameLst>
                                          <p:attrName>ppt_y</p:attrName>
                                        </p:attrNameLst>
                                      </p:cBhvr>
                                      <p:tavLst>
                                        <p:tav tm="0">
                                          <p:val>
                                            <p:strVal val="#ppt_y+0.035"/>
                                          </p:val>
                                        </p:tav>
                                        <p:tav tm="100000">
                                          <p:val>
                                            <p:strVal val="#ppt_y"/>
                                          </p:val>
                                        </p:tav>
                                      </p:tavLst>
                                    </p:anim>
                                    <p:set>
                                      <p:cBhvr>
                                        <p:cTn id="12" dur="1" fill="hold">
                                          <p:stCondLst>
                                            <p:cond delay="0"/>
                                          </p:stCondLst>
                                        </p:cTn>
                                        <p:tgtEl>
                                          <p:spTgt spid="24"/>
                                        </p:tgtEl>
                                        <p:attrNameLst>
                                          <p:attrName>style.visibility</p:attrName>
                                        </p:attrNameLst>
                                      </p:cBhvr>
                                      <p:to>
                                        <p:strVal val="visible"/>
                                      </p:to>
                                    </p:set>
                                    <p:animEffect transition="in" filter="fade">
                                      <p:cBhvr>
                                        <p:cTn id="13" dur="420"/>
                                        <p:tgtEl>
                                          <p:spTgt spid="24"/>
                                        </p:tgtEl>
                                      </p:cBhvr>
                                    </p:animEffect>
                                    <p:anim calcmode="lin" valueType="num">
                                      <p:cBhvr additive="base">
                                        <p:cTn id="14" dur="420" fill="hold"/>
                                        <p:tgtEl>
                                          <p:spTgt spid="24"/>
                                        </p:tgtEl>
                                        <p:attrNameLst>
                                          <p:attrName>ppt_y</p:attrName>
                                        </p:attrNameLst>
                                      </p:cBhvr>
                                      <p:tavLst>
                                        <p:tav tm="0">
                                          <p:val>
                                            <p:strVal val="#ppt_y+0.035"/>
                                          </p:val>
                                        </p:tav>
                                        <p:tav tm="100000">
                                          <p:val>
                                            <p:strVal val="#ppt_y"/>
                                          </p:val>
                                        </p:tav>
                                      </p:tavLst>
                                    </p:anim>
                                    <p:set>
                                      <p:cBhvr>
                                        <p:cTn id="15" dur="1" fill="hold">
                                          <p:stCondLst>
                                            <p:cond delay="0"/>
                                          </p:stCondLst>
                                        </p:cTn>
                                        <p:tgtEl>
                                          <p:spTgt spid="25"/>
                                        </p:tgtEl>
                                        <p:attrNameLst>
                                          <p:attrName>style.visibility</p:attrName>
                                        </p:attrNameLst>
                                      </p:cBhvr>
                                      <p:to>
                                        <p:strVal val="visible"/>
                                      </p:to>
                                    </p:set>
                                    <p:animEffect transition="in" filter="fade">
                                      <p:cBhvr>
                                        <p:cTn id="16" dur="420"/>
                                        <p:tgtEl>
                                          <p:spTgt spid="25"/>
                                        </p:tgtEl>
                                      </p:cBhvr>
                                    </p:animEffect>
                                    <p:anim calcmode="lin" valueType="num">
                                      <p:cBhvr additive="base">
                                        <p:cTn id="17" dur="420" fill="hold"/>
                                        <p:tgtEl>
                                          <p:spTgt spid="25"/>
                                        </p:tgtEl>
                                        <p:attrNameLst>
                                          <p:attrName>ppt_y</p:attrName>
                                        </p:attrNameLst>
                                      </p:cBhvr>
                                      <p:tavLst>
                                        <p:tav tm="0">
                                          <p:val>
                                            <p:strVal val="#ppt_y+0.035"/>
                                          </p:val>
                                        </p:tav>
                                        <p:tav tm="100000">
                                          <p:val>
                                            <p:strVal val="#ppt_y"/>
                                          </p:val>
                                        </p:tav>
                                      </p:tavLst>
                                    </p:anim>
                                    <p:set>
                                      <p:cBhvr>
                                        <p:cTn id="18" dur="1" fill="hold">
                                          <p:stCondLst>
                                            <p:cond delay="0"/>
                                          </p:stCondLst>
                                        </p:cTn>
                                        <p:tgtEl>
                                          <p:spTgt spid="6"/>
                                        </p:tgtEl>
                                        <p:attrNameLst>
                                          <p:attrName>style.visibility</p:attrName>
                                        </p:attrNameLst>
                                      </p:cBhvr>
                                      <p:to>
                                        <p:strVal val="visible"/>
                                      </p:to>
                                    </p:set>
                                    <p:animEffect transition="in" filter="fade">
                                      <p:cBhvr>
                                        <p:cTn id="19" dur="420"/>
                                        <p:tgtEl>
                                          <p:spTgt spid="6"/>
                                        </p:tgtEl>
                                      </p:cBhvr>
                                    </p:animEffect>
                                    <p:anim calcmode="lin" valueType="num">
                                      <p:cBhvr additive="base">
                                        <p:cTn id="20" dur="420" fill="hold"/>
                                        <p:tgtEl>
                                          <p:spTgt spid="6"/>
                                        </p:tgtEl>
                                        <p:attrNameLst>
                                          <p:attrName>ppt_y</p:attrName>
                                        </p:attrNameLst>
                                      </p:cBhvr>
                                      <p:tavLst>
                                        <p:tav tm="0">
                                          <p:val>
                                            <p:strVal val="#ppt_y+0.035"/>
                                          </p:val>
                                        </p:tav>
                                        <p:tav tm="100000">
                                          <p:val>
                                            <p:strVal val="#ppt_y"/>
                                          </p:val>
                                        </p:tav>
                                      </p:tavLst>
                                    </p:anim>
                                    <p:set>
                                      <p:cBhvr>
                                        <p:cTn id="21" dur="1" fill="hold">
                                          <p:stCondLst>
                                            <p:cond delay="0"/>
                                          </p:stCondLst>
                                        </p:cTn>
                                        <p:tgtEl>
                                          <p:spTgt spid="7"/>
                                        </p:tgtEl>
                                        <p:attrNameLst>
                                          <p:attrName>style.visibility</p:attrName>
                                        </p:attrNameLst>
                                      </p:cBhvr>
                                      <p:to>
                                        <p:strVal val="visible"/>
                                      </p:to>
                                    </p:set>
                                    <p:animEffect transition="in" filter="fade">
                                      <p:cBhvr>
                                        <p:cTn id="22" dur="420"/>
                                        <p:tgtEl>
                                          <p:spTgt spid="7"/>
                                        </p:tgtEl>
                                      </p:cBhvr>
                                    </p:animEffect>
                                    <p:anim calcmode="lin" valueType="num">
                                      <p:cBhvr additive="base">
                                        <p:cTn id="23" dur="420" fill="hold"/>
                                        <p:tgtEl>
                                          <p:spTgt spid="7"/>
                                        </p:tgtEl>
                                        <p:attrNameLst>
                                          <p:attrName>ppt_y</p:attrName>
                                        </p:attrNameLst>
                                      </p:cBhvr>
                                      <p:tavLst>
                                        <p:tav tm="0">
                                          <p:val>
                                            <p:strVal val="#ppt_y+0.035"/>
                                          </p:val>
                                        </p:tav>
                                        <p:tav tm="100000">
                                          <p:val>
                                            <p:strVal val="#ppt_y"/>
                                          </p:val>
                                        </p:tav>
                                      </p:tavLst>
                                    </p:anim>
                                    <p:set>
                                      <p:cBhvr>
                                        <p:cTn id="24" dur="1" fill="hold">
                                          <p:stCondLst>
                                            <p:cond delay="0"/>
                                          </p:stCondLst>
                                        </p:cTn>
                                        <p:tgtEl>
                                          <p:spTgt spid="26"/>
                                        </p:tgtEl>
                                        <p:attrNameLst>
                                          <p:attrName>style.visibility</p:attrName>
                                        </p:attrNameLst>
                                      </p:cBhvr>
                                      <p:to>
                                        <p:strVal val="visible"/>
                                      </p:to>
                                    </p:set>
                                    <p:animEffect transition="in" filter="fade">
                                      <p:cBhvr>
                                        <p:cTn id="25" dur="420"/>
                                        <p:tgtEl>
                                          <p:spTgt spid="26"/>
                                        </p:tgtEl>
                                      </p:cBhvr>
                                    </p:animEffect>
                                    <p:anim calcmode="lin" valueType="num">
                                      <p:cBhvr additive="base">
                                        <p:cTn id="26" dur="420" fill="hold"/>
                                        <p:tgtEl>
                                          <p:spTgt spid="26"/>
                                        </p:tgtEl>
                                        <p:attrNameLst>
                                          <p:attrName>ppt_y</p:attrName>
                                        </p:attrNameLst>
                                      </p:cBhvr>
                                      <p:tavLst>
                                        <p:tav tm="0">
                                          <p:val>
                                            <p:strVal val="#ppt_y+0.035"/>
                                          </p:val>
                                        </p:tav>
                                        <p:tav tm="100000">
                                          <p:val>
                                            <p:strVal val="#ppt_y"/>
                                          </p:val>
                                        </p:tav>
                                      </p:tavLst>
                                    </p:anim>
                                    <p:set>
                                      <p:cBhvr>
                                        <p:cTn id="27" dur="1" fill="hold">
                                          <p:stCondLst>
                                            <p:cond delay="0"/>
                                          </p:stCondLst>
                                        </p:cTn>
                                        <p:tgtEl>
                                          <p:spTgt spid="9"/>
                                        </p:tgtEl>
                                        <p:attrNameLst>
                                          <p:attrName>style.visibility</p:attrName>
                                        </p:attrNameLst>
                                      </p:cBhvr>
                                      <p:to>
                                        <p:strVal val="visible"/>
                                      </p:to>
                                    </p:set>
                                    <p:animEffect transition="in" filter="fade">
                                      <p:cBhvr>
                                        <p:cTn id="28" dur="420"/>
                                        <p:tgtEl>
                                          <p:spTgt spid="9"/>
                                        </p:tgtEl>
                                      </p:cBhvr>
                                    </p:animEffect>
                                    <p:anim calcmode="lin" valueType="num">
                                      <p:cBhvr additive="base">
                                        <p:cTn id="29" dur="420" fill="hold"/>
                                        <p:tgtEl>
                                          <p:spTgt spid="9"/>
                                        </p:tgtEl>
                                        <p:attrNameLst>
                                          <p:attrName>ppt_y</p:attrName>
                                        </p:attrNameLst>
                                      </p:cBhvr>
                                      <p:tavLst>
                                        <p:tav tm="0">
                                          <p:val>
                                            <p:strVal val="#ppt_y+0.035"/>
                                          </p:val>
                                        </p:tav>
                                        <p:tav tm="100000">
                                          <p:val>
                                            <p:strVal val="#ppt_y"/>
                                          </p:val>
                                        </p:tav>
                                      </p:tavLst>
                                    </p:anim>
                                    <p:set>
                                      <p:cBhvr>
                                        <p:cTn id="30" dur="1" fill="hold">
                                          <p:stCondLst>
                                            <p:cond delay="0"/>
                                          </p:stCondLst>
                                        </p:cTn>
                                        <p:tgtEl>
                                          <p:spTgt spid="10"/>
                                        </p:tgtEl>
                                        <p:attrNameLst>
                                          <p:attrName>style.visibility</p:attrName>
                                        </p:attrNameLst>
                                      </p:cBhvr>
                                      <p:to>
                                        <p:strVal val="visible"/>
                                      </p:to>
                                    </p:set>
                                    <p:animEffect transition="in" filter="fade">
                                      <p:cBhvr>
                                        <p:cTn id="31" dur="420"/>
                                        <p:tgtEl>
                                          <p:spTgt spid="10"/>
                                        </p:tgtEl>
                                      </p:cBhvr>
                                    </p:animEffect>
                                    <p:anim calcmode="lin" valueType="num">
                                      <p:cBhvr additive="base">
                                        <p:cTn id="32" dur="420" fill="hold"/>
                                        <p:tgtEl>
                                          <p:spTgt spid="10"/>
                                        </p:tgtEl>
                                        <p:attrNameLst>
                                          <p:attrName>ppt_y</p:attrName>
                                        </p:attrNameLst>
                                      </p:cBhvr>
                                      <p:tavLst>
                                        <p:tav tm="0">
                                          <p:val>
                                            <p:strVal val="#ppt_y+0.035"/>
                                          </p:val>
                                        </p:tav>
                                        <p:tav tm="100000">
                                          <p:val>
                                            <p:strVal val="#ppt_y"/>
                                          </p:val>
                                        </p:tav>
                                      </p:tavLst>
                                    </p:anim>
                                    <p:set>
                                      <p:cBhvr>
                                        <p:cTn id="33" dur="1" fill="hold">
                                          <p:stCondLst>
                                            <p:cond delay="0"/>
                                          </p:stCondLst>
                                        </p:cTn>
                                        <p:tgtEl>
                                          <p:spTgt spid="13"/>
                                        </p:tgtEl>
                                        <p:attrNameLst>
                                          <p:attrName>style.visibility</p:attrName>
                                        </p:attrNameLst>
                                      </p:cBhvr>
                                      <p:to>
                                        <p:strVal val="visible"/>
                                      </p:to>
                                    </p:set>
                                    <p:animEffect transition="in" filter="fade">
                                      <p:cBhvr>
                                        <p:cTn id="34" dur="420"/>
                                        <p:tgtEl>
                                          <p:spTgt spid="13"/>
                                        </p:tgtEl>
                                      </p:cBhvr>
                                    </p:animEffect>
                                    <p:anim calcmode="lin" valueType="num">
                                      <p:cBhvr additive="base">
                                        <p:cTn id="35" dur="420" fill="hold"/>
                                        <p:tgtEl>
                                          <p:spTgt spid="13"/>
                                        </p:tgtEl>
                                        <p:attrNameLst>
                                          <p:attrName>ppt_y</p:attrName>
                                        </p:attrNameLst>
                                      </p:cBhvr>
                                      <p:tavLst>
                                        <p:tav tm="0">
                                          <p:val>
                                            <p:strVal val="#ppt_y+0.035"/>
                                          </p:val>
                                        </p:tav>
                                        <p:tav tm="100000">
                                          <p:val>
                                            <p:strVal val="#ppt_y"/>
                                          </p:val>
                                        </p:tav>
                                      </p:tavLst>
                                    </p:anim>
                                    <p:set>
                                      <p:cBhvr>
                                        <p:cTn id="36" dur="1" fill="hold">
                                          <p:stCondLst>
                                            <p:cond delay="0"/>
                                          </p:stCondLst>
                                        </p:cTn>
                                        <p:tgtEl>
                                          <p:spTgt spid="11"/>
                                        </p:tgtEl>
                                        <p:attrNameLst>
                                          <p:attrName>style.visibility</p:attrName>
                                        </p:attrNameLst>
                                      </p:cBhvr>
                                      <p:to>
                                        <p:strVal val="visible"/>
                                      </p:to>
                                    </p:set>
                                    <p:animEffect transition="in" filter="fade">
                                      <p:cBhvr>
                                        <p:cTn id="37" dur="420"/>
                                        <p:tgtEl>
                                          <p:spTgt spid="11"/>
                                        </p:tgtEl>
                                      </p:cBhvr>
                                    </p:animEffect>
                                    <p:anim calcmode="lin" valueType="num">
                                      <p:cBhvr additive="base">
                                        <p:cTn id="38" dur="420" fill="hold"/>
                                        <p:tgtEl>
                                          <p:spTgt spid="11"/>
                                        </p:tgtEl>
                                        <p:attrNameLst>
                                          <p:attrName>ppt_y</p:attrName>
                                        </p:attrNameLst>
                                      </p:cBhvr>
                                      <p:tavLst>
                                        <p:tav tm="0">
                                          <p:val>
                                            <p:strVal val="#ppt_y+0.035"/>
                                          </p:val>
                                        </p:tav>
                                        <p:tav tm="100000">
                                          <p:val>
                                            <p:strVal val="#ppt_y"/>
                                          </p:val>
                                        </p:tav>
                                      </p:tavLst>
                                    </p:anim>
                                    <p:set>
                                      <p:cBhvr>
                                        <p:cTn id="39" dur="1" fill="hold">
                                          <p:stCondLst>
                                            <p:cond delay="0"/>
                                          </p:stCondLst>
                                        </p:cTn>
                                        <p:tgtEl>
                                          <p:spTgt spid="12"/>
                                        </p:tgtEl>
                                        <p:attrNameLst>
                                          <p:attrName>style.visibility</p:attrName>
                                        </p:attrNameLst>
                                      </p:cBhvr>
                                      <p:to>
                                        <p:strVal val="visible"/>
                                      </p:to>
                                    </p:set>
                                    <p:animEffect transition="in" filter="fade">
                                      <p:cBhvr>
                                        <p:cTn id="40" dur="420"/>
                                        <p:tgtEl>
                                          <p:spTgt spid="12"/>
                                        </p:tgtEl>
                                      </p:cBhvr>
                                    </p:animEffect>
                                    <p:anim calcmode="lin" valueType="num">
                                      <p:cBhvr additive="base">
                                        <p:cTn id="41" dur="420" fill="hold"/>
                                        <p:tgtEl>
                                          <p:spTgt spid="12"/>
                                        </p:tgtEl>
                                        <p:attrNameLst>
                                          <p:attrName>ppt_y</p:attrName>
                                        </p:attrNameLst>
                                      </p:cBhvr>
                                      <p:tavLst>
                                        <p:tav tm="0">
                                          <p:val>
                                            <p:strVal val="#ppt_y+0.035"/>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420"/>
                                        <p:tgtEl>
                                          <p:spTgt spid="14"/>
                                        </p:tgtEl>
                                      </p:cBhvr>
                                    </p:animEffect>
                                    <p:anim calcmode="lin" valueType="num">
                                      <p:cBhvr additive="base">
                                        <p:cTn id="47" dur="420" fill="hold"/>
                                        <p:tgtEl>
                                          <p:spTgt spid="14"/>
                                        </p:tgtEl>
                                        <p:attrNameLst>
                                          <p:attrName>ppt_y</p:attrName>
                                        </p:attrNameLst>
                                      </p:cBhvr>
                                      <p:tavLst>
                                        <p:tav tm="0">
                                          <p:val>
                                            <p:strVal val="#ppt_y+0.035"/>
                                          </p:val>
                                        </p:tav>
                                        <p:tav tm="100000">
                                          <p:val>
                                            <p:strVal val="#ppt_y"/>
                                          </p:val>
                                        </p:tav>
                                      </p:tavLst>
                                    </p:anim>
                                    <p:set>
                                      <p:cBhvr>
                                        <p:cTn id="48" dur="1" fill="hold">
                                          <p:stCondLst>
                                            <p:cond delay="0"/>
                                          </p:stCondLst>
                                        </p:cTn>
                                        <p:tgtEl>
                                          <p:spTgt spid="27"/>
                                        </p:tgtEl>
                                        <p:attrNameLst>
                                          <p:attrName>style.visibility</p:attrName>
                                        </p:attrNameLst>
                                      </p:cBhvr>
                                      <p:to>
                                        <p:strVal val="visible"/>
                                      </p:to>
                                    </p:set>
                                    <p:animEffect transition="in" filter="fade">
                                      <p:cBhvr>
                                        <p:cTn id="49" dur="420"/>
                                        <p:tgtEl>
                                          <p:spTgt spid="27"/>
                                        </p:tgtEl>
                                      </p:cBhvr>
                                    </p:animEffect>
                                    <p:anim calcmode="lin" valueType="num">
                                      <p:cBhvr additive="base">
                                        <p:cTn id="50" dur="420" fill="hold"/>
                                        <p:tgtEl>
                                          <p:spTgt spid="27"/>
                                        </p:tgtEl>
                                        <p:attrNameLst>
                                          <p:attrName>ppt_y</p:attrName>
                                        </p:attrNameLst>
                                      </p:cBhvr>
                                      <p:tavLst>
                                        <p:tav tm="0">
                                          <p:val>
                                            <p:strVal val="#ppt_y+0.035"/>
                                          </p:val>
                                        </p:tav>
                                        <p:tav tm="100000">
                                          <p:val>
                                            <p:strVal val="#ppt_y"/>
                                          </p:val>
                                        </p:tav>
                                      </p:tavLst>
                                    </p:anim>
                                    <p:set>
                                      <p:cBhvr>
                                        <p:cTn id="51" dur="1" fill="hold">
                                          <p:stCondLst>
                                            <p:cond delay="0"/>
                                          </p:stCondLst>
                                        </p:cTn>
                                        <p:tgtEl>
                                          <p:spTgt spid="15"/>
                                        </p:tgtEl>
                                        <p:attrNameLst>
                                          <p:attrName>style.visibility</p:attrName>
                                        </p:attrNameLst>
                                      </p:cBhvr>
                                      <p:to>
                                        <p:strVal val="visible"/>
                                      </p:to>
                                    </p:set>
                                    <p:animEffect transition="in" filter="fade">
                                      <p:cBhvr>
                                        <p:cTn id="52" dur="420"/>
                                        <p:tgtEl>
                                          <p:spTgt spid="15"/>
                                        </p:tgtEl>
                                      </p:cBhvr>
                                    </p:animEffect>
                                    <p:anim calcmode="lin" valueType="num">
                                      <p:cBhvr additive="base">
                                        <p:cTn id="53" dur="420" fill="hold"/>
                                        <p:tgtEl>
                                          <p:spTgt spid="15"/>
                                        </p:tgtEl>
                                        <p:attrNameLst>
                                          <p:attrName>ppt_y</p:attrName>
                                        </p:attrNameLst>
                                      </p:cBhvr>
                                      <p:tavLst>
                                        <p:tav tm="0">
                                          <p:val>
                                            <p:strVal val="#ppt_y+0.035"/>
                                          </p:val>
                                        </p:tav>
                                        <p:tav tm="100000">
                                          <p:val>
                                            <p:strVal val="#ppt_y"/>
                                          </p:val>
                                        </p:tav>
                                      </p:tavLst>
                                    </p:anim>
                                    <p:set>
                                      <p:cBhvr>
                                        <p:cTn id="54" dur="1" fill="hold">
                                          <p:stCondLst>
                                            <p:cond delay="0"/>
                                          </p:stCondLst>
                                        </p:cTn>
                                        <p:tgtEl>
                                          <p:spTgt spid="18"/>
                                        </p:tgtEl>
                                        <p:attrNameLst>
                                          <p:attrName>style.visibility</p:attrName>
                                        </p:attrNameLst>
                                      </p:cBhvr>
                                      <p:to>
                                        <p:strVal val="visible"/>
                                      </p:to>
                                    </p:set>
                                    <p:animEffect transition="in" filter="fade">
                                      <p:cBhvr>
                                        <p:cTn id="55" dur="420"/>
                                        <p:tgtEl>
                                          <p:spTgt spid="18"/>
                                        </p:tgtEl>
                                      </p:cBhvr>
                                    </p:animEffect>
                                    <p:anim calcmode="lin" valueType="num">
                                      <p:cBhvr additive="base">
                                        <p:cTn id="56" dur="420" fill="hold"/>
                                        <p:tgtEl>
                                          <p:spTgt spid="18"/>
                                        </p:tgtEl>
                                        <p:attrNameLst>
                                          <p:attrName>ppt_y</p:attrName>
                                        </p:attrNameLst>
                                      </p:cBhvr>
                                      <p:tavLst>
                                        <p:tav tm="0">
                                          <p:val>
                                            <p:strVal val="#ppt_y+0.035"/>
                                          </p:val>
                                        </p:tav>
                                        <p:tav tm="100000">
                                          <p:val>
                                            <p:strVal val="#ppt_y"/>
                                          </p:val>
                                        </p:tav>
                                      </p:tavLst>
                                    </p:anim>
                                    <p:set>
                                      <p:cBhvr>
                                        <p:cTn id="57" dur="1" fill="hold">
                                          <p:stCondLst>
                                            <p:cond delay="0"/>
                                          </p:stCondLst>
                                        </p:cTn>
                                        <p:tgtEl>
                                          <p:spTgt spid="28"/>
                                        </p:tgtEl>
                                        <p:attrNameLst>
                                          <p:attrName>style.visibility</p:attrName>
                                        </p:attrNameLst>
                                      </p:cBhvr>
                                      <p:to>
                                        <p:strVal val="visible"/>
                                      </p:to>
                                    </p:set>
                                    <p:animEffect transition="in" filter="fade">
                                      <p:cBhvr>
                                        <p:cTn id="58" dur="420"/>
                                        <p:tgtEl>
                                          <p:spTgt spid="28"/>
                                        </p:tgtEl>
                                      </p:cBhvr>
                                    </p:animEffect>
                                    <p:anim calcmode="lin" valueType="num">
                                      <p:cBhvr additive="base">
                                        <p:cTn id="59" dur="420" fill="hold"/>
                                        <p:tgtEl>
                                          <p:spTgt spid="28"/>
                                        </p:tgtEl>
                                        <p:attrNameLst>
                                          <p:attrName>ppt_y</p:attrName>
                                        </p:attrNameLst>
                                      </p:cBhvr>
                                      <p:tavLst>
                                        <p:tav tm="0">
                                          <p:val>
                                            <p:strVal val="#ppt_y+0.035"/>
                                          </p:val>
                                        </p:tav>
                                        <p:tav tm="100000">
                                          <p:val>
                                            <p:strVal val="#ppt_y"/>
                                          </p:val>
                                        </p:tav>
                                      </p:tavLst>
                                    </p:anim>
                                    <p:set>
                                      <p:cBhvr>
                                        <p:cTn id="60" dur="1" fill="hold">
                                          <p:stCondLst>
                                            <p:cond delay="0"/>
                                          </p:stCondLst>
                                        </p:cTn>
                                        <p:tgtEl>
                                          <p:spTgt spid="16"/>
                                        </p:tgtEl>
                                        <p:attrNameLst>
                                          <p:attrName>style.visibility</p:attrName>
                                        </p:attrNameLst>
                                      </p:cBhvr>
                                      <p:to>
                                        <p:strVal val="visible"/>
                                      </p:to>
                                    </p:set>
                                    <p:animEffect transition="in" filter="fade">
                                      <p:cBhvr>
                                        <p:cTn id="61" dur="420"/>
                                        <p:tgtEl>
                                          <p:spTgt spid="16"/>
                                        </p:tgtEl>
                                      </p:cBhvr>
                                    </p:animEffect>
                                    <p:anim calcmode="lin" valueType="num">
                                      <p:cBhvr additive="base">
                                        <p:cTn id="62" dur="420" fill="hold"/>
                                        <p:tgtEl>
                                          <p:spTgt spid="16"/>
                                        </p:tgtEl>
                                        <p:attrNameLst>
                                          <p:attrName>ppt_y</p:attrName>
                                        </p:attrNameLst>
                                      </p:cBhvr>
                                      <p:tavLst>
                                        <p:tav tm="0">
                                          <p:val>
                                            <p:strVal val="#ppt_y+0.035"/>
                                          </p:val>
                                        </p:tav>
                                        <p:tav tm="100000">
                                          <p:val>
                                            <p:strVal val="#ppt_y"/>
                                          </p:val>
                                        </p:tav>
                                      </p:tavLst>
                                    </p:anim>
                                    <p:set>
                                      <p:cBhvr>
                                        <p:cTn id="63" dur="1" fill="hold">
                                          <p:stCondLst>
                                            <p:cond delay="0"/>
                                          </p:stCondLst>
                                        </p:cTn>
                                        <p:tgtEl>
                                          <p:spTgt spid="17"/>
                                        </p:tgtEl>
                                        <p:attrNameLst>
                                          <p:attrName>style.visibility</p:attrName>
                                        </p:attrNameLst>
                                      </p:cBhvr>
                                      <p:to>
                                        <p:strVal val="visible"/>
                                      </p:to>
                                    </p:set>
                                    <p:animEffect transition="in" filter="fade">
                                      <p:cBhvr>
                                        <p:cTn id="64" dur="420"/>
                                        <p:tgtEl>
                                          <p:spTgt spid="17"/>
                                        </p:tgtEl>
                                      </p:cBhvr>
                                    </p:animEffect>
                                    <p:anim calcmode="lin" valueType="num">
                                      <p:cBhvr additive="base">
                                        <p:cTn id="65" dur="420" fill="hold"/>
                                        <p:tgtEl>
                                          <p:spTgt spid="17"/>
                                        </p:tgtEl>
                                        <p:attrNameLst>
                                          <p:attrName>ppt_y</p:attrName>
                                        </p:attrNameLst>
                                      </p:cBhvr>
                                      <p:tavLst>
                                        <p:tav tm="0">
                                          <p:val>
                                            <p:strVal val="#ppt_y+0.035"/>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420"/>
                                        <p:tgtEl>
                                          <p:spTgt spid="29"/>
                                        </p:tgtEl>
                                      </p:cBhvr>
                                    </p:animEffect>
                                    <p:anim calcmode="lin" valueType="num">
                                      <p:cBhvr additive="base">
                                        <p:cTn id="71" dur="420" fill="hold"/>
                                        <p:tgtEl>
                                          <p:spTgt spid="29"/>
                                        </p:tgtEl>
                                        <p:attrNameLst>
                                          <p:attrName>ppt_y</p:attrName>
                                        </p:attrNameLst>
                                      </p:cBhvr>
                                      <p:tavLst>
                                        <p:tav tm="0">
                                          <p:val>
                                            <p:strVal val="#ppt_y+0.035"/>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420"/>
                                        <p:tgtEl>
                                          <p:spTgt spid="19"/>
                                        </p:tgtEl>
                                      </p:cBhvr>
                                    </p:animEffect>
                                    <p:anim calcmode="lin" valueType="num">
                                      <p:cBhvr additive="base">
                                        <p:cTn id="77" dur="420" fill="hold"/>
                                        <p:tgtEl>
                                          <p:spTgt spid="19"/>
                                        </p:tgtEl>
                                        <p:attrNameLst>
                                          <p:attrName>ppt_y</p:attrName>
                                        </p:attrNameLst>
                                      </p:cBhvr>
                                      <p:tavLst>
                                        <p:tav tm="0">
                                          <p:val>
                                            <p:strVal val="#ppt_y+0.035"/>
                                          </p:val>
                                        </p:tav>
                                        <p:tav tm="100000">
                                          <p:val>
                                            <p:strVal val="#ppt_y"/>
                                          </p:val>
                                        </p:tav>
                                      </p:tavLst>
                                    </p:anim>
                                    <p:set>
                                      <p:cBhvr>
                                        <p:cTn id="78" dur="1" fill="hold">
                                          <p:stCondLst>
                                            <p:cond delay="0"/>
                                          </p:stCondLst>
                                        </p:cTn>
                                        <p:tgtEl>
                                          <p:spTgt spid="20"/>
                                        </p:tgtEl>
                                        <p:attrNameLst>
                                          <p:attrName>style.visibility</p:attrName>
                                        </p:attrNameLst>
                                      </p:cBhvr>
                                      <p:to>
                                        <p:strVal val="visible"/>
                                      </p:to>
                                    </p:set>
                                    <p:animEffect transition="in" filter="fade">
                                      <p:cBhvr>
                                        <p:cTn id="79" dur="420"/>
                                        <p:tgtEl>
                                          <p:spTgt spid="20"/>
                                        </p:tgtEl>
                                      </p:cBhvr>
                                    </p:animEffect>
                                    <p:anim calcmode="lin" valueType="num">
                                      <p:cBhvr additive="base">
                                        <p:cTn id="80" dur="420" fill="hold"/>
                                        <p:tgtEl>
                                          <p:spTgt spid="20"/>
                                        </p:tgtEl>
                                        <p:attrNameLst>
                                          <p:attrName>ppt_y</p:attrName>
                                        </p:attrNameLst>
                                      </p:cBhvr>
                                      <p:tavLst>
                                        <p:tav tm="0">
                                          <p:val>
                                            <p:strVal val="#ppt_y+0.035"/>
                                          </p:val>
                                        </p:tav>
                                        <p:tav tm="100000">
                                          <p:val>
                                            <p:strVal val="#ppt_y"/>
                                          </p:val>
                                        </p:tav>
                                      </p:tavLst>
                                    </p:anim>
                                    <p:set>
                                      <p:cBhvr>
                                        <p:cTn id="81" dur="1" fill="hold">
                                          <p:stCondLst>
                                            <p:cond delay="0"/>
                                          </p:stCondLst>
                                        </p:cTn>
                                        <p:tgtEl>
                                          <p:spTgt spid="23"/>
                                        </p:tgtEl>
                                        <p:attrNameLst>
                                          <p:attrName>style.visibility</p:attrName>
                                        </p:attrNameLst>
                                      </p:cBhvr>
                                      <p:to>
                                        <p:strVal val="visible"/>
                                      </p:to>
                                    </p:set>
                                    <p:animEffect transition="in" filter="fade">
                                      <p:cBhvr>
                                        <p:cTn id="82" dur="420"/>
                                        <p:tgtEl>
                                          <p:spTgt spid="23"/>
                                        </p:tgtEl>
                                      </p:cBhvr>
                                    </p:animEffect>
                                    <p:anim calcmode="lin" valueType="num">
                                      <p:cBhvr additive="base">
                                        <p:cTn id="83" dur="420" fill="hold"/>
                                        <p:tgtEl>
                                          <p:spTgt spid="23"/>
                                        </p:tgtEl>
                                        <p:attrNameLst>
                                          <p:attrName>ppt_y</p:attrName>
                                        </p:attrNameLst>
                                      </p:cBhvr>
                                      <p:tavLst>
                                        <p:tav tm="0">
                                          <p:val>
                                            <p:strVal val="#ppt_y+0.035"/>
                                          </p:val>
                                        </p:tav>
                                        <p:tav tm="100000">
                                          <p:val>
                                            <p:strVal val="#ppt_y"/>
                                          </p:val>
                                        </p:tav>
                                      </p:tavLst>
                                    </p:anim>
                                    <p:set>
                                      <p:cBhvr>
                                        <p:cTn id="84" dur="1" fill="hold">
                                          <p:stCondLst>
                                            <p:cond delay="0"/>
                                          </p:stCondLst>
                                        </p:cTn>
                                        <p:tgtEl>
                                          <p:spTgt spid="21"/>
                                        </p:tgtEl>
                                        <p:attrNameLst>
                                          <p:attrName>style.visibility</p:attrName>
                                        </p:attrNameLst>
                                      </p:cBhvr>
                                      <p:to>
                                        <p:strVal val="visible"/>
                                      </p:to>
                                    </p:set>
                                    <p:animEffect transition="in" filter="fade">
                                      <p:cBhvr>
                                        <p:cTn id="85" dur="420"/>
                                        <p:tgtEl>
                                          <p:spTgt spid="21"/>
                                        </p:tgtEl>
                                      </p:cBhvr>
                                    </p:animEffect>
                                    <p:anim calcmode="lin" valueType="num">
                                      <p:cBhvr additive="base">
                                        <p:cTn id="86" dur="420" fill="hold"/>
                                        <p:tgtEl>
                                          <p:spTgt spid="21"/>
                                        </p:tgtEl>
                                        <p:attrNameLst>
                                          <p:attrName>ppt_y</p:attrName>
                                        </p:attrNameLst>
                                      </p:cBhvr>
                                      <p:tavLst>
                                        <p:tav tm="0">
                                          <p:val>
                                            <p:strVal val="#ppt_y+0.035"/>
                                          </p:val>
                                        </p:tav>
                                        <p:tav tm="100000">
                                          <p:val>
                                            <p:strVal val="#ppt_y"/>
                                          </p:val>
                                        </p:tav>
                                      </p:tavLst>
                                    </p:anim>
                                    <p:set>
                                      <p:cBhvr>
                                        <p:cTn id="87" dur="1" fill="hold">
                                          <p:stCondLst>
                                            <p:cond delay="0"/>
                                          </p:stCondLst>
                                        </p:cTn>
                                        <p:tgtEl>
                                          <p:spTgt spid="22"/>
                                        </p:tgtEl>
                                        <p:attrNameLst>
                                          <p:attrName>style.visibility</p:attrName>
                                        </p:attrNameLst>
                                      </p:cBhvr>
                                      <p:to>
                                        <p:strVal val="visible"/>
                                      </p:to>
                                    </p:set>
                                    <p:animEffect transition="in" filter="fade">
                                      <p:cBhvr>
                                        <p:cTn id="88" dur="420"/>
                                        <p:tgtEl>
                                          <p:spTgt spid="22"/>
                                        </p:tgtEl>
                                      </p:cBhvr>
                                    </p:animEffect>
                                    <p:anim calcmode="lin" valueType="num">
                                      <p:cBhvr additive="base">
                                        <p:cTn id="89" dur="420" fill="hold"/>
                                        <p:tgtEl>
                                          <p:spTgt spid="22"/>
                                        </p:tgtEl>
                                        <p:attrNameLst>
                                          <p:attrName>ppt_y</p:attrName>
                                        </p:attrNameLst>
                                      </p:cBhvr>
                                      <p:tavLst>
                                        <p:tav tm="0">
                                          <p:val>
                                            <p:strVal val="#ppt_y+0.035"/>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420"/>
                                        <p:tgtEl>
                                          <p:spTgt spid="25"/>
                                        </p:tgtEl>
                                      </p:cBhvr>
                                    </p:animEffect>
                                    <p:anim calcmode="lin" valueType="num">
                                      <p:cBhvr additive="base">
                                        <p:cTn id="95" dur="420" fill="hold"/>
                                        <p:tgtEl>
                                          <p:spTgt spid="25"/>
                                        </p:tgtEl>
                                        <p:attrNameLst>
                                          <p:attrName>ppt_y</p:attrName>
                                        </p:attrNameLst>
                                      </p:cBhvr>
                                      <p:tavLst>
                                        <p:tav tm="0">
                                          <p:val>
                                            <p:strVal val="#ppt_y+0.035"/>
                                          </p:val>
                                        </p:tav>
                                        <p:tav tm="100000">
                                          <p:val>
                                            <p:strVal val="#ppt_y"/>
                                          </p:val>
                                        </p:tav>
                                      </p:tavLst>
                                    </p:anim>
                                    <p:set>
                                      <p:cBhvr>
                                        <p:cTn id="96" dur="1" fill="hold">
                                          <p:stCondLst>
                                            <p:cond delay="0"/>
                                          </p:stCondLst>
                                        </p:cTn>
                                        <p:tgtEl>
                                          <p:spTgt spid="30"/>
                                        </p:tgtEl>
                                        <p:attrNameLst>
                                          <p:attrName>style.visibility</p:attrName>
                                        </p:attrNameLst>
                                      </p:cBhvr>
                                      <p:to>
                                        <p:strVal val="visible"/>
                                      </p:to>
                                    </p:set>
                                    <p:animEffect transition="in" filter="fade">
                                      <p:cBhvr>
                                        <p:cTn id="97" dur="420"/>
                                        <p:tgtEl>
                                          <p:spTgt spid="30"/>
                                        </p:tgtEl>
                                      </p:cBhvr>
                                    </p:animEffect>
                                    <p:anim calcmode="lin" valueType="num">
                                      <p:cBhvr additive="base">
                                        <p:cTn id="98" dur="420" fill="hold"/>
                                        <p:tgtEl>
                                          <p:spTgt spid="30"/>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p:bldP spid="9" grpId="0"/>
      <p:bldP spid="10" grpId="0"/>
      <p:bldP spid="11" grpId="0"/>
      <p:bldP spid="12" grpId="0"/>
      <p:bldP spid="13" grpId="0"/>
      <p:bldP spid="14" grpId="0" animBg="1"/>
      <p:bldP spid="15" grpId="0"/>
      <p:bldP spid="16" grpId="0"/>
      <p:bldP spid="17" grpId="0"/>
      <p:bldP spid="18" grpId="0"/>
      <p:bldP spid="19" grpId="0" animBg="1"/>
      <p:bldP spid="20" grpId="0"/>
      <p:bldP spid="21" grpId="0"/>
      <p:bldP spid="22" grpId="0"/>
      <p:bldP spid="23" grpId="0"/>
      <p:bldP spid="24" grpId="0"/>
      <p:bldP spid="25" grpId="0" animBg="1"/>
      <p:bldP spid="26" grpId="0"/>
      <p:bldP spid="27" grpId="0"/>
      <p:bldP spid="28" grpId="0"/>
      <p:bldP spid="29" grpId="0" animBg="1"/>
      <p:bldP spid="30"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02</a:t>
            </a:r>
            <a:r>
              <a:rPr lang="en-US" sz="1150" b="1" kern="0" spc="160" dirty="0">
                <a:solidFill>
                  <a:srgbClr val="6E7781"/>
                </a:solidFill>
                <a:latin typeface="Calibri" pitchFamily="34" charset="0"/>
                <a:ea typeface="Calibri" pitchFamily="34" charset="-122"/>
                <a:cs typeface="Calibri" pitchFamily="34" charset="-120"/>
              </a:rPr>
              <a:t>   THREE WAYS THE WORK GETS DONE</a:t>
            </a:r>
            <a:endParaRPr lang="en-US" sz="1150" dirty="0"/>
          </a:p>
        </p:txBody>
      </p:sp>
      <p:sp>
        <p:nvSpPr>
          <p:cNvPr id="3" name="Text 1"/>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Manual, agentic, looped</a:t>
            </a:r>
            <a:endParaRPr lang="en-US" sz="3200" dirty="0"/>
          </a:p>
        </p:txBody>
      </p:sp>
      <p:sp>
        <p:nvSpPr>
          <p:cNvPr id="4" name="Text 2"/>
          <p:cNvSpPr/>
          <p:nvPr/>
        </p:nvSpPr>
        <p:spPr>
          <a:xfrm>
            <a:off x="566928" y="1389888"/>
            <a:ext cx="11055096" cy="658368"/>
          </a:xfrm>
          <a:prstGeom prst="rect">
            <a:avLst/>
          </a:prstGeom>
          <a:noFill/>
          <a:ln/>
        </p:spPr>
        <p:txBody>
          <a:bodyPr wrap="square" lIns="0" tIns="0" rIns="0" bIns="0" rtlCol="0" anchor="t"/>
          <a:lstStyle/>
          <a:p>
            <a:pPr marL="0" indent="0">
              <a:lnSpc>
                <a:spcPts val="1700"/>
              </a:lnSpc>
              <a:buNone/>
            </a:pPr>
            <a:r>
              <a:rPr lang="en-US" sz="1250" b="1" dirty="0">
                <a:solidFill>
                  <a:srgbClr val="C2410C"/>
                </a:solidFill>
                <a:latin typeface="Calibri" pitchFamily="34" charset="0"/>
                <a:ea typeface="Calibri" pitchFamily="34" charset="-122"/>
                <a:cs typeface="Calibri" pitchFamily="34" charset="-120"/>
              </a:rPr>
              <a:t>In Claude Code the third column is one command.  </a:t>
            </a:r>
            <a:r>
              <a:rPr lang="en-US" sz="1250" dirty="0">
                <a:solidFill>
                  <a:srgbClr val="2B3138"/>
                </a:solidFill>
                <a:latin typeface="Calibri" pitchFamily="34" charset="0"/>
                <a:ea typeface="Calibri" pitchFamily="34" charset="-122"/>
                <a:cs typeface="Calibri" pitchFamily="34" charset="-120"/>
              </a:rPr>
              <a:t>/goal takes the condition and a fast model re-checks it every turn. Copilot has no equivalent — the closest thing is a required status check, which only fires after the agent has already stopped.</a:t>
            </a:r>
            <a:endParaRPr lang="en-US" sz="1250" dirty="0"/>
          </a:p>
        </p:txBody>
      </p:sp>
      <p:sp>
        <p:nvSpPr>
          <p:cNvPr id="5" name="Text 3"/>
          <p:cNvSpPr/>
          <p:nvPr/>
        </p:nvSpPr>
        <p:spPr>
          <a:xfrm>
            <a:off x="566928" y="3236976"/>
            <a:ext cx="987552" cy="658368"/>
          </a:xfrm>
          <a:prstGeom prst="rect">
            <a:avLst/>
          </a:prstGeom>
          <a:noFill/>
          <a:ln/>
        </p:spPr>
        <p:txBody>
          <a:bodyPr wrap="square" lIns="0" tIns="0" rIns="0" bIns="0" rtlCol="0" anchor="t"/>
          <a:lstStyle/>
          <a:p>
            <a:pPr marL="0" indent="0">
              <a:lnSpc>
                <a:spcPts val="1200"/>
              </a:lnSpc>
              <a:buNone/>
            </a:pPr>
            <a:r>
              <a:rPr lang="en-US" sz="950" b="1" dirty="0">
                <a:solidFill>
                  <a:srgbClr val="6E7781"/>
                </a:solidFill>
                <a:latin typeface="Calibri" pitchFamily="34" charset="0"/>
                <a:ea typeface="Calibri" pitchFamily="34" charset="-122"/>
                <a:cs typeface="Calibri" pitchFamily="34" charset="-120"/>
              </a:rPr>
              <a:t>Who decides it is done</a:t>
            </a:r>
            <a:endParaRPr lang="en-US" sz="950" dirty="0"/>
          </a:p>
        </p:txBody>
      </p:sp>
      <p:sp>
        <p:nvSpPr>
          <p:cNvPr id="6" name="Text 4"/>
          <p:cNvSpPr/>
          <p:nvPr/>
        </p:nvSpPr>
        <p:spPr>
          <a:xfrm>
            <a:off x="566928" y="3968496"/>
            <a:ext cx="987552" cy="658368"/>
          </a:xfrm>
          <a:prstGeom prst="rect">
            <a:avLst/>
          </a:prstGeom>
          <a:noFill/>
          <a:ln/>
        </p:spPr>
        <p:txBody>
          <a:bodyPr wrap="square" lIns="0" tIns="0" rIns="0" bIns="0" rtlCol="0" anchor="t"/>
          <a:lstStyle/>
          <a:p>
            <a:pPr marL="0" indent="0">
              <a:lnSpc>
                <a:spcPts val="1200"/>
              </a:lnSpc>
              <a:buNone/>
            </a:pPr>
            <a:r>
              <a:rPr lang="en-US" sz="950" b="1" dirty="0">
                <a:solidFill>
                  <a:srgbClr val="6E7781"/>
                </a:solidFill>
                <a:latin typeface="Calibri" pitchFamily="34" charset="0"/>
                <a:ea typeface="Calibri" pitchFamily="34" charset="-122"/>
                <a:cs typeface="Calibri" pitchFamily="34" charset="-120"/>
              </a:rPr>
              <a:t>What repeats</a:t>
            </a:r>
            <a:endParaRPr lang="en-US" sz="950" dirty="0"/>
          </a:p>
        </p:txBody>
      </p:sp>
      <p:sp>
        <p:nvSpPr>
          <p:cNvPr id="7" name="Text 5"/>
          <p:cNvSpPr/>
          <p:nvPr/>
        </p:nvSpPr>
        <p:spPr>
          <a:xfrm>
            <a:off x="566928" y="4700016"/>
            <a:ext cx="987552" cy="658368"/>
          </a:xfrm>
          <a:prstGeom prst="rect">
            <a:avLst/>
          </a:prstGeom>
          <a:noFill/>
          <a:ln/>
        </p:spPr>
        <p:txBody>
          <a:bodyPr wrap="square" lIns="0" tIns="0" rIns="0" bIns="0" rtlCol="0" anchor="t"/>
          <a:lstStyle/>
          <a:p>
            <a:pPr marL="0" indent="0">
              <a:lnSpc>
                <a:spcPts val="1200"/>
              </a:lnSpc>
              <a:buNone/>
            </a:pPr>
            <a:r>
              <a:rPr lang="en-US" sz="950" b="1" dirty="0">
                <a:solidFill>
                  <a:srgbClr val="6E7781"/>
                </a:solidFill>
                <a:latin typeface="Calibri" pitchFamily="34" charset="0"/>
                <a:ea typeface="Calibri" pitchFamily="34" charset="-122"/>
                <a:cs typeface="Calibri" pitchFamily="34" charset="-120"/>
              </a:rPr>
              <a:t>How it fails</a:t>
            </a:r>
            <a:endParaRPr lang="en-US" sz="950" dirty="0"/>
          </a:p>
        </p:txBody>
      </p:sp>
      <p:sp>
        <p:nvSpPr>
          <p:cNvPr id="8" name="Text 6"/>
          <p:cNvSpPr/>
          <p:nvPr/>
        </p:nvSpPr>
        <p:spPr>
          <a:xfrm>
            <a:off x="566928" y="5431536"/>
            <a:ext cx="987552" cy="658368"/>
          </a:xfrm>
          <a:prstGeom prst="rect">
            <a:avLst/>
          </a:prstGeom>
          <a:noFill/>
          <a:ln/>
        </p:spPr>
        <p:txBody>
          <a:bodyPr wrap="square" lIns="0" tIns="0" rIns="0" bIns="0" rtlCol="0" anchor="t"/>
          <a:lstStyle/>
          <a:p>
            <a:pPr marL="0" indent="0">
              <a:lnSpc>
                <a:spcPts val="1200"/>
              </a:lnSpc>
              <a:buNone/>
            </a:pPr>
            <a:r>
              <a:rPr lang="en-US" sz="950" b="1" dirty="0">
                <a:solidFill>
                  <a:srgbClr val="6E7781"/>
                </a:solidFill>
                <a:latin typeface="Calibri" pitchFamily="34" charset="0"/>
                <a:ea typeface="Calibri" pitchFamily="34" charset="-122"/>
                <a:cs typeface="Calibri" pitchFamily="34" charset="-120"/>
              </a:rPr>
              <a:t>Worth it for</a:t>
            </a:r>
            <a:endParaRPr lang="en-US" sz="950" dirty="0"/>
          </a:p>
        </p:txBody>
      </p:sp>
      <p:sp>
        <p:nvSpPr>
          <p:cNvPr id="9" name="Shape 7"/>
          <p:cNvSpPr/>
          <p:nvPr/>
        </p:nvSpPr>
        <p:spPr>
          <a:xfrm>
            <a:off x="1645920" y="2267712"/>
            <a:ext cx="3154680" cy="3877056"/>
          </a:xfrm>
          <a:prstGeom prst="roundRect">
            <a:avLst>
              <a:gd name="adj" fmla="val 1739"/>
            </a:avLst>
          </a:prstGeom>
          <a:solidFill>
            <a:srgbClr val="F6F8FA"/>
          </a:solidFill>
          <a:ln w="9525">
            <a:solidFill>
              <a:srgbClr val="D8DEE4"/>
            </a:solidFill>
            <a:prstDash val="solid"/>
          </a:ln>
          <a:effectLst>
            <a:outerShdw blurRad="177800" dist="38100" dir="5400000" algn="bl" rotWithShape="0">
              <a:srgbClr val="8C959F">
                <a:alpha val="16000"/>
              </a:srgbClr>
            </a:outerShdw>
          </a:effectLst>
        </p:spPr>
      </p:sp>
      <p:sp>
        <p:nvSpPr>
          <p:cNvPr id="10" name="Text 8"/>
          <p:cNvSpPr/>
          <p:nvPr/>
        </p:nvSpPr>
        <p:spPr>
          <a:xfrm>
            <a:off x="1883664" y="2468880"/>
            <a:ext cx="2679192" cy="329184"/>
          </a:xfrm>
          <a:prstGeom prst="rect">
            <a:avLst/>
          </a:prstGeom>
          <a:noFill/>
          <a:ln/>
        </p:spPr>
        <p:txBody>
          <a:bodyPr wrap="square" lIns="0" tIns="0" rIns="0" bIns="0" rtlCol="0" anchor="ctr"/>
          <a:lstStyle/>
          <a:p>
            <a:pPr marL="0" indent="0">
              <a:buNone/>
            </a:pPr>
            <a:r>
              <a:rPr lang="en-US" sz="1900" b="1" dirty="0">
                <a:solidFill>
                  <a:srgbClr val="15181D"/>
                </a:solidFill>
                <a:latin typeface="Cambria" pitchFamily="34" charset="0"/>
                <a:ea typeface="Cambria" pitchFamily="34" charset="-122"/>
                <a:cs typeface="Cambria" pitchFamily="34" charset="-120"/>
              </a:rPr>
              <a:t>Manual</a:t>
            </a:r>
            <a:endParaRPr lang="en-US" sz="1900" dirty="0"/>
          </a:p>
        </p:txBody>
      </p:sp>
      <p:sp>
        <p:nvSpPr>
          <p:cNvPr id="11" name="Text 9"/>
          <p:cNvSpPr/>
          <p:nvPr/>
        </p:nvSpPr>
        <p:spPr>
          <a:xfrm>
            <a:off x="1883664" y="2816352"/>
            <a:ext cx="2679192" cy="256032"/>
          </a:xfrm>
          <a:prstGeom prst="rect">
            <a:avLst/>
          </a:prstGeom>
          <a:noFill/>
          <a:ln/>
        </p:spPr>
        <p:txBody>
          <a:bodyPr wrap="square" lIns="0" tIns="0" rIns="0" bIns="0" rtlCol="0" anchor="ctr"/>
          <a:lstStyle/>
          <a:p>
            <a:pPr marL="0" indent="0">
              <a:buNone/>
            </a:pPr>
            <a:r>
              <a:rPr lang="en-US" sz="1100" i="1" dirty="0">
                <a:solidFill>
                  <a:srgbClr val="6E7781"/>
                </a:solidFill>
                <a:latin typeface="Calibri" pitchFamily="34" charset="0"/>
                <a:ea typeface="Calibri" pitchFamily="34" charset="-122"/>
                <a:cs typeface="Calibri" pitchFamily="34" charset="-120"/>
              </a:rPr>
              <a:t>You write the code</a:t>
            </a:r>
            <a:endParaRPr lang="en-US" sz="1100" dirty="0"/>
          </a:p>
        </p:txBody>
      </p:sp>
      <p:sp>
        <p:nvSpPr>
          <p:cNvPr id="12" name="Text 10"/>
          <p:cNvSpPr/>
          <p:nvPr/>
        </p:nvSpPr>
        <p:spPr>
          <a:xfrm>
            <a:off x="1883664" y="3255264"/>
            <a:ext cx="2679192" cy="658368"/>
          </a:xfrm>
          <a:prstGeom prst="rect">
            <a:avLst/>
          </a:prstGeom>
          <a:noFill/>
          <a:ln/>
        </p:spPr>
        <p:txBody>
          <a:bodyPr wrap="square" lIns="0" tIns="0" rIns="0" bIns="0" rtlCol="0" anchor="t"/>
          <a:lstStyle/>
          <a:p>
            <a:pPr marL="0" indent="0">
              <a:lnSpc>
                <a:spcPts val="1400"/>
              </a:lnSpc>
              <a:buNone/>
            </a:pPr>
            <a:r>
              <a:rPr lang="en-US" sz="1100" dirty="0">
                <a:solidFill>
                  <a:srgbClr val="2B3138"/>
                </a:solidFill>
                <a:latin typeface="Calibri" pitchFamily="34" charset="0"/>
                <a:ea typeface="Calibri" pitchFamily="34" charset="-122"/>
                <a:cs typeface="Calibri" pitchFamily="34" charset="-120"/>
              </a:rPr>
              <a:t>You do, when you stop typing</a:t>
            </a:r>
            <a:endParaRPr lang="en-US" sz="1100" dirty="0"/>
          </a:p>
        </p:txBody>
      </p:sp>
      <p:sp>
        <p:nvSpPr>
          <p:cNvPr id="13" name="Text 11"/>
          <p:cNvSpPr/>
          <p:nvPr/>
        </p:nvSpPr>
        <p:spPr>
          <a:xfrm>
            <a:off x="1883664" y="3986784"/>
            <a:ext cx="2679192" cy="658368"/>
          </a:xfrm>
          <a:prstGeom prst="rect">
            <a:avLst/>
          </a:prstGeom>
          <a:noFill/>
          <a:ln/>
        </p:spPr>
        <p:txBody>
          <a:bodyPr wrap="square" lIns="0" tIns="0" rIns="0" bIns="0" rtlCol="0" anchor="t"/>
          <a:lstStyle/>
          <a:p>
            <a:pPr marL="0" indent="0">
              <a:lnSpc>
                <a:spcPts val="1400"/>
              </a:lnSpc>
              <a:buNone/>
            </a:pPr>
            <a:r>
              <a:rPr lang="en-US" sz="1100" dirty="0">
                <a:solidFill>
                  <a:srgbClr val="2B3138"/>
                </a:solidFill>
                <a:latin typeface="Calibri" pitchFamily="34" charset="0"/>
                <a:ea typeface="Calibri" pitchFamily="34" charset="-122"/>
                <a:cs typeface="Calibri" pitchFamily="34" charset="-120"/>
              </a:rPr>
              <a:t>Nothing — you do it once</a:t>
            </a:r>
            <a:endParaRPr lang="en-US" sz="1100" dirty="0"/>
          </a:p>
        </p:txBody>
      </p:sp>
      <p:sp>
        <p:nvSpPr>
          <p:cNvPr id="14" name="Text 12"/>
          <p:cNvSpPr/>
          <p:nvPr/>
        </p:nvSpPr>
        <p:spPr>
          <a:xfrm>
            <a:off x="1883664" y="4718304"/>
            <a:ext cx="2679192" cy="658368"/>
          </a:xfrm>
          <a:prstGeom prst="rect">
            <a:avLst/>
          </a:prstGeom>
          <a:noFill/>
          <a:ln/>
        </p:spPr>
        <p:txBody>
          <a:bodyPr wrap="square" lIns="0" tIns="0" rIns="0" bIns="0" rtlCol="0" anchor="t"/>
          <a:lstStyle/>
          <a:p>
            <a:pPr marL="0" indent="0">
              <a:lnSpc>
                <a:spcPts val="1400"/>
              </a:lnSpc>
              <a:buNone/>
            </a:pPr>
            <a:r>
              <a:rPr lang="en-US" sz="1100" dirty="0">
                <a:solidFill>
                  <a:srgbClr val="2B3138"/>
                </a:solidFill>
                <a:latin typeface="Calibri" pitchFamily="34" charset="0"/>
                <a:ea typeface="Calibri" pitchFamily="34" charset="-122"/>
                <a:cs typeface="Calibri" pitchFamily="34" charset="-120"/>
              </a:rPr>
              <a:t>You run out of hours</a:t>
            </a:r>
            <a:endParaRPr lang="en-US" sz="1100" dirty="0"/>
          </a:p>
        </p:txBody>
      </p:sp>
      <p:sp>
        <p:nvSpPr>
          <p:cNvPr id="15" name="Text 13"/>
          <p:cNvSpPr/>
          <p:nvPr/>
        </p:nvSpPr>
        <p:spPr>
          <a:xfrm>
            <a:off x="1883664" y="5449824"/>
            <a:ext cx="2679192" cy="658368"/>
          </a:xfrm>
          <a:prstGeom prst="rect">
            <a:avLst/>
          </a:prstGeom>
          <a:noFill/>
          <a:ln/>
        </p:spPr>
        <p:txBody>
          <a:bodyPr wrap="square" lIns="0" tIns="0" rIns="0" bIns="0" rtlCol="0" anchor="t"/>
          <a:lstStyle/>
          <a:p>
            <a:pPr marL="0" indent="0">
              <a:lnSpc>
                <a:spcPts val="1400"/>
              </a:lnSpc>
              <a:buNone/>
            </a:pPr>
            <a:r>
              <a:rPr lang="en-US" sz="1100" dirty="0">
                <a:solidFill>
                  <a:srgbClr val="2B3138"/>
                </a:solidFill>
                <a:latin typeface="Calibri" pitchFamily="34" charset="0"/>
                <a:ea typeface="Calibri" pitchFamily="34" charset="-122"/>
                <a:cs typeface="Calibri" pitchFamily="34" charset="-120"/>
              </a:rPr>
              <a:t>Small, judgement-heavy edits</a:t>
            </a:r>
            <a:endParaRPr lang="en-US" sz="1100" dirty="0"/>
          </a:p>
        </p:txBody>
      </p:sp>
      <p:sp>
        <p:nvSpPr>
          <p:cNvPr id="16" name="Shape 14"/>
          <p:cNvSpPr/>
          <p:nvPr/>
        </p:nvSpPr>
        <p:spPr>
          <a:xfrm>
            <a:off x="5056632" y="2267712"/>
            <a:ext cx="3154680" cy="3877056"/>
          </a:xfrm>
          <a:prstGeom prst="roundRect">
            <a:avLst>
              <a:gd name="adj" fmla="val 1739"/>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17" name="Text 15"/>
          <p:cNvSpPr/>
          <p:nvPr/>
        </p:nvSpPr>
        <p:spPr>
          <a:xfrm>
            <a:off x="5294376" y="2468880"/>
            <a:ext cx="2679192" cy="329184"/>
          </a:xfrm>
          <a:prstGeom prst="rect">
            <a:avLst/>
          </a:prstGeom>
          <a:noFill/>
          <a:ln/>
        </p:spPr>
        <p:txBody>
          <a:bodyPr wrap="square" lIns="0" tIns="0" rIns="0" bIns="0" rtlCol="0" anchor="ctr"/>
          <a:lstStyle/>
          <a:p>
            <a:pPr marL="0" indent="0">
              <a:buNone/>
            </a:pPr>
            <a:r>
              <a:rPr lang="en-US" sz="1900" b="1" dirty="0">
                <a:solidFill>
                  <a:srgbClr val="0969DA"/>
                </a:solidFill>
                <a:latin typeface="Cambria" pitchFamily="34" charset="0"/>
                <a:ea typeface="Cambria" pitchFamily="34" charset="-122"/>
                <a:cs typeface="Cambria" pitchFamily="34" charset="-120"/>
              </a:rPr>
              <a:t>Agentic</a:t>
            </a:r>
            <a:endParaRPr lang="en-US" sz="1900" dirty="0"/>
          </a:p>
        </p:txBody>
      </p:sp>
      <p:sp>
        <p:nvSpPr>
          <p:cNvPr id="18" name="Text 16"/>
          <p:cNvSpPr/>
          <p:nvPr/>
        </p:nvSpPr>
        <p:spPr>
          <a:xfrm>
            <a:off x="5294376" y="2816352"/>
            <a:ext cx="2679192" cy="256032"/>
          </a:xfrm>
          <a:prstGeom prst="rect">
            <a:avLst/>
          </a:prstGeom>
          <a:noFill/>
          <a:ln/>
        </p:spPr>
        <p:txBody>
          <a:bodyPr wrap="square" lIns="0" tIns="0" rIns="0" bIns="0" rtlCol="0" anchor="ctr"/>
          <a:lstStyle/>
          <a:p>
            <a:pPr marL="0" indent="0">
              <a:buNone/>
            </a:pPr>
            <a:r>
              <a:rPr lang="en-US" sz="1100" i="1" dirty="0">
                <a:solidFill>
                  <a:srgbClr val="6E7781"/>
                </a:solidFill>
                <a:latin typeface="Calibri" pitchFamily="34" charset="0"/>
                <a:ea typeface="Calibri" pitchFamily="34" charset="-122"/>
                <a:cs typeface="Calibri" pitchFamily="34" charset="-120"/>
              </a:rPr>
              <a:t>You write a prompt</a:t>
            </a:r>
            <a:endParaRPr lang="en-US" sz="1100" dirty="0"/>
          </a:p>
        </p:txBody>
      </p:sp>
      <p:sp>
        <p:nvSpPr>
          <p:cNvPr id="19" name="Text 17"/>
          <p:cNvSpPr/>
          <p:nvPr/>
        </p:nvSpPr>
        <p:spPr>
          <a:xfrm>
            <a:off x="5294376" y="3255264"/>
            <a:ext cx="2679192" cy="658368"/>
          </a:xfrm>
          <a:prstGeom prst="rect">
            <a:avLst/>
          </a:prstGeom>
          <a:noFill/>
          <a:ln/>
        </p:spPr>
        <p:txBody>
          <a:bodyPr wrap="square" lIns="0" tIns="0" rIns="0" bIns="0" rtlCol="0" anchor="t"/>
          <a:lstStyle/>
          <a:p>
            <a:pPr marL="0" indent="0">
              <a:lnSpc>
                <a:spcPts val="1400"/>
              </a:lnSpc>
              <a:buNone/>
            </a:pPr>
            <a:r>
              <a:rPr lang="en-US" sz="1100" dirty="0">
                <a:solidFill>
                  <a:srgbClr val="2B3138"/>
                </a:solidFill>
                <a:latin typeface="Calibri" pitchFamily="34" charset="0"/>
                <a:ea typeface="Calibri" pitchFamily="34" charset="-122"/>
                <a:cs typeface="Calibri" pitchFamily="34" charset="-120"/>
              </a:rPr>
              <a:t>The model does, when it judges the task complete</a:t>
            </a:r>
            <a:endParaRPr lang="en-US" sz="1100" dirty="0"/>
          </a:p>
        </p:txBody>
      </p:sp>
      <p:sp>
        <p:nvSpPr>
          <p:cNvPr id="20" name="Text 18"/>
          <p:cNvSpPr/>
          <p:nvPr/>
        </p:nvSpPr>
        <p:spPr>
          <a:xfrm>
            <a:off x="5294376" y="3986784"/>
            <a:ext cx="2679192" cy="658368"/>
          </a:xfrm>
          <a:prstGeom prst="rect">
            <a:avLst/>
          </a:prstGeom>
          <a:noFill/>
          <a:ln/>
        </p:spPr>
        <p:txBody>
          <a:bodyPr wrap="square" lIns="0" tIns="0" rIns="0" bIns="0" rtlCol="0" anchor="t"/>
          <a:lstStyle/>
          <a:p>
            <a:pPr marL="0" indent="0">
              <a:lnSpc>
                <a:spcPts val="1400"/>
              </a:lnSpc>
              <a:buNone/>
            </a:pPr>
            <a:r>
              <a:rPr lang="en-US" sz="1100" dirty="0">
                <a:solidFill>
                  <a:srgbClr val="2B3138"/>
                </a:solidFill>
                <a:latin typeface="Calibri" pitchFamily="34" charset="0"/>
                <a:ea typeface="Calibri" pitchFamily="34" charset="-122"/>
                <a:cs typeface="Calibri" pitchFamily="34" charset="-120"/>
              </a:rPr>
              <a:t>Whatever the agent noticed itself</a:t>
            </a:r>
            <a:endParaRPr lang="en-US" sz="1100" dirty="0"/>
          </a:p>
        </p:txBody>
      </p:sp>
      <p:sp>
        <p:nvSpPr>
          <p:cNvPr id="21" name="Text 19"/>
          <p:cNvSpPr/>
          <p:nvPr/>
        </p:nvSpPr>
        <p:spPr>
          <a:xfrm>
            <a:off x="5294376" y="4718304"/>
            <a:ext cx="2679192" cy="658368"/>
          </a:xfrm>
          <a:prstGeom prst="rect">
            <a:avLst/>
          </a:prstGeom>
          <a:noFill/>
          <a:ln/>
        </p:spPr>
        <p:txBody>
          <a:bodyPr wrap="square" lIns="0" tIns="0" rIns="0" bIns="0" rtlCol="0" anchor="t"/>
          <a:lstStyle/>
          <a:p>
            <a:pPr marL="0" indent="0">
              <a:lnSpc>
                <a:spcPts val="1400"/>
              </a:lnSpc>
              <a:buNone/>
            </a:pPr>
            <a:r>
              <a:rPr lang="en-US" sz="1100" dirty="0">
                <a:solidFill>
                  <a:srgbClr val="2B3138"/>
                </a:solidFill>
                <a:latin typeface="Calibri" pitchFamily="34" charset="0"/>
                <a:ea typeface="Calibri" pitchFamily="34" charset="-122"/>
                <a:cs typeface="Calibri" pitchFamily="34" charset="-120"/>
              </a:rPr>
              <a:t>It is confident and wrong, and nothing catches it</a:t>
            </a:r>
            <a:endParaRPr lang="en-US" sz="1100" dirty="0"/>
          </a:p>
        </p:txBody>
      </p:sp>
      <p:sp>
        <p:nvSpPr>
          <p:cNvPr id="22" name="Text 20"/>
          <p:cNvSpPr/>
          <p:nvPr/>
        </p:nvSpPr>
        <p:spPr>
          <a:xfrm>
            <a:off x="5294376" y="5449824"/>
            <a:ext cx="2679192" cy="658368"/>
          </a:xfrm>
          <a:prstGeom prst="rect">
            <a:avLst/>
          </a:prstGeom>
          <a:noFill/>
          <a:ln/>
        </p:spPr>
        <p:txBody>
          <a:bodyPr wrap="square" lIns="0" tIns="0" rIns="0" bIns="0" rtlCol="0" anchor="t"/>
          <a:lstStyle/>
          <a:p>
            <a:pPr marL="0" indent="0">
              <a:lnSpc>
                <a:spcPts val="1400"/>
              </a:lnSpc>
              <a:buNone/>
            </a:pPr>
            <a:r>
              <a:rPr lang="en-US" sz="1100" dirty="0">
                <a:solidFill>
                  <a:srgbClr val="2B3138"/>
                </a:solidFill>
                <a:latin typeface="Calibri" pitchFamily="34" charset="0"/>
                <a:ea typeface="Calibri" pitchFamily="34" charset="-122"/>
                <a:cs typeface="Calibri" pitchFamily="34" charset="-120"/>
              </a:rPr>
              <a:t>Well-scoped one-off tasks</a:t>
            </a:r>
            <a:endParaRPr lang="en-US" sz="1100" dirty="0"/>
          </a:p>
        </p:txBody>
      </p:sp>
      <p:sp>
        <p:nvSpPr>
          <p:cNvPr id="23" name="Shape 21"/>
          <p:cNvSpPr/>
          <p:nvPr/>
        </p:nvSpPr>
        <p:spPr>
          <a:xfrm>
            <a:off x="8467344" y="2267712"/>
            <a:ext cx="3154680" cy="3877056"/>
          </a:xfrm>
          <a:prstGeom prst="roundRect">
            <a:avLst>
              <a:gd name="adj" fmla="val 1739"/>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24" name="Text 22"/>
          <p:cNvSpPr/>
          <p:nvPr/>
        </p:nvSpPr>
        <p:spPr>
          <a:xfrm>
            <a:off x="8705088" y="2468880"/>
            <a:ext cx="2679192" cy="329184"/>
          </a:xfrm>
          <a:prstGeom prst="rect">
            <a:avLst/>
          </a:prstGeom>
          <a:noFill/>
          <a:ln/>
        </p:spPr>
        <p:txBody>
          <a:bodyPr wrap="square" lIns="0" tIns="0" rIns="0" bIns="0" rtlCol="0" anchor="ctr"/>
          <a:lstStyle/>
          <a:p>
            <a:pPr marL="0" indent="0">
              <a:buNone/>
            </a:pPr>
            <a:r>
              <a:rPr lang="en-US" sz="1900" b="1" dirty="0">
                <a:solidFill>
                  <a:srgbClr val="C2410C"/>
                </a:solidFill>
                <a:latin typeface="Cambria" pitchFamily="34" charset="0"/>
                <a:ea typeface="Cambria" pitchFamily="34" charset="-122"/>
                <a:cs typeface="Cambria" pitchFamily="34" charset="-120"/>
              </a:rPr>
              <a:t>Loop</a:t>
            </a:r>
            <a:endParaRPr lang="en-US" sz="1900" dirty="0"/>
          </a:p>
        </p:txBody>
      </p:sp>
      <p:sp>
        <p:nvSpPr>
          <p:cNvPr id="25" name="Text 23"/>
          <p:cNvSpPr/>
          <p:nvPr/>
        </p:nvSpPr>
        <p:spPr>
          <a:xfrm>
            <a:off x="8705088" y="2816352"/>
            <a:ext cx="2679192" cy="256032"/>
          </a:xfrm>
          <a:prstGeom prst="rect">
            <a:avLst/>
          </a:prstGeom>
          <a:noFill/>
          <a:ln/>
        </p:spPr>
        <p:txBody>
          <a:bodyPr wrap="square" lIns="0" tIns="0" rIns="0" bIns="0" rtlCol="0" anchor="ctr"/>
          <a:lstStyle/>
          <a:p>
            <a:pPr marL="0" indent="0">
              <a:buNone/>
            </a:pPr>
            <a:r>
              <a:rPr lang="en-US" sz="1100" i="1" dirty="0">
                <a:solidFill>
                  <a:srgbClr val="6E7781"/>
                </a:solidFill>
                <a:latin typeface="Calibri" pitchFamily="34" charset="0"/>
                <a:ea typeface="Calibri" pitchFamily="34" charset="-122"/>
                <a:cs typeface="Calibri" pitchFamily="34" charset="-120"/>
              </a:rPr>
              <a:t>You write a stop condition</a:t>
            </a:r>
            <a:endParaRPr lang="en-US" sz="1100" dirty="0"/>
          </a:p>
        </p:txBody>
      </p:sp>
      <p:sp>
        <p:nvSpPr>
          <p:cNvPr id="26" name="Text 24"/>
          <p:cNvSpPr/>
          <p:nvPr/>
        </p:nvSpPr>
        <p:spPr>
          <a:xfrm>
            <a:off x="8705088" y="3255264"/>
            <a:ext cx="2679192" cy="658368"/>
          </a:xfrm>
          <a:prstGeom prst="rect">
            <a:avLst/>
          </a:prstGeom>
          <a:noFill/>
          <a:ln/>
        </p:spPr>
        <p:txBody>
          <a:bodyPr wrap="square" lIns="0" tIns="0" rIns="0" bIns="0" rtlCol="0" anchor="t"/>
          <a:lstStyle/>
          <a:p>
            <a:pPr marL="0" indent="0">
              <a:lnSpc>
                <a:spcPts val="1400"/>
              </a:lnSpc>
              <a:buNone/>
            </a:pPr>
            <a:r>
              <a:rPr lang="en-US" sz="1100" dirty="0">
                <a:solidFill>
                  <a:srgbClr val="2B3138"/>
                </a:solidFill>
                <a:latin typeface="Calibri" pitchFamily="34" charset="0"/>
                <a:ea typeface="Calibri" pitchFamily="34" charset="-122"/>
                <a:cs typeface="Calibri" pitchFamily="34" charset="-120"/>
              </a:rPr>
              <a:t>A separate check does, and it has to actually pass</a:t>
            </a:r>
            <a:endParaRPr lang="en-US" sz="1100" dirty="0"/>
          </a:p>
        </p:txBody>
      </p:sp>
      <p:sp>
        <p:nvSpPr>
          <p:cNvPr id="27" name="Text 25"/>
          <p:cNvSpPr/>
          <p:nvPr/>
        </p:nvSpPr>
        <p:spPr>
          <a:xfrm>
            <a:off x="8705088" y="3986784"/>
            <a:ext cx="2679192" cy="658368"/>
          </a:xfrm>
          <a:prstGeom prst="rect">
            <a:avLst/>
          </a:prstGeom>
          <a:noFill/>
          <a:ln/>
        </p:spPr>
        <p:txBody>
          <a:bodyPr wrap="square" lIns="0" tIns="0" rIns="0" bIns="0" rtlCol="0" anchor="t"/>
          <a:lstStyle/>
          <a:p>
            <a:pPr marL="0" indent="0">
              <a:lnSpc>
                <a:spcPts val="1400"/>
              </a:lnSpc>
              <a:buNone/>
            </a:pPr>
            <a:r>
              <a:rPr lang="en-US" sz="1100" dirty="0">
                <a:solidFill>
                  <a:srgbClr val="2B3138"/>
                </a:solidFill>
                <a:latin typeface="Calibri" pitchFamily="34" charset="0"/>
                <a:ea typeface="Calibri" pitchFamily="34" charset="-122"/>
                <a:cs typeface="Calibri" pitchFamily="34" charset="-120"/>
              </a:rPr>
              <a:t>Everything, until the condition holds or the cap is hit</a:t>
            </a:r>
            <a:endParaRPr lang="en-US" sz="1100" dirty="0"/>
          </a:p>
        </p:txBody>
      </p:sp>
      <p:sp>
        <p:nvSpPr>
          <p:cNvPr id="28" name="Text 26"/>
          <p:cNvSpPr/>
          <p:nvPr/>
        </p:nvSpPr>
        <p:spPr>
          <a:xfrm>
            <a:off x="8705088" y="4718304"/>
            <a:ext cx="2679192" cy="658368"/>
          </a:xfrm>
          <a:prstGeom prst="rect">
            <a:avLst/>
          </a:prstGeom>
          <a:noFill/>
          <a:ln/>
        </p:spPr>
        <p:txBody>
          <a:bodyPr wrap="square" lIns="0" tIns="0" rIns="0" bIns="0" rtlCol="0" anchor="t"/>
          <a:lstStyle/>
          <a:p>
            <a:pPr marL="0" indent="0">
              <a:lnSpc>
                <a:spcPts val="1400"/>
              </a:lnSpc>
              <a:buNone/>
            </a:pPr>
            <a:r>
              <a:rPr lang="en-US" sz="1100" dirty="0">
                <a:solidFill>
                  <a:srgbClr val="2B3138"/>
                </a:solidFill>
                <a:latin typeface="Calibri" pitchFamily="34" charset="0"/>
                <a:ea typeface="Calibri" pitchFamily="34" charset="-122"/>
                <a:cs typeface="Calibri" pitchFamily="34" charset="-120"/>
              </a:rPr>
              <a:t>Your criterion was subjective, so it stops too early</a:t>
            </a:r>
            <a:endParaRPr lang="en-US" sz="1100" dirty="0"/>
          </a:p>
        </p:txBody>
      </p:sp>
      <p:sp>
        <p:nvSpPr>
          <p:cNvPr id="29" name="Text 27"/>
          <p:cNvSpPr/>
          <p:nvPr/>
        </p:nvSpPr>
        <p:spPr>
          <a:xfrm>
            <a:off x="8705088" y="5449824"/>
            <a:ext cx="2679192" cy="658368"/>
          </a:xfrm>
          <a:prstGeom prst="rect">
            <a:avLst/>
          </a:prstGeom>
          <a:noFill/>
          <a:ln/>
        </p:spPr>
        <p:txBody>
          <a:bodyPr wrap="square" lIns="0" tIns="0" rIns="0" bIns="0" rtlCol="0" anchor="t"/>
          <a:lstStyle/>
          <a:p>
            <a:pPr marL="0" indent="0">
              <a:lnSpc>
                <a:spcPts val="1400"/>
              </a:lnSpc>
              <a:buNone/>
            </a:pPr>
            <a:r>
              <a:rPr lang="en-US" sz="1100" dirty="0">
                <a:solidFill>
                  <a:srgbClr val="2B3138"/>
                </a:solidFill>
                <a:latin typeface="Calibri" pitchFamily="34" charset="0"/>
                <a:ea typeface="Calibri" pitchFamily="34" charset="-122"/>
                <a:cs typeface="Calibri" pitchFamily="34" charset="-120"/>
              </a:rPr>
              <a:t>Anything with a verifiable end state</a:t>
            </a:r>
            <a:endParaRPr lang="en-US" sz="1100" dirty="0"/>
          </a:p>
        </p:txBody>
      </p:sp>
      <p:sp>
        <p:nvSpPr>
          <p:cNvPr id="30" name="Text 28"/>
          <p:cNvSpPr/>
          <p:nvPr/>
        </p:nvSpPr>
        <p:spPr>
          <a:xfrm>
            <a:off x="566928" y="6437376"/>
            <a:ext cx="10552176" cy="237744"/>
          </a:xfrm>
          <a:prstGeom prst="rect">
            <a:avLst/>
          </a:prstGeom>
          <a:noFill/>
          <a:ln/>
        </p:spPr>
        <p:txBody>
          <a:bodyPr wrap="square" lIns="0" tIns="0" rIns="0" bIns="0" rtlCol="0" anchor="ctr"/>
          <a:lstStyle/>
          <a:p>
            <a:pPr marL="0" indent="0">
              <a:buNone/>
            </a:pPr>
            <a:r>
              <a:rPr lang="en-US" sz="850" b="1" dirty="0">
                <a:solidFill>
                  <a:srgbClr val="6E7781"/>
                </a:solidFill>
                <a:latin typeface="Calibri" pitchFamily="34" charset="0"/>
                <a:ea typeface="Calibri" pitchFamily="34" charset="-122"/>
                <a:cs typeface="Calibri" pitchFamily="34" charset="-120"/>
              </a:rPr>
              <a:t>Sources   </a:t>
            </a:r>
            <a:r>
              <a:rPr lang="en-US" sz="850" dirty="0">
                <a:solidFill>
                  <a:srgbClr val="6E7781"/>
                </a:solidFill>
                <a:latin typeface="Calibri" pitchFamily="34" charset="0"/>
                <a:ea typeface="Calibri" pitchFamily="34" charset="-122"/>
                <a:cs typeface="Calibri" pitchFamily="34" charset="-120"/>
              </a:rPr>
              <a:t>code.claude.com/docs/en/goal · claude.com/blog/getting-started-with-loops</a:t>
            </a:r>
            <a:endParaRPr lang="en-US" sz="850" dirty="0"/>
          </a:p>
        </p:txBody>
      </p:sp>
      <p:sp>
        <p:nvSpPr>
          <p:cNvPr id="31"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20"/>
                                        <p:tgtEl>
                                          <p:spTgt spid="9"/>
                                        </p:tgtEl>
                                      </p:cBhvr>
                                    </p:animEffect>
                                    <p:anim calcmode="lin" valueType="num">
                                      <p:cBhvr additive="base">
                                        <p:cTn id="8" dur="420" fill="hold"/>
                                        <p:tgtEl>
                                          <p:spTgt spid="9"/>
                                        </p:tgtEl>
                                        <p:attrNameLst>
                                          <p:attrName>ppt_y</p:attrName>
                                        </p:attrNameLst>
                                      </p:cBhvr>
                                      <p:tavLst>
                                        <p:tav tm="0">
                                          <p:val>
                                            <p:strVal val="#ppt_y+0.035"/>
                                          </p:val>
                                        </p:tav>
                                        <p:tav tm="100000">
                                          <p:val>
                                            <p:strVal val="#ppt_y"/>
                                          </p:val>
                                        </p:tav>
                                      </p:tavLst>
                                    </p:anim>
                                    <p:set>
                                      <p:cBhvr>
                                        <p:cTn id="9" dur="1" fill="hold">
                                          <p:stCondLst>
                                            <p:cond delay="0"/>
                                          </p:stCondLst>
                                        </p:cTn>
                                        <p:tgtEl>
                                          <p:spTgt spid="16"/>
                                        </p:tgtEl>
                                        <p:attrNameLst>
                                          <p:attrName>style.visibility</p:attrName>
                                        </p:attrNameLst>
                                      </p:cBhvr>
                                      <p:to>
                                        <p:strVal val="visible"/>
                                      </p:to>
                                    </p:set>
                                    <p:animEffect transition="in" filter="fade">
                                      <p:cBhvr>
                                        <p:cTn id="10" dur="420"/>
                                        <p:tgtEl>
                                          <p:spTgt spid="16"/>
                                        </p:tgtEl>
                                      </p:cBhvr>
                                    </p:animEffect>
                                    <p:anim calcmode="lin" valueType="num">
                                      <p:cBhvr additive="base">
                                        <p:cTn id="11" dur="420" fill="hold"/>
                                        <p:tgtEl>
                                          <p:spTgt spid="16"/>
                                        </p:tgtEl>
                                        <p:attrNameLst>
                                          <p:attrName>ppt_y</p:attrName>
                                        </p:attrNameLst>
                                      </p:cBhvr>
                                      <p:tavLst>
                                        <p:tav tm="0">
                                          <p:val>
                                            <p:strVal val="#ppt_y+0.035"/>
                                          </p:val>
                                        </p:tav>
                                        <p:tav tm="100000">
                                          <p:val>
                                            <p:strVal val="#ppt_y"/>
                                          </p:val>
                                        </p:tav>
                                      </p:tavLst>
                                    </p:anim>
                                    <p:set>
                                      <p:cBhvr>
                                        <p:cTn id="12" dur="1" fill="hold">
                                          <p:stCondLst>
                                            <p:cond delay="0"/>
                                          </p:stCondLst>
                                        </p:cTn>
                                        <p:tgtEl>
                                          <p:spTgt spid="23"/>
                                        </p:tgtEl>
                                        <p:attrNameLst>
                                          <p:attrName>style.visibility</p:attrName>
                                        </p:attrNameLst>
                                      </p:cBhvr>
                                      <p:to>
                                        <p:strVal val="visible"/>
                                      </p:to>
                                    </p:set>
                                    <p:animEffect transition="in" filter="fade">
                                      <p:cBhvr>
                                        <p:cTn id="13" dur="420"/>
                                        <p:tgtEl>
                                          <p:spTgt spid="23"/>
                                        </p:tgtEl>
                                      </p:cBhvr>
                                    </p:animEffect>
                                    <p:anim calcmode="lin" valueType="num">
                                      <p:cBhvr additive="base">
                                        <p:cTn id="14" dur="420" fill="hold"/>
                                        <p:tgtEl>
                                          <p:spTgt spid="23"/>
                                        </p:tgtEl>
                                        <p:attrNameLst>
                                          <p:attrName>ppt_y</p:attrName>
                                        </p:attrNameLst>
                                      </p:cBhvr>
                                      <p:tavLst>
                                        <p:tav tm="0">
                                          <p:val>
                                            <p:strVal val="#ppt_y+0.035"/>
                                          </p:val>
                                        </p:tav>
                                        <p:tav tm="100000">
                                          <p:val>
                                            <p:strVal val="#ppt_y"/>
                                          </p:val>
                                        </p:tav>
                                      </p:tavLst>
                                    </p:anim>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anim calcmode="lin" valueType="num">
                                      <p:cBhvr additive="base">
                                        <p:cTn id="17" dur="420" fill="hold"/>
                                        <p:tgtEl>
                                          <p:spTgt spid="10"/>
                                        </p:tgtEl>
                                        <p:attrNameLst>
                                          <p:attrName>ppt_y</p:attrName>
                                        </p:attrNameLst>
                                      </p:cBhvr>
                                      <p:tavLst>
                                        <p:tav tm="0">
                                          <p:val>
                                            <p:strVal val="#ppt_y+0.035"/>
                                          </p:val>
                                        </p:tav>
                                        <p:tav tm="100000">
                                          <p:val>
                                            <p:strVal val="#ppt_y"/>
                                          </p:val>
                                        </p:tav>
                                      </p:tavLst>
                                    </p:anim>
                                    <p:set>
                                      <p:cBhvr>
                                        <p:cTn id="18" dur="1" fill="hold">
                                          <p:stCondLst>
                                            <p:cond delay="0"/>
                                          </p:stCondLst>
                                        </p:cTn>
                                        <p:tgtEl>
                                          <p:spTgt spid="17"/>
                                        </p:tgtEl>
                                        <p:attrNameLst>
                                          <p:attrName>style.visibility</p:attrName>
                                        </p:attrNameLst>
                                      </p:cBhvr>
                                      <p:to>
                                        <p:strVal val="visible"/>
                                      </p:to>
                                    </p:set>
                                    <p:animEffect transition="in" filter="fade">
                                      <p:cBhvr>
                                        <p:cTn id="19" dur="420"/>
                                        <p:tgtEl>
                                          <p:spTgt spid="17"/>
                                        </p:tgtEl>
                                      </p:cBhvr>
                                    </p:animEffect>
                                    <p:anim calcmode="lin" valueType="num">
                                      <p:cBhvr additive="base">
                                        <p:cTn id="20" dur="420" fill="hold"/>
                                        <p:tgtEl>
                                          <p:spTgt spid="17"/>
                                        </p:tgtEl>
                                        <p:attrNameLst>
                                          <p:attrName>ppt_y</p:attrName>
                                        </p:attrNameLst>
                                      </p:cBhvr>
                                      <p:tavLst>
                                        <p:tav tm="0">
                                          <p:val>
                                            <p:strVal val="#ppt_y+0.035"/>
                                          </p:val>
                                        </p:tav>
                                        <p:tav tm="100000">
                                          <p:val>
                                            <p:strVal val="#ppt_y"/>
                                          </p:val>
                                        </p:tav>
                                      </p:tavLst>
                                    </p:anim>
                                    <p:set>
                                      <p:cBhvr>
                                        <p:cTn id="21" dur="1" fill="hold">
                                          <p:stCondLst>
                                            <p:cond delay="0"/>
                                          </p:stCondLst>
                                        </p:cTn>
                                        <p:tgtEl>
                                          <p:spTgt spid="24"/>
                                        </p:tgtEl>
                                        <p:attrNameLst>
                                          <p:attrName>style.visibility</p:attrName>
                                        </p:attrNameLst>
                                      </p:cBhvr>
                                      <p:to>
                                        <p:strVal val="visible"/>
                                      </p:to>
                                    </p:set>
                                    <p:animEffect transition="in" filter="fade">
                                      <p:cBhvr>
                                        <p:cTn id="22" dur="420"/>
                                        <p:tgtEl>
                                          <p:spTgt spid="24"/>
                                        </p:tgtEl>
                                      </p:cBhvr>
                                    </p:animEffect>
                                    <p:anim calcmode="lin" valueType="num">
                                      <p:cBhvr additive="base">
                                        <p:cTn id="23" dur="420" fill="hold"/>
                                        <p:tgtEl>
                                          <p:spTgt spid="24"/>
                                        </p:tgtEl>
                                        <p:attrNameLst>
                                          <p:attrName>ppt_y</p:attrName>
                                        </p:attrNameLst>
                                      </p:cBhvr>
                                      <p:tavLst>
                                        <p:tav tm="0">
                                          <p:val>
                                            <p:strVal val="#ppt_y+0.035"/>
                                          </p:val>
                                        </p:tav>
                                        <p:tav tm="100000">
                                          <p:val>
                                            <p:strVal val="#ppt_y"/>
                                          </p:val>
                                        </p:tav>
                                      </p:tavLst>
                                    </p:anim>
                                    <p:set>
                                      <p:cBhvr>
                                        <p:cTn id="24" dur="1" fill="hold">
                                          <p:stCondLst>
                                            <p:cond delay="0"/>
                                          </p:stCondLst>
                                        </p:cTn>
                                        <p:tgtEl>
                                          <p:spTgt spid="11"/>
                                        </p:tgtEl>
                                        <p:attrNameLst>
                                          <p:attrName>style.visibility</p:attrName>
                                        </p:attrNameLst>
                                      </p:cBhvr>
                                      <p:to>
                                        <p:strVal val="visible"/>
                                      </p:to>
                                    </p:set>
                                    <p:animEffect transition="in" filter="fade">
                                      <p:cBhvr>
                                        <p:cTn id="25" dur="420"/>
                                        <p:tgtEl>
                                          <p:spTgt spid="11"/>
                                        </p:tgtEl>
                                      </p:cBhvr>
                                    </p:animEffect>
                                    <p:anim calcmode="lin" valueType="num">
                                      <p:cBhvr additive="base">
                                        <p:cTn id="26" dur="420" fill="hold"/>
                                        <p:tgtEl>
                                          <p:spTgt spid="11"/>
                                        </p:tgtEl>
                                        <p:attrNameLst>
                                          <p:attrName>ppt_y</p:attrName>
                                        </p:attrNameLst>
                                      </p:cBhvr>
                                      <p:tavLst>
                                        <p:tav tm="0">
                                          <p:val>
                                            <p:strVal val="#ppt_y+0.035"/>
                                          </p:val>
                                        </p:tav>
                                        <p:tav tm="100000">
                                          <p:val>
                                            <p:strVal val="#ppt_y"/>
                                          </p:val>
                                        </p:tav>
                                      </p:tavLst>
                                    </p:anim>
                                    <p:set>
                                      <p:cBhvr>
                                        <p:cTn id="27" dur="1" fill="hold">
                                          <p:stCondLst>
                                            <p:cond delay="0"/>
                                          </p:stCondLst>
                                        </p:cTn>
                                        <p:tgtEl>
                                          <p:spTgt spid="18"/>
                                        </p:tgtEl>
                                        <p:attrNameLst>
                                          <p:attrName>style.visibility</p:attrName>
                                        </p:attrNameLst>
                                      </p:cBhvr>
                                      <p:to>
                                        <p:strVal val="visible"/>
                                      </p:to>
                                    </p:set>
                                    <p:animEffect transition="in" filter="fade">
                                      <p:cBhvr>
                                        <p:cTn id="28" dur="420"/>
                                        <p:tgtEl>
                                          <p:spTgt spid="18"/>
                                        </p:tgtEl>
                                      </p:cBhvr>
                                    </p:animEffect>
                                    <p:anim calcmode="lin" valueType="num">
                                      <p:cBhvr additive="base">
                                        <p:cTn id="29" dur="420" fill="hold"/>
                                        <p:tgtEl>
                                          <p:spTgt spid="18"/>
                                        </p:tgtEl>
                                        <p:attrNameLst>
                                          <p:attrName>ppt_y</p:attrName>
                                        </p:attrNameLst>
                                      </p:cBhvr>
                                      <p:tavLst>
                                        <p:tav tm="0">
                                          <p:val>
                                            <p:strVal val="#ppt_y+0.035"/>
                                          </p:val>
                                        </p:tav>
                                        <p:tav tm="100000">
                                          <p:val>
                                            <p:strVal val="#ppt_y"/>
                                          </p:val>
                                        </p:tav>
                                      </p:tavLst>
                                    </p:anim>
                                    <p:set>
                                      <p:cBhvr>
                                        <p:cTn id="30" dur="1" fill="hold">
                                          <p:stCondLst>
                                            <p:cond delay="0"/>
                                          </p:stCondLst>
                                        </p:cTn>
                                        <p:tgtEl>
                                          <p:spTgt spid="25"/>
                                        </p:tgtEl>
                                        <p:attrNameLst>
                                          <p:attrName>style.visibility</p:attrName>
                                        </p:attrNameLst>
                                      </p:cBhvr>
                                      <p:to>
                                        <p:strVal val="visible"/>
                                      </p:to>
                                    </p:set>
                                    <p:animEffect transition="in" filter="fade">
                                      <p:cBhvr>
                                        <p:cTn id="31" dur="420"/>
                                        <p:tgtEl>
                                          <p:spTgt spid="25"/>
                                        </p:tgtEl>
                                      </p:cBhvr>
                                    </p:animEffect>
                                    <p:anim calcmode="lin" valueType="num">
                                      <p:cBhvr additive="base">
                                        <p:cTn id="32" dur="420" fill="hold"/>
                                        <p:tgtEl>
                                          <p:spTgt spid="25"/>
                                        </p:tgtEl>
                                        <p:attrNameLst>
                                          <p:attrName>ppt_y</p:attrName>
                                        </p:attrNameLst>
                                      </p:cBhvr>
                                      <p:tavLst>
                                        <p:tav tm="0">
                                          <p:val>
                                            <p:strVal val="#ppt_y+0.035"/>
                                          </p:val>
                                        </p:tav>
                                        <p:tav tm="100000">
                                          <p:val>
                                            <p:strVal val="#ppt_y"/>
                                          </p:val>
                                        </p:tav>
                                      </p:tavLst>
                                    </p:anim>
                                    <p:set>
                                      <p:cBhvr>
                                        <p:cTn id="33" dur="1" fill="hold">
                                          <p:stCondLst>
                                            <p:cond delay="0"/>
                                          </p:stCondLst>
                                        </p:cTn>
                                        <p:tgtEl>
                                          <p:spTgt spid="5"/>
                                        </p:tgtEl>
                                        <p:attrNameLst>
                                          <p:attrName>style.visibility</p:attrName>
                                        </p:attrNameLst>
                                      </p:cBhvr>
                                      <p:to>
                                        <p:strVal val="visible"/>
                                      </p:to>
                                    </p:set>
                                    <p:animEffect transition="in" filter="fade">
                                      <p:cBhvr>
                                        <p:cTn id="34" dur="420"/>
                                        <p:tgtEl>
                                          <p:spTgt spid="5"/>
                                        </p:tgtEl>
                                      </p:cBhvr>
                                    </p:animEffect>
                                    <p:anim calcmode="lin" valueType="num">
                                      <p:cBhvr additive="base">
                                        <p:cTn id="35" dur="420" fill="hold"/>
                                        <p:tgtEl>
                                          <p:spTgt spid="5"/>
                                        </p:tgtEl>
                                        <p:attrNameLst>
                                          <p:attrName>ppt_y</p:attrName>
                                        </p:attrNameLst>
                                      </p:cBhvr>
                                      <p:tavLst>
                                        <p:tav tm="0">
                                          <p:val>
                                            <p:strVal val="#ppt_y+0.035"/>
                                          </p:val>
                                        </p:tav>
                                        <p:tav tm="100000">
                                          <p:val>
                                            <p:strVal val="#ppt_y"/>
                                          </p:val>
                                        </p:tav>
                                      </p:tavLst>
                                    </p:anim>
                                    <p:set>
                                      <p:cBhvr>
                                        <p:cTn id="36" dur="1" fill="hold">
                                          <p:stCondLst>
                                            <p:cond delay="0"/>
                                          </p:stCondLst>
                                        </p:cTn>
                                        <p:tgtEl>
                                          <p:spTgt spid="12"/>
                                        </p:tgtEl>
                                        <p:attrNameLst>
                                          <p:attrName>style.visibility</p:attrName>
                                        </p:attrNameLst>
                                      </p:cBhvr>
                                      <p:to>
                                        <p:strVal val="visible"/>
                                      </p:to>
                                    </p:set>
                                    <p:animEffect transition="in" filter="fade">
                                      <p:cBhvr>
                                        <p:cTn id="37" dur="420"/>
                                        <p:tgtEl>
                                          <p:spTgt spid="12"/>
                                        </p:tgtEl>
                                      </p:cBhvr>
                                    </p:animEffect>
                                    <p:anim calcmode="lin" valueType="num">
                                      <p:cBhvr additive="base">
                                        <p:cTn id="38" dur="420" fill="hold"/>
                                        <p:tgtEl>
                                          <p:spTgt spid="12"/>
                                        </p:tgtEl>
                                        <p:attrNameLst>
                                          <p:attrName>ppt_y</p:attrName>
                                        </p:attrNameLst>
                                      </p:cBhvr>
                                      <p:tavLst>
                                        <p:tav tm="0">
                                          <p:val>
                                            <p:strVal val="#ppt_y+0.035"/>
                                          </p:val>
                                        </p:tav>
                                        <p:tav tm="100000">
                                          <p:val>
                                            <p:strVal val="#ppt_y"/>
                                          </p:val>
                                        </p:tav>
                                      </p:tavLst>
                                    </p:anim>
                                    <p:set>
                                      <p:cBhvr>
                                        <p:cTn id="39" dur="1" fill="hold">
                                          <p:stCondLst>
                                            <p:cond delay="0"/>
                                          </p:stCondLst>
                                        </p:cTn>
                                        <p:tgtEl>
                                          <p:spTgt spid="19"/>
                                        </p:tgtEl>
                                        <p:attrNameLst>
                                          <p:attrName>style.visibility</p:attrName>
                                        </p:attrNameLst>
                                      </p:cBhvr>
                                      <p:to>
                                        <p:strVal val="visible"/>
                                      </p:to>
                                    </p:set>
                                    <p:animEffect transition="in" filter="fade">
                                      <p:cBhvr>
                                        <p:cTn id="40" dur="420"/>
                                        <p:tgtEl>
                                          <p:spTgt spid="19"/>
                                        </p:tgtEl>
                                      </p:cBhvr>
                                    </p:animEffect>
                                    <p:anim calcmode="lin" valueType="num">
                                      <p:cBhvr additive="base">
                                        <p:cTn id="41" dur="420" fill="hold"/>
                                        <p:tgtEl>
                                          <p:spTgt spid="19"/>
                                        </p:tgtEl>
                                        <p:attrNameLst>
                                          <p:attrName>ppt_y</p:attrName>
                                        </p:attrNameLst>
                                      </p:cBhvr>
                                      <p:tavLst>
                                        <p:tav tm="0">
                                          <p:val>
                                            <p:strVal val="#ppt_y+0.035"/>
                                          </p:val>
                                        </p:tav>
                                        <p:tav tm="100000">
                                          <p:val>
                                            <p:strVal val="#ppt_y"/>
                                          </p:val>
                                        </p:tav>
                                      </p:tavLst>
                                    </p:anim>
                                    <p:set>
                                      <p:cBhvr>
                                        <p:cTn id="42" dur="1" fill="hold">
                                          <p:stCondLst>
                                            <p:cond delay="0"/>
                                          </p:stCondLst>
                                        </p:cTn>
                                        <p:tgtEl>
                                          <p:spTgt spid="26"/>
                                        </p:tgtEl>
                                        <p:attrNameLst>
                                          <p:attrName>style.visibility</p:attrName>
                                        </p:attrNameLst>
                                      </p:cBhvr>
                                      <p:to>
                                        <p:strVal val="visible"/>
                                      </p:to>
                                    </p:set>
                                    <p:animEffect transition="in" filter="fade">
                                      <p:cBhvr>
                                        <p:cTn id="43" dur="420"/>
                                        <p:tgtEl>
                                          <p:spTgt spid="26"/>
                                        </p:tgtEl>
                                      </p:cBhvr>
                                    </p:animEffect>
                                    <p:anim calcmode="lin" valueType="num">
                                      <p:cBhvr additive="base">
                                        <p:cTn id="44" dur="420" fill="hold"/>
                                        <p:tgtEl>
                                          <p:spTgt spid="26"/>
                                        </p:tgtEl>
                                        <p:attrNameLst>
                                          <p:attrName>ppt_y</p:attrName>
                                        </p:attrNameLst>
                                      </p:cBhvr>
                                      <p:tavLst>
                                        <p:tav tm="0">
                                          <p:val>
                                            <p:strVal val="#ppt_y+0.035"/>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420"/>
                                        <p:tgtEl>
                                          <p:spTgt spid="6"/>
                                        </p:tgtEl>
                                      </p:cBhvr>
                                    </p:animEffect>
                                    <p:anim calcmode="lin" valueType="num">
                                      <p:cBhvr additive="base">
                                        <p:cTn id="50" dur="420" fill="hold"/>
                                        <p:tgtEl>
                                          <p:spTgt spid="6"/>
                                        </p:tgtEl>
                                        <p:attrNameLst>
                                          <p:attrName>ppt_y</p:attrName>
                                        </p:attrNameLst>
                                      </p:cBhvr>
                                      <p:tavLst>
                                        <p:tav tm="0">
                                          <p:val>
                                            <p:strVal val="#ppt_y+0.035"/>
                                          </p:val>
                                        </p:tav>
                                        <p:tav tm="100000">
                                          <p:val>
                                            <p:strVal val="#ppt_y"/>
                                          </p:val>
                                        </p:tav>
                                      </p:tavLst>
                                    </p:anim>
                                    <p:set>
                                      <p:cBhvr>
                                        <p:cTn id="51" dur="1" fill="hold">
                                          <p:stCondLst>
                                            <p:cond delay="0"/>
                                          </p:stCondLst>
                                        </p:cTn>
                                        <p:tgtEl>
                                          <p:spTgt spid="13"/>
                                        </p:tgtEl>
                                        <p:attrNameLst>
                                          <p:attrName>style.visibility</p:attrName>
                                        </p:attrNameLst>
                                      </p:cBhvr>
                                      <p:to>
                                        <p:strVal val="visible"/>
                                      </p:to>
                                    </p:set>
                                    <p:animEffect transition="in" filter="fade">
                                      <p:cBhvr>
                                        <p:cTn id="52" dur="420"/>
                                        <p:tgtEl>
                                          <p:spTgt spid="13"/>
                                        </p:tgtEl>
                                      </p:cBhvr>
                                    </p:animEffect>
                                    <p:anim calcmode="lin" valueType="num">
                                      <p:cBhvr additive="base">
                                        <p:cTn id="53" dur="420" fill="hold"/>
                                        <p:tgtEl>
                                          <p:spTgt spid="13"/>
                                        </p:tgtEl>
                                        <p:attrNameLst>
                                          <p:attrName>ppt_y</p:attrName>
                                        </p:attrNameLst>
                                      </p:cBhvr>
                                      <p:tavLst>
                                        <p:tav tm="0">
                                          <p:val>
                                            <p:strVal val="#ppt_y+0.035"/>
                                          </p:val>
                                        </p:tav>
                                        <p:tav tm="100000">
                                          <p:val>
                                            <p:strVal val="#ppt_y"/>
                                          </p:val>
                                        </p:tav>
                                      </p:tavLst>
                                    </p:anim>
                                    <p:set>
                                      <p:cBhvr>
                                        <p:cTn id="54" dur="1" fill="hold">
                                          <p:stCondLst>
                                            <p:cond delay="0"/>
                                          </p:stCondLst>
                                        </p:cTn>
                                        <p:tgtEl>
                                          <p:spTgt spid="20"/>
                                        </p:tgtEl>
                                        <p:attrNameLst>
                                          <p:attrName>style.visibility</p:attrName>
                                        </p:attrNameLst>
                                      </p:cBhvr>
                                      <p:to>
                                        <p:strVal val="visible"/>
                                      </p:to>
                                    </p:set>
                                    <p:animEffect transition="in" filter="fade">
                                      <p:cBhvr>
                                        <p:cTn id="55" dur="420"/>
                                        <p:tgtEl>
                                          <p:spTgt spid="20"/>
                                        </p:tgtEl>
                                      </p:cBhvr>
                                    </p:animEffect>
                                    <p:anim calcmode="lin" valueType="num">
                                      <p:cBhvr additive="base">
                                        <p:cTn id="56" dur="420" fill="hold"/>
                                        <p:tgtEl>
                                          <p:spTgt spid="20"/>
                                        </p:tgtEl>
                                        <p:attrNameLst>
                                          <p:attrName>ppt_y</p:attrName>
                                        </p:attrNameLst>
                                      </p:cBhvr>
                                      <p:tavLst>
                                        <p:tav tm="0">
                                          <p:val>
                                            <p:strVal val="#ppt_y+0.035"/>
                                          </p:val>
                                        </p:tav>
                                        <p:tav tm="100000">
                                          <p:val>
                                            <p:strVal val="#ppt_y"/>
                                          </p:val>
                                        </p:tav>
                                      </p:tavLst>
                                    </p:anim>
                                    <p:set>
                                      <p:cBhvr>
                                        <p:cTn id="57" dur="1" fill="hold">
                                          <p:stCondLst>
                                            <p:cond delay="0"/>
                                          </p:stCondLst>
                                        </p:cTn>
                                        <p:tgtEl>
                                          <p:spTgt spid="27"/>
                                        </p:tgtEl>
                                        <p:attrNameLst>
                                          <p:attrName>style.visibility</p:attrName>
                                        </p:attrNameLst>
                                      </p:cBhvr>
                                      <p:to>
                                        <p:strVal val="visible"/>
                                      </p:to>
                                    </p:set>
                                    <p:animEffect transition="in" filter="fade">
                                      <p:cBhvr>
                                        <p:cTn id="58" dur="420"/>
                                        <p:tgtEl>
                                          <p:spTgt spid="27"/>
                                        </p:tgtEl>
                                      </p:cBhvr>
                                    </p:animEffect>
                                    <p:anim calcmode="lin" valueType="num">
                                      <p:cBhvr additive="base">
                                        <p:cTn id="59" dur="420" fill="hold"/>
                                        <p:tgtEl>
                                          <p:spTgt spid="27"/>
                                        </p:tgtEl>
                                        <p:attrNameLst>
                                          <p:attrName>ppt_y</p:attrName>
                                        </p:attrNameLst>
                                      </p:cBhvr>
                                      <p:tavLst>
                                        <p:tav tm="0">
                                          <p:val>
                                            <p:strVal val="#ppt_y+0.035"/>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fade">
                                      <p:cBhvr>
                                        <p:cTn id="64" dur="420"/>
                                        <p:tgtEl>
                                          <p:spTgt spid="7"/>
                                        </p:tgtEl>
                                      </p:cBhvr>
                                    </p:animEffect>
                                    <p:anim calcmode="lin" valueType="num">
                                      <p:cBhvr additive="base">
                                        <p:cTn id="65" dur="420" fill="hold"/>
                                        <p:tgtEl>
                                          <p:spTgt spid="7"/>
                                        </p:tgtEl>
                                        <p:attrNameLst>
                                          <p:attrName>ppt_y</p:attrName>
                                        </p:attrNameLst>
                                      </p:cBhvr>
                                      <p:tavLst>
                                        <p:tav tm="0">
                                          <p:val>
                                            <p:strVal val="#ppt_y+0.035"/>
                                          </p:val>
                                        </p:tav>
                                        <p:tav tm="100000">
                                          <p:val>
                                            <p:strVal val="#ppt_y"/>
                                          </p:val>
                                        </p:tav>
                                      </p:tavLst>
                                    </p:anim>
                                    <p:set>
                                      <p:cBhvr>
                                        <p:cTn id="66" dur="1" fill="hold">
                                          <p:stCondLst>
                                            <p:cond delay="0"/>
                                          </p:stCondLst>
                                        </p:cTn>
                                        <p:tgtEl>
                                          <p:spTgt spid="14"/>
                                        </p:tgtEl>
                                        <p:attrNameLst>
                                          <p:attrName>style.visibility</p:attrName>
                                        </p:attrNameLst>
                                      </p:cBhvr>
                                      <p:to>
                                        <p:strVal val="visible"/>
                                      </p:to>
                                    </p:set>
                                    <p:animEffect transition="in" filter="fade">
                                      <p:cBhvr>
                                        <p:cTn id="67" dur="420"/>
                                        <p:tgtEl>
                                          <p:spTgt spid="14"/>
                                        </p:tgtEl>
                                      </p:cBhvr>
                                    </p:animEffect>
                                    <p:anim calcmode="lin" valueType="num">
                                      <p:cBhvr additive="base">
                                        <p:cTn id="68" dur="420" fill="hold"/>
                                        <p:tgtEl>
                                          <p:spTgt spid="14"/>
                                        </p:tgtEl>
                                        <p:attrNameLst>
                                          <p:attrName>ppt_y</p:attrName>
                                        </p:attrNameLst>
                                      </p:cBhvr>
                                      <p:tavLst>
                                        <p:tav tm="0">
                                          <p:val>
                                            <p:strVal val="#ppt_y+0.035"/>
                                          </p:val>
                                        </p:tav>
                                        <p:tav tm="100000">
                                          <p:val>
                                            <p:strVal val="#ppt_y"/>
                                          </p:val>
                                        </p:tav>
                                      </p:tavLst>
                                    </p:anim>
                                    <p:set>
                                      <p:cBhvr>
                                        <p:cTn id="69" dur="1" fill="hold">
                                          <p:stCondLst>
                                            <p:cond delay="0"/>
                                          </p:stCondLst>
                                        </p:cTn>
                                        <p:tgtEl>
                                          <p:spTgt spid="21"/>
                                        </p:tgtEl>
                                        <p:attrNameLst>
                                          <p:attrName>style.visibility</p:attrName>
                                        </p:attrNameLst>
                                      </p:cBhvr>
                                      <p:to>
                                        <p:strVal val="visible"/>
                                      </p:to>
                                    </p:set>
                                    <p:animEffect transition="in" filter="fade">
                                      <p:cBhvr>
                                        <p:cTn id="70" dur="420"/>
                                        <p:tgtEl>
                                          <p:spTgt spid="21"/>
                                        </p:tgtEl>
                                      </p:cBhvr>
                                    </p:animEffect>
                                    <p:anim calcmode="lin" valueType="num">
                                      <p:cBhvr additive="base">
                                        <p:cTn id="71" dur="420" fill="hold"/>
                                        <p:tgtEl>
                                          <p:spTgt spid="21"/>
                                        </p:tgtEl>
                                        <p:attrNameLst>
                                          <p:attrName>ppt_y</p:attrName>
                                        </p:attrNameLst>
                                      </p:cBhvr>
                                      <p:tavLst>
                                        <p:tav tm="0">
                                          <p:val>
                                            <p:strVal val="#ppt_y+0.035"/>
                                          </p:val>
                                        </p:tav>
                                        <p:tav tm="100000">
                                          <p:val>
                                            <p:strVal val="#ppt_y"/>
                                          </p:val>
                                        </p:tav>
                                      </p:tavLst>
                                    </p:anim>
                                    <p:set>
                                      <p:cBhvr>
                                        <p:cTn id="72" dur="1" fill="hold">
                                          <p:stCondLst>
                                            <p:cond delay="0"/>
                                          </p:stCondLst>
                                        </p:cTn>
                                        <p:tgtEl>
                                          <p:spTgt spid="28"/>
                                        </p:tgtEl>
                                        <p:attrNameLst>
                                          <p:attrName>style.visibility</p:attrName>
                                        </p:attrNameLst>
                                      </p:cBhvr>
                                      <p:to>
                                        <p:strVal val="visible"/>
                                      </p:to>
                                    </p:set>
                                    <p:animEffect transition="in" filter="fade">
                                      <p:cBhvr>
                                        <p:cTn id="73" dur="420"/>
                                        <p:tgtEl>
                                          <p:spTgt spid="28"/>
                                        </p:tgtEl>
                                      </p:cBhvr>
                                    </p:animEffect>
                                    <p:anim calcmode="lin" valueType="num">
                                      <p:cBhvr additive="base">
                                        <p:cTn id="74" dur="420" fill="hold"/>
                                        <p:tgtEl>
                                          <p:spTgt spid="28"/>
                                        </p:tgtEl>
                                        <p:attrNameLst>
                                          <p:attrName>ppt_y</p:attrName>
                                        </p:attrNameLst>
                                      </p:cBhvr>
                                      <p:tavLst>
                                        <p:tav tm="0">
                                          <p:val>
                                            <p:strVal val="#ppt_y+0.035"/>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8"/>
                                        </p:tgtEl>
                                        <p:attrNameLst>
                                          <p:attrName>style.visibility</p:attrName>
                                        </p:attrNameLst>
                                      </p:cBhvr>
                                      <p:to>
                                        <p:strVal val="visible"/>
                                      </p:to>
                                    </p:set>
                                    <p:animEffect transition="in" filter="fade">
                                      <p:cBhvr>
                                        <p:cTn id="79" dur="420"/>
                                        <p:tgtEl>
                                          <p:spTgt spid="8"/>
                                        </p:tgtEl>
                                      </p:cBhvr>
                                    </p:animEffect>
                                    <p:anim calcmode="lin" valueType="num">
                                      <p:cBhvr additive="base">
                                        <p:cTn id="80" dur="420" fill="hold"/>
                                        <p:tgtEl>
                                          <p:spTgt spid="8"/>
                                        </p:tgtEl>
                                        <p:attrNameLst>
                                          <p:attrName>ppt_y</p:attrName>
                                        </p:attrNameLst>
                                      </p:cBhvr>
                                      <p:tavLst>
                                        <p:tav tm="0">
                                          <p:val>
                                            <p:strVal val="#ppt_y+0.035"/>
                                          </p:val>
                                        </p:tav>
                                        <p:tav tm="100000">
                                          <p:val>
                                            <p:strVal val="#ppt_y"/>
                                          </p:val>
                                        </p:tav>
                                      </p:tavLst>
                                    </p:anim>
                                    <p:set>
                                      <p:cBhvr>
                                        <p:cTn id="81" dur="1" fill="hold">
                                          <p:stCondLst>
                                            <p:cond delay="0"/>
                                          </p:stCondLst>
                                        </p:cTn>
                                        <p:tgtEl>
                                          <p:spTgt spid="15"/>
                                        </p:tgtEl>
                                        <p:attrNameLst>
                                          <p:attrName>style.visibility</p:attrName>
                                        </p:attrNameLst>
                                      </p:cBhvr>
                                      <p:to>
                                        <p:strVal val="visible"/>
                                      </p:to>
                                    </p:set>
                                    <p:animEffect transition="in" filter="fade">
                                      <p:cBhvr>
                                        <p:cTn id="82" dur="420"/>
                                        <p:tgtEl>
                                          <p:spTgt spid="15"/>
                                        </p:tgtEl>
                                      </p:cBhvr>
                                    </p:animEffect>
                                    <p:anim calcmode="lin" valueType="num">
                                      <p:cBhvr additive="base">
                                        <p:cTn id="83" dur="420" fill="hold"/>
                                        <p:tgtEl>
                                          <p:spTgt spid="15"/>
                                        </p:tgtEl>
                                        <p:attrNameLst>
                                          <p:attrName>ppt_y</p:attrName>
                                        </p:attrNameLst>
                                      </p:cBhvr>
                                      <p:tavLst>
                                        <p:tav tm="0">
                                          <p:val>
                                            <p:strVal val="#ppt_y+0.035"/>
                                          </p:val>
                                        </p:tav>
                                        <p:tav tm="100000">
                                          <p:val>
                                            <p:strVal val="#ppt_y"/>
                                          </p:val>
                                        </p:tav>
                                      </p:tavLst>
                                    </p:anim>
                                    <p:set>
                                      <p:cBhvr>
                                        <p:cTn id="84" dur="1" fill="hold">
                                          <p:stCondLst>
                                            <p:cond delay="0"/>
                                          </p:stCondLst>
                                        </p:cTn>
                                        <p:tgtEl>
                                          <p:spTgt spid="22"/>
                                        </p:tgtEl>
                                        <p:attrNameLst>
                                          <p:attrName>style.visibility</p:attrName>
                                        </p:attrNameLst>
                                      </p:cBhvr>
                                      <p:to>
                                        <p:strVal val="visible"/>
                                      </p:to>
                                    </p:set>
                                    <p:animEffect transition="in" filter="fade">
                                      <p:cBhvr>
                                        <p:cTn id="85" dur="420"/>
                                        <p:tgtEl>
                                          <p:spTgt spid="22"/>
                                        </p:tgtEl>
                                      </p:cBhvr>
                                    </p:animEffect>
                                    <p:anim calcmode="lin" valueType="num">
                                      <p:cBhvr additive="base">
                                        <p:cTn id="86" dur="420" fill="hold"/>
                                        <p:tgtEl>
                                          <p:spTgt spid="22"/>
                                        </p:tgtEl>
                                        <p:attrNameLst>
                                          <p:attrName>ppt_y</p:attrName>
                                        </p:attrNameLst>
                                      </p:cBhvr>
                                      <p:tavLst>
                                        <p:tav tm="0">
                                          <p:val>
                                            <p:strVal val="#ppt_y+0.035"/>
                                          </p:val>
                                        </p:tav>
                                        <p:tav tm="100000">
                                          <p:val>
                                            <p:strVal val="#ppt_y"/>
                                          </p:val>
                                        </p:tav>
                                      </p:tavLst>
                                    </p:anim>
                                    <p:set>
                                      <p:cBhvr>
                                        <p:cTn id="87" dur="1" fill="hold">
                                          <p:stCondLst>
                                            <p:cond delay="0"/>
                                          </p:stCondLst>
                                        </p:cTn>
                                        <p:tgtEl>
                                          <p:spTgt spid="29"/>
                                        </p:tgtEl>
                                        <p:attrNameLst>
                                          <p:attrName>style.visibility</p:attrName>
                                        </p:attrNameLst>
                                      </p:cBhvr>
                                      <p:to>
                                        <p:strVal val="visible"/>
                                      </p:to>
                                    </p:set>
                                    <p:animEffect transition="in" filter="fade">
                                      <p:cBhvr>
                                        <p:cTn id="88" dur="420"/>
                                        <p:tgtEl>
                                          <p:spTgt spid="29"/>
                                        </p:tgtEl>
                                      </p:cBhvr>
                                    </p:animEffect>
                                    <p:anim calcmode="lin" valueType="num">
                                      <p:cBhvr additive="base">
                                        <p:cTn id="89" dur="420" fill="hold"/>
                                        <p:tgtEl>
                                          <p:spTgt spid="29"/>
                                        </p:tgtEl>
                                        <p:attrNameLst>
                                          <p:attrName>ppt_y</p:attrName>
                                        </p:attrNameLst>
                                      </p:cBhvr>
                                      <p:tavLst>
                                        <p:tav tm="0">
                                          <p:val>
                                            <p:strVal val="#ppt_y+0.035"/>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420"/>
                                        <p:tgtEl>
                                          <p:spTgt spid="25"/>
                                        </p:tgtEl>
                                      </p:cBhvr>
                                    </p:animEffect>
                                    <p:anim calcmode="lin" valueType="num">
                                      <p:cBhvr additive="base">
                                        <p:cTn id="95" dur="420" fill="hold"/>
                                        <p:tgtEl>
                                          <p:spTgt spid="25"/>
                                        </p:tgtEl>
                                        <p:attrNameLst>
                                          <p:attrName>ppt_y</p:attrName>
                                        </p:attrNameLst>
                                      </p:cBhvr>
                                      <p:tavLst>
                                        <p:tav tm="0">
                                          <p:val>
                                            <p:strVal val="#ppt_y+0.035"/>
                                          </p:val>
                                        </p:tav>
                                        <p:tav tm="100000">
                                          <p:val>
                                            <p:strVal val="#ppt_y"/>
                                          </p:val>
                                        </p:tav>
                                      </p:tavLst>
                                    </p:anim>
                                    <p:set>
                                      <p:cBhvr>
                                        <p:cTn id="96" dur="1" fill="hold">
                                          <p:stCondLst>
                                            <p:cond delay="0"/>
                                          </p:stCondLst>
                                        </p:cTn>
                                        <p:tgtEl>
                                          <p:spTgt spid="30"/>
                                        </p:tgtEl>
                                        <p:attrNameLst>
                                          <p:attrName>style.visibility</p:attrName>
                                        </p:attrNameLst>
                                      </p:cBhvr>
                                      <p:to>
                                        <p:strVal val="visible"/>
                                      </p:to>
                                    </p:set>
                                    <p:animEffect transition="in" filter="fade">
                                      <p:cBhvr>
                                        <p:cTn id="97" dur="420"/>
                                        <p:tgtEl>
                                          <p:spTgt spid="30"/>
                                        </p:tgtEl>
                                      </p:cBhvr>
                                    </p:animEffect>
                                    <p:anim calcmode="lin" valueType="num">
                                      <p:cBhvr additive="base">
                                        <p:cTn id="98" dur="420" fill="hold"/>
                                        <p:tgtEl>
                                          <p:spTgt spid="30"/>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9" grpId="0" animBg="1"/>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animBg="1"/>
      <p:bldP spid="26" grpId="0"/>
      <p:bldP spid="27" grpId="0"/>
      <p:bldP spid="28" grpId="0"/>
      <p:bldP spid="29" grpId="0"/>
      <p:bldP spid="30"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03</a:t>
            </a:r>
            <a:r>
              <a:rPr lang="en-US" sz="1150" b="1" kern="0" spc="160" dirty="0">
                <a:solidFill>
                  <a:srgbClr val="6E7781"/>
                </a:solidFill>
                <a:latin typeface="Calibri" pitchFamily="34" charset="0"/>
                <a:ea typeface="Calibri" pitchFamily="34" charset="-122"/>
                <a:cs typeface="Calibri" pitchFamily="34" charset="-120"/>
              </a:rPr>
              <a:t>   THE DESKTOP APPS</a:t>
            </a:r>
            <a:endParaRPr lang="en-US" sz="1150" dirty="0"/>
          </a:p>
        </p:txBody>
      </p:sp>
      <p:sp>
        <p:nvSpPr>
          <p:cNvPr id="3" name="Text 1"/>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Mission control: one window, several agents</a:t>
            </a:r>
            <a:endParaRPr lang="en-US" sz="3200" dirty="0"/>
          </a:p>
        </p:txBody>
      </p:sp>
      <p:sp>
        <p:nvSpPr>
          <p:cNvPr id="4" name="Text 2"/>
          <p:cNvSpPr/>
          <p:nvPr/>
        </p:nvSpPr>
        <p:spPr>
          <a:xfrm>
            <a:off x="566928" y="1389888"/>
            <a:ext cx="11055096" cy="566928"/>
          </a:xfrm>
          <a:prstGeom prst="rect">
            <a:avLst/>
          </a:prstGeom>
          <a:noFill/>
          <a:ln/>
        </p:spPr>
        <p:txBody>
          <a:bodyPr wrap="square" lIns="0" tIns="0" rIns="0" bIns="0" rtlCol="0" anchor="t"/>
          <a:lstStyle/>
          <a:p>
            <a:pPr marL="0" indent="0">
              <a:lnSpc>
                <a:spcPts val="1850"/>
              </a:lnSpc>
              <a:buNone/>
            </a:pPr>
            <a:r>
              <a:rPr lang="en-US" sz="1350" dirty="0">
                <a:solidFill>
                  <a:srgbClr val="2B3138"/>
                </a:solidFill>
                <a:latin typeface="Calibri" pitchFamily="34" charset="0"/>
                <a:ea typeface="Calibri" pitchFamily="34" charset="-122"/>
                <a:cs typeface="Calibri" pitchFamily="34" charset="-120"/>
              </a:rPr>
              <a:t>2026's shift is a dedicated desktop app for running and supervising several agent sessions at once, each in its own git worktree. GitHub's Copilot app went GA on 17 June 2026; Anthropic's Claude Cowork went GA on 9 April 2026.</a:t>
            </a:r>
            <a:endParaRPr lang="en-US" sz="1350" dirty="0"/>
          </a:p>
        </p:txBody>
      </p:sp>
      <p:sp>
        <p:nvSpPr>
          <p:cNvPr id="5" name="Shape 3"/>
          <p:cNvSpPr/>
          <p:nvPr/>
        </p:nvSpPr>
        <p:spPr>
          <a:xfrm>
            <a:off x="566928" y="2212848"/>
            <a:ext cx="4133088" cy="3310128"/>
          </a:xfrm>
          <a:prstGeom prst="roundRect">
            <a:avLst>
              <a:gd name="adj" fmla="val 1657"/>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6" name="Shape 4"/>
          <p:cNvSpPr/>
          <p:nvPr/>
        </p:nvSpPr>
        <p:spPr>
          <a:xfrm>
            <a:off x="822960" y="2468880"/>
            <a:ext cx="475488" cy="475488"/>
          </a:xfrm>
          <a:prstGeom prst="ellipse">
            <a:avLst/>
          </a:prstGeom>
          <a:solidFill>
            <a:srgbClr val="0969DA"/>
          </a:solidFill>
          <a:ln w="12700">
            <a:solidFill>
              <a:srgbClr val="0969DA"/>
            </a:solidFill>
            <a:prstDash val="solid"/>
          </a:ln>
        </p:spPr>
      </p:sp>
      <p:pic>
        <p:nvPicPr>
          <p:cNvPr id="7" name="Image 0" descr="/home/claude/deck/build/img/copilot_white.png"/>
          <p:cNvPicPr>
            <a:picLocks noChangeAspect="1"/>
          </p:cNvPicPr>
          <p:nvPr/>
        </p:nvPicPr>
        <p:blipFill>
          <a:blip r:embed="rId3"/>
          <a:stretch>
            <a:fillRect/>
          </a:stretch>
        </p:blipFill>
        <p:spPr>
          <a:xfrm>
            <a:off x="946587" y="2592507"/>
            <a:ext cx="228234" cy="228234"/>
          </a:xfrm>
          <a:prstGeom prst="rect">
            <a:avLst/>
          </a:prstGeom>
        </p:spPr>
      </p:pic>
      <p:sp>
        <p:nvSpPr>
          <p:cNvPr id="8" name="Text 5"/>
          <p:cNvSpPr/>
          <p:nvPr/>
        </p:nvSpPr>
        <p:spPr>
          <a:xfrm>
            <a:off x="1408176" y="2450592"/>
            <a:ext cx="3035808" cy="274320"/>
          </a:xfrm>
          <a:prstGeom prst="rect">
            <a:avLst/>
          </a:prstGeom>
          <a:noFill/>
          <a:ln/>
        </p:spPr>
        <p:txBody>
          <a:bodyPr wrap="square" lIns="0" tIns="0" rIns="0" bIns="0" rtlCol="0" anchor="ctr"/>
          <a:lstStyle/>
          <a:p>
            <a:pPr marL="0" indent="0">
              <a:buNone/>
            </a:pPr>
            <a:r>
              <a:rPr lang="en-US" sz="1700" b="1" dirty="0">
                <a:solidFill>
                  <a:srgbClr val="0969DA"/>
                </a:solidFill>
                <a:latin typeface="Cambria" pitchFamily="34" charset="0"/>
                <a:ea typeface="Cambria" pitchFamily="34" charset="-122"/>
                <a:cs typeface="Cambria" pitchFamily="34" charset="-120"/>
              </a:rPr>
              <a:t>The Copilot app</a:t>
            </a:r>
            <a:endParaRPr lang="en-US" sz="1700" dirty="0"/>
          </a:p>
        </p:txBody>
      </p:sp>
      <p:sp>
        <p:nvSpPr>
          <p:cNvPr id="9" name="Text 6"/>
          <p:cNvSpPr/>
          <p:nvPr/>
        </p:nvSpPr>
        <p:spPr>
          <a:xfrm>
            <a:off x="1408176" y="2724912"/>
            <a:ext cx="3035808" cy="219456"/>
          </a:xfrm>
          <a:prstGeom prst="rect">
            <a:avLst/>
          </a:prstGeom>
          <a:noFill/>
          <a:ln/>
        </p:spPr>
        <p:txBody>
          <a:bodyPr wrap="square" lIns="0" tIns="0" rIns="0" bIns="0" rtlCol="0" anchor="ctr"/>
          <a:lstStyle/>
          <a:p>
            <a:pPr marL="0" indent="0">
              <a:buNone/>
            </a:pPr>
            <a:r>
              <a:rPr lang="en-US" sz="900" dirty="0">
                <a:solidFill>
                  <a:srgbClr val="6E7781"/>
                </a:solidFill>
                <a:latin typeface="Calibri" pitchFamily="34" charset="0"/>
                <a:ea typeface="Calibri" pitchFamily="34" charset="-122"/>
                <a:cs typeface="Calibri" pitchFamily="34" charset="-120"/>
              </a:rPr>
              <a:t>GA 17 June 2026 · macOS, Windows, Linux</a:t>
            </a:r>
            <a:endParaRPr lang="en-US" sz="900" dirty="0"/>
          </a:p>
        </p:txBody>
      </p:sp>
      <p:sp>
        <p:nvSpPr>
          <p:cNvPr id="10" name="Text 7"/>
          <p:cNvSpPr/>
          <p:nvPr/>
        </p:nvSpPr>
        <p:spPr>
          <a:xfrm>
            <a:off x="822960" y="3127248"/>
            <a:ext cx="3621024" cy="2194560"/>
          </a:xfrm>
          <a:prstGeom prst="rect">
            <a:avLst/>
          </a:prstGeom>
          <a:noFill/>
          <a:ln/>
        </p:spPr>
        <p:txBody>
          <a:bodyPr wrap="square" lIns="0" tIns="0" rIns="0" bIns="0" rtlCol="0" anchor="t"/>
          <a:lstStyle/>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A sidebar of parallel agent sessions, a live transcript and a diff review pane.</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It already knows the requirement: assign a Jira, Linear, Azure Boards or GitHub issue and it reads title, description, labels and acceptance criteria.</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Confluence specs reach it through MCP.</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Closes one loop end to end — requirement to pull request, inside the GitHub flow you already review in.</a:t>
            </a:r>
            <a:endParaRPr lang="en-US" sz="1100" dirty="0"/>
          </a:p>
        </p:txBody>
      </p:sp>
      <p:sp>
        <p:nvSpPr>
          <p:cNvPr id="11" name="Shape 8"/>
          <p:cNvSpPr/>
          <p:nvPr/>
        </p:nvSpPr>
        <p:spPr>
          <a:xfrm>
            <a:off x="4809744" y="2212848"/>
            <a:ext cx="4133088" cy="3310128"/>
          </a:xfrm>
          <a:prstGeom prst="roundRect">
            <a:avLst>
              <a:gd name="adj" fmla="val 1657"/>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12" name="Shape 9"/>
          <p:cNvSpPr/>
          <p:nvPr/>
        </p:nvSpPr>
        <p:spPr>
          <a:xfrm>
            <a:off x="5065776" y="2468880"/>
            <a:ext cx="475488" cy="475488"/>
          </a:xfrm>
          <a:prstGeom prst="ellipse">
            <a:avLst/>
          </a:prstGeom>
          <a:solidFill>
            <a:srgbClr val="C2410C"/>
          </a:solidFill>
          <a:ln w="12700">
            <a:solidFill>
              <a:srgbClr val="C2410C"/>
            </a:solidFill>
            <a:prstDash val="solid"/>
          </a:ln>
        </p:spPr>
      </p:sp>
      <p:pic>
        <p:nvPicPr>
          <p:cNvPr id="13" name="Image 1" descr="/home/claude/deck/build/img/claude_white.png"/>
          <p:cNvPicPr>
            <a:picLocks noChangeAspect="1"/>
          </p:cNvPicPr>
          <p:nvPr/>
        </p:nvPicPr>
        <p:blipFill>
          <a:blip r:embed="rId4"/>
          <a:stretch>
            <a:fillRect/>
          </a:stretch>
        </p:blipFill>
        <p:spPr>
          <a:xfrm>
            <a:off x="5189403" y="2592507"/>
            <a:ext cx="228234" cy="228234"/>
          </a:xfrm>
          <a:prstGeom prst="rect">
            <a:avLst/>
          </a:prstGeom>
        </p:spPr>
      </p:pic>
      <p:sp>
        <p:nvSpPr>
          <p:cNvPr id="14" name="Text 10"/>
          <p:cNvSpPr/>
          <p:nvPr/>
        </p:nvSpPr>
        <p:spPr>
          <a:xfrm>
            <a:off x="5650992" y="2450592"/>
            <a:ext cx="3035808" cy="274320"/>
          </a:xfrm>
          <a:prstGeom prst="rect">
            <a:avLst/>
          </a:prstGeom>
          <a:noFill/>
          <a:ln/>
        </p:spPr>
        <p:txBody>
          <a:bodyPr wrap="square" lIns="0" tIns="0" rIns="0" bIns="0" rtlCol="0" anchor="ctr"/>
          <a:lstStyle/>
          <a:p>
            <a:pPr marL="0" indent="0">
              <a:buNone/>
            </a:pPr>
            <a:r>
              <a:rPr lang="en-US" sz="1700" b="1" dirty="0">
                <a:solidFill>
                  <a:srgbClr val="C2410C"/>
                </a:solidFill>
                <a:latin typeface="Cambria" pitchFamily="34" charset="0"/>
                <a:ea typeface="Cambria" pitchFamily="34" charset="-122"/>
                <a:cs typeface="Cambria" pitchFamily="34" charset="-120"/>
              </a:rPr>
              <a:t>Claude Cowork</a:t>
            </a:r>
            <a:endParaRPr lang="en-US" sz="1700" dirty="0"/>
          </a:p>
        </p:txBody>
      </p:sp>
      <p:sp>
        <p:nvSpPr>
          <p:cNvPr id="15" name="Text 11"/>
          <p:cNvSpPr/>
          <p:nvPr/>
        </p:nvSpPr>
        <p:spPr>
          <a:xfrm>
            <a:off x="5650992" y="2724912"/>
            <a:ext cx="3035808" cy="219456"/>
          </a:xfrm>
          <a:prstGeom prst="rect">
            <a:avLst/>
          </a:prstGeom>
          <a:noFill/>
          <a:ln/>
        </p:spPr>
        <p:txBody>
          <a:bodyPr wrap="square" lIns="0" tIns="0" rIns="0" bIns="0" rtlCol="0" anchor="ctr"/>
          <a:lstStyle/>
          <a:p>
            <a:pPr marL="0" indent="0">
              <a:buNone/>
            </a:pPr>
            <a:r>
              <a:rPr lang="en-US" sz="900" dirty="0">
                <a:solidFill>
                  <a:srgbClr val="6E7781"/>
                </a:solidFill>
                <a:latin typeface="Calibri" pitchFamily="34" charset="0"/>
                <a:ea typeface="Calibri" pitchFamily="34" charset="-122"/>
                <a:cs typeface="Calibri" pitchFamily="34" charset="-120"/>
              </a:rPr>
              <a:t>GA 9 April 2026 · all paid plans · macOS, Windows</a:t>
            </a:r>
            <a:endParaRPr lang="en-US" sz="900" dirty="0"/>
          </a:p>
        </p:txBody>
      </p:sp>
      <p:sp>
        <p:nvSpPr>
          <p:cNvPr id="16" name="Text 12"/>
          <p:cNvSpPr/>
          <p:nvPr/>
        </p:nvSpPr>
        <p:spPr>
          <a:xfrm>
            <a:off x="5065776" y="3127248"/>
            <a:ext cx="3621024" cy="2194560"/>
          </a:xfrm>
          <a:prstGeom prst="rect">
            <a:avLst/>
          </a:prstGeom>
          <a:noFill/>
          <a:ln/>
        </p:spPr>
        <p:txBody>
          <a:bodyPr wrap="square" lIns="0" tIns="0" rIns="0" bIns="0" rtlCol="0" anchor="t"/>
          <a:lstStyle/>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Agent sessions over files and tools, not only over code. Claude Code on the desktop ships alongside it.</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It escalates through whatever it needs: a connector first, then Chrome, then the screen itself.</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Driving the computer is a separate research preview, Pro and Max only.</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Good for the work that is not a ticket: pull numbers off a dashboard, reconcile them, produce the spreadsheet.</a:t>
            </a:r>
            <a:endParaRPr lang="en-US" sz="1100" dirty="0"/>
          </a:p>
        </p:txBody>
      </p:sp>
      <p:sp>
        <p:nvSpPr>
          <p:cNvPr id="17" name="Shape 13"/>
          <p:cNvSpPr/>
          <p:nvPr/>
        </p:nvSpPr>
        <p:spPr>
          <a:xfrm>
            <a:off x="9052560" y="2212848"/>
            <a:ext cx="2569464" cy="3310128"/>
          </a:xfrm>
          <a:prstGeom prst="roundRect">
            <a:avLst>
              <a:gd name="adj" fmla="val 2135"/>
            </a:avLst>
          </a:prstGeom>
          <a:solidFill>
            <a:srgbClr val="F6F8FA"/>
          </a:solidFill>
          <a:ln w="9525">
            <a:solidFill>
              <a:srgbClr val="D8DEE4"/>
            </a:solidFill>
            <a:prstDash val="solid"/>
          </a:ln>
          <a:effectLst>
            <a:outerShdw blurRad="177800" dist="38100" dir="5400000" algn="bl" rotWithShape="0">
              <a:srgbClr val="8C959F">
                <a:alpha val="16000"/>
              </a:srgbClr>
            </a:outerShdw>
          </a:effectLst>
        </p:spPr>
      </p:sp>
      <p:sp>
        <p:nvSpPr>
          <p:cNvPr id="18" name="Text 14"/>
          <p:cNvSpPr/>
          <p:nvPr/>
        </p:nvSpPr>
        <p:spPr>
          <a:xfrm>
            <a:off x="9308592" y="2395728"/>
            <a:ext cx="2057400" cy="310896"/>
          </a:xfrm>
          <a:prstGeom prst="rect">
            <a:avLst/>
          </a:prstGeom>
          <a:noFill/>
          <a:ln/>
        </p:spPr>
        <p:txBody>
          <a:bodyPr wrap="square" lIns="0" tIns="0" rIns="0" bIns="0" rtlCol="0" anchor="ctr"/>
          <a:lstStyle/>
          <a:p>
            <a:pPr marL="0" indent="0">
              <a:buNone/>
            </a:pPr>
            <a:r>
              <a:rPr lang="en-US" sz="1550" b="1" dirty="0">
                <a:solidFill>
                  <a:srgbClr val="15181D"/>
                </a:solidFill>
                <a:latin typeface="Cambria" pitchFamily="34" charset="0"/>
                <a:ea typeface="Cambria" pitchFamily="34" charset="-122"/>
                <a:cs typeface="Cambria" pitchFamily="34" charset="-120"/>
              </a:rPr>
              <a:t>Which for which</a:t>
            </a:r>
            <a:endParaRPr lang="en-US" sz="1550" dirty="0"/>
          </a:p>
        </p:txBody>
      </p:sp>
      <p:sp>
        <p:nvSpPr>
          <p:cNvPr id="19" name="Text 15"/>
          <p:cNvSpPr/>
          <p:nvPr/>
        </p:nvSpPr>
        <p:spPr>
          <a:xfrm>
            <a:off x="9308592" y="3127248"/>
            <a:ext cx="2057400" cy="2194560"/>
          </a:xfrm>
          <a:prstGeom prst="rect">
            <a:avLst/>
          </a:prstGeom>
          <a:noFill/>
          <a:ln/>
        </p:spPr>
        <p:txBody>
          <a:bodyPr wrap="square" lIns="0" tIns="0" rIns="0" bIns="0" rtlCol="0" anchor="t"/>
          <a:lstStyle/>
          <a:p>
            <a:pPr marL="177800" indent="-177800">
              <a:lnSpc>
                <a:spcPts val="1386"/>
              </a:lnSpc>
              <a:spcAft>
                <a:spcPts val="700"/>
              </a:spcAft>
              <a:buSzPct val="100000"/>
              <a:buChar char="•"/>
            </a:pPr>
            <a:r>
              <a:rPr lang="en-US" sz="1050" b="1" dirty="0">
                <a:solidFill>
                  <a:srgbClr val="15181D"/>
                </a:solidFill>
                <a:latin typeface="Calibri" pitchFamily="34" charset="0"/>
                <a:ea typeface="Calibri" pitchFamily="34" charset="-122"/>
                <a:cs typeface="Calibri" pitchFamily="34" charset="-120"/>
              </a:rPr>
              <a:t>Copilot app </a:t>
            </a:r>
            <a:r>
              <a:rPr lang="en-US" sz="1050" dirty="0">
                <a:solidFill>
                  <a:srgbClr val="2B3138"/>
                </a:solidFill>
                <a:latin typeface="Calibri" pitchFamily="34" charset="0"/>
                <a:ea typeface="Calibri" pitchFamily="34" charset="-122"/>
                <a:cs typeface="Calibri" pitchFamily="34" charset="-120"/>
              </a:rPr>
              <a:t>— when the work is shipping software from tickets you already track.</a:t>
            </a:r>
            <a:endParaRPr lang="en-US" sz="1050" dirty="0"/>
          </a:p>
          <a:p>
            <a:pPr marL="177800" indent="-177800">
              <a:lnSpc>
                <a:spcPts val="1386"/>
              </a:lnSpc>
              <a:spcAft>
                <a:spcPts val="700"/>
              </a:spcAft>
              <a:buSzPct val="100000"/>
              <a:buChar char="•"/>
            </a:pPr>
            <a:r>
              <a:rPr lang="en-US" sz="1050" b="1" dirty="0">
                <a:solidFill>
                  <a:srgbClr val="15181D"/>
                </a:solidFill>
                <a:latin typeface="Calibri" pitchFamily="34" charset="0"/>
                <a:ea typeface="Calibri" pitchFamily="34" charset="-122"/>
                <a:cs typeface="Calibri" pitchFamily="34" charset="-120"/>
              </a:rPr>
              <a:t>Cowork </a:t>
            </a:r>
            <a:r>
              <a:rPr lang="en-US" sz="1050" dirty="0">
                <a:solidFill>
                  <a:srgbClr val="2B3138"/>
                </a:solidFill>
                <a:latin typeface="Calibri" pitchFamily="34" charset="0"/>
                <a:ea typeface="Calibri" pitchFamily="34" charset="-122"/>
                <a:cs typeface="Calibri" pitchFamily="34" charset="-120"/>
              </a:rPr>
              <a:t>— when the work spans arbitrary apps, files and the web.</a:t>
            </a:r>
            <a:endParaRPr lang="en-US" sz="1050" dirty="0"/>
          </a:p>
          <a:p>
            <a:pPr marL="177800" indent="-177800">
              <a:lnSpc>
                <a:spcPts val="1386"/>
              </a:lnSpc>
              <a:spcAft>
                <a:spcPts val="700"/>
              </a:spcAft>
              <a:buSzPct val="100000"/>
              <a:buChar char="•"/>
            </a:pPr>
            <a:r>
              <a:rPr lang="en-US" sz="1050" b="1" dirty="0">
                <a:solidFill>
                  <a:srgbClr val="15181D"/>
                </a:solidFill>
                <a:latin typeface="Calibri" pitchFamily="34" charset="0"/>
                <a:ea typeface="Calibri" pitchFamily="34" charset="-122"/>
                <a:cs typeface="Calibri" pitchFamily="34" charset="-120"/>
              </a:rPr>
              <a:t>Under ZDR </a:t>
            </a:r>
            <a:r>
              <a:rPr lang="en-US" sz="1050" dirty="0">
                <a:solidFill>
                  <a:srgbClr val="2B3138"/>
                </a:solidFill>
                <a:latin typeface="Calibri" pitchFamily="34" charset="0"/>
                <a:ea typeface="Calibri" pitchFamily="34" charset="-122"/>
                <a:cs typeface="Calibri" pitchFamily="34" charset="-120"/>
              </a:rPr>
              <a:t>— Cowork sessions are simply not covered. Claude Code on the web, desktop cloud sessions and artifacts are the features actually disabled.</a:t>
            </a:r>
            <a:endParaRPr lang="en-US" sz="1050" dirty="0"/>
          </a:p>
        </p:txBody>
      </p:sp>
      <p:sp>
        <p:nvSpPr>
          <p:cNvPr id="20" name="Text 16"/>
          <p:cNvSpPr/>
          <p:nvPr/>
        </p:nvSpPr>
        <p:spPr>
          <a:xfrm>
            <a:off x="566928" y="6437376"/>
            <a:ext cx="10552176" cy="237744"/>
          </a:xfrm>
          <a:prstGeom prst="rect">
            <a:avLst/>
          </a:prstGeom>
          <a:noFill/>
          <a:ln/>
        </p:spPr>
        <p:txBody>
          <a:bodyPr wrap="square" lIns="0" tIns="0" rIns="0" bIns="0" rtlCol="0" anchor="ctr"/>
          <a:lstStyle/>
          <a:p>
            <a:pPr marL="0" indent="0">
              <a:buNone/>
            </a:pPr>
            <a:r>
              <a:rPr lang="en-US" sz="850" b="1" dirty="0">
                <a:solidFill>
                  <a:srgbClr val="6E7781"/>
                </a:solidFill>
                <a:latin typeface="Calibri" pitchFamily="34" charset="0"/>
                <a:ea typeface="Calibri" pitchFamily="34" charset="-122"/>
                <a:cs typeface="Calibri" pitchFamily="34" charset="-120"/>
              </a:rPr>
              <a:t>Sources   </a:t>
            </a:r>
            <a:r>
              <a:rPr lang="en-US" sz="850" dirty="0">
                <a:solidFill>
                  <a:srgbClr val="6E7781"/>
                </a:solidFill>
                <a:latin typeface="Calibri" pitchFamily="34" charset="0"/>
                <a:ea typeface="Calibri" pitchFamily="34" charset="-122"/>
                <a:cs typeface="Calibri" pitchFamily="34" charset="-120"/>
              </a:rPr>
              <a:t>github.blog/changelog/2026-06-17-github-copilot-app-generally-available · claude.com/blog/cowork-for-enterprise · code.claude.com/docs/en/zero-data-retention</a:t>
            </a:r>
            <a:endParaRPr lang="en-US" sz="850" dirty="0"/>
          </a:p>
        </p:txBody>
      </p:sp>
      <p:sp>
        <p:nvSpPr>
          <p:cNvPr id="25"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anim calcmode="lin" valueType="num">
                                      <p:cBhvr additive="base">
                                        <p:cTn id="8" dur="420" fill="hold"/>
                                        <p:tgtEl>
                                          <p:spTgt spid="5"/>
                                        </p:tgtEl>
                                        <p:attrNameLst>
                                          <p:attrName>ppt_y</p:attrName>
                                        </p:attrNameLst>
                                      </p:cBhvr>
                                      <p:tavLst>
                                        <p:tav tm="0">
                                          <p:val>
                                            <p:strVal val="#ppt_y+0.035"/>
                                          </p:val>
                                        </p:tav>
                                        <p:tav tm="100000">
                                          <p:val>
                                            <p:strVal val="#ppt_y"/>
                                          </p:val>
                                        </p:tav>
                                      </p:tavLst>
                                    </p:anim>
                                    <p:set>
                                      <p:cBhvr>
                                        <p:cTn id="9" dur="1" fill="hold">
                                          <p:stCondLst>
                                            <p:cond delay="0"/>
                                          </p:stCondLst>
                                        </p:cTn>
                                        <p:tgtEl>
                                          <p:spTgt spid="11"/>
                                        </p:tgtEl>
                                        <p:attrNameLst>
                                          <p:attrName>style.visibility</p:attrName>
                                        </p:attrNameLst>
                                      </p:cBhvr>
                                      <p:to>
                                        <p:strVal val="visible"/>
                                      </p:to>
                                    </p:set>
                                    <p:animEffect transition="in" filter="fade">
                                      <p:cBhvr>
                                        <p:cTn id="10" dur="420"/>
                                        <p:tgtEl>
                                          <p:spTgt spid="11"/>
                                        </p:tgtEl>
                                      </p:cBhvr>
                                    </p:animEffect>
                                    <p:anim calcmode="lin" valueType="num">
                                      <p:cBhvr additive="base">
                                        <p:cTn id="11" dur="420" fill="hold"/>
                                        <p:tgtEl>
                                          <p:spTgt spid="11"/>
                                        </p:tgtEl>
                                        <p:attrNameLst>
                                          <p:attrName>ppt_y</p:attrName>
                                        </p:attrNameLst>
                                      </p:cBhvr>
                                      <p:tavLst>
                                        <p:tav tm="0">
                                          <p:val>
                                            <p:strVal val="#ppt_y+0.035"/>
                                          </p:val>
                                        </p:tav>
                                        <p:tav tm="100000">
                                          <p:val>
                                            <p:strVal val="#ppt_y"/>
                                          </p:val>
                                        </p:tav>
                                      </p:tavLst>
                                    </p:anim>
                                    <p:set>
                                      <p:cBhvr>
                                        <p:cTn id="12" dur="1" fill="hold">
                                          <p:stCondLst>
                                            <p:cond delay="0"/>
                                          </p:stCondLst>
                                        </p:cTn>
                                        <p:tgtEl>
                                          <p:spTgt spid="17"/>
                                        </p:tgtEl>
                                        <p:attrNameLst>
                                          <p:attrName>style.visibility</p:attrName>
                                        </p:attrNameLst>
                                      </p:cBhvr>
                                      <p:to>
                                        <p:strVal val="visible"/>
                                      </p:to>
                                    </p:set>
                                    <p:animEffect transition="in" filter="fade">
                                      <p:cBhvr>
                                        <p:cTn id="13" dur="420"/>
                                        <p:tgtEl>
                                          <p:spTgt spid="17"/>
                                        </p:tgtEl>
                                      </p:cBhvr>
                                    </p:animEffect>
                                    <p:anim calcmode="lin" valueType="num">
                                      <p:cBhvr additive="base">
                                        <p:cTn id="14" dur="420" fill="hold"/>
                                        <p:tgtEl>
                                          <p:spTgt spid="17"/>
                                        </p:tgtEl>
                                        <p:attrNameLst>
                                          <p:attrName>ppt_y</p:attrName>
                                        </p:attrNameLst>
                                      </p:cBhvr>
                                      <p:tavLst>
                                        <p:tav tm="0">
                                          <p:val>
                                            <p:strVal val="#ppt_y+0.035"/>
                                          </p:val>
                                        </p:tav>
                                        <p:tav tm="100000">
                                          <p:val>
                                            <p:strVal val="#ppt_y"/>
                                          </p:val>
                                        </p:tav>
                                      </p:tavLst>
                                    </p:anim>
                                    <p:set>
                                      <p:cBhvr>
                                        <p:cTn id="15" dur="1" fill="hold">
                                          <p:stCondLst>
                                            <p:cond delay="0"/>
                                          </p:stCondLst>
                                        </p:cTn>
                                        <p:tgtEl>
                                          <p:spTgt spid="18"/>
                                        </p:tgtEl>
                                        <p:attrNameLst>
                                          <p:attrName>style.visibility</p:attrName>
                                        </p:attrNameLst>
                                      </p:cBhvr>
                                      <p:to>
                                        <p:strVal val="visible"/>
                                      </p:to>
                                    </p:set>
                                    <p:animEffect transition="in" filter="fade">
                                      <p:cBhvr>
                                        <p:cTn id="16" dur="420"/>
                                        <p:tgtEl>
                                          <p:spTgt spid="18"/>
                                        </p:tgtEl>
                                      </p:cBhvr>
                                    </p:animEffect>
                                    <p:anim calcmode="lin" valueType="num">
                                      <p:cBhvr additive="base">
                                        <p:cTn id="17" dur="420" fill="hold"/>
                                        <p:tgtEl>
                                          <p:spTgt spid="18"/>
                                        </p:tgtEl>
                                        <p:attrNameLst>
                                          <p:attrName>ppt_y</p:attrName>
                                        </p:attrNameLst>
                                      </p:cBhvr>
                                      <p:tavLst>
                                        <p:tav tm="0">
                                          <p:val>
                                            <p:strVal val="#ppt_y+0.035"/>
                                          </p:val>
                                        </p:tav>
                                        <p:tav tm="100000">
                                          <p:val>
                                            <p:strVal val="#ppt_y"/>
                                          </p:val>
                                        </p:tav>
                                      </p:tavLst>
                                    </p:anim>
                                    <p:set>
                                      <p:cBhvr>
                                        <p:cTn id="18" dur="1" fill="hold">
                                          <p:stCondLst>
                                            <p:cond delay="0"/>
                                          </p:stCondLst>
                                        </p:cTn>
                                        <p:tgtEl>
                                          <p:spTgt spid="8"/>
                                        </p:tgtEl>
                                        <p:attrNameLst>
                                          <p:attrName>style.visibility</p:attrName>
                                        </p:attrNameLst>
                                      </p:cBhvr>
                                      <p:to>
                                        <p:strVal val="visible"/>
                                      </p:to>
                                    </p:set>
                                    <p:animEffect transition="in" filter="fade">
                                      <p:cBhvr>
                                        <p:cTn id="19" dur="420"/>
                                        <p:tgtEl>
                                          <p:spTgt spid="8"/>
                                        </p:tgtEl>
                                      </p:cBhvr>
                                    </p:animEffect>
                                    <p:anim calcmode="lin" valueType="num">
                                      <p:cBhvr additive="base">
                                        <p:cTn id="20" dur="420" fill="hold"/>
                                        <p:tgtEl>
                                          <p:spTgt spid="8"/>
                                        </p:tgtEl>
                                        <p:attrNameLst>
                                          <p:attrName>ppt_y</p:attrName>
                                        </p:attrNameLst>
                                      </p:cBhvr>
                                      <p:tavLst>
                                        <p:tav tm="0">
                                          <p:val>
                                            <p:strVal val="#ppt_y+0.035"/>
                                          </p:val>
                                        </p:tav>
                                        <p:tav tm="100000">
                                          <p:val>
                                            <p:strVal val="#ppt_y"/>
                                          </p:val>
                                        </p:tav>
                                      </p:tavLst>
                                    </p:anim>
                                    <p:set>
                                      <p:cBhvr>
                                        <p:cTn id="21" dur="1" fill="hold">
                                          <p:stCondLst>
                                            <p:cond delay="0"/>
                                          </p:stCondLst>
                                        </p:cTn>
                                        <p:tgtEl>
                                          <p:spTgt spid="14"/>
                                        </p:tgtEl>
                                        <p:attrNameLst>
                                          <p:attrName>style.visibility</p:attrName>
                                        </p:attrNameLst>
                                      </p:cBhvr>
                                      <p:to>
                                        <p:strVal val="visible"/>
                                      </p:to>
                                    </p:set>
                                    <p:animEffect transition="in" filter="fade">
                                      <p:cBhvr>
                                        <p:cTn id="22" dur="420"/>
                                        <p:tgtEl>
                                          <p:spTgt spid="14"/>
                                        </p:tgtEl>
                                      </p:cBhvr>
                                    </p:animEffect>
                                    <p:anim calcmode="lin" valueType="num">
                                      <p:cBhvr additive="base">
                                        <p:cTn id="23" dur="420" fill="hold"/>
                                        <p:tgtEl>
                                          <p:spTgt spid="14"/>
                                        </p:tgtEl>
                                        <p:attrNameLst>
                                          <p:attrName>ppt_y</p:attrName>
                                        </p:attrNameLst>
                                      </p:cBhvr>
                                      <p:tavLst>
                                        <p:tav tm="0">
                                          <p:val>
                                            <p:strVal val="#ppt_y+0.035"/>
                                          </p:val>
                                        </p:tav>
                                        <p:tav tm="100000">
                                          <p:val>
                                            <p:strVal val="#ppt_y"/>
                                          </p:val>
                                        </p:tav>
                                      </p:tavLst>
                                    </p:anim>
                                    <p:set>
                                      <p:cBhvr>
                                        <p:cTn id="24" dur="1" fill="hold">
                                          <p:stCondLst>
                                            <p:cond delay="0"/>
                                          </p:stCondLst>
                                        </p:cTn>
                                        <p:tgtEl>
                                          <p:spTgt spid="6"/>
                                        </p:tgtEl>
                                        <p:attrNameLst>
                                          <p:attrName>style.visibility</p:attrName>
                                        </p:attrNameLst>
                                      </p:cBhvr>
                                      <p:to>
                                        <p:strVal val="visible"/>
                                      </p:to>
                                    </p:set>
                                    <p:animEffect transition="in" filter="fade">
                                      <p:cBhvr>
                                        <p:cTn id="25" dur="420"/>
                                        <p:tgtEl>
                                          <p:spTgt spid="6"/>
                                        </p:tgtEl>
                                      </p:cBhvr>
                                    </p:animEffect>
                                    <p:anim calcmode="lin" valueType="num">
                                      <p:cBhvr additive="base">
                                        <p:cTn id="26" dur="420" fill="hold"/>
                                        <p:tgtEl>
                                          <p:spTgt spid="6"/>
                                        </p:tgtEl>
                                        <p:attrNameLst>
                                          <p:attrName>ppt_y</p:attrName>
                                        </p:attrNameLst>
                                      </p:cBhvr>
                                      <p:tavLst>
                                        <p:tav tm="0">
                                          <p:val>
                                            <p:strVal val="#ppt_y+0.035"/>
                                          </p:val>
                                        </p:tav>
                                        <p:tav tm="100000">
                                          <p:val>
                                            <p:strVal val="#ppt_y"/>
                                          </p:val>
                                        </p:tav>
                                      </p:tavLst>
                                    </p:anim>
                                    <p:set>
                                      <p:cBhvr>
                                        <p:cTn id="27" dur="1" fill="hold">
                                          <p:stCondLst>
                                            <p:cond delay="0"/>
                                          </p:stCondLst>
                                        </p:cTn>
                                        <p:tgtEl>
                                          <p:spTgt spid="12"/>
                                        </p:tgtEl>
                                        <p:attrNameLst>
                                          <p:attrName>style.visibility</p:attrName>
                                        </p:attrNameLst>
                                      </p:cBhvr>
                                      <p:to>
                                        <p:strVal val="visible"/>
                                      </p:to>
                                    </p:set>
                                    <p:animEffect transition="in" filter="fade">
                                      <p:cBhvr>
                                        <p:cTn id="28" dur="420"/>
                                        <p:tgtEl>
                                          <p:spTgt spid="12"/>
                                        </p:tgtEl>
                                      </p:cBhvr>
                                    </p:animEffect>
                                    <p:anim calcmode="lin" valueType="num">
                                      <p:cBhvr additive="base">
                                        <p:cTn id="29" dur="420" fill="hold"/>
                                        <p:tgtEl>
                                          <p:spTgt spid="12"/>
                                        </p:tgtEl>
                                        <p:attrNameLst>
                                          <p:attrName>ppt_y</p:attrName>
                                        </p:attrNameLst>
                                      </p:cBhvr>
                                      <p:tavLst>
                                        <p:tav tm="0">
                                          <p:val>
                                            <p:strVal val="#ppt_y+0.035"/>
                                          </p:val>
                                        </p:tav>
                                        <p:tav tm="100000">
                                          <p:val>
                                            <p:strVal val="#ppt_y"/>
                                          </p:val>
                                        </p:tav>
                                      </p:tavLst>
                                    </p:anim>
                                    <p:set>
                                      <p:cBhvr>
                                        <p:cTn id="30" dur="1" fill="hold">
                                          <p:stCondLst>
                                            <p:cond delay="0"/>
                                          </p:stCondLst>
                                        </p:cTn>
                                        <p:tgtEl>
                                          <p:spTgt spid="7"/>
                                        </p:tgtEl>
                                        <p:attrNameLst>
                                          <p:attrName>style.visibility</p:attrName>
                                        </p:attrNameLst>
                                      </p:cBhvr>
                                      <p:to>
                                        <p:strVal val="visible"/>
                                      </p:to>
                                    </p:set>
                                    <p:animEffect transition="in" filter="fade">
                                      <p:cBhvr>
                                        <p:cTn id="31" dur="420"/>
                                        <p:tgtEl>
                                          <p:spTgt spid="7"/>
                                        </p:tgtEl>
                                      </p:cBhvr>
                                    </p:animEffect>
                                    <p:anim calcmode="lin" valueType="num">
                                      <p:cBhvr additive="base">
                                        <p:cTn id="32" dur="420" fill="hold"/>
                                        <p:tgtEl>
                                          <p:spTgt spid="7"/>
                                        </p:tgtEl>
                                        <p:attrNameLst>
                                          <p:attrName>ppt_y</p:attrName>
                                        </p:attrNameLst>
                                      </p:cBhvr>
                                      <p:tavLst>
                                        <p:tav tm="0">
                                          <p:val>
                                            <p:strVal val="#ppt_y+0.035"/>
                                          </p:val>
                                        </p:tav>
                                        <p:tav tm="100000">
                                          <p:val>
                                            <p:strVal val="#ppt_y"/>
                                          </p:val>
                                        </p:tav>
                                      </p:tavLst>
                                    </p:anim>
                                    <p:set>
                                      <p:cBhvr>
                                        <p:cTn id="33" dur="1" fill="hold">
                                          <p:stCondLst>
                                            <p:cond delay="0"/>
                                          </p:stCondLst>
                                        </p:cTn>
                                        <p:tgtEl>
                                          <p:spTgt spid="13"/>
                                        </p:tgtEl>
                                        <p:attrNameLst>
                                          <p:attrName>style.visibility</p:attrName>
                                        </p:attrNameLst>
                                      </p:cBhvr>
                                      <p:to>
                                        <p:strVal val="visible"/>
                                      </p:to>
                                    </p:set>
                                    <p:animEffect transition="in" filter="fade">
                                      <p:cBhvr>
                                        <p:cTn id="34" dur="420"/>
                                        <p:tgtEl>
                                          <p:spTgt spid="13"/>
                                        </p:tgtEl>
                                      </p:cBhvr>
                                    </p:animEffect>
                                    <p:anim calcmode="lin" valueType="num">
                                      <p:cBhvr additive="base">
                                        <p:cTn id="35" dur="420" fill="hold"/>
                                        <p:tgtEl>
                                          <p:spTgt spid="13"/>
                                        </p:tgtEl>
                                        <p:attrNameLst>
                                          <p:attrName>ppt_y</p:attrName>
                                        </p:attrNameLst>
                                      </p:cBhvr>
                                      <p:tavLst>
                                        <p:tav tm="0">
                                          <p:val>
                                            <p:strVal val="#ppt_y+0.035"/>
                                          </p:val>
                                        </p:tav>
                                        <p:tav tm="100000">
                                          <p:val>
                                            <p:strVal val="#ppt_y"/>
                                          </p:val>
                                        </p:tav>
                                      </p:tavLst>
                                    </p:anim>
                                    <p:set>
                                      <p:cBhvr>
                                        <p:cTn id="36" dur="1" fill="hold">
                                          <p:stCondLst>
                                            <p:cond delay="0"/>
                                          </p:stCondLst>
                                        </p:cTn>
                                        <p:tgtEl>
                                          <p:spTgt spid="9"/>
                                        </p:tgtEl>
                                        <p:attrNameLst>
                                          <p:attrName>style.visibility</p:attrName>
                                        </p:attrNameLst>
                                      </p:cBhvr>
                                      <p:to>
                                        <p:strVal val="visible"/>
                                      </p:to>
                                    </p:set>
                                    <p:animEffect transition="in" filter="fade">
                                      <p:cBhvr>
                                        <p:cTn id="37" dur="420"/>
                                        <p:tgtEl>
                                          <p:spTgt spid="9"/>
                                        </p:tgtEl>
                                      </p:cBhvr>
                                    </p:animEffect>
                                    <p:anim calcmode="lin" valueType="num">
                                      <p:cBhvr additive="base">
                                        <p:cTn id="38" dur="420" fill="hold"/>
                                        <p:tgtEl>
                                          <p:spTgt spid="9"/>
                                        </p:tgtEl>
                                        <p:attrNameLst>
                                          <p:attrName>ppt_y</p:attrName>
                                        </p:attrNameLst>
                                      </p:cBhvr>
                                      <p:tavLst>
                                        <p:tav tm="0">
                                          <p:val>
                                            <p:strVal val="#ppt_y+0.035"/>
                                          </p:val>
                                        </p:tav>
                                        <p:tav tm="100000">
                                          <p:val>
                                            <p:strVal val="#ppt_y"/>
                                          </p:val>
                                        </p:tav>
                                      </p:tavLst>
                                    </p:anim>
                                    <p:set>
                                      <p:cBhvr>
                                        <p:cTn id="39" dur="1" fill="hold">
                                          <p:stCondLst>
                                            <p:cond delay="0"/>
                                          </p:stCondLst>
                                        </p:cTn>
                                        <p:tgtEl>
                                          <p:spTgt spid="15"/>
                                        </p:tgtEl>
                                        <p:attrNameLst>
                                          <p:attrName>style.visibility</p:attrName>
                                        </p:attrNameLst>
                                      </p:cBhvr>
                                      <p:to>
                                        <p:strVal val="visible"/>
                                      </p:to>
                                    </p:set>
                                    <p:animEffect transition="in" filter="fade">
                                      <p:cBhvr>
                                        <p:cTn id="40" dur="420"/>
                                        <p:tgtEl>
                                          <p:spTgt spid="15"/>
                                        </p:tgtEl>
                                      </p:cBhvr>
                                    </p:animEffect>
                                    <p:anim calcmode="lin" valueType="num">
                                      <p:cBhvr additive="base">
                                        <p:cTn id="41" dur="420" fill="hold"/>
                                        <p:tgtEl>
                                          <p:spTgt spid="15"/>
                                        </p:tgtEl>
                                        <p:attrNameLst>
                                          <p:attrName>ppt_y</p:attrName>
                                        </p:attrNameLst>
                                      </p:cBhvr>
                                      <p:tavLst>
                                        <p:tav tm="0">
                                          <p:val>
                                            <p:strVal val="#ppt_y+0.035"/>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420"/>
                                        <p:tgtEl>
                                          <p:spTgt spid="10"/>
                                        </p:tgtEl>
                                      </p:cBhvr>
                                    </p:animEffect>
                                    <p:anim calcmode="lin" valueType="num">
                                      <p:cBhvr additive="base">
                                        <p:cTn id="47" dur="420" fill="hold"/>
                                        <p:tgtEl>
                                          <p:spTgt spid="10"/>
                                        </p:tgtEl>
                                        <p:attrNameLst>
                                          <p:attrName>ppt_y</p:attrName>
                                        </p:attrNameLst>
                                      </p:cBhvr>
                                      <p:tavLst>
                                        <p:tav tm="0">
                                          <p:val>
                                            <p:strVal val="#ppt_y+0.035"/>
                                          </p:val>
                                        </p:tav>
                                        <p:tav tm="100000">
                                          <p:val>
                                            <p:strVal val="#ppt_y"/>
                                          </p:val>
                                        </p:tav>
                                      </p:tavLst>
                                    </p:anim>
                                    <p:set>
                                      <p:cBhvr>
                                        <p:cTn id="48" dur="1" fill="hold">
                                          <p:stCondLst>
                                            <p:cond delay="0"/>
                                          </p:stCondLst>
                                        </p:cTn>
                                        <p:tgtEl>
                                          <p:spTgt spid="16"/>
                                        </p:tgtEl>
                                        <p:attrNameLst>
                                          <p:attrName>style.visibility</p:attrName>
                                        </p:attrNameLst>
                                      </p:cBhvr>
                                      <p:to>
                                        <p:strVal val="visible"/>
                                      </p:to>
                                    </p:set>
                                    <p:animEffect transition="in" filter="fade">
                                      <p:cBhvr>
                                        <p:cTn id="49" dur="420"/>
                                        <p:tgtEl>
                                          <p:spTgt spid="16"/>
                                        </p:tgtEl>
                                      </p:cBhvr>
                                    </p:animEffect>
                                    <p:anim calcmode="lin" valueType="num">
                                      <p:cBhvr additive="base">
                                        <p:cTn id="50" dur="420" fill="hold"/>
                                        <p:tgtEl>
                                          <p:spTgt spid="16"/>
                                        </p:tgtEl>
                                        <p:attrNameLst>
                                          <p:attrName>ppt_y</p:attrName>
                                        </p:attrNameLst>
                                      </p:cBhvr>
                                      <p:tavLst>
                                        <p:tav tm="0">
                                          <p:val>
                                            <p:strVal val="#ppt_y+0.035"/>
                                          </p:val>
                                        </p:tav>
                                        <p:tav tm="100000">
                                          <p:val>
                                            <p:strVal val="#ppt_y"/>
                                          </p:val>
                                        </p:tav>
                                      </p:tavLst>
                                    </p:anim>
                                    <p:set>
                                      <p:cBhvr>
                                        <p:cTn id="51" dur="1" fill="hold">
                                          <p:stCondLst>
                                            <p:cond delay="0"/>
                                          </p:stCondLst>
                                        </p:cTn>
                                        <p:tgtEl>
                                          <p:spTgt spid="19"/>
                                        </p:tgtEl>
                                        <p:attrNameLst>
                                          <p:attrName>style.visibility</p:attrName>
                                        </p:attrNameLst>
                                      </p:cBhvr>
                                      <p:to>
                                        <p:strVal val="visible"/>
                                      </p:to>
                                    </p:set>
                                    <p:animEffect transition="in" filter="fade">
                                      <p:cBhvr>
                                        <p:cTn id="52" dur="420"/>
                                        <p:tgtEl>
                                          <p:spTgt spid="19"/>
                                        </p:tgtEl>
                                      </p:cBhvr>
                                    </p:animEffect>
                                    <p:anim calcmode="lin" valueType="num">
                                      <p:cBhvr additive="base">
                                        <p:cTn id="53" dur="420" fill="hold"/>
                                        <p:tgtEl>
                                          <p:spTgt spid="19"/>
                                        </p:tgtEl>
                                        <p:attrNameLst>
                                          <p:attrName>ppt_y</p:attrName>
                                        </p:attrNameLst>
                                      </p:cBhvr>
                                      <p:tavLst>
                                        <p:tav tm="0">
                                          <p:val>
                                            <p:strVal val="#ppt_y+0.035"/>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20"/>
                                        <p:tgtEl>
                                          <p:spTgt spid="20"/>
                                        </p:tgtEl>
                                      </p:cBhvr>
                                    </p:animEffect>
                                    <p:anim calcmode="lin" valueType="num">
                                      <p:cBhvr additive="base">
                                        <p:cTn id="59" dur="420" fill="hold"/>
                                        <p:tgtEl>
                                          <p:spTgt spid="20"/>
                                        </p:tgtEl>
                                        <p:attrNameLst>
                                          <p:attrName>ppt_y</p:attrName>
                                        </p:attrNameLst>
                                      </p:cBhvr>
                                      <p:tavLst>
                                        <p:tav tm="0">
                                          <p:val>
                                            <p:strVal val="#ppt_y+0.035"/>
                                          </p:val>
                                        </p:tav>
                                        <p:tav tm="100000">
                                          <p:val>
                                            <p:strVal val="#ppt_y"/>
                                          </p:val>
                                        </p:tav>
                                      </p:tavLst>
                                    </p:anim>
                                    <p:set>
                                      <p:cBhvr>
                                        <p:cTn id="60"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2" dur="420" fill="hold"/>
                                        <p:tgtEl>
                                          <p:spTgt spid="2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p:bldP spid="9" grpId="0"/>
      <p:bldP spid="10" grpId="0" animBg="1"/>
      <p:bldP spid="11" grpId="0"/>
      <p:bldP spid="12" grpId="0"/>
      <p:bldP spid="13" grpId="0"/>
      <p:bldP spid="14" grpId="0"/>
      <p:bldP spid="15" grpId="0"/>
      <p:bldP spid="16" grpId="0"/>
      <p:bldP spid="17" grpId="0"/>
      <p:bldP spid="18" grpId="0"/>
      <p:bldP spid="19" grpId="0"/>
      <p:bldP spid="20" grpId="0" animBg="1"/>
      <p:bldP spid="25"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03</a:t>
            </a:r>
            <a:r>
              <a:rPr lang="en-US" sz="1150" b="1" kern="0" spc="160" dirty="0">
                <a:solidFill>
                  <a:srgbClr val="6E7781"/>
                </a:solidFill>
                <a:latin typeface="Calibri" pitchFamily="34" charset="0"/>
                <a:ea typeface="Calibri" pitchFamily="34" charset="-122"/>
                <a:cs typeface="Calibri" pitchFamily="34" charset="-120"/>
              </a:rPr>
              <a:t>   REQUIREMENTS CONTEXT</a:t>
            </a:r>
            <a:endParaRPr lang="en-US" sz="1150" dirty="0"/>
          </a:p>
        </p:txBody>
      </p:sp>
      <p:sp>
        <p:nvSpPr>
          <p:cNvPr id="3" name="Text 1"/>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How the agent knows the requirements</a:t>
            </a:r>
            <a:endParaRPr lang="en-US" sz="3200" dirty="0"/>
          </a:p>
        </p:txBody>
      </p:sp>
      <p:sp>
        <p:nvSpPr>
          <p:cNvPr id="4" name="Text 2"/>
          <p:cNvSpPr/>
          <p:nvPr/>
        </p:nvSpPr>
        <p:spPr>
          <a:xfrm>
            <a:off x="566928" y="1389888"/>
            <a:ext cx="11055096" cy="566928"/>
          </a:xfrm>
          <a:prstGeom prst="rect">
            <a:avLst/>
          </a:prstGeom>
          <a:noFill/>
          <a:ln/>
        </p:spPr>
        <p:txBody>
          <a:bodyPr wrap="square" lIns="0" tIns="0" rIns="0" bIns="0" rtlCol="0" anchor="t"/>
          <a:lstStyle/>
          <a:p>
            <a:pPr marL="0" indent="0">
              <a:lnSpc>
                <a:spcPts val="1850"/>
              </a:lnSpc>
              <a:buNone/>
            </a:pPr>
            <a:r>
              <a:rPr lang="en-US" sz="1350" dirty="0">
                <a:solidFill>
                  <a:srgbClr val="2B3138"/>
                </a:solidFill>
                <a:latin typeface="Calibri" pitchFamily="34" charset="0"/>
                <a:ea typeface="Calibri" pitchFamily="34" charset="-122"/>
                <a:cs typeface="Calibri" pitchFamily="34" charset="-120"/>
              </a:rPr>
              <a:t>Nobody re-types the ticket. The question is whether the agent takes a copy of it or keeps reading it — because that decides what happens when somebody edits the ticket at 4pm.</a:t>
            </a:r>
            <a:endParaRPr lang="en-US" sz="1350" dirty="0"/>
          </a:p>
        </p:txBody>
      </p:sp>
      <p:sp>
        <p:nvSpPr>
          <p:cNvPr id="5" name="Shape 3"/>
          <p:cNvSpPr/>
          <p:nvPr/>
        </p:nvSpPr>
        <p:spPr>
          <a:xfrm>
            <a:off x="566928" y="2212848"/>
            <a:ext cx="4754880" cy="841248"/>
          </a:xfrm>
          <a:prstGeom prst="roundRect">
            <a:avLst>
              <a:gd name="adj" fmla="val 5435"/>
            </a:avLst>
          </a:prstGeom>
          <a:solidFill>
            <a:srgbClr val="EAF2FD"/>
          </a:solidFill>
          <a:ln w="13970">
            <a:solidFill>
              <a:srgbClr val="0969DA"/>
            </a:solidFill>
            <a:prstDash val="solid"/>
          </a:ln>
          <a:effectLst>
            <a:outerShdw blurRad="177800" dist="38100" dir="5400000" algn="bl" rotWithShape="0">
              <a:srgbClr val="8C959F">
                <a:alpha val="16000"/>
              </a:srgbClr>
            </a:outerShdw>
          </a:effectLst>
        </p:spPr>
      </p:sp>
      <p:sp>
        <p:nvSpPr>
          <p:cNvPr id="6" name="Text 4"/>
          <p:cNvSpPr/>
          <p:nvPr/>
        </p:nvSpPr>
        <p:spPr>
          <a:xfrm>
            <a:off x="822960" y="2212848"/>
            <a:ext cx="4242816" cy="841248"/>
          </a:xfrm>
          <a:prstGeom prst="rect">
            <a:avLst/>
          </a:prstGeom>
          <a:noFill/>
          <a:ln/>
        </p:spPr>
        <p:txBody>
          <a:bodyPr wrap="square" lIns="0" tIns="0" rIns="0" bIns="0" rtlCol="0" anchor="ctr"/>
          <a:lstStyle/>
          <a:p>
            <a:pPr marL="0" indent="0">
              <a:lnSpc>
                <a:spcPts val="1400"/>
              </a:lnSpc>
              <a:buNone/>
            </a:pPr>
            <a:r>
              <a:rPr lang="en-US" sz="1250" b="1" dirty="0">
                <a:solidFill>
                  <a:srgbClr val="0969DA"/>
                </a:solidFill>
                <a:latin typeface="Calibri" pitchFamily="34" charset="0"/>
                <a:ea typeface="Calibri" pitchFamily="34" charset="-122"/>
                <a:cs typeface="Calibri" pitchFamily="34" charset="-120"/>
              </a:rPr>
              <a:t>Jira ticket</a:t>
            </a:r>
            <a:endParaRPr lang="en-US" sz="1250" dirty="0"/>
          </a:p>
          <a:p>
            <a:pPr marL="0" indent="0">
              <a:lnSpc>
                <a:spcPts val="1400"/>
              </a:lnSpc>
              <a:buNone/>
            </a:pPr>
            <a:r>
              <a:rPr lang="en-US" sz="1000" dirty="0">
                <a:solidFill>
                  <a:srgbClr val="2B3138"/>
                </a:solidFill>
                <a:latin typeface="Calibri" pitchFamily="34" charset="0"/>
                <a:ea typeface="Calibri" pitchFamily="34" charset="-122"/>
                <a:cs typeface="Calibri" pitchFamily="34" charset="-120"/>
              </a:rPr>
              <a:t>PAY-1487 and its acceptance criteria</a:t>
            </a:r>
            <a:endParaRPr lang="en-US" sz="1250" dirty="0"/>
          </a:p>
        </p:txBody>
      </p:sp>
      <p:sp>
        <p:nvSpPr>
          <p:cNvPr id="7" name="Shape 5"/>
          <p:cNvSpPr/>
          <p:nvPr/>
        </p:nvSpPr>
        <p:spPr>
          <a:xfrm>
            <a:off x="2862072" y="3099816"/>
            <a:ext cx="164592" cy="182880"/>
          </a:xfrm>
          <a:prstGeom prst="downArrow">
            <a:avLst/>
          </a:prstGeom>
          <a:solidFill>
            <a:srgbClr val="AEB7C0"/>
          </a:solidFill>
          <a:ln/>
        </p:spPr>
      </p:sp>
      <p:sp>
        <p:nvSpPr>
          <p:cNvPr id="8" name="Shape 6"/>
          <p:cNvSpPr/>
          <p:nvPr/>
        </p:nvSpPr>
        <p:spPr>
          <a:xfrm>
            <a:off x="566928" y="3273552"/>
            <a:ext cx="4754880" cy="841248"/>
          </a:xfrm>
          <a:prstGeom prst="roundRect">
            <a:avLst>
              <a:gd name="adj" fmla="val 5435"/>
            </a:avLst>
          </a:prstGeom>
          <a:solidFill>
            <a:srgbClr val="F6F8FA"/>
          </a:solidFill>
          <a:ln w="13970">
            <a:solidFill>
              <a:srgbClr val="D8DEE4"/>
            </a:solidFill>
            <a:prstDash val="solid"/>
          </a:ln>
          <a:effectLst>
            <a:outerShdw blurRad="177800" dist="38100" dir="5400000" algn="bl" rotWithShape="0">
              <a:srgbClr val="8C959F">
                <a:alpha val="16000"/>
              </a:srgbClr>
            </a:outerShdw>
          </a:effectLst>
        </p:spPr>
      </p:sp>
      <p:sp>
        <p:nvSpPr>
          <p:cNvPr id="9" name="Text 7"/>
          <p:cNvSpPr/>
          <p:nvPr/>
        </p:nvSpPr>
        <p:spPr>
          <a:xfrm>
            <a:off x="822960" y="3273552"/>
            <a:ext cx="4242816" cy="841248"/>
          </a:xfrm>
          <a:prstGeom prst="rect">
            <a:avLst/>
          </a:prstGeom>
          <a:noFill/>
          <a:ln/>
        </p:spPr>
        <p:txBody>
          <a:bodyPr wrap="square" lIns="0" tIns="0" rIns="0" bIns="0" rtlCol="0" anchor="ctr"/>
          <a:lstStyle/>
          <a:p>
            <a:pPr marL="0" indent="0">
              <a:lnSpc>
                <a:spcPts val="1400"/>
              </a:lnSpc>
              <a:buNone/>
            </a:pPr>
            <a:r>
              <a:rPr lang="en-US" sz="1250" b="1" dirty="0">
                <a:solidFill>
                  <a:srgbClr val="15181D"/>
                </a:solidFill>
                <a:latin typeface="Calibri" pitchFamily="34" charset="0"/>
                <a:ea typeface="Calibri" pitchFamily="34" charset="-122"/>
                <a:cs typeface="Calibri" pitchFamily="34" charset="-120"/>
              </a:rPr>
              <a:t>Copilot reads it</a:t>
            </a:r>
            <a:endParaRPr lang="en-US" sz="1250" dirty="0"/>
          </a:p>
          <a:p>
            <a:pPr marL="0" indent="0">
              <a:lnSpc>
                <a:spcPts val="1400"/>
              </a:lnSpc>
              <a:buNone/>
            </a:pPr>
            <a:r>
              <a:rPr lang="en-US" sz="1000" dirty="0">
                <a:solidFill>
                  <a:srgbClr val="2B3138"/>
                </a:solidFill>
                <a:latin typeface="Calibri" pitchFamily="34" charset="0"/>
                <a:ea typeface="Calibri" pitchFamily="34" charset="-122"/>
                <a:cs typeface="Calibri" pitchFamily="34" charset="-120"/>
              </a:rPr>
              <a:t>title · description · labels · comments</a:t>
            </a:r>
            <a:endParaRPr lang="en-US" sz="1250" dirty="0"/>
          </a:p>
        </p:txBody>
      </p:sp>
      <p:sp>
        <p:nvSpPr>
          <p:cNvPr id="10" name="Shape 8"/>
          <p:cNvSpPr/>
          <p:nvPr/>
        </p:nvSpPr>
        <p:spPr>
          <a:xfrm>
            <a:off x="2862072" y="4160520"/>
            <a:ext cx="164592" cy="182880"/>
          </a:xfrm>
          <a:prstGeom prst="downArrow">
            <a:avLst/>
          </a:prstGeom>
          <a:solidFill>
            <a:srgbClr val="AEB7C0"/>
          </a:solidFill>
          <a:ln/>
        </p:spPr>
      </p:sp>
      <p:sp>
        <p:nvSpPr>
          <p:cNvPr id="11" name="Shape 9"/>
          <p:cNvSpPr/>
          <p:nvPr/>
        </p:nvSpPr>
        <p:spPr>
          <a:xfrm>
            <a:off x="566928" y="4334256"/>
            <a:ext cx="4754880" cy="841248"/>
          </a:xfrm>
          <a:prstGeom prst="roundRect">
            <a:avLst>
              <a:gd name="adj" fmla="val 5435"/>
            </a:avLst>
          </a:prstGeom>
          <a:solidFill>
            <a:srgbClr val="F6F8FA"/>
          </a:solidFill>
          <a:ln w="13970">
            <a:solidFill>
              <a:srgbClr val="D8DEE4"/>
            </a:solidFill>
            <a:prstDash val="solid"/>
          </a:ln>
          <a:effectLst>
            <a:outerShdw blurRad="177800" dist="38100" dir="5400000" algn="bl" rotWithShape="0">
              <a:srgbClr val="8C959F">
                <a:alpha val="16000"/>
              </a:srgbClr>
            </a:outerShdw>
          </a:effectLst>
        </p:spPr>
      </p:sp>
      <p:sp>
        <p:nvSpPr>
          <p:cNvPr id="12" name="Text 10"/>
          <p:cNvSpPr/>
          <p:nvPr/>
        </p:nvSpPr>
        <p:spPr>
          <a:xfrm>
            <a:off x="822960" y="4334256"/>
            <a:ext cx="4242816" cy="841248"/>
          </a:xfrm>
          <a:prstGeom prst="rect">
            <a:avLst/>
          </a:prstGeom>
          <a:noFill/>
          <a:ln/>
        </p:spPr>
        <p:txBody>
          <a:bodyPr wrap="square" lIns="0" tIns="0" rIns="0" bIns="0" rtlCol="0" anchor="ctr"/>
          <a:lstStyle/>
          <a:p>
            <a:pPr marL="0" indent="0">
              <a:lnSpc>
                <a:spcPts val="1400"/>
              </a:lnSpc>
              <a:buNone/>
            </a:pPr>
            <a:r>
              <a:rPr lang="en-US" sz="1250" b="1" dirty="0">
                <a:solidFill>
                  <a:srgbClr val="15181D"/>
                </a:solidFill>
                <a:latin typeface="Calibri" pitchFamily="34" charset="0"/>
                <a:ea typeface="Calibri" pitchFamily="34" charset="-122"/>
                <a:cs typeface="Calibri" pitchFamily="34" charset="-120"/>
              </a:rPr>
              <a:t>+ the spec</a:t>
            </a:r>
            <a:endParaRPr lang="en-US" sz="1250" dirty="0"/>
          </a:p>
          <a:p>
            <a:pPr marL="0" indent="0">
              <a:lnSpc>
                <a:spcPts val="1400"/>
              </a:lnSpc>
              <a:buNone/>
            </a:pPr>
            <a:r>
              <a:rPr lang="en-US" sz="1000" dirty="0">
                <a:solidFill>
                  <a:srgbClr val="2B3138"/>
                </a:solidFill>
                <a:latin typeface="Calibri" pitchFamily="34" charset="0"/>
                <a:ea typeface="Calibri" pitchFamily="34" charset="-122"/>
                <a:cs typeface="Calibri" pitchFamily="34" charset="-120"/>
              </a:rPr>
              <a:t>Confluence through MCP, plus copilot-instructions.md</a:t>
            </a:r>
            <a:endParaRPr lang="en-US" sz="1250" dirty="0"/>
          </a:p>
        </p:txBody>
      </p:sp>
      <p:sp>
        <p:nvSpPr>
          <p:cNvPr id="13" name="Shape 11"/>
          <p:cNvSpPr/>
          <p:nvPr/>
        </p:nvSpPr>
        <p:spPr>
          <a:xfrm>
            <a:off x="2862072" y="5221224"/>
            <a:ext cx="164592" cy="182880"/>
          </a:xfrm>
          <a:prstGeom prst="downArrow">
            <a:avLst/>
          </a:prstGeom>
          <a:solidFill>
            <a:srgbClr val="AEB7C0"/>
          </a:solidFill>
          <a:ln/>
        </p:spPr>
      </p:sp>
      <p:sp>
        <p:nvSpPr>
          <p:cNvPr id="14" name="Shape 12"/>
          <p:cNvSpPr/>
          <p:nvPr/>
        </p:nvSpPr>
        <p:spPr>
          <a:xfrm>
            <a:off x="566928" y="5394960"/>
            <a:ext cx="4754880" cy="841248"/>
          </a:xfrm>
          <a:prstGeom prst="roundRect">
            <a:avLst>
              <a:gd name="adj" fmla="val 5435"/>
            </a:avLst>
          </a:prstGeom>
          <a:solidFill>
            <a:srgbClr val="EAF6ED"/>
          </a:solidFill>
          <a:ln w="13970">
            <a:solidFill>
              <a:srgbClr val="1A7F37"/>
            </a:solidFill>
            <a:prstDash val="solid"/>
          </a:ln>
          <a:effectLst>
            <a:outerShdw blurRad="177800" dist="38100" dir="5400000" algn="bl" rotWithShape="0">
              <a:srgbClr val="8C959F">
                <a:alpha val="16000"/>
              </a:srgbClr>
            </a:outerShdw>
          </a:effectLst>
        </p:spPr>
      </p:sp>
      <p:sp>
        <p:nvSpPr>
          <p:cNvPr id="15" name="Text 13"/>
          <p:cNvSpPr/>
          <p:nvPr/>
        </p:nvSpPr>
        <p:spPr>
          <a:xfrm>
            <a:off x="822960" y="5394960"/>
            <a:ext cx="4242816" cy="841248"/>
          </a:xfrm>
          <a:prstGeom prst="rect">
            <a:avLst/>
          </a:prstGeom>
          <a:noFill/>
          <a:ln/>
        </p:spPr>
        <p:txBody>
          <a:bodyPr wrap="square" lIns="0" tIns="0" rIns="0" bIns="0" rtlCol="0" anchor="ctr"/>
          <a:lstStyle/>
          <a:p>
            <a:pPr marL="0" indent="0">
              <a:lnSpc>
                <a:spcPts val="1400"/>
              </a:lnSpc>
              <a:buNone/>
            </a:pPr>
            <a:r>
              <a:rPr lang="en-US" sz="1250" b="1" dirty="0">
                <a:solidFill>
                  <a:srgbClr val="1A7F37"/>
                </a:solidFill>
                <a:latin typeface="Calibri" pitchFamily="34" charset="0"/>
                <a:ea typeface="Calibri" pitchFamily="34" charset="-122"/>
                <a:cs typeface="Calibri" pitchFamily="34" charset="-120"/>
              </a:rPr>
              <a:t>Draft PR, linked</a:t>
            </a:r>
            <a:endParaRPr lang="en-US" sz="1250" dirty="0"/>
          </a:p>
          <a:p>
            <a:pPr marL="0" indent="0">
              <a:lnSpc>
                <a:spcPts val="1400"/>
              </a:lnSpc>
              <a:buNone/>
            </a:pPr>
            <a:r>
              <a:rPr lang="en-US" sz="1000" dirty="0">
                <a:solidFill>
                  <a:srgbClr val="2B3138"/>
                </a:solidFill>
                <a:latin typeface="Calibri" pitchFamily="34" charset="0"/>
                <a:ea typeface="Calibri" pitchFamily="34" charset="-122"/>
                <a:cs typeface="Calibri" pitchFamily="34" charset="-120"/>
              </a:rPr>
              <a:t>progress streams back into Jira</a:t>
            </a:r>
            <a:endParaRPr lang="en-US" sz="1250" dirty="0"/>
          </a:p>
        </p:txBody>
      </p:sp>
      <p:sp>
        <p:nvSpPr>
          <p:cNvPr id="16" name="Shape 14"/>
          <p:cNvSpPr/>
          <p:nvPr/>
        </p:nvSpPr>
        <p:spPr>
          <a:xfrm>
            <a:off x="5632704" y="2212848"/>
            <a:ext cx="5989320" cy="1901952"/>
          </a:xfrm>
          <a:prstGeom prst="roundRect">
            <a:avLst>
              <a:gd name="adj" fmla="val 2885"/>
            </a:avLst>
          </a:prstGeom>
          <a:solidFill>
            <a:srgbClr val="F6F8FA"/>
          </a:solidFill>
          <a:ln w="9525">
            <a:solidFill>
              <a:srgbClr val="D8DEE4"/>
            </a:solidFill>
            <a:prstDash val="solid"/>
          </a:ln>
          <a:effectLst>
            <a:outerShdw blurRad="177800" dist="38100" dir="5400000" algn="bl" rotWithShape="0">
              <a:srgbClr val="8C959F">
                <a:alpha val="16000"/>
              </a:srgbClr>
            </a:outerShdw>
          </a:effectLst>
        </p:spPr>
      </p:sp>
      <p:sp>
        <p:nvSpPr>
          <p:cNvPr id="17" name="Text 15"/>
          <p:cNvSpPr/>
          <p:nvPr/>
        </p:nvSpPr>
        <p:spPr>
          <a:xfrm>
            <a:off x="5907024" y="2395728"/>
            <a:ext cx="5440680" cy="292608"/>
          </a:xfrm>
          <a:prstGeom prst="rect">
            <a:avLst/>
          </a:prstGeom>
          <a:noFill/>
          <a:ln/>
        </p:spPr>
        <p:txBody>
          <a:bodyPr wrap="square" lIns="0" tIns="0" rIns="0" bIns="0" rtlCol="0" anchor="ctr"/>
          <a:lstStyle/>
          <a:p>
            <a:pPr marL="0" indent="0">
              <a:buNone/>
            </a:pPr>
            <a:r>
              <a:rPr lang="en-US" sz="1550" b="1" dirty="0">
                <a:solidFill>
                  <a:srgbClr val="15181D"/>
                </a:solidFill>
                <a:latin typeface="Cambria" pitchFamily="34" charset="0"/>
                <a:ea typeface="Cambria" pitchFamily="34" charset="-122"/>
                <a:cs typeface="Cambria" pitchFamily="34" charset="-120"/>
              </a:rPr>
              <a:t>A copy, or a live read</a:t>
            </a:r>
            <a:endParaRPr lang="en-US" sz="1550" dirty="0"/>
          </a:p>
        </p:txBody>
      </p:sp>
      <p:sp>
        <p:nvSpPr>
          <p:cNvPr id="18" name="Text 16"/>
          <p:cNvSpPr/>
          <p:nvPr/>
        </p:nvSpPr>
        <p:spPr>
          <a:xfrm>
            <a:off x="5907024" y="2834640"/>
            <a:ext cx="5440680" cy="1097280"/>
          </a:xfrm>
          <a:prstGeom prst="rect">
            <a:avLst/>
          </a:prstGeom>
          <a:noFill/>
          <a:ln/>
        </p:spPr>
        <p:txBody>
          <a:bodyPr wrap="square" lIns="0" tIns="0" rIns="0" bIns="0" rtlCol="0" anchor="t"/>
          <a:lstStyle/>
          <a:p>
            <a:pPr marL="177800" indent="-177800">
              <a:lnSpc>
                <a:spcPts val="1452"/>
              </a:lnSpc>
              <a:spcAft>
                <a:spcPts val="700"/>
              </a:spcAft>
              <a:buSzPct val="100000"/>
              <a:buChar char="•"/>
            </a:pPr>
            <a:r>
              <a:rPr lang="en-US" sz="1100" b="1" dirty="0">
                <a:solidFill>
                  <a:srgbClr val="15181D"/>
                </a:solidFill>
                <a:latin typeface="Calibri" pitchFamily="34" charset="0"/>
                <a:ea typeface="Calibri" pitchFamily="34" charset="-122"/>
                <a:cs typeface="Calibri" pitchFamily="34" charset="-120"/>
              </a:rPr>
              <a:t>Copilot — a snapshot. </a:t>
            </a:r>
            <a:r>
              <a:rPr lang="en-US" sz="1100" dirty="0">
                <a:solidFill>
                  <a:srgbClr val="2B3138"/>
                </a:solidFill>
                <a:latin typeface="Calibri" pitchFamily="34" charset="0"/>
                <a:ea typeface="Calibri" pitchFamily="34" charset="-122"/>
                <a:cs typeface="Calibri" pitchFamily="34" charset="-120"/>
              </a:rPr>
              <a:t>The ticket is captured the moment you assign it, and frozen there alongside copilot-instructions.md.</a:t>
            </a:r>
            <a:endParaRPr lang="en-US" sz="1100" dirty="0"/>
          </a:p>
          <a:p>
            <a:pPr marL="177800" indent="-177800">
              <a:lnSpc>
                <a:spcPts val="1452"/>
              </a:lnSpc>
              <a:spcAft>
                <a:spcPts val="700"/>
              </a:spcAft>
              <a:buSzPct val="100000"/>
              <a:buChar char="•"/>
            </a:pPr>
            <a:r>
              <a:rPr lang="en-US" sz="1100" b="1" dirty="0">
                <a:solidFill>
                  <a:srgbClr val="15181D"/>
                </a:solidFill>
                <a:latin typeface="Calibri" pitchFamily="34" charset="0"/>
                <a:ea typeface="Calibri" pitchFamily="34" charset="-122"/>
                <a:cs typeface="Calibri" pitchFamily="34" charset="-120"/>
              </a:rPr>
              <a:t>Claude Code — a live read. </a:t>
            </a:r>
            <a:r>
              <a:rPr lang="en-US" sz="1100" dirty="0">
                <a:solidFill>
                  <a:srgbClr val="2B3138"/>
                </a:solidFill>
                <a:latin typeface="Calibri" pitchFamily="34" charset="0"/>
                <a:ea typeface="Calibri" pitchFamily="34" charset="-122"/>
                <a:cs typeface="Calibri" pitchFamily="34" charset="-120"/>
              </a:rPr>
              <a:t>CLAUDE.md is read every session, and Atlassian or Notion MCP servers are queried while the work runs.</a:t>
            </a:r>
            <a:endParaRPr lang="en-US" sz="1100" dirty="0"/>
          </a:p>
        </p:txBody>
      </p:sp>
      <p:sp>
        <p:nvSpPr>
          <p:cNvPr id="19" name="Shape 17"/>
          <p:cNvSpPr/>
          <p:nvPr/>
        </p:nvSpPr>
        <p:spPr>
          <a:xfrm>
            <a:off x="5632704" y="4334256"/>
            <a:ext cx="5989320" cy="1901952"/>
          </a:xfrm>
          <a:prstGeom prst="roundRect">
            <a:avLst>
              <a:gd name="adj" fmla="val 2885"/>
            </a:avLst>
          </a:prstGeom>
          <a:solidFill>
            <a:srgbClr val="FDF0EE"/>
          </a:solidFill>
          <a:ln w="9525">
            <a:solidFill>
              <a:srgbClr val="D8DEE4"/>
            </a:solidFill>
            <a:prstDash val="solid"/>
          </a:ln>
          <a:effectLst>
            <a:outerShdw blurRad="177800" dist="38100" dir="5400000" algn="bl" rotWithShape="0">
              <a:srgbClr val="8C959F">
                <a:alpha val="16000"/>
              </a:srgbClr>
            </a:outerShdw>
          </a:effectLst>
        </p:spPr>
      </p:sp>
      <p:sp>
        <p:nvSpPr>
          <p:cNvPr id="20" name="Text 18"/>
          <p:cNvSpPr/>
          <p:nvPr/>
        </p:nvSpPr>
        <p:spPr>
          <a:xfrm>
            <a:off x="5907024" y="4517136"/>
            <a:ext cx="5440680" cy="292608"/>
          </a:xfrm>
          <a:prstGeom prst="rect">
            <a:avLst/>
          </a:prstGeom>
          <a:noFill/>
          <a:ln/>
        </p:spPr>
        <p:txBody>
          <a:bodyPr wrap="square" lIns="0" tIns="0" rIns="0" bIns="0" rtlCol="0" anchor="ctr"/>
          <a:lstStyle/>
          <a:p>
            <a:pPr marL="0" indent="0">
              <a:buNone/>
            </a:pPr>
            <a:r>
              <a:rPr lang="en-US" sz="1550" b="1" dirty="0">
                <a:solidFill>
                  <a:srgbClr val="B42318"/>
                </a:solidFill>
                <a:latin typeface="Cambria" pitchFamily="34" charset="0"/>
                <a:ea typeface="Cambria" pitchFamily="34" charset="-122"/>
                <a:cs typeface="Cambria" pitchFamily="34" charset="-120"/>
              </a:rPr>
              <a:t>The catch, and it bites people</a:t>
            </a:r>
            <a:endParaRPr lang="en-US" sz="1550" dirty="0"/>
          </a:p>
        </p:txBody>
      </p:sp>
      <p:sp>
        <p:nvSpPr>
          <p:cNvPr id="21" name="Text 19"/>
          <p:cNvSpPr/>
          <p:nvPr/>
        </p:nvSpPr>
        <p:spPr>
          <a:xfrm>
            <a:off x="5907024" y="4937760"/>
            <a:ext cx="5440680" cy="1188720"/>
          </a:xfrm>
          <a:prstGeom prst="rect">
            <a:avLst/>
          </a:prstGeom>
          <a:noFill/>
          <a:ln/>
        </p:spPr>
        <p:txBody>
          <a:bodyPr wrap="square" lIns="0" tIns="0" rIns="0" bIns="0" rtlCol="0" anchor="t"/>
          <a:lstStyle/>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Edits to the issue after assignment do not reach a running cloud agent — steer it with a comment on the pull request instead.</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Put anything durable in copilot-instructions.md or CLAUDE.md, never in the ticket: a ticket is read once, a conventions file every time.</a:t>
            </a:r>
            <a:endParaRPr lang="en-US" sz="1100" dirty="0"/>
          </a:p>
        </p:txBody>
      </p:sp>
      <p:sp>
        <p:nvSpPr>
          <p:cNvPr id="22" name="Text 20"/>
          <p:cNvSpPr/>
          <p:nvPr/>
        </p:nvSpPr>
        <p:spPr>
          <a:xfrm>
            <a:off x="566928" y="6437376"/>
            <a:ext cx="10552176" cy="237744"/>
          </a:xfrm>
          <a:prstGeom prst="rect">
            <a:avLst/>
          </a:prstGeom>
          <a:noFill/>
          <a:ln/>
        </p:spPr>
        <p:txBody>
          <a:bodyPr wrap="square" lIns="0" tIns="0" rIns="0" bIns="0" rtlCol="0" anchor="ctr"/>
          <a:lstStyle/>
          <a:p>
            <a:pPr marL="0" indent="0">
              <a:buNone/>
            </a:pPr>
            <a:r>
              <a:rPr lang="en-US" sz="850" b="1" dirty="0">
                <a:solidFill>
                  <a:srgbClr val="6E7781"/>
                </a:solidFill>
                <a:latin typeface="Calibri" pitchFamily="34" charset="0"/>
                <a:ea typeface="Calibri" pitchFamily="34" charset="-122"/>
                <a:cs typeface="Calibri" pitchFamily="34" charset="-120"/>
              </a:rPr>
              <a:t>Sources   </a:t>
            </a:r>
            <a:r>
              <a:rPr lang="en-US" sz="850" dirty="0">
                <a:solidFill>
                  <a:srgbClr val="6E7781"/>
                </a:solidFill>
                <a:latin typeface="Calibri" pitchFamily="34" charset="0"/>
                <a:ea typeface="Calibri" pitchFamily="34" charset="-122"/>
                <a:cs typeface="Calibri" pitchFamily="34" charset="-120"/>
              </a:rPr>
              <a:t>github.blog/changelog/2026-06-25-github-copilot-for-jira-is-now-generally-available · learn.microsoft.com/azure/devops/boards/github/work-item-integration-github-copilot</a:t>
            </a:r>
            <a:endParaRPr lang="en-US" sz="850" dirty="0"/>
          </a:p>
        </p:txBody>
      </p:sp>
      <p:sp>
        <p:nvSpPr>
          <p:cNvPr id="25"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anim calcmode="lin" valueType="num">
                                      <p:cBhvr additive="base">
                                        <p:cTn id="8" dur="420" fill="hold"/>
                                        <p:tgtEl>
                                          <p:spTgt spid="5"/>
                                        </p:tgtEl>
                                        <p:attrNameLst>
                                          <p:attrName>ppt_y</p:attrName>
                                        </p:attrNameLst>
                                      </p:cBhvr>
                                      <p:tavLst>
                                        <p:tav tm="0">
                                          <p:val>
                                            <p:strVal val="#ppt_y+0.035"/>
                                          </p:val>
                                        </p:tav>
                                        <p:tav tm="100000">
                                          <p:val>
                                            <p:strVal val="#ppt_y"/>
                                          </p:val>
                                        </p:tav>
                                      </p:tavLst>
                                    </p:anim>
                                    <p:set>
                                      <p:cBhvr>
                                        <p:cTn id="9" dur="1" fill="hold">
                                          <p:stCondLst>
                                            <p:cond delay="0"/>
                                          </p:stCondLst>
                                        </p:cTn>
                                        <p:tgtEl>
                                          <p:spTgt spid="6"/>
                                        </p:tgtEl>
                                        <p:attrNameLst>
                                          <p:attrName>style.visibility</p:attrName>
                                        </p:attrNameLst>
                                      </p:cBhvr>
                                      <p:to>
                                        <p:strVal val="visible"/>
                                      </p:to>
                                    </p:set>
                                    <p:animEffect transition="in" filter="fade">
                                      <p:cBhvr>
                                        <p:cTn id="10" dur="420"/>
                                        <p:tgtEl>
                                          <p:spTgt spid="6"/>
                                        </p:tgtEl>
                                      </p:cBhvr>
                                    </p:animEffect>
                                    <p:anim calcmode="lin" valueType="num">
                                      <p:cBhvr additive="base">
                                        <p:cTn id="11" dur="420" fill="hold"/>
                                        <p:tgtEl>
                                          <p:spTgt spid="6"/>
                                        </p:tgtEl>
                                        <p:attrNameLst>
                                          <p:attrName>ppt_y</p:attrName>
                                        </p:attrNameLst>
                                      </p:cBhvr>
                                      <p:tavLst>
                                        <p:tav tm="0">
                                          <p:val>
                                            <p:strVal val="#ppt_y+0.035"/>
                                          </p:val>
                                        </p:tav>
                                        <p:tav tm="100000">
                                          <p:val>
                                            <p:strVal val="#ppt_y"/>
                                          </p:val>
                                        </p:tav>
                                      </p:tavLst>
                                    </p:anim>
                                    <p:set>
                                      <p:cBhvr>
                                        <p:cTn id="12" dur="1" fill="hold">
                                          <p:stCondLst>
                                            <p:cond delay="0"/>
                                          </p:stCondLst>
                                        </p:cTn>
                                        <p:tgtEl>
                                          <p:spTgt spid="16"/>
                                        </p:tgtEl>
                                        <p:attrNameLst>
                                          <p:attrName>style.visibility</p:attrName>
                                        </p:attrNameLst>
                                      </p:cBhvr>
                                      <p:to>
                                        <p:strVal val="visible"/>
                                      </p:to>
                                    </p:set>
                                    <p:animEffect transition="in" filter="fade">
                                      <p:cBhvr>
                                        <p:cTn id="13" dur="420"/>
                                        <p:tgtEl>
                                          <p:spTgt spid="16"/>
                                        </p:tgtEl>
                                      </p:cBhvr>
                                    </p:animEffect>
                                    <p:anim calcmode="lin" valueType="num">
                                      <p:cBhvr additive="base">
                                        <p:cTn id="14" dur="420" fill="hold"/>
                                        <p:tgtEl>
                                          <p:spTgt spid="16"/>
                                        </p:tgtEl>
                                        <p:attrNameLst>
                                          <p:attrName>ppt_y</p:attrName>
                                        </p:attrNameLst>
                                      </p:cBhvr>
                                      <p:tavLst>
                                        <p:tav tm="0">
                                          <p:val>
                                            <p:strVal val="#ppt_y+0.035"/>
                                          </p:val>
                                        </p:tav>
                                        <p:tav tm="100000">
                                          <p:val>
                                            <p:strVal val="#ppt_y"/>
                                          </p:val>
                                        </p:tav>
                                      </p:tavLst>
                                    </p:anim>
                                    <p:set>
                                      <p:cBhvr>
                                        <p:cTn id="15" dur="1" fill="hold">
                                          <p:stCondLst>
                                            <p:cond delay="0"/>
                                          </p:stCondLst>
                                        </p:cTn>
                                        <p:tgtEl>
                                          <p:spTgt spid="17"/>
                                        </p:tgtEl>
                                        <p:attrNameLst>
                                          <p:attrName>style.visibility</p:attrName>
                                        </p:attrNameLst>
                                      </p:cBhvr>
                                      <p:to>
                                        <p:strVal val="visible"/>
                                      </p:to>
                                    </p:set>
                                    <p:animEffect transition="in" filter="fade">
                                      <p:cBhvr>
                                        <p:cTn id="16" dur="420"/>
                                        <p:tgtEl>
                                          <p:spTgt spid="17"/>
                                        </p:tgtEl>
                                      </p:cBhvr>
                                    </p:animEffect>
                                    <p:anim calcmode="lin" valueType="num">
                                      <p:cBhvr additive="base">
                                        <p:cTn id="17" dur="420" fill="hold"/>
                                        <p:tgtEl>
                                          <p:spTgt spid="17"/>
                                        </p:tgtEl>
                                        <p:attrNameLst>
                                          <p:attrName>ppt_y</p:attrName>
                                        </p:attrNameLst>
                                      </p:cBhvr>
                                      <p:tavLst>
                                        <p:tav tm="0">
                                          <p:val>
                                            <p:strVal val="#ppt_y+0.035"/>
                                          </p:val>
                                        </p:tav>
                                        <p:tav tm="100000">
                                          <p:val>
                                            <p:strVal val="#ppt_y"/>
                                          </p:val>
                                        </p:tav>
                                      </p:tavLst>
                                    </p:anim>
                                    <p:set>
                                      <p:cBhvr>
                                        <p:cTn id="18" dur="1" fill="hold">
                                          <p:stCondLst>
                                            <p:cond delay="0"/>
                                          </p:stCondLst>
                                        </p:cTn>
                                        <p:tgtEl>
                                          <p:spTgt spid="18"/>
                                        </p:tgtEl>
                                        <p:attrNameLst>
                                          <p:attrName>style.visibility</p:attrName>
                                        </p:attrNameLst>
                                      </p:cBhvr>
                                      <p:to>
                                        <p:strVal val="visible"/>
                                      </p:to>
                                    </p:set>
                                    <p:animEffect transition="in" filter="fade">
                                      <p:cBhvr>
                                        <p:cTn id="19" dur="420"/>
                                        <p:tgtEl>
                                          <p:spTgt spid="18"/>
                                        </p:tgtEl>
                                      </p:cBhvr>
                                    </p:animEffect>
                                    <p:anim calcmode="lin" valueType="num">
                                      <p:cBhvr additive="base">
                                        <p:cTn id="20" dur="420" fill="hold"/>
                                        <p:tgtEl>
                                          <p:spTgt spid="18"/>
                                        </p:tgtEl>
                                        <p:attrNameLst>
                                          <p:attrName>ppt_y</p:attrName>
                                        </p:attrNameLst>
                                      </p:cBhvr>
                                      <p:tavLst>
                                        <p:tav tm="0">
                                          <p:val>
                                            <p:strVal val="#ppt_y+0.035"/>
                                          </p:val>
                                        </p:tav>
                                        <p:tav tm="100000">
                                          <p:val>
                                            <p:strVal val="#ppt_y"/>
                                          </p:val>
                                        </p:tav>
                                      </p:tavLst>
                                    </p:anim>
                                    <p:set>
                                      <p:cBhvr>
                                        <p:cTn id="21" dur="1" fill="hold">
                                          <p:stCondLst>
                                            <p:cond delay="0"/>
                                          </p:stCondLst>
                                        </p:cTn>
                                        <p:tgtEl>
                                          <p:spTgt spid="7"/>
                                        </p:tgtEl>
                                        <p:attrNameLst>
                                          <p:attrName>style.visibility</p:attrName>
                                        </p:attrNameLst>
                                      </p:cBhvr>
                                      <p:to>
                                        <p:strVal val="visible"/>
                                      </p:to>
                                    </p:set>
                                    <p:animEffect transition="in" filter="fade">
                                      <p:cBhvr>
                                        <p:cTn id="22" dur="420"/>
                                        <p:tgtEl>
                                          <p:spTgt spid="7"/>
                                        </p:tgtEl>
                                      </p:cBhvr>
                                    </p:animEffect>
                                    <p:anim calcmode="lin" valueType="num">
                                      <p:cBhvr additive="base">
                                        <p:cTn id="23" dur="420" fill="hold"/>
                                        <p:tgtEl>
                                          <p:spTgt spid="7"/>
                                        </p:tgtEl>
                                        <p:attrNameLst>
                                          <p:attrName>ppt_y</p:attrName>
                                        </p:attrNameLst>
                                      </p:cBhvr>
                                      <p:tavLst>
                                        <p:tav tm="0">
                                          <p:val>
                                            <p:strVal val="#ppt_y+0.035"/>
                                          </p:val>
                                        </p:tav>
                                        <p:tav tm="100000">
                                          <p:val>
                                            <p:strVal val="#ppt_y"/>
                                          </p:val>
                                        </p:tav>
                                      </p:tavLst>
                                    </p:anim>
                                    <p:set>
                                      <p:cBhvr>
                                        <p:cTn id="24" dur="1" fill="hold">
                                          <p:stCondLst>
                                            <p:cond delay="0"/>
                                          </p:stCondLst>
                                        </p:cTn>
                                        <p:tgtEl>
                                          <p:spTgt spid="8"/>
                                        </p:tgtEl>
                                        <p:attrNameLst>
                                          <p:attrName>style.visibility</p:attrName>
                                        </p:attrNameLst>
                                      </p:cBhvr>
                                      <p:to>
                                        <p:strVal val="visible"/>
                                      </p:to>
                                    </p:set>
                                    <p:animEffect transition="in" filter="fade">
                                      <p:cBhvr>
                                        <p:cTn id="25" dur="420"/>
                                        <p:tgtEl>
                                          <p:spTgt spid="8"/>
                                        </p:tgtEl>
                                      </p:cBhvr>
                                    </p:animEffect>
                                    <p:anim calcmode="lin" valueType="num">
                                      <p:cBhvr additive="base">
                                        <p:cTn id="26" dur="420" fill="hold"/>
                                        <p:tgtEl>
                                          <p:spTgt spid="8"/>
                                        </p:tgtEl>
                                        <p:attrNameLst>
                                          <p:attrName>ppt_y</p:attrName>
                                        </p:attrNameLst>
                                      </p:cBhvr>
                                      <p:tavLst>
                                        <p:tav tm="0">
                                          <p:val>
                                            <p:strVal val="#ppt_y+0.035"/>
                                          </p:val>
                                        </p:tav>
                                        <p:tav tm="100000">
                                          <p:val>
                                            <p:strVal val="#ppt_y"/>
                                          </p:val>
                                        </p:tav>
                                      </p:tavLst>
                                    </p:anim>
                                    <p:set>
                                      <p:cBhvr>
                                        <p:cTn id="27" dur="1" fill="hold">
                                          <p:stCondLst>
                                            <p:cond delay="0"/>
                                          </p:stCondLst>
                                        </p:cTn>
                                        <p:tgtEl>
                                          <p:spTgt spid="9"/>
                                        </p:tgtEl>
                                        <p:attrNameLst>
                                          <p:attrName>style.visibility</p:attrName>
                                        </p:attrNameLst>
                                      </p:cBhvr>
                                      <p:to>
                                        <p:strVal val="visible"/>
                                      </p:to>
                                    </p:set>
                                    <p:animEffect transition="in" filter="fade">
                                      <p:cBhvr>
                                        <p:cTn id="28" dur="420"/>
                                        <p:tgtEl>
                                          <p:spTgt spid="9"/>
                                        </p:tgtEl>
                                      </p:cBhvr>
                                    </p:animEffect>
                                    <p:anim calcmode="lin" valueType="num">
                                      <p:cBhvr additive="base">
                                        <p:cTn id="29" dur="420" fill="hold"/>
                                        <p:tgtEl>
                                          <p:spTgt spid="9"/>
                                        </p:tgtEl>
                                        <p:attrNameLst>
                                          <p:attrName>ppt_y</p:attrName>
                                        </p:attrNameLst>
                                      </p:cBhvr>
                                      <p:tavLst>
                                        <p:tav tm="0">
                                          <p:val>
                                            <p:strVal val="#ppt_y+0.035"/>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420"/>
                                        <p:tgtEl>
                                          <p:spTgt spid="10"/>
                                        </p:tgtEl>
                                      </p:cBhvr>
                                    </p:animEffect>
                                    <p:anim calcmode="lin" valueType="num">
                                      <p:cBhvr additive="base">
                                        <p:cTn id="35" dur="420" fill="hold"/>
                                        <p:tgtEl>
                                          <p:spTgt spid="10"/>
                                        </p:tgtEl>
                                        <p:attrNameLst>
                                          <p:attrName>ppt_y</p:attrName>
                                        </p:attrNameLst>
                                      </p:cBhvr>
                                      <p:tavLst>
                                        <p:tav tm="0">
                                          <p:val>
                                            <p:strVal val="#ppt_y+0.035"/>
                                          </p:val>
                                        </p:tav>
                                        <p:tav tm="100000">
                                          <p:val>
                                            <p:strVal val="#ppt_y"/>
                                          </p:val>
                                        </p:tav>
                                      </p:tavLst>
                                    </p:anim>
                                    <p:set>
                                      <p:cBhvr>
                                        <p:cTn id="36" dur="1" fill="hold">
                                          <p:stCondLst>
                                            <p:cond delay="0"/>
                                          </p:stCondLst>
                                        </p:cTn>
                                        <p:tgtEl>
                                          <p:spTgt spid="11"/>
                                        </p:tgtEl>
                                        <p:attrNameLst>
                                          <p:attrName>style.visibility</p:attrName>
                                        </p:attrNameLst>
                                      </p:cBhvr>
                                      <p:to>
                                        <p:strVal val="visible"/>
                                      </p:to>
                                    </p:set>
                                    <p:animEffect transition="in" filter="fade">
                                      <p:cBhvr>
                                        <p:cTn id="37" dur="420"/>
                                        <p:tgtEl>
                                          <p:spTgt spid="11"/>
                                        </p:tgtEl>
                                      </p:cBhvr>
                                    </p:animEffect>
                                    <p:anim calcmode="lin" valueType="num">
                                      <p:cBhvr additive="base">
                                        <p:cTn id="38" dur="420" fill="hold"/>
                                        <p:tgtEl>
                                          <p:spTgt spid="11"/>
                                        </p:tgtEl>
                                        <p:attrNameLst>
                                          <p:attrName>ppt_y</p:attrName>
                                        </p:attrNameLst>
                                      </p:cBhvr>
                                      <p:tavLst>
                                        <p:tav tm="0">
                                          <p:val>
                                            <p:strVal val="#ppt_y+0.035"/>
                                          </p:val>
                                        </p:tav>
                                        <p:tav tm="100000">
                                          <p:val>
                                            <p:strVal val="#ppt_y"/>
                                          </p:val>
                                        </p:tav>
                                      </p:tavLst>
                                    </p:anim>
                                    <p:set>
                                      <p:cBhvr>
                                        <p:cTn id="39" dur="1" fill="hold">
                                          <p:stCondLst>
                                            <p:cond delay="0"/>
                                          </p:stCondLst>
                                        </p:cTn>
                                        <p:tgtEl>
                                          <p:spTgt spid="12"/>
                                        </p:tgtEl>
                                        <p:attrNameLst>
                                          <p:attrName>style.visibility</p:attrName>
                                        </p:attrNameLst>
                                      </p:cBhvr>
                                      <p:to>
                                        <p:strVal val="visible"/>
                                      </p:to>
                                    </p:set>
                                    <p:animEffect transition="in" filter="fade">
                                      <p:cBhvr>
                                        <p:cTn id="40" dur="420"/>
                                        <p:tgtEl>
                                          <p:spTgt spid="12"/>
                                        </p:tgtEl>
                                      </p:cBhvr>
                                    </p:animEffect>
                                    <p:anim calcmode="lin" valueType="num">
                                      <p:cBhvr additive="base">
                                        <p:cTn id="41" dur="420" fill="hold"/>
                                        <p:tgtEl>
                                          <p:spTgt spid="12"/>
                                        </p:tgtEl>
                                        <p:attrNameLst>
                                          <p:attrName>ppt_y</p:attrName>
                                        </p:attrNameLst>
                                      </p:cBhvr>
                                      <p:tavLst>
                                        <p:tav tm="0">
                                          <p:val>
                                            <p:strVal val="#ppt_y+0.035"/>
                                          </p:val>
                                        </p:tav>
                                        <p:tav tm="100000">
                                          <p:val>
                                            <p:strVal val="#ppt_y"/>
                                          </p:val>
                                        </p:tav>
                                      </p:tavLst>
                                    </p:anim>
                                    <p:set>
                                      <p:cBhvr>
                                        <p:cTn id="42" dur="1" fill="hold">
                                          <p:stCondLst>
                                            <p:cond delay="0"/>
                                          </p:stCondLst>
                                        </p:cTn>
                                        <p:tgtEl>
                                          <p:spTgt spid="19"/>
                                        </p:tgtEl>
                                        <p:attrNameLst>
                                          <p:attrName>style.visibility</p:attrName>
                                        </p:attrNameLst>
                                      </p:cBhvr>
                                      <p:to>
                                        <p:strVal val="visible"/>
                                      </p:to>
                                    </p:set>
                                    <p:animEffect transition="in" filter="fade">
                                      <p:cBhvr>
                                        <p:cTn id="43" dur="420"/>
                                        <p:tgtEl>
                                          <p:spTgt spid="19"/>
                                        </p:tgtEl>
                                      </p:cBhvr>
                                    </p:animEffect>
                                    <p:anim calcmode="lin" valueType="num">
                                      <p:cBhvr additive="base">
                                        <p:cTn id="44" dur="420" fill="hold"/>
                                        <p:tgtEl>
                                          <p:spTgt spid="19"/>
                                        </p:tgtEl>
                                        <p:attrNameLst>
                                          <p:attrName>ppt_y</p:attrName>
                                        </p:attrNameLst>
                                      </p:cBhvr>
                                      <p:tavLst>
                                        <p:tav tm="0">
                                          <p:val>
                                            <p:strVal val="#ppt_y+0.035"/>
                                          </p:val>
                                        </p:tav>
                                        <p:tav tm="100000">
                                          <p:val>
                                            <p:strVal val="#ppt_y"/>
                                          </p:val>
                                        </p:tav>
                                      </p:tavLst>
                                    </p:anim>
                                    <p:set>
                                      <p:cBhvr>
                                        <p:cTn id="45" dur="1" fill="hold">
                                          <p:stCondLst>
                                            <p:cond delay="0"/>
                                          </p:stCondLst>
                                        </p:cTn>
                                        <p:tgtEl>
                                          <p:spTgt spid="20"/>
                                        </p:tgtEl>
                                        <p:attrNameLst>
                                          <p:attrName>style.visibility</p:attrName>
                                        </p:attrNameLst>
                                      </p:cBhvr>
                                      <p:to>
                                        <p:strVal val="visible"/>
                                      </p:to>
                                    </p:set>
                                    <p:animEffect transition="in" filter="fade">
                                      <p:cBhvr>
                                        <p:cTn id="46" dur="420"/>
                                        <p:tgtEl>
                                          <p:spTgt spid="20"/>
                                        </p:tgtEl>
                                      </p:cBhvr>
                                    </p:animEffect>
                                    <p:anim calcmode="lin" valueType="num">
                                      <p:cBhvr additive="base">
                                        <p:cTn id="47" dur="420" fill="hold"/>
                                        <p:tgtEl>
                                          <p:spTgt spid="20"/>
                                        </p:tgtEl>
                                        <p:attrNameLst>
                                          <p:attrName>ppt_y</p:attrName>
                                        </p:attrNameLst>
                                      </p:cBhvr>
                                      <p:tavLst>
                                        <p:tav tm="0">
                                          <p:val>
                                            <p:strVal val="#ppt_y+0.035"/>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20"/>
                                        <p:tgtEl>
                                          <p:spTgt spid="21"/>
                                        </p:tgtEl>
                                      </p:cBhvr>
                                    </p:animEffect>
                                    <p:anim calcmode="lin" valueType="num">
                                      <p:cBhvr additive="base">
                                        <p:cTn id="53" dur="420" fill="hold"/>
                                        <p:tgtEl>
                                          <p:spTgt spid="21"/>
                                        </p:tgtEl>
                                        <p:attrNameLst>
                                          <p:attrName>ppt_y</p:attrName>
                                        </p:attrNameLst>
                                      </p:cBhvr>
                                      <p:tavLst>
                                        <p:tav tm="0">
                                          <p:val>
                                            <p:strVal val="#ppt_y+0.035"/>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420"/>
                                        <p:tgtEl>
                                          <p:spTgt spid="13"/>
                                        </p:tgtEl>
                                      </p:cBhvr>
                                    </p:animEffect>
                                    <p:anim calcmode="lin" valueType="num">
                                      <p:cBhvr additive="base">
                                        <p:cTn id="59" dur="420" fill="hold"/>
                                        <p:tgtEl>
                                          <p:spTgt spid="13"/>
                                        </p:tgtEl>
                                        <p:attrNameLst>
                                          <p:attrName>ppt_y</p:attrName>
                                        </p:attrNameLst>
                                      </p:cBhvr>
                                      <p:tavLst>
                                        <p:tav tm="0">
                                          <p:val>
                                            <p:strVal val="#ppt_y+0.035"/>
                                          </p:val>
                                        </p:tav>
                                        <p:tav tm="100000">
                                          <p:val>
                                            <p:strVal val="#ppt_y"/>
                                          </p:val>
                                        </p:tav>
                                      </p:tavLst>
                                    </p:anim>
                                    <p:set>
                                      <p:cBhvr>
                                        <p:cTn id="60" dur="1" fill="hold">
                                          <p:stCondLst>
                                            <p:cond delay="0"/>
                                          </p:stCondLst>
                                        </p:cTn>
                                        <p:tgtEl>
                                          <p:spTgt spid="14"/>
                                        </p:tgtEl>
                                        <p:attrNameLst>
                                          <p:attrName>style.visibility</p:attrName>
                                        </p:attrNameLst>
                                      </p:cBhvr>
                                      <p:to>
                                        <p:strVal val="visible"/>
                                      </p:to>
                                    </p:set>
                                    <p:animEffect transition="in" filter="fade">
                                      <p:cBhvr>
                                        <p:cTn id="61" dur="420"/>
                                        <p:tgtEl>
                                          <p:spTgt spid="14"/>
                                        </p:tgtEl>
                                      </p:cBhvr>
                                    </p:animEffect>
                                    <p:anim calcmode="lin" valueType="num">
                                      <p:cBhvr additive="base">
                                        <p:cTn id="62" dur="420" fill="hold"/>
                                        <p:tgtEl>
                                          <p:spTgt spid="14"/>
                                        </p:tgtEl>
                                        <p:attrNameLst>
                                          <p:attrName>ppt_y</p:attrName>
                                        </p:attrNameLst>
                                      </p:cBhvr>
                                      <p:tavLst>
                                        <p:tav tm="0">
                                          <p:val>
                                            <p:strVal val="#ppt_y+0.035"/>
                                          </p:val>
                                        </p:tav>
                                        <p:tav tm="100000">
                                          <p:val>
                                            <p:strVal val="#ppt_y"/>
                                          </p:val>
                                        </p:tav>
                                      </p:tavLst>
                                    </p:anim>
                                    <p:set>
                                      <p:cBhvr>
                                        <p:cTn id="63" dur="1" fill="hold">
                                          <p:stCondLst>
                                            <p:cond delay="0"/>
                                          </p:stCondLst>
                                        </p:cTn>
                                        <p:tgtEl>
                                          <p:spTgt spid="15"/>
                                        </p:tgtEl>
                                        <p:attrNameLst>
                                          <p:attrName>style.visibility</p:attrName>
                                        </p:attrNameLst>
                                      </p:cBhvr>
                                      <p:to>
                                        <p:strVal val="visible"/>
                                      </p:to>
                                    </p:set>
                                    <p:animEffect transition="in" filter="fade">
                                      <p:cBhvr>
                                        <p:cTn id="64" dur="420"/>
                                        <p:tgtEl>
                                          <p:spTgt spid="15"/>
                                        </p:tgtEl>
                                      </p:cBhvr>
                                    </p:animEffect>
                                    <p:anim calcmode="lin" valueType="num">
                                      <p:cBhvr additive="base">
                                        <p:cTn id="65" dur="420" fill="hold"/>
                                        <p:tgtEl>
                                          <p:spTgt spid="15"/>
                                        </p:tgtEl>
                                        <p:attrNameLst>
                                          <p:attrName>ppt_y</p:attrName>
                                        </p:attrNameLst>
                                      </p:cBhvr>
                                      <p:tavLst>
                                        <p:tav tm="0">
                                          <p:val>
                                            <p:strVal val="#ppt_y+0.035"/>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420"/>
                                        <p:tgtEl>
                                          <p:spTgt spid="22"/>
                                        </p:tgtEl>
                                      </p:cBhvr>
                                    </p:animEffect>
                                    <p:anim calcmode="lin" valueType="num">
                                      <p:cBhvr additive="base">
                                        <p:cTn id="71" dur="420" fill="hold"/>
                                        <p:tgtEl>
                                          <p:spTgt spid="22"/>
                                        </p:tgtEl>
                                        <p:attrNameLst>
                                          <p:attrName>ppt_y</p:attrName>
                                        </p:attrNameLst>
                                      </p:cBhvr>
                                      <p:tavLst>
                                        <p:tav tm="0">
                                          <p:val>
                                            <p:strVal val="#ppt_y+0.035"/>
                                          </p:val>
                                        </p:tav>
                                        <p:tav tm="100000">
                                          <p:val>
                                            <p:strVal val="#ppt_y"/>
                                          </p:val>
                                        </p:tav>
                                      </p:tavLst>
                                    </p:anim>
                                    <p:set>
                                      <p:cBhvr>
                                        <p:cTn id="72" dur="1" fill="hold">
                                          <p:stCondLst>
                                            <p:cond delay="0"/>
                                          </p:stCondLst>
                                        </p:cTn>
                                        <p:tgtEl>
                                          <p:spTgt spid="25"/>
                                        </p:tgtEl>
                                        <p:attrNameLst>
                                          <p:attrName>style.visibility</p:attrName>
                                        </p:attrNameLst>
                                      </p:cBhvr>
                                      <p:to>
                                        <p:strVal val="visible"/>
                                      </p:to>
                                    </p:set>
                                    <p:animEffect transition="in" filter="fade">
                                      <p:cBhvr>
                                        <p:cTn id="73" dur="420"/>
                                        <p:tgtEl>
                                          <p:spTgt spid="25"/>
                                        </p:tgtEl>
                                      </p:cBhvr>
                                    </p:animEffect>
                                    <p:anim calcmode="lin" valueType="num">
                                      <p:cBhvr additive="base">
                                        <p:cTn id="74" dur="420" fill="hold"/>
                                        <p:tgtEl>
                                          <p:spTgt spid="2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p:bldP spid="9" grpId="0"/>
      <p:bldP spid="10" grpId="0" animBg="1"/>
      <p:bldP spid="11" grpId="0"/>
      <p:bldP spid="12" grpId="0"/>
      <p:bldP spid="13" grpId="0" animBg="1"/>
      <p:bldP spid="14" grpId="0"/>
      <p:bldP spid="15" grpId="0"/>
      <p:bldP spid="16" grpId="0"/>
      <p:bldP spid="17" grpId="0"/>
      <p:bldP spid="18" grpId="0"/>
      <p:bldP spid="19" grpId="0"/>
      <p:bldP spid="20" grpId="0"/>
      <p:bldP spid="21" grpId="0" animBg="1"/>
      <p:bldP spid="22" grpId="0" animBg="1"/>
      <p:bldP spid="25"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04</a:t>
            </a:r>
            <a:r>
              <a:rPr lang="en-US" sz="1150" b="1" kern="0" spc="160" dirty="0">
                <a:solidFill>
                  <a:srgbClr val="6E7781"/>
                </a:solidFill>
                <a:latin typeface="Calibri" pitchFamily="34" charset="0"/>
                <a:ea typeface="Calibri" pitchFamily="34" charset="-122"/>
                <a:cs typeface="Calibri" pitchFamily="34" charset="-120"/>
              </a:rPr>
              <a:t>   WHAT IT COSTS</a:t>
            </a:r>
            <a:endParaRPr lang="en-US" sz="1150" dirty="0"/>
          </a:p>
        </p:txBody>
      </p:sp>
      <p:sp>
        <p:nvSpPr>
          <p:cNvPr id="3" name="Text 1"/>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What an enterprise seat costs</a:t>
            </a:r>
            <a:endParaRPr lang="en-US" sz="3200" dirty="0"/>
          </a:p>
        </p:txBody>
      </p:sp>
      <p:sp>
        <p:nvSpPr>
          <p:cNvPr id="4" name="Text 2"/>
          <p:cNvSpPr/>
          <p:nvPr/>
        </p:nvSpPr>
        <p:spPr>
          <a:xfrm>
            <a:off x="566928" y="1389888"/>
            <a:ext cx="11055096" cy="566928"/>
          </a:xfrm>
          <a:prstGeom prst="rect">
            <a:avLst/>
          </a:prstGeom>
          <a:noFill/>
          <a:ln/>
        </p:spPr>
        <p:txBody>
          <a:bodyPr wrap="square" lIns="0" tIns="0" rIns="0" bIns="0" rtlCol="0" anchor="t"/>
          <a:lstStyle/>
          <a:p>
            <a:pPr marL="0" indent="0">
              <a:lnSpc>
                <a:spcPts val="1850"/>
              </a:lnSpc>
              <a:buNone/>
            </a:pPr>
            <a:r>
              <a:rPr lang="en-US" sz="1350" dirty="0">
                <a:solidFill>
                  <a:srgbClr val="2B3138"/>
                </a:solidFill>
                <a:latin typeface="Calibri" pitchFamily="34" charset="0"/>
                <a:ea typeface="Calibri" pitchFamily="34" charset="-122"/>
                <a:cs typeface="Calibri" pitchFamily="34" charset="-120"/>
              </a:rPr>
              <a:t>One published price per tool, before any add-on. Everything above the seat is on the next slide.</a:t>
            </a:r>
            <a:endParaRPr lang="en-US" sz="1350" dirty="0"/>
          </a:p>
        </p:txBody>
      </p:sp>
      <p:sp>
        <p:nvSpPr>
          <p:cNvPr id="5" name="Shape 3"/>
          <p:cNvSpPr/>
          <p:nvPr/>
        </p:nvSpPr>
        <p:spPr>
          <a:xfrm>
            <a:off x="566928" y="2157984"/>
            <a:ext cx="3931920" cy="4059936"/>
          </a:xfrm>
          <a:prstGeom prst="roundRect">
            <a:avLst>
              <a:gd name="adj" fmla="val 1395"/>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6" name="Shape 4"/>
          <p:cNvSpPr/>
          <p:nvPr/>
        </p:nvSpPr>
        <p:spPr>
          <a:xfrm>
            <a:off x="859536" y="2432304"/>
            <a:ext cx="512064" cy="512064"/>
          </a:xfrm>
          <a:prstGeom prst="ellipse">
            <a:avLst/>
          </a:prstGeom>
          <a:solidFill>
            <a:srgbClr val="0969DA"/>
          </a:solidFill>
          <a:ln w="12700">
            <a:solidFill>
              <a:srgbClr val="0969DA"/>
            </a:solidFill>
            <a:prstDash val="solid"/>
          </a:ln>
        </p:spPr>
      </p:sp>
      <p:pic>
        <p:nvPicPr>
          <p:cNvPr id="7" name="Image 0" descr="/home/claude/deck/build/img/copilot_white.png"/>
          <p:cNvPicPr>
            <a:picLocks noChangeAspect="1"/>
          </p:cNvPicPr>
          <p:nvPr/>
        </p:nvPicPr>
        <p:blipFill>
          <a:blip r:embed="rId3"/>
          <a:stretch>
            <a:fillRect/>
          </a:stretch>
        </p:blipFill>
        <p:spPr>
          <a:xfrm>
            <a:off x="992673" y="2565441"/>
            <a:ext cx="245791" cy="245791"/>
          </a:xfrm>
          <a:prstGeom prst="rect">
            <a:avLst/>
          </a:prstGeom>
        </p:spPr>
      </p:pic>
      <p:sp>
        <p:nvSpPr>
          <p:cNvPr id="8" name="Text 5"/>
          <p:cNvSpPr/>
          <p:nvPr/>
        </p:nvSpPr>
        <p:spPr>
          <a:xfrm>
            <a:off x="1481328" y="2414016"/>
            <a:ext cx="2743200" cy="292608"/>
          </a:xfrm>
          <a:prstGeom prst="rect">
            <a:avLst/>
          </a:prstGeom>
          <a:noFill/>
          <a:ln/>
        </p:spPr>
        <p:txBody>
          <a:bodyPr wrap="square" lIns="0" tIns="0" rIns="0" bIns="0" rtlCol="0" anchor="ctr"/>
          <a:lstStyle/>
          <a:p>
            <a:pPr marL="0" indent="0">
              <a:buNone/>
            </a:pPr>
            <a:r>
              <a:rPr lang="en-US" sz="1700" b="1" dirty="0">
                <a:solidFill>
                  <a:srgbClr val="0969DA"/>
                </a:solidFill>
                <a:latin typeface="Cambria" pitchFamily="34" charset="0"/>
                <a:ea typeface="Cambria" pitchFamily="34" charset="-122"/>
                <a:cs typeface="Cambria" pitchFamily="34" charset="-120"/>
              </a:rPr>
              <a:t>GitHub Copilot</a:t>
            </a:r>
            <a:endParaRPr lang="en-US" sz="1700" dirty="0"/>
          </a:p>
        </p:txBody>
      </p:sp>
      <p:sp>
        <p:nvSpPr>
          <p:cNvPr id="9" name="Text 6"/>
          <p:cNvSpPr/>
          <p:nvPr/>
        </p:nvSpPr>
        <p:spPr>
          <a:xfrm>
            <a:off x="1481328" y="2706624"/>
            <a:ext cx="2743200" cy="219456"/>
          </a:xfrm>
          <a:prstGeom prst="rect">
            <a:avLst/>
          </a:prstGeom>
          <a:noFill/>
          <a:ln/>
        </p:spPr>
        <p:txBody>
          <a:bodyPr wrap="square" lIns="0" tIns="0" rIns="0" bIns="0" rtlCol="0" anchor="ctr"/>
          <a:lstStyle/>
          <a:p>
            <a:pPr marL="0" indent="0">
              <a:buNone/>
            </a:pPr>
            <a:r>
              <a:rPr lang="en-US" sz="1000" b="1" kern="0" spc="120" dirty="0">
                <a:solidFill>
                  <a:srgbClr val="6E7781"/>
                </a:solidFill>
                <a:latin typeface="Calibri" pitchFamily="34" charset="0"/>
                <a:ea typeface="Calibri" pitchFamily="34" charset="-122"/>
                <a:cs typeface="Calibri" pitchFamily="34" charset="-120"/>
              </a:rPr>
              <a:t>ENTERPRISE</a:t>
            </a:r>
            <a:endParaRPr lang="en-US" sz="1000" dirty="0"/>
          </a:p>
        </p:txBody>
      </p:sp>
      <p:sp>
        <p:nvSpPr>
          <p:cNvPr id="10" name="Shape 7"/>
          <p:cNvSpPr/>
          <p:nvPr/>
        </p:nvSpPr>
        <p:spPr>
          <a:xfrm>
            <a:off x="859536" y="3145536"/>
            <a:ext cx="3346704" cy="1481328"/>
          </a:xfrm>
          <a:prstGeom prst="roundRect">
            <a:avLst>
              <a:gd name="adj" fmla="val 3086"/>
            </a:avLst>
          </a:prstGeom>
          <a:solidFill>
            <a:srgbClr val="FFFFFF"/>
          </a:solidFill>
          <a:ln w="9525">
            <a:solidFill>
              <a:srgbClr val="D8DEE4"/>
            </a:solidFill>
            <a:prstDash val="solid"/>
          </a:ln>
        </p:spPr>
      </p:sp>
      <p:sp>
        <p:nvSpPr>
          <p:cNvPr id="11" name="Text 8"/>
          <p:cNvSpPr/>
          <p:nvPr/>
        </p:nvSpPr>
        <p:spPr>
          <a:xfrm>
            <a:off x="859536" y="3218688"/>
            <a:ext cx="3346704" cy="914400"/>
          </a:xfrm>
          <a:prstGeom prst="rect">
            <a:avLst/>
          </a:prstGeom>
          <a:noFill/>
          <a:ln/>
        </p:spPr>
        <p:txBody>
          <a:bodyPr wrap="square" lIns="0" tIns="0" rIns="0" bIns="0" rtlCol="0" anchor="ctr"/>
          <a:lstStyle/>
          <a:p>
            <a:pPr marL="0" indent="0" algn="ctr">
              <a:buNone/>
            </a:pPr>
            <a:r>
              <a:rPr lang="en-US" sz="5400" b="1" dirty="0">
                <a:solidFill>
                  <a:srgbClr val="0969DA"/>
                </a:solidFill>
                <a:latin typeface="Cambria" pitchFamily="34" charset="0"/>
                <a:ea typeface="Cambria" pitchFamily="34" charset="-122"/>
                <a:cs typeface="Cambria" pitchFamily="34" charset="-120"/>
              </a:rPr>
              <a:t>$39</a:t>
            </a:r>
            <a:endParaRPr lang="en-US" sz="5400" dirty="0"/>
          </a:p>
        </p:txBody>
      </p:sp>
      <p:sp>
        <p:nvSpPr>
          <p:cNvPr id="12" name="Text 9"/>
          <p:cNvSpPr/>
          <p:nvPr/>
        </p:nvSpPr>
        <p:spPr>
          <a:xfrm>
            <a:off x="859536" y="4133088"/>
            <a:ext cx="3346704" cy="420624"/>
          </a:xfrm>
          <a:prstGeom prst="rect">
            <a:avLst/>
          </a:prstGeom>
          <a:noFill/>
          <a:ln/>
        </p:spPr>
        <p:txBody>
          <a:bodyPr wrap="square" lIns="0" tIns="0" rIns="0" bIns="0" rtlCol="0" anchor="t"/>
          <a:lstStyle/>
          <a:p>
            <a:pPr marL="0" indent="0" algn="ctr">
              <a:lnSpc>
                <a:spcPts val="1400"/>
              </a:lnSpc>
              <a:buNone/>
            </a:pPr>
            <a:r>
              <a:rPr lang="en-US" sz="1100" dirty="0">
                <a:solidFill>
                  <a:srgbClr val="2B3138"/>
                </a:solidFill>
                <a:latin typeface="Calibri" pitchFamily="34" charset="0"/>
                <a:ea typeface="Calibri" pitchFamily="34" charset="-122"/>
                <a:cs typeface="Calibri" pitchFamily="34" charset="-120"/>
              </a:rPr>
              <a:t>per user / month</a:t>
            </a:r>
            <a:endParaRPr lang="en-US" sz="1100" dirty="0"/>
          </a:p>
        </p:txBody>
      </p:sp>
      <p:sp>
        <p:nvSpPr>
          <p:cNvPr id="13" name="Text 10"/>
          <p:cNvSpPr/>
          <p:nvPr/>
        </p:nvSpPr>
        <p:spPr>
          <a:xfrm>
            <a:off x="859536" y="4846320"/>
            <a:ext cx="3346704" cy="1170432"/>
          </a:xfrm>
          <a:prstGeom prst="rect">
            <a:avLst/>
          </a:prstGeom>
          <a:noFill/>
          <a:ln/>
        </p:spPr>
        <p:txBody>
          <a:bodyPr wrap="square" lIns="0" tIns="0" rIns="0" bIns="0" rtlCol="0" anchor="t"/>
          <a:lstStyle/>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3,900 AI credits included per user.</a:t>
            </a:r>
            <a:endParaRPr lang="en-US" sz="1050" dirty="0"/>
          </a:p>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Credits pool across the whole enterprise.</a:t>
            </a:r>
            <a:endParaRPr lang="en-US" sz="1050" dirty="0"/>
          </a:p>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Overage runs at $0.01 per credit.</a:t>
            </a:r>
            <a:endParaRPr lang="en-US" sz="1050" dirty="0"/>
          </a:p>
        </p:txBody>
      </p:sp>
      <p:sp>
        <p:nvSpPr>
          <p:cNvPr id="14" name="Shape 11"/>
          <p:cNvSpPr/>
          <p:nvPr/>
        </p:nvSpPr>
        <p:spPr>
          <a:xfrm>
            <a:off x="4626864" y="2157984"/>
            <a:ext cx="3931920" cy="4059936"/>
          </a:xfrm>
          <a:prstGeom prst="roundRect">
            <a:avLst>
              <a:gd name="adj" fmla="val 1395"/>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15" name="Shape 12"/>
          <p:cNvSpPr/>
          <p:nvPr/>
        </p:nvSpPr>
        <p:spPr>
          <a:xfrm>
            <a:off x="4919472" y="2432304"/>
            <a:ext cx="512064" cy="512064"/>
          </a:xfrm>
          <a:prstGeom prst="ellipse">
            <a:avLst/>
          </a:prstGeom>
          <a:solidFill>
            <a:srgbClr val="C2410C"/>
          </a:solidFill>
          <a:ln w="12700">
            <a:solidFill>
              <a:srgbClr val="C2410C"/>
            </a:solidFill>
            <a:prstDash val="solid"/>
          </a:ln>
        </p:spPr>
      </p:sp>
      <p:pic>
        <p:nvPicPr>
          <p:cNvPr id="16" name="Image 1" descr="/home/claude/deck/build/img/claude_white.png"/>
          <p:cNvPicPr>
            <a:picLocks noChangeAspect="1"/>
          </p:cNvPicPr>
          <p:nvPr/>
        </p:nvPicPr>
        <p:blipFill>
          <a:blip r:embed="rId4"/>
          <a:stretch>
            <a:fillRect/>
          </a:stretch>
        </p:blipFill>
        <p:spPr>
          <a:xfrm>
            <a:off x="5052609" y="2565441"/>
            <a:ext cx="245791" cy="245791"/>
          </a:xfrm>
          <a:prstGeom prst="rect">
            <a:avLst/>
          </a:prstGeom>
        </p:spPr>
      </p:pic>
      <p:sp>
        <p:nvSpPr>
          <p:cNvPr id="17" name="Text 13"/>
          <p:cNvSpPr/>
          <p:nvPr/>
        </p:nvSpPr>
        <p:spPr>
          <a:xfrm>
            <a:off x="5541264" y="2414016"/>
            <a:ext cx="2743200" cy="292608"/>
          </a:xfrm>
          <a:prstGeom prst="rect">
            <a:avLst/>
          </a:prstGeom>
          <a:noFill/>
          <a:ln/>
        </p:spPr>
        <p:txBody>
          <a:bodyPr wrap="square" lIns="0" tIns="0" rIns="0" bIns="0" rtlCol="0" anchor="ctr"/>
          <a:lstStyle/>
          <a:p>
            <a:pPr marL="0" indent="0">
              <a:buNone/>
            </a:pPr>
            <a:r>
              <a:rPr lang="en-US" sz="1700" b="1" dirty="0">
                <a:solidFill>
                  <a:srgbClr val="C2410C"/>
                </a:solidFill>
                <a:latin typeface="Cambria" pitchFamily="34" charset="0"/>
                <a:ea typeface="Cambria" pitchFamily="34" charset="-122"/>
                <a:cs typeface="Cambria" pitchFamily="34" charset="-120"/>
              </a:rPr>
              <a:t>Claude</a:t>
            </a:r>
            <a:endParaRPr lang="en-US" sz="1700" dirty="0"/>
          </a:p>
        </p:txBody>
      </p:sp>
      <p:sp>
        <p:nvSpPr>
          <p:cNvPr id="18" name="Text 14"/>
          <p:cNvSpPr/>
          <p:nvPr/>
        </p:nvSpPr>
        <p:spPr>
          <a:xfrm>
            <a:off x="5541264" y="2706624"/>
            <a:ext cx="2743200" cy="219456"/>
          </a:xfrm>
          <a:prstGeom prst="rect">
            <a:avLst/>
          </a:prstGeom>
          <a:noFill/>
          <a:ln/>
        </p:spPr>
        <p:txBody>
          <a:bodyPr wrap="square" lIns="0" tIns="0" rIns="0" bIns="0" rtlCol="0" anchor="ctr"/>
          <a:lstStyle/>
          <a:p>
            <a:pPr marL="0" indent="0">
              <a:buNone/>
            </a:pPr>
            <a:r>
              <a:rPr lang="en-US" sz="1000" b="1" kern="0" spc="120" dirty="0">
                <a:solidFill>
                  <a:srgbClr val="6E7781"/>
                </a:solidFill>
                <a:latin typeface="Calibri" pitchFamily="34" charset="0"/>
                <a:ea typeface="Calibri" pitchFamily="34" charset="-122"/>
                <a:cs typeface="Calibri" pitchFamily="34" charset="-120"/>
              </a:rPr>
              <a:t>ENTERPRISE</a:t>
            </a:r>
            <a:endParaRPr lang="en-US" sz="1000" dirty="0"/>
          </a:p>
        </p:txBody>
      </p:sp>
      <p:sp>
        <p:nvSpPr>
          <p:cNvPr id="19" name="Shape 15"/>
          <p:cNvSpPr/>
          <p:nvPr/>
        </p:nvSpPr>
        <p:spPr>
          <a:xfrm>
            <a:off x="4919472" y="3145536"/>
            <a:ext cx="3346704" cy="1481328"/>
          </a:xfrm>
          <a:prstGeom prst="roundRect">
            <a:avLst>
              <a:gd name="adj" fmla="val 3086"/>
            </a:avLst>
          </a:prstGeom>
          <a:solidFill>
            <a:srgbClr val="FFFFFF"/>
          </a:solidFill>
          <a:ln w="9525">
            <a:solidFill>
              <a:srgbClr val="D8DEE4"/>
            </a:solidFill>
            <a:prstDash val="solid"/>
          </a:ln>
        </p:spPr>
      </p:sp>
      <p:sp>
        <p:nvSpPr>
          <p:cNvPr id="20" name="Text 16"/>
          <p:cNvSpPr/>
          <p:nvPr/>
        </p:nvSpPr>
        <p:spPr>
          <a:xfrm>
            <a:off x="4919472" y="3218688"/>
            <a:ext cx="3346704" cy="914400"/>
          </a:xfrm>
          <a:prstGeom prst="rect">
            <a:avLst/>
          </a:prstGeom>
          <a:noFill/>
          <a:ln/>
        </p:spPr>
        <p:txBody>
          <a:bodyPr wrap="square" lIns="0" tIns="0" rIns="0" bIns="0" rtlCol="0" anchor="ctr"/>
          <a:lstStyle/>
          <a:p>
            <a:pPr marL="0" indent="0" algn="ctr">
              <a:buNone/>
            </a:pPr>
            <a:r>
              <a:rPr lang="en-US" sz="5400" b="1" dirty="0">
                <a:solidFill>
                  <a:srgbClr val="C2410C"/>
                </a:solidFill>
                <a:latin typeface="Cambria" pitchFamily="34" charset="0"/>
                <a:ea typeface="Cambria" pitchFamily="34" charset="-122"/>
                <a:cs typeface="Cambria" pitchFamily="34" charset="-120"/>
              </a:rPr>
              <a:t>$20</a:t>
            </a:r>
            <a:endParaRPr lang="en-US" sz="5400" dirty="0"/>
          </a:p>
        </p:txBody>
      </p:sp>
      <p:sp>
        <p:nvSpPr>
          <p:cNvPr id="21" name="Text 17"/>
          <p:cNvSpPr/>
          <p:nvPr/>
        </p:nvSpPr>
        <p:spPr>
          <a:xfrm>
            <a:off x="4919472" y="4133088"/>
            <a:ext cx="3346704" cy="420624"/>
          </a:xfrm>
          <a:prstGeom prst="rect">
            <a:avLst/>
          </a:prstGeom>
          <a:noFill/>
          <a:ln/>
        </p:spPr>
        <p:txBody>
          <a:bodyPr wrap="square" lIns="0" tIns="0" rIns="0" bIns="0" rtlCol="0" anchor="t"/>
          <a:lstStyle/>
          <a:p>
            <a:pPr marL="0" indent="0" algn="ctr">
              <a:lnSpc>
                <a:spcPts val="1400"/>
              </a:lnSpc>
              <a:buNone/>
            </a:pPr>
            <a:r>
              <a:rPr lang="en-US" sz="1100" dirty="0">
                <a:solidFill>
                  <a:srgbClr val="2B3138"/>
                </a:solidFill>
                <a:latin typeface="Calibri" pitchFamily="34" charset="0"/>
                <a:ea typeface="Calibri" pitchFamily="34" charset="-122"/>
                <a:cs typeface="Calibri" pitchFamily="34" charset="-120"/>
              </a:rPr>
              <a:t>per seat / month</a:t>
            </a:r>
            <a:endParaRPr lang="en-US" sz="1100" dirty="0"/>
          </a:p>
          <a:p>
            <a:pPr marL="0" indent="0" algn="ctr">
              <a:lnSpc>
                <a:spcPts val="1400"/>
              </a:lnSpc>
              <a:buNone/>
            </a:pPr>
            <a:r>
              <a:rPr lang="en-US" sz="1100" dirty="0">
                <a:solidFill>
                  <a:srgbClr val="2B3138"/>
                </a:solidFill>
                <a:latin typeface="Calibri" pitchFamily="34" charset="0"/>
                <a:ea typeface="Calibri" pitchFamily="34" charset="-122"/>
                <a:cs typeface="Calibri" pitchFamily="34" charset="-120"/>
              </a:rPr>
              <a:t>billed annually</a:t>
            </a:r>
            <a:endParaRPr lang="en-US" sz="1100" dirty="0"/>
          </a:p>
        </p:txBody>
      </p:sp>
      <p:sp>
        <p:nvSpPr>
          <p:cNvPr id="22" name="Text 18"/>
          <p:cNvSpPr/>
          <p:nvPr/>
        </p:nvSpPr>
        <p:spPr>
          <a:xfrm>
            <a:off x="4919472" y="4846320"/>
            <a:ext cx="3346704" cy="1170432"/>
          </a:xfrm>
          <a:prstGeom prst="rect">
            <a:avLst/>
          </a:prstGeom>
          <a:noFill/>
          <a:ln/>
        </p:spPr>
        <p:txBody>
          <a:bodyPr wrap="square" lIns="0" tIns="0" rIns="0" bIns="0" rtlCol="0" anchor="t"/>
          <a:lstStyle/>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Minimum 20 seats.</a:t>
            </a:r>
            <a:endParaRPr lang="en-US" sz="1050" dirty="0"/>
          </a:p>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Usage billed separately at API rates.</a:t>
            </a:r>
            <a:endParaRPr lang="en-US" sz="1050" dirty="0"/>
          </a:p>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Claude Code and Cowork included in the seat.</a:t>
            </a:r>
            <a:endParaRPr lang="en-US" sz="1050" dirty="0"/>
          </a:p>
        </p:txBody>
      </p:sp>
      <p:sp>
        <p:nvSpPr>
          <p:cNvPr id="23" name="Shape 19"/>
          <p:cNvSpPr/>
          <p:nvPr/>
        </p:nvSpPr>
        <p:spPr>
          <a:xfrm>
            <a:off x="8686800" y="2157984"/>
            <a:ext cx="2935224" cy="4059936"/>
          </a:xfrm>
          <a:prstGeom prst="roundRect">
            <a:avLst>
              <a:gd name="adj" fmla="val 1869"/>
            </a:avLst>
          </a:prstGeom>
          <a:solidFill>
            <a:srgbClr val="F6F8FA"/>
          </a:solidFill>
          <a:ln w="9525">
            <a:solidFill>
              <a:srgbClr val="D8DEE4"/>
            </a:solidFill>
            <a:prstDash val="solid"/>
          </a:ln>
          <a:effectLst>
            <a:outerShdw blurRad="177800" dist="38100" dir="5400000" algn="bl" rotWithShape="0">
              <a:srgbClr val="8C959F">
                <a:alpha val="16000"/>
              </a:srgbClr>
            </a:outerShdw>
          </a:effectLst>
        </p:spPr>
      </p:sp>
      <p:sp>
        <p:nvSpPr>
          <p:cNvPr id="24" name="Text 20"/>
          <p:cNvSpPr/>
          <p:nvPr/>
        </p:nvSpPr>
        <p:spPr>
          <a:xfrm>
            <a:off x="8942832" y="2340864"/>
            <a:ext cx="2423160" cy="310896"/>
          </a:xfrm>
          <a:prstGeom prst="rect">
            <a:avLst/>
          </a:prstGeom>
          <a:noFill/>
          <a:ln/>
        </p:spPr>
        <p:txBody>
          <a:bodyPr wrap="square" lIns="0" tIns="0" rIns="0" bIns="0" rtlCol="0" anchor="ctr"/>
          <a:lstStyle/>
          <a:p>
            <a:pPr marL="0" indent="0">
              <a:buNone/>
            </a:pPr>
            <a:r>
              <a:rPr lang="en-US" sz="1550" b="1" dirty="0">
                <a:solidFill>
                  <a:srgbClr val="15181D"/>
                </a:solidFill>
                <a:latin typeface="Cambria" pitchFamily="34" charset="0"/>
                <a:ea typeface="Cambria" pitchFamily="34" charset="-122"/>
                <a:cs typeface="Cambria" pitchFamily="34" charset="-120"/>
              </a:rPr>
              <a:t>Read them this way</a:t>
            </a:r>
            <a:endParaRPr lang="en-US" sz="1550" dirty="0"/>
          </a:p>
        </p:txBody>
      </p:sp>
      <p:sp>
        <p:nvSpPr>
          <p:cNvPr id="25" name="Text 21"/>
          <p:cNvSpPr/>
          <p:nvPr/>
        </p:nvSpPr>
        <p:spPr>
          <a:xfrm>
            <a:off x="8942832" y="2852928"/>
            <a:ext cx="2423160" cy="2103120"/>
          </a:xfrm>
          <a:prstGeom prst="rect">
            <a:avLst/>
          </a:prstGeom>
          <a:noFill/>
          <a:ln/>
        </p:spPr>
        <p:txBody>
          <a:bodyPr wrap="square" lIns="0" tIns="0" rIns="0" bIns="0" rtlCol="0" anchor="t"/>
          <a:lstStyle/>
          <a:p>
            <a:pPr marL="177800" indent="-177800">
              <a:lnSpc>
                <a:spcPts val="1320"/>
              </a:lnSpc>
              <a:spcAft>
                <a:spcPts val="700"/>
              </a:spcAft>
              <a:buSzPct val="100000"/>
              <a:buChar char="•"/>
            </a:pPr>
            <a:r>
              <a:rPr lang="en-US" sz="1000" dirty="0">
                <a:solidFill>
                  <a:srgbClr val="2B3138"/>
                </a:solidFill>
                <a:latin typeface="Calibri" pitchFamily="34" charset="0"/>
                <a:ea typeface="Calibri" pitchFamily="34" charset="-122"/>
                <a:cs typeface="Calibri" pitchFamily="34" charset="-120"/>
              </a:rPr>
              <a:t>Copilot Enterprise is a flat seat: the $39 already contains the usage allowance.</a:t>
            </a:r>
            <a:endParaRPr lang="en-US" sz="1000" dirty="0"/>
          </a:p>
          <a:p>
            <a:pPr marL="177800" indent="-177800">
              <a:lnSpc>
                <a:spcPts val="1320"/>
              </a:lnSpc>
              <a:spcAft>
                <a:spcPts val="700"/>
              </a:spcAft>
              <a:buSzPct val="100000"/>
              <a:buChar char="•"/>
            </a:pPr>
            <a:r>
              <a:rPr lang="en-US" sz="1000" dirty="0">
                <a:solidFill>
                  <a:srgbClr val="2B3138"/>
                </a:solidFill>
                <a:latin typeface="Calibri" pitchFamily="34" charset="0"/>
                <a:ea typeface="Calibri" pitchFamily="34" charset="-122"/>
                <a:cs typeface="Calibri" pitchFamily="34" charset="-120"/>
              </a:rPr>
              <a:t>The Claude $20 is a floor. Anthropic's own enterprise average adds $150–250 per developer per month.</a:t>
            </a:r>
            <a:endParaRPr lang="en-US" sz="1000" dirty="0"/>
          </a:p>
          <a:p>
            <a:pPr marL="177800" indent="-177800">
              <a:lnSpc>
                <a:spcPts val="1320"/>
              </a:lnSpc>
              <a:spcAft>
                <a:spcPts val="700"/>
              </a:spcAft>
              <a:buSzPct val="100000"/>
              <a:buChar char="•"/>
            </a:pPr>
            <a:r>
              <a:rPr lang="en-US" sz="1000" dirty="0">
                <a:solidFill>
                  <a:srgbClr val="2B3138"/>
                </a:solidFill>
                <a:latin typeface="Calibri" pitchFamily="34" charset="0"/>
                <a:ea typeface="Calibri" pitchFamily="34" charset="-122"/>
                <a:cs typeface="Calibri" pitchFamily="34" charset="-120"/>
              </a:rPr>
              <a:t>Copilot Enterprise requires GitHub Enterprise Cloud, from $21 per user/month.</a:t>
            </a:r>
            <a:endParaRPr lang="en-US" sz="1000" dirty="0"/>
          </a:p>
          <a:p>
            <a:pPr marL="177800" indent="-177800">
              <a:lnSpc>
                <a:spcPts val="1320"/>
              </a:lnSpc>
              <a:spcAft>
                <a:spcPts val="700"/>
              </a:spcAft>
              <a:buSzPct val="100000"/>
              <a:buChar char="•"/>
            </a:pPr>
            <a:r>
              <a:rPr lang="en-US" sz="1000" dirty="0">
                <a:solidFill>
                  <a:srgbClr val="2B3138"/>
                </a:solidFill>
                <a:latin typeface="Calibri" pitchFamily="34" charset="0"/>
                <a:ea typeface="Calibri" pitchFamily="34" charset="-122"/>
                <a:cs typeface="Calibri" pitchFamily="34" charset="-120"/>
              </a:rPr>
              <a:t>Existing Copilot customers are on promotional credits until 1 September 2026.</a:t>
            </a:r>
            <a:endParaRPr lang="en-US" sz="1000" dirty="0"/>
          </a:p>
        </p:txBody>
      </p:sp>
      <p:sp>
        <p:nvSpPr>
          <p:cNvPr id="26" name="Text 22"/>
          <p:cNvSpPr/>
          <p:nvPr/>
        </p:nvSpPr>
        <p:spPr>
          <a:xfrm>
            <a:off x="8942832" y="5266944"/>
            <a:ext cx="2423160" cy="201168"/>
          </a:xfrm>
          <a:prstGeom prst="rect">
            <a:avLst/>
          </a:prstGeom>
          <a:noFill/>
          <a:ln/>
        </p:spPr>
        <p:txBody>
          <a:bodyPr wrap="square" lIns="0" tIns="0" rIns="0" bIns="0" rtlCol="0" anchor="t"/>
          <a:lstStyle/>
          <a:p>
            <a:pPr marL="0" indent="0" algn="l">
              <a:buNone/>
            </a:pPr>
            <a:r>
              <a:rPr lang="en-US" sz="900" b="1" kern="0" spc="140" dirty="0">
                <a:solidFill>
                  <a:srgbClr val="6E7781"/>
                </a:solidFill>
                <a:latin typeface="Calibri" pitchFamily="34" charset="0"/>
                <a:ea typeface="Calibri" pitchFamily="34" charset="-122"/>
                <a:cs typeface="Calibri" pitchFamily="34" charset="-120"/>
              </a:rPr>
              <a:t>PRIMARY SOURCES</a:t>
            </a:r>
            <a:endParaRPr lang="en-US" sz="900" dirty="0"/>
          </a:p>
        </p:txBody>
      </p:sp>
      <p:sp>
        <p:nvSpPr>
          <p:cNvPr id="27" name="Text 23"/>
          <p:cNvSpPr/>
          <p:nvPr/>
        </p:nvSpPr>
        <p:spPr>
          <a:xfrm>
            <a:off x="8942832" y="5468112"/>
            <a:ext cx="2423160" cy="704088"/>
          </a:xfrm>
          <a:prstGeom prst="rect">
            <a:avLst/>
          </a:prstGeom>
          <a:noFill/>
          <a:ln/>
        </p:spPr>
        <p:txBody>
          <a:bodyPr wrap="square" lIns="0" tIns="0" rIns="0" bIns="0" rtlCol="0" anchor="t"/>
          <a:lstStyle/>
          <a:p>
            <a:pPr marL="0" indent="0">
              <a:lnSpc>
                <a:spcPts val="1318"/>
              </a:lnSpc>
              <a:buNone/>
            </a:pPr>
            <a:r>
              <a:rPr lang="en-US" sz="850" dirty="0">
                <a:solidFill>
                  <a:srgbClr val="0969DA"/>
                </a:solidFill>
                <a:latin typeface="Courier New" pitchFamily="34" charset="0"/>
                <a:ea typeface="Courier New" pitchFamily="34" charset="-122"/>
                <a:cs typeface="Courier New" pitchFamily="34" charset="-120"/>
              </a:rPr>
              <a:t>docs.github.com/en/copilot</a:t>
            </a:r>
            <a:endParaRPr lang="en-US" sz="850" dirty="0"/>
          </a:p>
          <a:p>
            <a:pPr marL="0" indent="0">
              <a:lnSpc>
                <a:spcPts val="1318"/>
              </a:lnSpc>
              <a:buNone/>
            </a:pPr>
            <a:r>
              <a:rPr lang="en-US" sz="850" dirty="0">
                <a:solidFill>
                  <a:srgbClr val="0969DA"/>
                </a:solidFill>
                <a:latin typeface="Courier New" pitchFamily="34" charset="0"/>
                <a:ea typeface="Courier New" pitchFamily="34" charset="-122"/>
                <a:cs typeface="Courier New" pitchFamily="34" charset="-120"/>
              </a:rPr>
              <a:t>claude.com/pricing</a:t>
            </a:r>
            <a:endParaRPr lang="en-US" sz="850" dirty="0"/>
          </a:p>
          <a:p>
            <a:pPr marL="0" indent="0">
              <a:lnSpc>
                <a:spcPts val="1318"/>
              </a:lnSpc>
              <a:buNone/>
            </a:pPr>
            <a:r>
              <a:rPr lang="en-US" sz="850" dirty="0">
                <a:solidFill>
                  <a:srgbClr val="0969DA"/>
                </a:solidFill>
                <a:latin typeface="Courier New" pitchFamily="34" charset="0"/>
                <a:ea typeface="Courier New" pitchFamily="34" charset="-122"/>
                <a:cs typeface="Courier New" pitchFamily="34" charset="-120"/>
              </a:rPr>
              <a:t>code.claude.com/docs/en/costs</a:t>
            </a:r>
            <a:endParaRPr lang="en-US" sz="850" dirty="0"/>
          </a:p>
        </p:txBody>
      </p:sp>
      <p:sp>
        <p:nvSpPr>
          <p:cNvPr id="28" name="Text 24"/>
          <p:cNvSpPr/>
          <p:nvPr/>
        </p:nvSpPr>
        <p:spPr>
          <a:xfrm>
            <a:off x="566928" y="6437376"/>
            <a:ext cx="10552176" cy="237744"/>
          </a:xfrm>
          <a:prstGeom prst="rect">
            <a:avLst/>
          </a:prstGeom>
          <a:noFill/>
          <a:ln/>
        </p:spPr>
        <p:txBody>
          <a:bodyPr wrap="square" lIns="0" tIns="0" rIns="0" bIns="0" rtlCol="0" anchor="ctr"/>
          <a:lstStyle/>
          <a:p>
            <a:pPr marL="0" indent="0">
              <a:buNone/>
            </a:pPr>
            <a:r>
              <a:rPr lang="en-US" sz="850" b="1" dirty="0">
                <a:solidFill>
                  <a:srgbClr val="6E7781"/>
                </a:solidFill>
                <a:latin typeface="Calibri" pitchFamily="34" charset="0"/>
                <a:ea typeface="Calibri" pitchFamily="34" charset="-122"/>
                <a:cs typeface="Calibri" pitchFamily="34" charset="-120"/>
              </a:rPr>
              <a:t>Sources   </a:t>
            </a:r>
            <a:r>
              <a:rPr lang="en-US" sz="850" dirty="0">
                <a:solidFill>
                  <a:srgbClr val="6E7781"/>
                </a:solidFill>
                <a:latin typeface="Calibri" pitchFamily="34" charset="0"/>
                <a:ea typeface="Calibri" pitchFamily="34" charset="-122"/>
                <a:cs typeface="Calibri" pitchFamily="34" charset="-120"/>
              </a:rPr>
              <a:t>docs.github.com/en/copilot/concepts/billing/billing-for-enterprises · claude.com/pricing · support.claude.com/en/articles/9797531-what-is-the-enterprise-plan · github.com/pricing</a:t>
            </a:r>
            <a:endParaRPr lang="en-US" sz="850" dirty="0"/>
          </a:p>
        </p:txBody>
      </p:sp>
      <p:sp>
        <p:nvSpPr>
          <p:cNvPr id="29"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anim calcmode="lin" valueType="num">
                                      <p:cBhvr additive="base">
                                        <p:cTn id="8" dur="420" fill="hold"/>
                                        <p:tgtEl>
                                          <p:spTgt spid="5"/>
                                        </p:tgtEl>
                                        <p:attrNameLst>
                                          <p:attrName>ppt_y</p:attrName>
                                        </p:attrNameLst>
                                      </p:cBhvr>
                                      <p:tavLst>
                                        <p:tav tm="0">
                                          <p:val>
                                            <p:strVal val="#ppt_y+0.035"/>
                                          </p:val>
                                        </p:tav>
                                        <p:tav tm="100000">
                                          <p:val>
                                            <p:strVal val="#ppt_y"/>
                                          </p:val>
                                        </p:tav>
                                      </p:tavLst>
                                    </p:anim>
                                    <p:set>
                                      <p:cBhvr>
                                        <p:cTn id="9" dur="1" fill="hold">
                                          <p:stCondLst>
                                            <p:cond delay="0"/>
                                          </p:stCondLst>
                                        </p:cTn>
                                        <p:tgtEl>
                                          <p:spTgt spid="14"/>
                                        </p:tgtEl>
                                        <p:attrNameLst>
                                          <p:attrName>style.visibility</p:attrName>
                                        </p:attrNameLst>
                                      </p:cBhvr>
                                      <p:to>
                                        <p:strVal val="visible"/>
                                      </p:to>
                                    </p:set>
                                    <p:animEffect transition="in" filter="fade">
                                      <p:cBhvr>
                                        <p:cTn id="10" dur="420"/>
                                        <p:tgtEl>
                                          <p:spTgt spid="14"/>
                                        </p:tgtEl>
                                      </p:cBhvr>
                                    </p:animEffect>
                                    <p:anim calcmode="lin" valueType="num">
                                      <p:cBhvr additive="base">
                                        <p:cTn id="11" dur="420" fill="hold"/>
                                        <p:tgtEl>
                                          <p:spTgt spid="14"/>
                                        </p:tgtEl>
                                        <p:attrNameLst>
                                          <p:attrName>ppt_y</p:attrName>
                                        </p:attrNameLst>
                                      </p:cBhvr>
                                      <p:tavLst>
                                        <p:tav tm="0">
                                          <p:val>
                                            <p:strVal val="#ppt_y+0.035"/>
                                          </p:val>
                                        </p:tav>
                                        <p:tav tm="100000">
                                          <p:val>
                                            <p:strVal val="#ppt_y"/>
                                          </p:val>
                                        </p:tav>
                                      </p:tavLst>
                                    </p:anim>
                                    <p:set>
                                      <p:cBhvr>
                                        <p:cTn id="12" dur="1" fill="hold">
                                          <p:stCondLst>
                                            <p:cond delay="0"/>
                                          </p:stCondLst>
                                        </p:cTn>
                                        <p:tgtEl>
                                          <p:spTgt spid="23"/>
                                        </p:tgtEl>
                                        <p:attrNameLst>
                                          <p:attrName>style.visibility</p:attrName>
                                        </p:attrNameLst>
                                      </p:cBhvr>
                                      <p:to>
                                        <p:strVal val="visible"/>
                                      </p:to>
                                    </p:set>
                                    <p:animEffect transition="in" filter="fade">
                                      <p:cBhvr>
                                        <p:cTn id="13" dur="420"/>
                                        <p:tgtEl>
                                          <p:spTgt spid="23"/>
                                        </p:tgtEl>
                                      </p:cBhvr>
                                    </p:animEffect>
                                    <p:anim calcmode="lin" valueType="num">
                                      <p:cBhvr additive="base">
                                        <p:cTn id="14" dur="420" fill="hold"/>
                                        <p:tgtEl>
                                          <p:spTgt spid="23"/>
                                        </p:tgtEl>
                                        <p:attrNameLst>
                                          <p:attrName>ppt_y</p:attrName>
                                        </p:attrNameLst>
                                      </p:cBhvr>
                                      <p:tavLst>
                                        <p:tav tm="0">
                                          <p:val>
                                            <p:strVal val="#ppt_y+0.035"/>
                                          </p:val>
                                        </p:tav>
                                        <p:tav tm="100000">
                                          <p:val>
                                            <p:strVal val="#ppt_y"/>
                                          </p:val>
                                        </p:tav>
                                      </p:tavLst>
                                    </p:anim>
                                    <p:set>
                                      <p:cBhvr>
                                        <p:cTn id="15" dur="1" fill="hold">
                                          <p:stCondLst>
                                            <p:cond delay="0"/>
                                          </p:stCondLst>
                                        </p:cTn>
                                        <p:tgtEl>
                                          <p:spTgt spid="24"/>
                                        </p:tgtEl>
                                        <p:attrNameLst>
                                          <p:attrName>style.visibility</p:attrName>
                                        </p:attrNameLst>
                                      </p:cBhvr>
                                      <p:to>
                                        <p:strVal val="visible"/>
                                      </p:to>
                                    </p:set>
                                    <p:animEffect transition="in" filter="fade">
                                      <p:cBhvr>
                                        <p:cTn id="16" dur="420"/>
                                        <p:tgtEl>
                                          <p:spTgt spid="24"/>
                                        </p:tgtEl>
                                      </p:cBhvr>
                                    </p:animEffect>
                                    <p:anim calcmode="lin" valueType="num">
                                      <p:cBhvr additive="base">
                                        <p:cTn id="17" dur="420" fill="hold"/>
                                        <p:tgtEl>
                                          <p:spTgt spid="24"/>
                                        </p:tgtEl>
                                        <p:attrNameLst>
                                          <p:attrName>ppt_y</p:attrName>
                                        </p:attrNameLst>
                                      </p:cBhvr>
                                      <p:tavLst>
                                        <p:tav tm="0">
                                          <p:val>
                                            <p:strVal val="#ppt_y+0.035"/>
                                          </p:val>
                                        </p:tav>
                                        <p:tav tm="100000">
                                          <p:val>
                                            <p:strVal val="#ppt_y"/>
                                          </p:val>
                                        </p:tav>
                                      </p:tavLst>
                                    </p:anim>
                                    <p:set>
                                      <p:cBhvr>
                                        <p:cTn id="18" dur="1" fill="hold">
                                          <p:stCondLst>
                                            <p:cond delay="0"/>
                                          </p:stCondLst>
                                        </p:cTn>
                                        <p:tgtEl>
                                          <p:spTgt spid="8"/>
                                        </p:tgtEl>
                                        <p:attrNameLst>
                                          <p:attrName>style.visibility</p:attrName>
                                        </p:attrNameLst>
                                      </p:cBhvr>
                                      <p:to>
                                        <p:strVal val="visible"/>
                                      </p:to>
                                    </p:set>
                                    <p:animEffect transition="in" filter="fade">
                                      <p:cBhvr>
                                        <p:cTn id="19" dur="420"/>
                                        <p:tgtEl>
                                          <p:spTgt spid="8"/>
                                        </p:tgtEl>
                                      </p:cBhvr>
                                    </p:animEffect>
                                    <p:anim calcmode="lin" valueType="num">
                                      <p:cBhvr additive="base">
                                        <p:cTn id="20" dur="420" fill="hold"/>
                                        <p:tgtEl>
                                          <p:spTgt spid="8"/>
                                        </p:tgtEl>
                                        <p:attrNameLst>
                                          <p:attrName>ppt_y</p:attrName>
                                        </p:attrNameLst>
                                      </p:cBhvr>
                                      <p:tavLst>
                                        <p:tav tm="0">
                                          <p:val>
                                            <p:strVal val="#ppt_y+0.035"/>
                                          </p:val>
                                        </p:tav>
                                        <p:tav tm="100000">
                                          <p:val>
                                            <p:strVal val="#ppt_y"/>
                                          </p:val>
                                        </p:tav>
                                      </p:tavLst>
                                    </p:anim>
                                    <p:set>
                                      <p:cBhvr>
                                        <p:cTn id="21" dur="1" fill="hold">
                                          <p:stCondLst>
                                            <p:cond delay="0"/>
                                          </p:stCondLst>
                                        </p:cTn>
                                        <p:tgtEl>
                                          <p:spTgt spid="17"/>
                                        </p:tgtEl>
                                        <p:attrNameLst>
                                          <p:attrName>style.visibility</p:attrName>
                                        </p:attrNameLst>
                                      </p:cBhvr>
                                      <p:to>
                                        <p:strVal val="visible"/>
                                      </p:to>
                                    </p:set>
                                    <p:animEffect transition="in" filter="fade">
                                      <p:cBhvr>
                                        <p:cTn id="22" dur="420"/>
                                        <p:tgtEl>
                                          <p:spTgt spid="17"/>
                                        </p:tgtEl>
                                      </p:cBhvr>
                                    </p:animEffect>
                                    <p:anim calcmode="lin" valueType="num">
                                      <p:cBhvr additive="base">
                                        <p:cTn id="23" dur="420" fill="hold"/>
                                        <p:tgtEl>
                                          <p:spTgt spid="17"/>
                                        </p:tgtEl>
                                        <p:attrNameLst>
                                          <p:attrName>ppt_y</p:attrName>
                                        </p:attrNameLst>
                                      </p:cBhvr>
                                      <p:tavLst>
                                        <p:tav tm="0">
                                          <p:val>
                                            <p:strVal val="#ppt_y+0.035"/>
                                          </p:val>
                                        </p:tav>
                                        <p:tav tm="100000">
                                          <p:val>
                                            <p:strVal val="#ppt_y"/>
                                          </p:val>
                                        </p:tav>
                                      </p:tavLst>
                                    </p:anim>
                                    <p:set>
                                      <p:cBhvr>
                                        <p:cTn id="24" dur="1" fill="hold">
                                          <p:stCondLst>
                                            <p:cond delay="0"/>
                                          </p:stCondLst>
                                        </p:cTn>
                                        <p:tgtEl>
                                          <p:spTgt spid="6"/>
                                        </p:tgtEl>
                                        <p:attrNameLst>
                                          <p:attrName>style.visibility</p:attrName>
                                        </p:attrNameLst>
                                      </p:cBhvr>
                                      <p:to>
                                        <p:strVal val="visible"/>
                                      </p:to>
                                    </p:set>
                                    <p:animEffect transition="in" filter="fade">
                                      <p:cBhvr>
                                        <p:cTn id="25" dur="420"/>
                                        <p:tgtEl>
                                          <p:spTgt spid="6"/>
                                        </p:tgtEl>
                                      </p:cBhvr>
                                    </p:animEffect>
                                    <p:anim calcmode="lin" valueType="num">
                                      <p:cBhvr additive="base">
                                        <p:cTn id="26" dur="420" fill="hold"/>
                                        <p:tgtEl>
                                          <p:spTgt spid="6"/>
                                        </p:tgtEl>
                                        <p:attrNameLst>
                                          <p:attrName>ppt_y</p:attrName>
                                        </p:attrNameLst>
                                      </p:cBhvr>
                                      <p:tavLst>
                                        <p:tav tm="0">
                                          <p:val>
                                            <p:strVal val="#ppt_y+0.035"/>
                                          </p:val>
                                        </p:tav>
                                        <p:tav tm="100000">
                                          <p:val>
                                            <p:strVal val="#ppt_y"/>
                                          </p:val>
                                        </p:tav>
                                      </p:tavLst>
                                    </p:anim>
                                    <p:set>
                                      <p:cBhvr>
                                        <p:cTn id="27" dur="1" fill="hold">
                                          <p:stCondLst>
                                            <p:cond delay="0"/>
                                          </p:stCondLst>
                                        </p:cTn>
                                        <p:tgtEl>
                                          <p:spTgt spid="15"/>
                                        </p:tgtEl>
                                        <p:attrNameLst>
                                          <p:attrName>style.visibility</p:attrName>
                                        </p:attrNameLst>
                                      </p:cBhvr>
                                      <p:to>
                                        <p:strVal val="visible"/>
                                      </p:to>
                                    </p:set>
                                    <p:animEffect transition="in" filter="fade">
                                      <p:cBhvr>
                                        <p:cTn id="28" dur="420"/>
                                        <p:tgtEl>
                                          <p:spTgt spid="15"/>
                                        </p:tgtEl>
                                      </p:cBhvr>
                                    </p:animEffect>
                                    <p:anim calcmode="lin" valueType="num">
                                      <p:cBhvr additive="base">
                                        <p:cTn id="29" dur="420" fill="hold"/>
                                        <p:tgtEl>
                                          <p:spTgt spid="15"/>
                                        </p:tgtEl>
                                        <p:attrNameLst>
                                          <p:attrName>ppt_y</p:attrName>
                                        </p:attrNameLst>
                                      </p:cBhvr>
                                      <p:tavLst>
                                        <p:tav tm="0">
                                          <p:val>
                                            <p:strVal val="#ppt_y+0.035"/>
                                          </p:val>
                                        </p:tav>
                                        <p:tav tm="100000">
                                          <p:val>
                                            <p:strVal val="#ppt_y"/>
                                          </p:val>
                                        </p:tav>
                                      </p:tavLst>
                                    </p:anim>
                                    <p:set>
                                      <p:cBhvr>
                                        <p:cTn id="30" dur="1" fill="hold">
                                          <p:stCondLst>
                                            <p:cond delay="0"/>
                                          </p:stCondLst>
                                        </p:cTn>
                                        <p:tgtEl>
                                          <p:spTgt spid="7"/>
                                        </p:tgtEl>
                                        <p:attrNameLst>
                                          <p:attrName>style.visibility</p:attrName>
                                        </p:attrNameLst>
                                      </p:cBhvr>
                                      <p:to>
                                        <p:strVal val="visible"/>
                                      </p:to>
                                    </p:set>
                                    <p:animEffect transition="in" filter="fade">
                                      <p:cBhvr>
                                        <p:cTn id="31" dur="420"/>
                                        <p:tgtEl>
                                          <p:spTgt spid="7"/>
                                        </p:tgtEl>
                                      </p:cBhvr>
                                    </p:animEffect>
                                    <p:anim calcmode="lin" valueType="num">
                                      <p:cBhvr additive="base">
                                        <p:cTn id="32" dur="420" fill="hold"/>
                                        <p:tgtEl>
                                          <p:spTgt spid="7"/>
                                        </p:tgtEl>
                                        <p:attrNameLst>
                                          <p:attrName>ppt_y</p:attrName>
                                        </p:attrNameLst>
                                      </p:cBhvr>
                                      <p:tavLst>
                                        <p:tav tm="0">
                                          <p:val>
                                            <p:strVal val="#ppt_y+0.035"/>
                                          </p:val>
                                        </p:tav>
                                        <p:tav tm="100000">
                                          <p:val>
                                            <p:strVal val="#ppt_y"/>
                                          </p:val>
                                        </p:tav>
                                      </p:tavLst>
                                    </p:anim>
                                    <p:set>
                                      <p:cBhvr>
                                        <p:cTn id="33" dur="1" fill="hold">
                                          <p:stCondLst>
                                            <p:cond delay="0"/>
                                          </p:stCondLst>
                                        </p:cTn>
                                        <p:tgtEl>
                                          <p:spTgt spid="16"/>
                                        </p:tgtEl>
                                        <p:attrNameLst>
                                          <p:attrName>style.visibility</p:attrName>
                                        </p:attrNameLst>
                                      </p:cBhvr>
                                      <p:to>
                                        <p:strVal val="visible"/>
                                      </p:to>
                                    </p:set>
                                    <p:animEffect transition="in" filter="fade">
                                      <p:cBhvr>
                                        <p:cTn id="34" dur="420"/>
                                        <p:tgtEl>
                                          <p:spTgt spid="16"/>
                                        </p:tgtEl>
                                      </p:cBhvr>
                                    </p:animEffect>
                                    <p:anim calcmode="lin" valueType="num">
                                      <p:cBhvr additive="base">
                                        <p:cTn id="35" dur="420" fill="hold"/>
                                        <p:tgtEl>
                                          <p:spTgt spid="16"/>
                                        </p:tgtEl>
                                        <p:attrNameLst>
                                          <p:attrName>ppt_y</p:attrName>
                                        </p:attrNameLst>
                                      </p:cBhvr>
                                      <p:tavLst>
                                        <p:tav tm="0">
                                          <p:val>
                                            <p:strVal val="#ppt_y+0.035"/>
                                          </p:val>
                                        </p:tav>
                                        <p:tav tm="100000">
                                          <p:val>
                                            <p:strVal val="#ppt_y"/>
                                          </p:val>
                                        </p:tav>
                                      </p:tavLst>
                                    </p:anim>
                                    <p:set>
                                      <p:cBhvr>
                                        <p:cTn id="36" dur="1" fill="hold">
                                          <p:stCondLst>
                                            <p:cond delay="0"/>
                                          </p:stCondLst>
                                        </p:cTn>
                                        <p:tgtEl>
                                          <p:spTgt spid="9"/>
                                        </p:tgtEl>
                                        <p:attrNameLst>
                                          <p:attrName>style.visibility</p:attrName>
                                        </p:attrNameLst>
                                      </p:cBhvr>
                                      <p:to>
                                        <p:strVal val="visible"/>
                                      </p:to>
                                    </p:set>
                                    <p:animEffect transition="in" filter="fade">
                                      <p:cBhvr>
                                        <p:cTn id="37" dur="420"/>
                                        <p:tgtEl>
                                          <p:spTgt spid="9"/>
                                        </p:tgtEl>
                                      </p:cBhvr>
                                    </p:animEffect>
                                    <p:anim calcmode="lin" valueType="num">
                                      <p:cBhvr additive="base">
                                        <p:cTn id="38" dur="420" fill="hold"/>
                                        <p:tgtEl>
                                          <p:spTgt spid="9"/>
                                        </p:tgtEl>
                                        <p:attrNameLst>
                                          <p:attrName>ppt_y</p:attrName>
                                        </p:attrNameLst>
                                      </p:cBhvr>
                                      <p:tavLst>
                                        <p:tav tm="0">
                                          <p:val>
                                            <p:strVal val="#ppt_y+0.035"/>
                                          </p:val>
                                        </p:tav>
                                        <p:tav tm="100000">
                                          <p:val>
                                            <p:strVal val="#ppt_y"/>
                                          </p:val>
                                        </p:tav>
                                      </p:tavLst>
                                    </p:anim>
                                    <p:set>
                                      <p:cBhvr>
                                        <p:cTn id="39" dur="1" fill="hold">
                                          <p:stCondLst>
                                            <p:cond delay="0"/>
                                          </p:stCondLst>
                                        </p:cTn>
                                        <p:tgtEl>
                                          <p:spTgt spid="18"/>
                                        </p:tgtEl>
                                        <p:attrNameLst>
                                          <p:attrName>style.visibility</p:attrName>
                                        </p:attrNameLst>
                                      </p:cBhvr>
                                      <p:to>
                                        <p:strVal val="visible"/>
                                      </p:to>
                                    </p:set>
                                    <p:animEffect transition="in" filter="fade">
                                      <p:cBhvr>
                                        <p:cTn id="40" dur="420"/>
                                        <p:tgtEl>
                                          <p:spTgt spid="18"/>
                                        </p:tgtEl>
                                      </p:cBhvr>
                                    </p:animEffect>
                                    <p:anim calcmode="lin" valueType="num">
                                      <p:cBhvr additive="base">
                                        <p:cTn id="41" dur="420" fill="hold"/>
                                        <p:tgtEl>
                                          <p:spTgt spid="18"/>
                                        </p:tgtEl>
                                        <p:attrNameLst>
                                          <p:attrName>ppt_y</p:attrName>
                                        </p:attrNameLst>
                                      </p:cBhvr>
                                      <p:tavLst>
                                        <p:tav tm="0">
                                          <p:val>
                                            <p:strVal val="#ppt_y+0.035"/>
                                          </p:val>
                                        </p:tav>
                                        <p:tav tm="100000">
                                          <p:val>
                                            <p:strVal val="#ppt_y"/>
                                          </p:val>
                                        </p:tav>
                                      </p:tavLst>
                                    </p:anim>
                                    <p:set>
                                      <p:cBhvr>
                                        <p:cTn id="42"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4" dur="420" fill="hold"/>
                                        <p:tgtEl>
                                          <p:spTgt spid="25"/>
                                        </p:tgtEl>
                                        <p:attrNameLst>
                                          <p:attrName>ppt_y</p:attrName>
                                        </p:attrNameLst>
                                      </p:cBhvr>
                                      <p:tavLst>
                                        <p:tav tm="0">
                                          <p:val>
                                            <p:strVal val="#ppt_y+0.035"/>
                                          </p:val>
                                        </p:tav>
                                        <p:tav tm="100000">
                                          <p:val>
                                            <p:strVal val="#ppt_y"/>
                                          </p:val>
                                        </p:tav>
                                      </p:tavLst>
                                    </p:anim>
                                    <p:set>
                                      <p:cBhvr>
                                        <p:cTn id="45" dur="1" fill="hold">
                                          <p:stCondLst>
                                            <p:cond delay="0"/>
                                          </p:stCondLst>
                                        </p:cTn>
                                        <p:tgtEl>
                                          <p:spTgt spid="10"/>
                                        </p:tgtEl>
                                        <p:attrNameLst>
                                          <p:attrName>style.visibility</p:attrName>
                                        </p:attrNameLst>
                                      </p:cBhvr>
                                      <p:to>
                                        <p:strVal val="visible"/>
                                      </p:to>
                                    </p:set>
                                    <p:animEffect transition="in" filter="fade">
                                      <p:cBhvr>
                                        <p:cTn id="46" dur="420"/>
                                        <p:tgtEl>
                                          <p:spTgt spid="10"/>
                                        </p:tgtEl>
                                      </p:cBhvr>
                                    </p:animEffect>
                                    <p:anim calcmode="lin" valueType="num">
                                      <p:cBhvr additive="base">
                                        <p:cTn id="47" dur="420" fill="hold"/>
                                        <p:tgtEl>
                                          <p:spTgt spid="10"/>
                                        </p:tgtEl>
                                        <p:attrNameLst>
                                          <p:attrName>ppt_y</p:attrName>
                                        </p:attrNameLst>
                                      </p:cBhvr>
                                      <p:tavLst>
                                        <p:tav tm="0">
                                          <p:val>
                                            <p:strVal val="#ppt_y+0.035"/>
                                          </p:val>
                                        </p:tav>
                                        <p:tav tm="100000">
                                          <p:val>
                                            <p:strVal val="#ppt_y"/>
                                          </p:val>
                                        </p:tav>
                                      </p:tavLst>
                                    </p:anim>
                                    <p:set>
                                      <p:cBhvr>
                                        <p:cTn id="48" dur="1" fill="hold">
                                          <p:stCondLst>
                                            <p:cond delay="0"/>
                                          </p:stCondLst>
                                        </p:cTn>
                                        <p:tgtEl>
                                          <p:spTgt spid="19"/>
                                        </p:tgtEl>
                                        <p:attrNameLst>
                                          <p:attrName>style.visibility</p:attrName>
                                        </p:attrNameLst>
                                      </p:cBhvr>
                                      <p:to>
                                        <p:strVal val="visible"/>
                                      </p:to>
                                    </p:set>
                                    <p:animEffect transition="in" filter="fade">
                                      <p:cBhvr>
                                        <p:cTn id="49" dur="420"/>
                                        <p:tgtEl>
                                          <p:spTgt spid="19"/>
                                        </p:tgtEl>
                                      </p:cBhvr>
                                    </p:animEffect>
                                    <p:anim calcmode="lin" valueType="num">
                                      <p:cBhvr additive="base">
                                        <p:cTn id="50" dur="420" fill="hold"/>
                                        <p:tgtEl>
                                          <p:spTgt spid="19"/>
                                        </p:tgtEl>
                                        <p:attrNameLst>
                                          <p:attrName>ppt_y</p:attrName>
                                        </p:attrNameLst>
                                      </p:cBhvr>
                                      <p:tavLst>
                                        <p:tav tm="0">
                                          <p:val>
                                            <p:strVal val="#ppt_y+0.035"/>
                                          </p:val>
                                        </p:tav>
                                        <p:tav tm="100000">
                                          <p:val>
                                            <p:strVal val="#ppt_y"/>
                                          </p:val>
                                        </p:tav>
                                      </p:tavLst>
                                    </p:anim>
                                    <p:set>
                                      <p:cBhvr>
                                        <p:cTn id="51" dur="1" fill="hold">
                                          <p:stCondLst>
                                            <p:cond delay="0"/>
                                          </p:stCondLst>
                                        </p:cTn>
                                        <p:tgtEl>
                                          <p:spTgt spid="11"/>
                                        </p:tgtEl>
                                        <p:attrNameLst>
                                          <p:attrName>style.visibility</p:attrName>
                                        </p:attrNameLst>
                                      </p:cBhvr>
                                      <p:to>
                                        <p:strVal val="visible"/>
                                      </p:to>
                                    </p:set>
                                    <p:animEffect transition="in" filter="fade">
                                      <p:cBhvr>
                                        <p:cTn id="52" dur="420"/>
                                        <p:tgtEl>
                                          <p:spTgt spid="11"/>
                                        </p:tgtEl>
                                      </p:cBhvr>
                                    </p:animEffect>
                                    <p:anim calcmode="lin" valueType="num">
                                      <p:cBhvr additive="base">
                                        <p:cTn id="53" dur="420" fill="hold"/>
                                        <p:tgtEl>
                                          <p:spTgt spid="11"/>
                                        </p:tgtEl>
                                        <p:attrNameLst>
                                          <p:attrName>ppt_y</p:attrName>
                                        </p:attrNameLst>
                                      </p:cBhvr>
                                      <p:tavLst>
                                        <p:tav tm="0">
                                          <p:val>
                                            <p:strVal val="#ppt_y+0.035"/>
                                          </p:val>
                                        </p:tav>
                                        <p:tav tm="100000">
                                          <p:val>
                                            <p:strVal val="#ppt_y"/>
                                          </p:val>
                                        </p:tav>
                                      </p:tavLst>
                                    </p:anim>
                                    <p:set>
                                      <p:cBhvr>
                                        <p:cTn id="54" dur="1" fill="hold">
                                          <p:stCondLst>
                                            <p:cond delay="0"/>
                                          </p:stCondLst>
                                        </p:cTn>
                                        <p:tgtEl>
                                          <p:spTgt spid="20"/>
                                        </p:tgtEl>
                                        <p:attrNameLst>
                                          <p:attrName>style.visibility</p:attrName>
                                        </p:attrNameLst>
                                      </p:cBhvr>
                                      <p:to>
                                        <p:strVal val="visible"/>
                                      </p:to>
                                    </p:set>
                                    <p:animEffect transition="in" filter="fade">
                                      <p:cBhvr>
                                        <p:cTn id="55" dur="420"/>
                                        <p:tgtEl>
                                          <p:spTgt spid="20"/>
                                        </p:tgtEl>
                                      </p:cBhvr>
                                    </p:animEffect>
                                    <p:anim calcmode="lin" valueType="num">
                                      <p:cBhvr additive="base">
                                        <p:cTn id="56" dur="420" fill="hold"/>
                                        <p:tgtEl>
                                          <p:spTgt spid="20"/>
                                        </p:tgtEl>
                                        <p:attrNameLst>
                                          <p:attrName>ppt_y</p:attrName>
                                        </p:attrNameLst>
                                      </p:cBhvr>
                                      <p:tavLst>
                                        <p:tav tm="0">
                                          <p:val>
                                            <p:strVal val="#ppt_y+0.035"/>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420"/>
                                        <p:tgtEl>
                                          <p:spTgt spid="12"/>
                                        </p:tgtEl>
                                      </p:cBhvr>
                                    </p:animEffect>
                                    <p:anim calcmode="lin" valueType="num">
                                      <p:cBhvr additive="base">
                                        <p:cTn id="62" dur="420" fill="hold"/>
                                        <p:tgtEl>
                                          <p:spTgt spid="12"/>
                                        </p:tgtEl>
                                        <p:attrNameLst>
                                          <p:attrName>ppt_y</p:attrName>
                                        </p:attrNameLst>
                                      </p:cBhvr>
                                      <p:tavLst>
                                        <p:tav tm="0">
                                          <p:val>
                                            <p:strVal val="#ppt_y+0.035"/>
                                          </p:val>
                                        </p:tav>
                                        <p:tav tm="100000">
                                          <p:val>
                                            <p:strVal val="#ppt_y"/>
                                          </p:val>
                                        </p:tav>
                                      </p:tavLst>
                                    </p:anim>
                                    <p:set>
                                      <p:cBhvr>
                                        <p:cTn id="63" dur="1" fill="hold">
                                          <p:stCondLst>
                                            <p:cond delay="0"/>
                                          </p:stCondLst>
                                        </p:cTn>
                                        <p:tgtEl>
                                          <p:spTgt spid="21"/>
                                        </p:tgtEl>
                                        <p:attrNameLst>
                                          <p:attrName>style.visibility</p:attrName>
                                        </p:attrNameLst>
                                      </p:cBhvr>
                                      <p:to>
                                        <p:strVal val="visible"/>
                                      </p:to>
                                    </p:set>
                                    <p:animEffect transition="in" filter="fade">
                                      <p:cBhvr>
                                        <p:cTn id="64" dur="420"/>
                                        <p:tgtEl>
                                          <p:spTgt spid="21"/>
                                        </p:tgtEl>
                                      </p:cBhvr>
                                    </p:animEffect>
                                    <p:anim calcmode="lin" valueType="num">
                                      <p:cBhvr additive="base">
                                        <p:cTn id="65" dur="420" fill="hold"/>
                                        <p:tgtEl>
                                          <p:spTgt spid="21"/>
                                        </p:tgtEl>
                                        <p:attrNameLst>
                                          <p:attrName>ppt_y</p:attrName>
                                        </p:attrNameLst>
                                      </p:cBhvr>
                                      <p:tavLst>
                                        <p:tav tm="0">
                                          <p:val>
                                            <p:strVal val="#ppt_y+0.035"/>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420"/>
                                        <p:tgtEl>
                                          <p:spTgt spid="13"/>
                                        </p:tgtEl>
                                      </p:cBhvr>
                                    </p:animEffect>
                                    <p:anim calcmode="lin" valueType="num">
                                      <p:cBhvr additive="base">
                                        <p:cTn id="71" dur="420" fill="hold"/>
                                        <p:tgtEl>
                                          <p:spTgt spid="13"/>
                                        </p:tgtEl>
                                        <p:attrNameLst>
                                          <p:attrName>ppt_y</p:attrName>
                                        </p:attrNameLst>
                                      </p:cBhvr>
                                      <p:tavLst>
                                        <p:tav tm="0">
                                          <p:val>
                                            <p:strVal val="#ppt_y+0.035"/>
                                          </p:val>
                                        </p:tav>
                                        <p:tav tm="100000">
                                          <p:val>
                                            <p:strVal val="#ppt_y"/>
                                          </p:val>
                                        </p:tav>
                                      </p:tavLst>
                                    </p:anim>
                                    <p:set>
                                      <p:cBhvr>
                                        <p:cTn id="72" dur="1" fill="hold">
                                          <p:stCondLst>
                                            <p:cond delay="0"/>
                                          </p:stCondLst>
                                        </p:cTn>
                                        <p:tgtEl>
                                          <p:spTgt spid="22"/>
                                        </p:tgtEl>
                                        <p:attrNameLst>
                                          <p:attrName>style.visibility</p:attrName>
                                        </p:attrNameLst>
                                      </p:cBhvr>
                                      <p:to>
                                        <p:strVal val="visible"/>
                                      </p:to>
                                    </p:set>
                                    <p:animEffect transition="in" filter="fade">
                                      <p:cBhvr>
                                        <p:cTn id="73" dur="420"/>
                                        <p:tgtEl>
                                          <p:spTgt spid="22"/>
                                        </p:tgtEl>
                                      </p:cBhvr>
                                    </p:animEffect>
                                    <p:anim calcmode="lin" valueType="num">
                                      <p:cBhvr additive="base">
                                        <p:cTn id="74" dur="420" fill="hold"/>
                                        <p:tgtEl>
                                          <p:spTgt spid="22"/>
                                        </p:tgtEl>
                                        <p:attrNameLst>
                                          <p:attrName>ppt_y</p:attrName>
                                        </p:attrNameLst>
                                      </p:cBhvr>
                                      <p:tavLst>
                                        <p:tav tm="0">
                                          <p:val>
                                            <p:strVal val="#ppt_y+0.035"/>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420"/>
                                        <p:tgtEl>
                                          <p:spTgt spid="26"/>
                                        </p:tgtEl>
                                      </p:cBhvr>
                                    </p:animEffect>
                                    <p:anim calcmode="lin" valueType="num">
                                      <p:cBhvr additive="base">
                                        <p:cTn id="80" dur="420" fill="hold"/>
                                        <p:tgtEl>
                                          <p:spTgt spid="26"/>
                                        </p:tgtEl>
                                        <p:attrNameLst>
                                          <p:attrName>ppt_y</p:attrName>
                                        </p:attrNameLst>
                                      </p:cBhvr>
                                      <p:tavLst>
                                        <p:tav tm="0">
                                          <p:val>
                                            <p:strVal val="#ppt_y+0.035"/>
                                          </p:val>
                                        </p:tav>
                                        <p:tav tm="100000">
                                          <p:val>
                                            <p:strVal val="#ppt_y"/>
                                          </p:val>
                                        </p:tav>
                                      </p:tavLst>
                                    </p:anim>
                                    <p:set>
                                      <p:cBhvr>
                                        <p:cTn id="81" dur="1" fill="hold">
                                          <p:stCondLst>
                                            <p:cond delay="0"/>
                                          </p:stCondLst>
                                        </p:cTn>
                                        <p:tgtEl>
                                          <p:spTgt spid="27"/>
                                        </p:tgtEl>
                                        <p:attrNameLst>
                                          <p:attrName>style.visibility</p:attrName>
                                        </p:attrNameLst>
                                      </p:cBhvr>
                                      <p:to>
                                        <p:strVal val="visible"/>
                                      </p:to>
                                    </p:set>
                                    <p:animEffect transition="in" filter="fade">
                                      <p:cBhvr>
                                        <p:cTn id="82" dur="420"/>
                                        <p:tgtEl>
                                          <p:spTgt spid="27"/>
                                        </p:tgtEl>
                                      </p:cBhvr>
                                    </p:animEffect>
                                    <p:anim calcmode="lin" valueType="num">
                                      <p:cBhvr additive="base">
                                        <p:cTn id="83" dur="420" fill="hold"/>
                                        <p:tgtEl>
                                          <p:spTgt spid="27"/>
                                        </p:tgtEl>
                                        <p:attrNameLst>
                                          <p:attrName>ppt_y</p:attrName>
                                        </p:attrNameLst>
                                      </p:cBhvr>
                                      <p:tavLst>
                                        <p:tav tm="0">
                                          <p:val>
                                            <p:strVal val="#ppt_y+0.035"/>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25"/>
                                        </p:tgtEl>
                                        <p:attrNameLst>
                                          <p:attrName>style.visibility</p:attrName>
                                        </p:attrNameLst>
                                      </p:cBhvr>
                                      <p:to>
                                        <p:strVal val="visible"/>
                                      </p:to>
                                    </p:set>
                                    <p:animEffect transition="in" filter="fade">
                                      <p:cBhvr>
                                        <p:cTn id="88" dur="420"/>
                                        <p:tgtEl>
                                          <p:spTgt spid="25"/>
                                        </p:tgtEl>
                                      </p:cBhvr>
                                    </p:animEffect>
                                    <p:anim calcmode="lin" valueType="num">
                                      <p:cBhvr additive="base">
                                        <p:cTn id="89" dur="420" fill="hold"/>
                                        <p:tgtEl>
                                          <p:spTgt spid="25"/>
                                        </p:tgtEl>
                                        <p:attrNameLst>
                                          <p:attrName>ppt_y</p:attrName>
                                        </p:attrNameLst>
                                      </p:cBhvr>
                                      <p:tavLst>
                                        <p:tav tm="0">
                                          <p:val>
                                            <p:strVal val="#ppt_y+0.035"/>
                                          </p:val>
                                        </p:tav>
                                        <p:tav tm="100000">
                                          <p:val>
                                            <p:strVal val="#ppt_y"/>
                                          </p:val>
                                        </p:tav>
                                      </p:tavLst>
                                    </p:anim>
                                    <p:set>
                                      <p:cBhvr>
                                        <p:cTn id="90" dur="1" fill="hold">
                                          <p:stCondLst>
                                            <p:cond delay="0"/>
                                          </p:stCondLst>
                                        </p:cTn>
                                        <p:tgtEl>
                                          <p:spTgt spid="28"/>
                                        </p:tgtEl>
                                        <p:attrNameLst>
                                          <p:attrName>style.visibility</p:attrName>
                                        </p:attrNameLst>
                                      </p:cBhvr>
                                      <p:to>
                                        <p:strVal val="visible"/>
                                      </p:to>
                                    </p:set>
                                    <p:animEffect transition="in" filter="fade">
                                      <p:cBhvr>
                                        <p:cTn id="91" dur="420"/>
                                        <p:tgtEl>
                                          <p:spTgt spid="28"/>
                                        </p:tgtEl>
                                      </p:cBhvr>
                                    </p:animEffect>
                                    <p:anim calcmode="lin" valueType="num">
                                      <p:cBhvr additive="base">
                                        <p:cTn id="92" dur="420" fill="hold"/>
                                        <p:tgtEl>
                                          <p:spTgt spid="28"/>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p:bldP spid="9" grpId="0"/>
      <p:bldP spid="10" grpId="0"/>
      <p:bldP spid="11" grpId="0"/>
      <p:bldP spid="12" grpId="0" animBg="1"/>
      <p:bldP spid="13" grpId="0" animBg="1"/>
      <p:bldP spid="14" grpId="0"/>
      <p:bldP spid="15" grpId="0"/>
      <p:bldP spid="16" grpId="0"/>
      <p:bldP spid="17" grpId="0"/>
      <p:bldP spid="18" grpId="0"/>
      <p:bldP spid="19" grpId="0"/>
      <p:bldP spid="20" grpId="0"/>
      <p:bldP spid="21" grpId="0"/>
      <p:bldP spid="22" grpId="0"/>
      <p:bldP spid="23" grpId="0"/>
      <p:bldP spid="24" grpId="0"/>
      <p:bldP spid="25" grpId="0" animBg="1"/>
      <p:bldP spid="26" grpId="0" animBg="1"/>
      <p:bldP spid="27" grpId="0"/>
      <p:bldP spid="28" grpId="0"/>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04</a:t>
            </a:r>
            <a:r>
              <a:rPr lang="en-US" sz="1150" b="1" kern="0" spc="160" dirty="0">
                <a:solidFill>
                  <a:srgbClr val="6E7781"/>
                </a:solidFill>
                <a:latin typeface="Calibri" pitchFamily="34" charset="0"/>
                <a:ea typeface="Calibri" pitchFamily="34" charset="-122"/>
                <a:cs typeface="Calibri" pitchFamily="34" charset="-120"/>
              </a:rPr>
              <a:t>   WHAT IT COSTS</a:t>
            </a:r>
            <a:endParaRPr lang="en-US" sz="1150" dirty="0"/>
          </a:p>
        </p:txBody>
      </p:sp>
      <p:sp>
        <p:nvSpPr>
          <p:cNvPr id="3" name="Text 1"/>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The seat price is never the risk. Usage sprawl is.</a:t>
            </a:r>
            <a:endParaRPr lang="en-US" sz="3200" dirty="0"/>
          </a:p>
        </p:txBody>
      </p:sp>
      <p:sp>
        <p:nvSpPr>
          <p:cNvPr id="4" name="Text 2"/>
          <p:cNvSpPr/>
          <p:nvPr/>
        </p:nvSpPr>
        <p:spPr>
          <a:xfrm>
            <a:off x="566928" y="1389888"/>
            <a:ext cx="11055096" cy="658368"/>
          </a:xfrm>
          <a:prstGeom prst="rect">
            <a:avLst/>
          </a:prstGeom>
          <a:noFill/>
          <a:ln/>
        </p:spPr>
        <p:txBody>
          <a:bodyPr wrap="square" lIns="0" tIns="0" rIns="0" bIns="0" rtlCol="0" anchor="t"/>
          <a:lstStyle/>
          <a:p>
            <a:pPr marL="0" indent="0">
              <a:lnSpc>
                <a:spcPts val="1700"/>
              </a:lnSpc>
              <a:buNone/>
            </a:pPr>
            <a:r>
              <a:rPr lang="en-US" sz="1250" b="1" dirty="0">
                <a:solidFill>
                  <a:srgbClr val="C2410C"/>
                </a:solidFill>
                <a:latin typeface="Calibri" pitchFamily="34" charset="0"/>
                <a:ea typeface="Calibri" pitchFamily="34" charset="-122"/>
                <a:cs typeface="Calibri" pitchFamily="34" charset="-120"/>
              </a:rPr>
              <a:t>Do this on day one:  </a:t>
            </a:r>
            <a:r>
              <a:rPr lang="en-US" sz="1250" dirty="0">
                <a:solidFill>
                  <a:srgbClr val="2B3138"/>
                </a:solidFill>
                <a:latin typeface="Calibri" pitchFamily="34" charset="0"/>
                <a:ea typeface="Calibri" pitchFamily="34" charset="-122"/>
                <a:cs typeface="Calibri" pitchFamily="34" charset="-120"/>
              </a:rPr>
              <a:t>turn on the hard stop, set a per-user budget, and decide deliberately when automated review runs — on demand, not on every push.</a:t>
            </a:r>
            <a:endParaRPr lang="en-US" sz="1250" dirty="0"/>
          </a:p>
        </p:txBody>
      </p:sp>
      <p:sp>
        <p:nvSpPr>
          <p:cNvPr id="5" name="Shape 3"/>
          <p:cNvSpPr/>
          <p:nvPr/>
        </p:nvSpPr>
        <p:spPr>
          <a:xfrm>
            <a:off x="566928" y="2212848"/>
            <a:ext cx="3538728" cy="3273552"/>
          </a:xfrm>
          <a:prstGeom prst="roundRect">
            <a:avLst>
              <a:gd name="adj" fmla="val 1676"/>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6" name="Text 4"/>
          <p:cNvSpPr/>
          <p:nvPr/>
        </p:nvSpPr>
        <p:spPr>
          <a:xfrm>
            <a:off x="822960" y="2395728"/>
            <a:ext cx="3026664" cy="310896"/>
          </a:xfrm>
          <a:prstGeom prst="rect">
            <a:avLst/>
          </a:prstGeom>
          <a:noFill/>
          <a:ln/>
        </p:spPr>
        <p:txBody>
          <a:bodyPr wrap="square" lIns="0" tIns="0" rIns="0" bIns="0" rtlCol="0" anchor="ctr"/>
          <a:lstStyle/>
          <a:p>
            <a:pPr marL="0" indent="0">
              <a:buNone/>
            </a:pPr>
            <a:r>
              <a:rPr lang="en-US" sz="1550" b="1" dirty="0">
                <a:solidFill>
                  <a:srgbClr val="C2410C"/>
                </a:solidFill>
                <a:latin typeface="Cambria" pitchFamily="34" charset="0"/>
                <a:ea typeface="Cambria" pitchFamily="34" charset="-122"/>
                <a:cs typeface="Cambria" pitchFamily="34" charset="-120"/>
              </a:rPr>
              <a:t>Three things move the bill</a:t>
            </a:r>
            <a:endParaRPr lang="en-US" sz="1550" dirty="0"/>
          </a:p>
        </p:txBody>
      </p:sp>
      <p:sp>
        <p:nvSpPr>
          <p:cNvPr id="7" name="Text 5"/>
          <p:cNvSpPr/>
          <p:nvPr/>
        </p:nvSpPr>
        <p:spPr>
          <a:xfrm>
            <a:off x="822960" y="2724912"/>
            <a:ext cx="3026664" cy="219456"/>
          </a:xfrm>
          <a:prstGeom prst="rect">
            <a:avLst/>
          </a:prstGeom>
          <a:noFill/>
          <a:ln/>
        </p:spPr>
        <p:txBody>
          <a:bodyPr wrap="square" lIns="0" tIns="0" rIns="0" bIns="0" rtlCol="0" anchor="ctr"/>
          <a:lstStyle/>
          <a:p>
            <a:pPr marL="0" indent="0">
              <a:buNone/>
            </a:pPr>
            <a:r>
              <a:rPr lang="en-US" sz="950" dirty="0">
                <a:solidFill>
                  <a:srgbClr val="6E7781"/>
                </a:solidFill>
                <a:latin typeface="Calibri" pitchFamily="34" charset="0"/>
                <a:ea typeface="Calibri" pitchFamily="34" charset="-122"/>
                <a:cs typeface="Calibri" pitchFamily="34" charset="-120"/>
              </a:rPr>
              <a:t>none of them is on the pricing page</a:t>
            </a:r>
            <a:endParaRPr lang="en-US" sz="950" dirty="0"/>
          </a:p>
        </p:txBody>
      </p:sp>
      <p:sp>
        <p:nvSpPr>
          <p:cNvPr id="8" name="Text 6"/>
          <p:cNvSpPr/>
          <p:nvPr/>
        </p:nvSpPr>
        <p:spPr>
          <a:xfrm>
            <a:off x="822960" y="3108960"/>
            <a:ext cx="3026664" cy="2176272"/>
          </a:xfrm>
          <a:prstGeom prst="rect">
            <a:avLst/>
          </a:prstGeom>
          <a:noFill/>
          <a:ln/>
        </p:spPr>
        <p:txBody>
          <a:bodyPr wrap="square" lIns="0" tIns="0" rIns="0" bIns="0" rtlCol="0" anchor="t"/>
          <a:lstStyle/>
          <a:p>
            <a:pPr marL="177800" indent="-177800">
              <a:lnSpc>
                <a:spcPts val="1386"/>
              </a:lnSpc>
              <a:spcAft>
                <a:spcPts val="700"/>
              </a:spcAft>
              <a:buSzPct val="100000"/>
              <a:buChar char="•"/>
            </a:pPr>
            <a:r>
              <a:rPr lang="en-US" sz="1050" b="1" dirty="0">
                <a:solidFill>
                  <a:srgbClr val="C2410C"/>
                </a:solidFill>
                <a:latin typeface="Calibri" pitchFamily="34" charset="0"/>
                <a:ea typeface="Calibri" pitchFamily="34" charset="-122"/>
                <a:cs typeface="Calibri" pitchFamily="34" charset="-120"/>
              </a:rPr>
              <a:t>A budget is an alert. </a:t>
            </a:r>
            <a:r>
              <a:rPr lang="en-US" sz="1050" dirty="0">
                <a:solidFill>
                  <a:srgbClr val="2B3138"/>
                </a:solidFill>
                <a:latin typeface="Calibri" pitchFamily="34" charset="0"/>
                <a:ea typeface="Calibri" pitchFamily="34" charset="-122"/>
                <a:cs typeface="Calibri" pitchFamily="34" charset="-120"/>
              </a:rPr>
              <a:t>Copilot keeps billing past your included credits; alerts fire at 75, 90 and 100%. Only a user-level budget hard-stops on its own — everything else needs "Stop usage when budget limit is reached".</a:t>
            </a:r>
            <a:endParaRPr lang="en-US" sz="1050" dirty="0"/>
          </a:p>
          <a:p>
            <a:pPr marL="177800" indent="-177800">
              <a:lnSpc>
                <a:spcPts val="1386"/>
              </a:lnSpc>
              <a:spcAft>
                <a:spcPts val="700"/>
              </a:spcAft>
              <a:buSzPct val="100000"/>
              <a:buChar char="•"/>
            </a:pPr>
            <a:r>
              <a:rPr lang="en-US" sz="1050" b="1" dirty="0">
                <a:solidFill>
                  <a:srgbClr val="C2410C"/>
                </a:solidFill>
                <a:latin typeface="Calibri" pitchFamily="34" charset="0"/>
                <a:ea typeface="Calibri" pitchFamily="34" charset="-122"/>
                <a:cs typeface="Calibri" pitchFamily="34" charset="-120"/>
              </a:rPr>
              <a:t>Credits pool. </a:t>
            </a:r>
            <a:r>
              <a:rPr lang="en-US" sz="1050" dirty="0">
                <a:solidFill>
                  <a:srgbClr val="2B3138"/>
                </a:solidFill>
                <a:latin typeface="Calibri" pitchFamily="34" charset="0"/>
                <a:ea typeface="Calibri" pitchFamily="34" charset="-122"/>
                <a:cs typeface="Calibri" pitchFamily="34" charset="-120"/>
              </a:rPr>
              <a:t>100 Business seats is one shared pool, not 100 buckets. One heavy user quietly spends a light user's share.</a:t>
            </a:r>
            <a:endParaRPr lang="en-US" sz="1050" dirty="0"/>
          </a:p>
          <a:p>
            <a:pPr marL="177800" indent="-177800">
              <a:lnSpc>
                <a:spcPts val="1386"/>
              </a:lnSpc>
              <a:spcAft>
                <a:spcPts val="700"/>
              </a:spcAft>
              <a:buSzPct val="100000"/>
              <a:buChar char="•"/>
            </a:pPr>
            <a:r>
              <a:rPr lang="en-US" sz="1050" b="1" dirty="0">
                <a:solidFill>
                  <a:srgbClr val="C2410C"/>
                </a:solidFill>
                <a:latin typeface="Calibri" pitchFamily="34" charset="0"/>
                <a:ea typeface="Calibri" pitchFamily="34" charset="-122"/>
                <a:cs typeface="Calibri" pitchFamily="34" charset="-120"/>
              </a:rPr>
              <a:t>Review is the big line item. </a:t>
            </a:r>
            <a:r>
              <a:rPr lang="en-US" sz="1050" dirty="0">
                <a:solidFill>
                  <a:srgbClr val="2B3138"/>
                </a:solidFill>
                <a:latin typeface="Calibri" pitchFamily="34" charset="0"/>
                <a:ea typeface="Calibri" pitchFamily="34" charset="-122"/>
                <a:cs typeface="Calibri" pitchFamily="34" charset="-120"/>
              </a:rPr>
              <a:t>Claude Code's managed review averages $15–25 each and bills outside the plan allowance.</a:t>
            </a:r>
            <a:endParaRPr lang="en-US" sz="1050" dirty="0"/>
          </a:p>
        </p:txBody>
      </p:sp>
      <p:sp>
        <p:nvSpPr>
          <p:cNvPr id="9" name="Shape 7"/>
          <p:cNvSpPr/>
          <p:nvPr/>
        </p:nvSpPr>
        <p:spPr>
          <a:xfrm>
            <a:off x="4325112" y="2212848"/>
            <a:ext cx="3538728" cy="3273552"/>
          </a:xfrm>
          <a:prstGeom prst="roundRect">
            <a:avLst>
              <a:gd name="adj" fmla="val 1676"/>
            </a:avLst>
          </a:prstGeom>
          <a:solidFill>
            <a:srgbClr val="EAF6ED"/>
          </a:solidFill>
          <a:ln w="9525">
            <a:solidFill>
              <a:srgbClr val="D8DEE4"/>
            </a:solidFill>
            <a:prstDash val="solid"/>
          </a:ln>
          <a:effectLst>
            <a:outerShdw blurRad="177800" dist="38100" dir="5400000" algn="bl" rotWithShape="0">
              <a:srgbClr val="8C959F">
                <a:alpha val="16000"/>
              </a:srgbClr>
            </a:outerShdw>
          </a:effectLst>
        </p:spPr>
      </p:sp>
      <p:sp>
        <p:nvSpPr>
          <p:cNvPr id="10" name="Text 8"/>
          <p:cNvSpPr/>
          <p:nvPr/>
        </p:nvSpPr>
        <p:spPr>
          <a:xfrm>
            <a:off x="4581144" y="2395728"/>
            <a:ext cx="3026664" cy="310896"/>
          </a:xfrm>
          <a:prstGeom prst="rect">
            <a:avLst/>
          </a:prstGeom>
          <a:noFill/>
          <a:ln/>
        </p:spPr>
        <p:txBody>
          <a:bodyPr wrap="square" lIns="0" tIns="0" rIns="0" bIns="0" rtlCol="0" anchor="ctr"/>
          <a:lstStyle/>
          <a:p>
            <a:pPr marL="0" indent="0">
              <a:buNone/>
            </a:pPr>
            <a:r>
              <a:rPr lang="en-US" sz="1550" b="1" dirty="0">
                <a:solidFill>
                  <a:srgbClr val="1A7F37"/>
                </a:solidFill>
                <a:latin typeface="Cambria" pitchFamily="34" charset="0"/>
                <a:ea typeface="Cambria" pitchFamily="34" charset="-122"/>
                <a:cs typeface="Cambria" pitchFamily="34" charset="-120"/>
              </a:rPr>
              <a:t>Break-even</a:t>
            </a:r>
            <a:endParaRPr lang="en-US" sz="1550" dirty="0"/>
          </a:p>
        </p:txBody>
      </p:sp>
      <p:sp>
        <p:nvSpPr>
          <p:cNvPr id="11" name="Text 9"/>
          <p:cNvSpPr/>
          <p:nvPr/>
        </p:nvSpPr>
        <p:spPr>
          <a:xfrm>
            <a:off x="4581144" y="2724912"/>
            <a:ext cx="3026664" cy="219456"/>
          </a:xfrm>
          <a:prstGeom prst="rect">
            <a:avLst/>
          </a:prstGeom>
          <a:noFill/>
          <a:ln/>
        </p:spPr>
        <p:txBody>
          <a:bodyPr wrap="square" lIns="0" tIns="0" rIns="0" bIns="0" rtlCol="0" anchor="ctr"/>
          <a:lstStyle/>
          <a:p>
            <a:pPr marL="0" indent="0">
              <a:buNone/>
            </a:pPr>
            <a:r>
              <a:rPr lang="en-US" sz="950" dirty="0">
                <a:solidFill>
                  <a:srgbClr val="6E7781"/>
                </a:solidFill>
                <a:latin typeface="Calibri" pitchFamily="34" charset="0"/>
                <a:ea typeface="Calibri" pitchFamily="34" charset="-122"/>
                <a:cs typeface="Calibri" pitchFamily="34" charset="-120"/>
              </a:rPr>
              <a:t>against a loaded senior engineer</a:t>
            </a:r>
            <a:endParaRPr lang="en-US" sz="950" dirty="0"/>
          </a:p>
        </p:txBody>
      </p:sp>
      <p:sp>
        <p:nvSpPr>
          <p:cNvPr id="12" name="Text 10"/>
          <p:cNvSpPr/>
          <p:nvPr/>
        </p:nvSpPr>
        <p:spPr>
          <a:xfrm>
            <a:off x="4581144" y="3108960"/>
            <a:ext cx="3026664" cy="2176272"/>
          </a:xfrm>
          <a:prstGeom prst="rect">
            <a:avLst/>
          </a:prstGeom>
          <a:noFill/>
          <a:ln/>
        </p:spPr>
        <p:txBody>
          <a:bodyPr wrap="square" lIns="0" tIns="0" rIns="0" bIns="0" rtlCol="0" anchor="t"/>
          <a:lstStyle/>
          <a:p>
            <a:pPr marL="177800" indent="-177800">
              <a:lnSpc>
                <a:spcPts val="1386"/>
              </a:lnSpc>
              <a:spcAft>
                <a:spcPts val="700"/>
              </a:spcAft>
              <a:buSzPct val="100000"/>
              <a:buChar char="•"/>
            </a:pPr>
            <a:r>
              <a:rPr lang="en-US" sz="1050" b="1" dirty="0">
                <a:solidFill>
                  <a:srgbClr val="1A7F37"/>
                </a:solidFill>
                <a:latin typeface="Calibri" pitchFamily="34" charset="0"/>
                <a:ea typeface="Calibri" pitchFamily="34" charset="-122"/>
                <a:cs typeface="Calibri" pitchFamily="34" charset="-120"/>
              </a:rPr>
              <a:t>A $39 Copilot Enterprise seat </a:t>
            </a:r>
            <a:r>
              <a:rPr lang="en-US" sz="1050" dirty="0">
                <a:solidFill>
                  <a:srgbClr val="2B3138"/>
                </a:solidFill>
                <a:latin typeface="Calibri" pitchFamily="34" charset="0"/>
                <a:ea typeface="Calibri" pitchFamily="34" charset="-122"/>
                <a:cs typeface="Calibri" pitchFamily="34" charset="-120"/>
              </a:rPr>
              <a:t>pays for itself at 20–30 minutes saved per month.</a:t>
            </a:r>
            <a:endParaRPr lang="en-US" sz="1050" dirty="0"/>
          </a:p>
          <a:p>
            <a:pPr marL="177800" indent="-177800">
              <a:lnSpc>
                <a:spcPts val="1386"/>
              </a:lnSpc>
              <a:spcAft>
                <a:spcPts val="700"/>
              </a:spcAft>
              <a:buSzPct val="100000"/>
              <a:buChar char="•"/>
            </a:pPr>
            <a:r>
              <a:rPr lang="en-US" sz="1050" b="1" dirty="0">
                <a:solidFill>
                  <a:srgbClr val="1A7F37"/>
                </a:solidFill>
                <a:latin typeface="Calibri" pitchFamily="34" charset="0"/>
                <a:ea typeface="Calibri" pitchFamily="34" charset="-122"/>
                <a:cs typeface="Calibri" pitchFamily="34" charset="-120"/>
              </a:rPr>
              <a:t>$13 per developer per active day </a:t>
            </a:r>
            <a:r>
              <a:rPr lang="en-US" sz="1050" dirty="0">
                <a:solidFill>
                  <a:srgbClr val="2B3138"/>
                </a:solidFill>
                <a:latin typeface="Calibri" pitchFamily="34" charset="0"/>
                <a:ea typeface="Calibri" pitchFamily="34" charset="-122"/>
                <a:cs typeface="Calibri" pitchFamily="34" charset="-120"/>
              </a:rPr>
              <a:t>is Anthropic's own enterprise figure for Claude Code — $150–250 a month, which needs 1.5 to 3 hours.</a:t>
            </a:r>
            <a:endParaRPr lang="en-US" sz="1050" dirty="0"/>
          </a:p>
          <a:p>
            <a:pPr marL="177800" indent="-177800">
              <a:lnSpc>
                <a:spcPts val="1386"/>
              </a:lnSpc>
              <a:spcAft>
                <a:spcPts val="700"/>
              </a:spcAft>
              <a:buSzPct val="100000"/>
              <a:buChar char="•"/>
            </a:pPr>
            <a:r>
              <a:rPr lang="en-US" sz="1050" b="1" dirty="0">
                <a:solidFill>
                  <a:srgbClr val="1A7F37"/>
                </a:solidFill>
                <a:latin typeface="Calibri" pitchFamily="34" charset="0"/>
                <a:ea typeface="Calibri" pitchFamily="34" charset="-122"/>
                <a:cs typeface="Calibri" pitchFamily="34" charset="-120"/>
              </a:rPr>
              <a:t>90% of users </a:t>
            </a:r>
            <a:r>
              <a:rPr lang="en-US" sz="1050" dirty="0">
                <a:solidFill>
                  <a:srgbClr val="2B3138"/>
                </a:solidFill>
                <a:latin typeface="Calibri" pitchFamily="34" charset="0"/>
                <a:ea typeface="Calibri" pitchFamily="34" charset="-122"/>
                <a:cs typeface="Calibri" pitchFamily="34" charset="-120"/>
              </a:rPr>
              <a:t>stay under $30 per active day.</a:t>
            </a:r>
            <a:endParaRPr lang="en-US" sz="1050" dirty="0"/>
          </a:p>
        </p:txBody>
      </p:sp>
      <p:sp>
        <p:nvSpPr>
          <p:cNvPr id="13" name="Shape 11"/>
          <p:cNvSpPr/>
          <p:nvPr/>
        </p:nvSpPr>
        <p:spPr>
          <a:xfrm>
            <a:off x="8083296" y="2212848"/>
            <a:ext cx="3538728" cy="3273552"/>
          </a:xfrm>
          <a:prstGeom prst="roundRect">
            <a:avLst>
              <a:gd name="adj" fmla="val 1676"/>
            </a:avLst>
          </a:prstGeom>
          <a:solidFill>
            <a:srgbClr val="FDF0EE"/>
          </a:solidFill>
          <a:ln w="9525">
            <a:solidFill>
              <a:srgbClr val="D8DEE4"/>
            </a:solidFill>
            <a:prstDash val="solid"/>
          </a:ln>
          <a:effectLst>
            <a:outerShdw blurRad="177800" dist="38100" dir="5400000" algn="bl" rotWithShape="0">
              <a:srgbClr val="8C959F">
                <a:alpha val="16000"/>
              </a:srgbClr>
            </a:outerShdw>
          </a:effectLst>
        </p:spPr>
      </p:sp>
      <p:sp>
        <p:nvSpPr>
          <p:cNvPr id="14" name="Text 12"/>
          <p:cNvSpPr/>
          <p:nvPr/>
        </p:nvSpPr>
        <p:spPr>
          <a:xfrm>
            <a:off x="8339328" y="2395728"/>
            <a:ext cx="3026664" cy="310896"/>
          </a:xfrm>
          <a:prstGeom prst="rect">
            <a:avLst/>
          </a:prstGeom>
          <a:noFill/>
          <a:ln/>
        </p:spPr>
        <p:txBody>
          <a:bodyPr wrap="square" lIns="0" tIns="0" rIns="0" bIns="0" rtlCol="0" anchor="ctr"/>
          <a:lstStyle/>
          <a:p>
            <a:pPr marL="0" indent="0">
              <a:buNone/>
            </a:pPr>
            <a:r>
              <a:rPr lang="en-US" sz="1550" b="1" dirty="0">
                <a:solidFill>
                  <a:srgbClr val="B42318"/>
                </a:solidFill>
                <a:latin typeface="Cambria" pitchFamily="34" charset="0"/>
                <a:ea typeface="Cambria" pitchFamily="34" charset="-122"/>
                <a:cs typeface="Cambria" pitchFamily="34" charset="-120"/>
              </a:rPr>
              <a:t>The flag that is not a cap</a:t>
            </a:r>
            <a:endParaRPr lang="en-US" sz="1550" dirty="0"/>
          </a:p>
        </p:txBody>
      </p:sp>
      <p:sp>
        <p:nvSpPr>
          <p:cNvPr id="15" name="Text 13"/>
          <p:cNvSpPr/>
          <p:nvPr/>
        </p:nvSpPr>
        <p:spPr>
          <a:xfrm>
            <a:off x="8339328" y="2724912"/>
            <a:ext cx="3026664" cy="219456"/>
          </a:xfrm>
          <a:prstGeom prst="rect">
            <a:avLst/>
          </a:prstGeom>
          <a:noFill/>
          <a:ln/>
        </p:spPr>
        <p:txBody>
          <a:bodyPr wrap="square" lIns="0" tIns="0" rIns="0" bIns="0" rtlCol="0" anchor="ctr"/>
          <a:lstStyle/>
          <a:p>
            <a:pPr marL="0" indent="0">
              <a:buNone/>
            </a:pPr>
            <a:r>
              <a:rPr lang="en-US" sz="950" dirty="0">
                <a:solidFill>
                  <a:srgbClr val="6E7781"/>
                </a:solidFill>
                <a:latin typeface="Calibri" pitchFamily="34" charset="0"/>
                <a:ea typeface="Calibri" pitchFamily="34" charset="-122"/>
                <a:cs typeface="Calibri" pitchFamily="34" charset="-120"/>
              </a:rPr>
              <a:t>the most common budgeting mistake</a:t>
            </a:r>
            <a:endParaRPr lang="en-US" sz="950" dirty="0"/>
          </a:p>
        </p:txBody>
      </p:sp>
      <p:sp>
        <p:nvSpPr>
          <p:cNvPr id="16" name="Text 14"/>
          <p:cNvSpPr/>
          <p:nvPr/>
        </p:nvSpPr>
        <p:spPr>
          <a:xfrm>
            <a:off x="8339328" y="3108960"/>
            <a:ext cx="3026664" cy="2176272"/>
          </a:xfrm>
          <a:prstGeom prst="rect">
            <a:avLst/>
          </a:prstGeom>
          <a:noFill/>
          <a:ln/>
        </p:spPr>
        <p:txBody>
          <a:bodyPr wrap="square" lIns="0" tIns="0" rIns="0" bIns="0" rtlCol="0" anchor="t"/>
          <a:lstStyle/>
          <a:p>
            <a:pPr marL="177800" indent="-177800">
              <a:lnSpc>
                <a:spcPts val="1386"/>
              </a:lnSpc>
              <a:spcAft>
                <a:spcPts val="700"/>
              </a:spcAft>
              <a:buSzPct val="100000"/>
              <a:buChar char="•"/>
            </a:pPr>
            <a:r>
              <a:rPr lang="en-US" sz="1050" b="1" dirty="0">
                <a:solidFill>
                  <a:srgbClr val="B42318"/>
                </a:solidFill>
                <a:latin typeface="Calibri" pitchFamily="34" charset="0"/>
                <a:ea typeface="Calibri" pitchFamily="34" charset="-122"/>
                <a:cs typeface="Calibri" pitchFamily="34" charset="-120"/>
              </a:rPr>
              <a:t>--max-budget-usd </a:t>
            </a:r>
            <a:r>
              <a:rPr lang="en-US" sz="1050" dirty="0">
                <a:solidFill>
                  <a:srgbClr val="2B3138"/>
                </a:solidFill>
                <a:latin typeface="Calibri" pitchFamily="34" charset="0"/>
                <a:ea typeface="Calibri" pitchFamily="34" charset="-122"/>
                <a:cs typeface="Calibri" pitchFamily="34" charset="-120"/>
              </a:rPr>
              <a:t>applies to print mode only — claude -p in a script or a pipeline.</a:t>
            </a:r>
            <a:endParaRPr lang="en-US" sz="1050" dirty="0"/>
          </a:p>
          <a:p>
            <a:pPr marL="177800" indent="-177800">
              <a:lnSpc>
                <a:spcPts val="1386"/>
              </a:lnSpc>
              <a:spcAft>
                <a:spcPts val="700"/>
              </a:spcAft>
              <a:buSzPct val="100000"/>
              <a:buChar char="•"/>
            </a:pPr>
            <a:r>
              <a:rPr lang="en-US" sz="1050" b="1" dirty="0">
                <a:solidFill>
                  <a:srgbClr val="B42318"/>
                </a:solidFill>
                <a:latin typeface="Calibri" pitchFamily="34" charset="0"/>
                <a:ea typeface="Calibri" pitchFamily="34" charset="-122"/>
                <a:cs typeface="Calibri" pitchFamily="34" charset="-120"/>
              </a:rPr>
              <a:t>It does not cap an interactive session. </a:t>
            </a:r>
            <a:r>
              <a:rPr lang="en-US" sz="1050" dirty="0">
                <a:solidFill>
                  <a:srgbClr val="2B3138"/>
                </a:solidFill>
                <a:latin typeface="Calibri" pitchFamily="34" charset="0"/>
                <a:ea typeface="Calibri" pitchFamily="34" charset="-122"/>
                <a:cs typeface="Calibri" pitchFamily="34" charset="-120"/>
              </a:rPr>
              <a:t>Spend from subagents does count toward it.</a:t>
            </a:r>
            <a:endParaRPr lang="en-US" sz="1050" dirty="0"/>
          </a:p>
          <a:p>
            <a:pPr marL="177800" indent="-177800">
              <a:lnSpc>
                <a:spcPts val="1386"/>
              </a:lnSpc>
              <a:spcAft>
                <a:spcPts val="700"/>
              </a:spcAft>
              <a:buSzPct val="100000"/>
              <a:buChar char="•"/>
            </a:pPr>
            <a:r>
              <a:rPr lang="en-US" sz="1050" b="1" dirty="0">
                <a:solidFill>
                  <a:srgbClr val="B42318"/>
                </a:solidFill>
                <a:latin typeface="Calibri" pitchFamily="34" charset="0"/>
                <a:ea typeface="Calibri" pitchFamily="34" charset="-122"/>
                <a:cs typeface="Calibri" pitchFamily="34" charset="-120"/>
              </a:rPr>
              <a:t>For interactive work </a:t>
            </a:r>
            <a:r>
              <a:rPr lang="en-US" sz="1050" dirty="0">
                <a:solidFill>
                  <a:srgbClr val="2B3138"/>
                </a:solidFill>
                <a:latin typeface="Calibri" pitchFamily="34" charset="0"/>
                <a:ea typeface="Calibri" pitchFamily="34" charset="-122"/>
                <a:cs typeface="Calibri" pitchFamily="34" charset="-120"/>
              </a:rPr>
              <a:t>use organization, group and per-member spend limits in the admin console instead.</a:t>
            </a:r>
            <a:endParaRPr lang="en-US" sz="1050" dirty="0"/>
          </a:p>
        </p:txBody>
      </p:sp>
      <p:sp>
        <p:nvSpPr>
          <p:cNvPr id="17" name="Text 15"/>
          <p:cNvSpPr/>
          <p:nvPr/>
        </p:nvSpPr>
        <p:spPr>
          <a:xfrm>
            <a:off x="566928" y="6437376"/>
            <a:ext cx="10552176" cy="237744"/>
          </a:xfrm>
          <a:prstGeom prst="rect">
            <a:avLst/>
          </a:prstGeom>
          <a:noFill/>
          <a:ln/>
        </p:spPr>
        <p:txBody>
          <a:bodyPr wrap="square" lIns="0" tIns="0" rIns="0" bIns="0" rtlCol="0" anchor="ctr"/>
          <a:lstStyle/>
          <a:p>
            <a:pPr marL="0" indent="0">
              <a:buNone/>
            </a:pPr>
            <a:r>
              <a:rPr lang="en-US" sz="850" b="1" dirty="0">
                <a:solidFill>
                  <a:srgbClr val="6E7781"/>
                </a:solidFill>
                <a:latin typeface="Calibri" pitchFamily="34" charset="0"/>
                <a:ea typeface="Calibri" pitchFamily="34" charset="-122"/>
                <a:cs typeface="Calibri" pitchFamily="34" charset="-120"/>
              </a:rPr>
              <a:t>Sources   </a:t>
            </a:r>
            <a:r>
              <a:rPr lang="en-US" sz="850" dirty="0">
                <a:solidFill>
                  <a:srgbClr val="6E7781"/>
                </a:solidFill>
                <a:latin typeface="Calibri" pitchFamily="34" charset="0"/>
                <a:ea typeface="Calibri" pitchFamily="34" charset="-122"/>
                <a:cs typeface="Calibri" pitchFamily="34" charset="-120"/>
              </a:rPr>
              <a:t>docs.github.com/en/billing/concepts/budgets-and-alerts · docs.github.com/en/billing/tutorials/set-up-budgets · code.claude.com/docs/en/costs · code.claude.com/docs/en/code-review · code.claude.com/docs/en/cli-reference</a:t>
            </a:r>
            <a:endParaRPr lang="en-US" sz="850" dirty="0"/>
          </a:p>
        </p:txBody>
      </p:sp>
      <p:sp>
        <p:nvSpPr>
          <p:cNvPr id="25"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anim calcmode="lin" valueType="num">
                                      <p:cBhvr additive="base">
                                        <p:cTn id="8" dur="420" fill="hold"/>
                                        <p:tgtEl>
                                          <p:spTgt spid="5"/>
                                        </p:tgtEl>
                                        <p:attrNameLst>
                                          <p:attrName>ppt_y</p:attrName>
                                        </p:attrNameLst>
                                      </p:cBhvr>
                                      <p:tavLst>
                                        <p:tav tm="0">
                                          <p:val>
                                            <p:strVal val="#ppt_y+0.035"/>
                                          </p:val>
                                        </p:tav>
                                        <p:tav tm="100000">
                                          <p:val>
                                            <p:strVal val="#ppt_y"/>
                                          </p:val>
                                        </p:tav>
                                      </p:tavLst>
                                    </p:anim>
                                    <p:set>
                                      <p:cBhvr>
                                        <p:cTn id="9" dur="1" fill="hold">
                                          <p:stCondLst>
                                            <p:cond delay="0"/>
                                          </p:stCondLst>
                                        </p:cTn>
                                        <p:tgtEl>
                                          <p:spTgt spid="9"/>
                                        </p:tgtEl>
                                        <p:attrNameLst>
                                          <p:attrName>style.visibility</p:attrName>
                                        </p:attrNameLst>
                                      </p:cBhvr>
                                      <p:to>
                                        <p:strVal val="visible"/>
                                      </p:to>
                                    </p:set>
                                    <p:animEffect transition="in" filter="fade">
                                      <p:cBhvr>
                                        <p:cTn id="10" dur="420"/>
                                        <p:tgtEl>
                                          <p:spTgt spid="9"/>
                                        </p:tgtEl>
                                      </p:cBhvr>
                                    </p:animEffect>
                                    <p:anim calcmode="lin" valueType="num">
                                      <p:cBhvr additive="base">
                                        <p:cTn id="11" dur="420" fill="hold"/>
                                        <p:tgtEl>
                                          <p:spTgt spid="9"/>
                                        </p:tgtEl>
                                        <p:attrNameLst>
                                          <p:attrName>ppt_y</p:attrName>
                                        </p:attrNameLst>
                                      </p:cBhvr>
                                      <p:tavLst>
                                        <p:tav tm="0">
                                          <p:val>
                                            <p:strVal val="#ppt_y+0.035"/>
                                          </p:val>
                                        </p:tav>
                                        <p:tav tm="100000">
                                          <p:val>
                                            <p:strVal val="#ppt_y"/>
                                          </p:val>
                                        </p:tav>
                                      </p:tavLst>
                                    </p:anim>
                                    <p:set>
                                      <p:cBhvr>
                                        <p:cTn id="12" dur="1" fill="hold">
                                          <p:stCondLst>
                                            <p:cond delay="0"/>
                                          </p:stCondLst>
                                        </p:cTn>
                                        <p:tgtEl>
                                          <p:spTgt spid="13"/>
                                        </p:tgtEl>
                                        <p:attrNameLst>
                                          <p:attrName>style.visibility</p:attrName>
                                        </p:attrNameLst>
                                      </p:cBhvr>
                                      <p:to>
                                        <p:strVal val="visible"/>
                                      </p:to>
                                    </p:set>
                                    <p:animEffect transition="in" filter="fade">
                                      <p:cBhvr>
                                        <p:cTn id="13" dur="420"/>
                                        <p:tgtEl>
                                          <p:spTgt spid="13"/>
                                        </p:tgtEl>
                                      </p:cBhvr>
                                    </p:animEffect>
                                    <p:anim calcmode="lin" valueType="num">
                                      <p:cBhvr additive="base">
                                        <p:cTn id="14" dur="420" fill="hold"/>
                                        <p:tgtEl>
                                          <p:spTgt spid="13"/>
                                        </p:tgtEl>
                                        <p:attrNameLst>
                                          <p:attrName>ppt_y</p:attrName>
                                        </p:attrNameLst>
                                      </p:cBhvr>
                                      <p:tavLst>
                                        <p:tav tm="0">
                                          <p:val>
                                            <p:strVal val="#ppt_y+0.035"/>
                                          </p:val>
                                        </p:tav>
                                        <p:tav tm="100000">
                                          <p:val>
                                            <p:strVal val="#ppt_y"/>
                                          </p:val>
                                        </p:tav>
                                      </p:tavLst>
                                    </p:anim>
                                    <p:set>
                                      <p:cBhvr>
                                        <p:cTn id="15" dur="1" fill="hold">
                                          <p:stCondLst>
                                            <p:cond delay="0"/>
                                          </p:stCondLst>
                                        </p:cTn>
                                        <p:tgtEl>
                                          <p:spTgt spid="6"/>
                                        </p:tgtEl>
                                        <p:attrNameLst>
                                          <p:attrName>style.visibility</p:attrName>
                                        </p:attrNameLst>
                                      </p:cBhvr>
                                      <p:to>
                                        <p:strVal val="visible"/>
                                      </p:to>
                                    </p:set>
                                    <p:animEffect transition="in" filter="fade">
                                      <p:cBhvr>
                                        <p:cTn id="16" dur="420"/>
                                        <p:tgtEl>
                                          <p:spTgt spid="6"/>
                                        </p:tgtEl>
                                      </p:cBhvr>
                                    </p:animEffect>
                                    <p:anim calcmode="lin" valueType="num">
                                      <p:cBhvr additive="base">
                                        <p:cTn id="17" dur="420" fill="hold"/>
                                        <p:tgtEl>
                                          <p:spTgt spid="6"/>
                                        </p:tgtEl>
                                        <p:attrNameLst>
                                          <p:attrName>ppt_y</p:attrName>
                                        </p:attrNameLst>
                                      </p:cBhvr>
                                      <p:tavLst>
                                        <p:tav tm="0">
                                          <p:val>
                                            <p:strVal val="#ppt_y+0.035"/>
                                          </p:val>
                                        </p:tav>
                                        <p:tav tm="100000">
                                          <p:val>
                                            <p:strVal val="#ppt_y"/>
                                          </p:val>
                                        </p:tav>
                                      </p:tavLst>
                                    </p:anim>
                                    <p:set>
                                      <p:cBhvr>
                                        <p:cTn id="18" dur="1" fill="hold">
                                          <p:stCondLst>
                                            <p:cond delay="0"/>
                                          </p:stCondLst>
                                        </p:cTn>
                                        <p:tgtEl>
                                          <p:spTgt spid="10"/>
                                        </p:tgtEl>
                                        <p:attrNameLst>
                                          <p:attrName>style.visibility</p:attrName>
                                        </p:attrNameLst>
                                      </p:cBhvr>
                                      <p:to>
                                        <p:strVal val="visible"/>
                                      </p:to>
                                    </p:set>
                                    <p:animEffect transition="in" filter="fade">
                                      <p:cBhvr>
                                        <p:cTn id="19" dur="420"/>
                                        <p:tgtEl>
                                          <p:spTgt spid="10"/>
                                        </p:tgtEl>
                                      </p:cBhvr>
                                    </p:animEffect>
                                    <p:anim calcmode="lin" valueType="num">
                                      <p:cBhvr additive="base">
                                        <p:cTn id="20" dur="420" fill="hold"/>
                                        <p:tgtEl>
                                          <p:spTgt spid="10"/>
                                        </p:tgtEl>
                                        <p:attrNameLst>
                                          <p:attrName>ppt_y</p:attrName>
                                        </p:attrNameLst>
                                      </p:cBhvr>
                                      <p:tavLst>
                                        <p:tav tm="0">
                                          <p:val>
                                            <p:strVal val="#ppt_y+0.035"/>
                                          </p:val>
                                        </p:tav>
                                        <p:tav tm="100000">
                                          <p:val>
                                            <p:strVal val="#ppt_y"/>
                                          </p:val>
                                        </p:tav>
                                      </p:tavLst>
                                    </p:anim>
                                    <p:set>
                                      <p:cBhvr>
                                        <p:cTn id="21" dur="1" fill="hold">
                                          <p:stCondLst>
                                            <p:cond delay="0"/>
                                          </p:stCondLst>
                                        </p:cTn>
                                        <p:tgtEl>
                                          <p:spTgt spid="14"/>
                                        </p:tgtEl>
                                        <p:attrNameLst>
                                          <p:attrName>style.visibility</p:attrName>
                                        </p:attrNameLst>
                                      </p:cBhvr>
                                      <p:to>
                                        <p:strVal val="visible"/>
                                      </p:to>
                                    </p:set>
                                    <p:animEffect transition="in" filter="fade">
                                      <p:cBhvr>
                                        <p:cTn id="22" dur="420"/>
                                        <p:tgtEl>
                                          <p:spTgt spid="14"/>
                                        </p:tgtEl>
                                      </p:cBhvr>
                                    </p:animEffect>
                                    <p:anim calcmode="lin" valueType="num">
                                      <p:cBhvr additive="base">
                                        <p:cTn id="23" dur="420" fill="hold"/>
                                        <p:tgtEl>
                                          <p:spTgt spid="14"/>
                                        </p:tgtEl>
                                        <p:attrNameLst>
                                          <p:attrName>ppt_y</p:attrName>
                                        </p:attrNameLst>
                                      </p:cBhvr>
                                      <p:tavLst>
                                        <p:tav tm="0">
                                          <p:val>
                                            <p:strVal val="#ppt_y+0.035"/>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420"/>
                                        <p:tgtEl>
                                          <p:spTgt spid="7"/>
                                        </p:tgtEl>
                                      </p:cBhvr>
                                    </p:animEffect>
                                    <p:anim calcmode="lin" valueType="num">
                                      <p:cBhvr additive="base">
                                        <p:cTn id="29" dur="420" fill="hold"/>
                                        <p:tgtEl>
                                          <p:spTgt spid="7"/>
                                        </p:tgtEl>
                                        <p:attrNameLst>
                                          <p:attrName>ppt_y</p:attrName>
                                        </p:attrNameLst>
                                      </p:cBhvr>
                                      <p:tavLst>
                                        <p:tav tm="0">
                                          <p:val>
                                            <p:strVal val="#ppt_y+0.035"/>
                                          </p:val>
                                        </p:tav>
                                        <p:tav tm="100000">
                                          <p:val>
                                            <p:strVal val="#ppt_y"/>
                                          </p:val>
                                        </p:tav>
                                      </p:tavLst>
                                    </p:anim>
                                    <p:set>
                                      <p:cBhvr>
                                        <p:cTn id="30" dur="1" fill="hold">
                                          <p:stCondLst>
                                            <p:cond delay="0"/>
                                          </p:stCondLst>
                                        </p:cTn>
                                        <p:tgtEl>
                                          <p:spTgt spid="11"/>
                                        </p:tgtEl>
                                        <p:attrNameLst>
                                          <p:attrName>style.visibility</p:attrName>
                                        </p:attrNameLst>
                                      </p:cBhvr>
                                      <p:to>
                                        <p:strVal val="visible"/>
                                      </p:to>
                                    </p:set>
                                    <p:animEffect transition="in" filter="fade">
                                      <p:cBhvr>
                                        <p:cTn id="31" dur="420"/>
                                        <p:tgtEl>
                                          <p:spTgt spid="11"/>
                                        </p:tgtEl>
                                      </p:cBhvr>
                                    </p:animEffect>
                                    <p:anim calcmode="lin" valueType="num">
                                      <p:cBhvr additive="base">
                                        <p:cTn id="32" dur="420" fill="hold"/>
                                        <p:tgtEl>
                                          <p:spTgt spid="11"/>
                                        </p:tgtEl>
                                        <p:attrNameLst>
                                          <p:attrName>ppt_y</p:attrName>
                                        </p:attrNameLst>
                                      </p:cBhvr>
                                      <p:tavLst>
                                        <p:tav tm="0">
                                          <p:val>
                                            <p:strVal val="#ppt_y+0.035"/>
                                          </p:val>
                                        </p:tav>
                                        <p:tav tm="100000">
                                          <p:val>
                                            <p:strVal val="#ppt_y"/>
                                          </p:val>
                                        </p:tav>
                                      </p:tavLst>
                                    </p:anim>
                                    <p:set>
                                      <p:cBhvr>
                                        <p:cTn id="33" dur="1" fill="hold">
                                          <p:stCondLst>
                                            <p:cond delay="0"/>
                                          </p:stCondLst>
                                        </p:cTn>
                                        <p:tgtEl>
                                          <p:spTgt spid="15"/>
                                        </p:tgtEl>
                                        <p:attrNameLst>
                                          <p:attrName>style.visibility</p:attrName>
                                        </p:attrNameLst>
                                      </p:cBhvr>
                                      <p:to>
                                        <p:strVal val="visible"/>
                                      </p:to>
                                    </p:set>
                                    <p:animEffect transition="in" filter="fade">
                                      <p:cBhvr>
                                        <p:cTn id="34" dur="420"/>
                                        <p:tgtEl>
                                          <p:spTgt spid="15"/>
                                        </p:tgtEl>
                                      </p:cBhvr>
                                    </p:animEffect>
                                    <p:anim calcmode="lin" valueType="num">
                                      <p:cBhvr additive="base">
                                        <p:cTn id="35" dur="420" fill="hold"/>
                                        <p:tgtEl>
                                          <p:spTgt spid="15"/>
                                        </p:tgtEl>
                                        <p:attrNameLst>
                                          <p:attrName>ppt_y</p:attrName>
                                        </p:attrNameLst>
                                      </p:cBhvr>
                                      <p:tavLst>
                                        <p:tav tm="0">
                                          <p:val>
                                            <p:strVal val="#ppt_y+0.035"/>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420"/>
                                        <p:tgtEl>
                                          <p:spTgt spid="8"/>
                                        </p:tgtEl>
                                      </p:cBhvr>
                                    </p:animEffect>
                                    <p:anim calcmode="lin" valueType="num">
                                      <p:cBhvr additive="base">
                                        <p:cTn id="41" dur="420" fill="hold"/>
                                        <p:tgtEl>
                                          <p:spTgt spid="8"/>
                                        </p:tgtEl>
                                        <p:attrNameLst>
                                          <p:attrName>ppt_y</p:attrName>
                                        </p:attrNameLst>
                                      </p:cBhvr>
                                      <p:tavLst>
                                        <p:tav tm="0">
                                          <p:val>
                                            <p:strVal val="#ppt_y+0.035"/>
                                          </p:val>
                                        </p:tav>
                                        <p:tav tm="100000">
                                          <p:val>
                                            <p:strVal val="#ppt_y"/>
                                          </p:val>
                                        </p:tav>
                                      </p:tavLst>
                                    </p:anim>
                                    <p:set>
                                      <p:cBhvr>
                                        <p:cTn id="42" dur="1" fill="hold">
                                          <p:stCondLst>
                                            <p:cond delay="0"/>
                                          </p:stCondLst>
                                        </p:cTn>
                                        <p:tgtEl>
                                          <p:spTgt spid="12"/>
                                        </p:tgtEl>
                                        <p:attrNameLst>
                                          <p:attrName>style.visibility</p:attrName>
                                        </p:attrNameLst>
                                      </p:cBhvr>
                                      <p:to>
                                        <p:strVal val="visible"/>
                                      </p:to>
                                    </p:set>
                                    <p:animEffect transition="in" filter="fade">
                                      <p:cBhvr>
                                        <p:cTn id="43" dur="420"/>
                                        <p:tgtEl>
                                          <p:spTgt spid="12"/>
                                        </p:tgtEl>
                                      </p:cBhvr>
                                    </p:animEffect>
                                    <p:anim calcmode="lin" valueType="num">
                                      <p:cBhvr additive="base">
                                        <p:cTn id="44" dur="420" fill="hold"/>
                                        <p:tgtEl>
                                          <p:spTgt spid="12"/>
                                        </p:tgtEl>
                                        <p:attrNameLst>
                                          <p:attrName>ppt_y</p:attrName>
                                        </p:attrNameLst>
                                      </p:cBhvr>
                                      <p:tavLst>
                                        <p:tav tm="0">
                                          <p:val>
                                            <p:strVal val="#ppt_y+0.035"/>
                                          </p:val>
                                        </p:tav>
                                        <p:tav tm="100000">
                                          <p:val>
                                            <p:strVal val="#ppt_y"/>
                                          </p:val>
                                        </p:tav>
                                      </p:tavLst>
                                    </p:anim>
                                    <p:set>
                                      <p:cBhvr>
                                        <p:cTn id="45" dur="1" fill="hold">
                                          <p:stCondLst>
                                            <p:cond delay="0"/>
                                          </p:stCondLst>
                                        </p:cTn>
                                        <p:tgtEl>
                                          <p:spTgt spid="16"/>
                                        </p:tgtEl>
                                        <p:attrNameLst>
                                          <p:attrName>style.visibility</p:attrName>
                                        </p:attrNameLst>
                                      </p:cBhvr>
                                      <p:to>
                                        <p:strVal val="visible"/>
                                      </p:to>
                                    </p:set>
                                    <p:animEffect transition="in" filter="fade">
                                      <p:cBhvr>
                                        <p:cTn id="46" dur="420"/>
                                        <p:tgtEl>
                                          <p:spTgt spid="16"/>
                                        </p:tgtEl>
                                      </p:cBhvr>
                                    </p:animEffect>
                                    <p:anim calcmode="lin" valueType="num">
                                      <p:cBhvr additive="base">
                                        <p:cTn id="47" dur="420" fill="hold"/>
                                        <p:tgtEl>
                                          <p:spTgt spid="16"/>
                                        </p:tgtEl>
                                        <p:attrNameLst>
                                          <p:attrName>ppt_y</p:attrName>
                                        </p:attrNameLst>
                                      </p:cBhvr>
                                      <p:tavLst>
                                        <p:tav tm="0">
                                          <p:val>
                                            <p:strVal val="#ppt_y+0.035"/>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20"/>
                                        <p:tgtEl>
                                          <p:spTgt spid="17"/>
                                        </p:tgtEl>
                                      </p:cBhvr>
                                    </p:animEffect>
                                    <p:anim calcmode="lin" valueType="num">
                                      <p:cBhvr additive="base">
                                        <p:cTn id="53" dur="420" fill="hold"/>
                                        <p:tgtEl>
                                          <p:spTgt spid="17"/>
                                        </p:tgtEl>
                                        <p:attrNameLst>
                                          <p:attrName>ppt_y</p:attrName>
                                        </p:attrNameLst>
                                      </p:cBhvr>
                                      <p:tavLst>
                                        <p:tav tm="0">
                                          <p:val>
                                            <p:strVal val="#ppt_y+0.035"/>
                                          </p:val>
                                        </p:tav>
                                        <p:tav tm="100000">
                                          <p:val>
                                            <p:strVal val="#ppt_y"/>
                                          </p:val>
                                        </p:tav>
                                      </p:tavLst>
                                    </p:anim>
                                    <p:set>
                                      <p:cBhvr>
                                        <p:cTn id="54" dur="1" fill="hold">
                                          <p:stCondLst>
                                            <p:cond delay="0"/>
                                          </p:stCondLst>
                                        </p:cTn>
                                        <p:tgtEl>
                                          <p:spTgt spid="25"/>
                                        </p:tgtEl>
                                        <p:attrNameLst>
                                          <p:attrName>style.visibility</p:attrName>
                                        </p:attrNameLst>
                                      </p:cBhvr>
                                      <p:to>
                                        <p:strVal val="visible"/>
                                      </p:to>
                                    </p:set>
                                    <p:animEffect transition="in" filter="fade">
                                      <p:cBhvr>
                                        <p:cTn id="55" dur="420"/>
                                        <p:tgtEl>
                                          <p:spTgt spid="25"/>
                                        </p:tgtEl>
                                      </p:cBhvr>
                                    </p:animEffect>
                                    <p:anim calcmode="lin" valueType="num">
                                      <p:cBhvr additive="base">
                                        <p:cTn id="56" dur="420" fill="hold"/>
                                        <p:tgtEl>
                                          <p:spTgt spid="2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animBg="1"/>
      <p:bldP spid="9" grpId="0"/>
      <p:bldP spid="10" grpId="0"/>
      <p:bldP spid="11" grpId="0"/>
      <p:bldP spid="12" grpId="0"/>
      <p:bldP spid="13" grpId="0"/>
      <p:bldP spid="14" grpId="0"/>
      <p:bldP spid="15" grpId="0"/>
      <p:bldP spid="16" grpId="0"/>
      <p:bldP spid="17" grpId="0" animBg="1"/>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05</a:t>
            </a:r>
            <a:r>
              <a:rPr lang="en-US" sz="1150" b="1" kern="0" spc="160" dirty="0">
                <a:solidFill>
                  <a:srgbClr val="6E7781"/>
                </a:solidFill>
                <a:latin typeface="Calibri" pitchFamily="34" charset="0"/>
                <a:ea typeface="Calibri" pitchFamily="34" charset="-122"/>
                <a:cs typeface="Calibri" pitchFamily="34" charset="-120"/>
              </a:rPr>
              <a:t>   THE HANDS-ON TEST</a:t>
            </a:r>
            <a:endParaRPr lang="en-US" sz="1150" dirty="0"/>
          </a:p>
        </p:txBody>
      </p:sp>
      <p:sp>
        <p:nvSpPr>
          <p:cNvPr id="3" name="Shape 1"/>
          <p:cNvSpPr/>
          <p:nvPr/>
        </p:nvSpPr>
        <p:spPr>
          <a:xfrm>
            <a:off x="10351008" y="393192"/>
            <a:ext cx="1271016" cy="292608"/>
          </a:xfrm>
          <a:prstGeom prst="roundRect">
            <a:avLst>
              <a:gd name="adj" fmla="val 59375"/>
            </a:avLst>
          </a:prstGeom>
          <a:solidFill>
            <a:srgbClr val="C2410C"/>
          </a:solidFill>
          <a:ln/>
        </p:spPr>
      </p:sp>
      <p:sp>
        <p:nvSpPr>
          <p:cNvPr id="4" name="Text 2"/>
          <p:cNvSpPr/>
          <p:nvPr/>
        </p:nvSpPr>
        <p:spPr>
          <a:xfrm>
            <a:off x="10351008" y="393192"/>
            <a:ext cx="1271016" cy="292608"/>
          </a:xfrm>
          <a:prstGeom prst="rect">
            <a:avLst/>
          </a:prstGeom>
          <a:noFill/>
          <a:ln/>
        </p:spPr>
        <p:txBody>
          <a:bodyPr wrap="square" lIns="0" tIns="0" rIns="0" bIns="0" rtlCol="0" anchor="ctr"/>
          <a:lstStyle/>
          <a:p>
            <a:pPr marL="0" indent="0" algn="ctr">
              <a:buNone/>
            </a:pPr>
            <a:r>
              <a:rPr lang="en-US" sz="950" b="1" kern="0" spc="120" dirty="0">
                <a:solidFill>
                  <a:srgbClr val="FFFFFF"/>
                </a:solidFill>
                <a:latin typeface="Calibri" pitchFamily="34" charset="0"/>
                <a:ea typeface="Calibri" pitchFamily="34" charset="-122"/>
                <a:cs typeface="Calibri" pitchFamily="34" charset="-120"/>
              </a:rPr>
              <a:t>PRACTICE</a:t>
            </a:r>
            <a:endParaRPr lang="en-US" sz="950" dirty="0"/>
          </a:p>
        </p:txBody>
      </p:sp>
      <p:sp>
        <p:nvSpPr>
          <p:cNvPr id="5" name="Text 3"/>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One folder is the whole setup</a:t>
            </a:r>
            <a:endParaRPr lang="en-US" sz="3200" dirty="0"/>
          </a:p>
        </p:txBody>
      </p:sp>
      <p:sp>
        <p:nvSpPr>
          <p:cNvPr id="6" name="Text 4"/>
          <p:cNvSpPr/>
          <p:nvPr/>
        </p:nvSpPr>
        <p:spPr>
          <a:xfrm>
            <a:off x="566928" y="1389888"/>
            <a:ext cx="11055096" cy="658368"/>
          </a:xfrm>
          <a:prstGeom prst="rect">
            <a:avLst/>
          </a:prstGeom>
          <a:noFill/>
          <a:ln/>
        </p:spPr>
        <p:txBody>
          <a:bodyPr wrap="square" lIns="0" tIns="0" rIns="0" bIns="0" rtlCol="0" anchor="t"/>
          <a:lstStyle/>
          <a:p>
            <a:pPr marL="0" indent="0">
              <a:lnSpc>
                <a:spcPts val="1700"/>
              </a:lnSpc>
              <a:buNone/>
            </a:pPr>
            <a:r>
              <a:rPr lang="en-US" sz="1250" b="1" dirty="0">
                <a:solidFill>
                  <a:srgbClr val="C2410C"/>
                </a:solidFill>
                <a:latin typeface="Calibri" pitchFamily="34" charset="0"/>
                <a:ea typeface="Calibri" pitchFamily="34" charset="-122"/>
                <a:cs typeface="Calibri" pitchFamily="34" charset="-120"/>
              </a:rPr>
              <a:t>Why this order, and not "write me a feature" first:  </a:t>
            </a:r>
            <a:r>
              <a:rPr lang="en-US" sz="1250" dirty="0">
                <a:solidFill>
                  <a:srgbClr val="2B3138"/>
                </a:solidFill>
                <a:latin typeface="Calibri" pitchFamily="34" charset="0"/>
                <a:ea typeface="Calibri" pitchFamily="34" charset="-122"/>
                <a:cs typeface="Calibri" pitchFamily="34" charset="-120"/>
              </a:rPr>
              <a:t>everything the agent does later inherits this folder. A repo with no test project and no analyzer config quietly teaches the agent that neither matters — and it will be right, because nothing will ever fail.</a:t>
            </a:r>
            <a:endParaRPr lang="en-US" sz="1250" dirty="0"/>
          </a:p>
        </p:txBody>
      </p:sp>
      <p:sp>
        <p:nvSpPr>
          <p:cNvPr id="7" name="Text 5"/>
          <p:cNvSpPr/>
          <p:nvPr/>
        </p:nvSpPr>
        <p:spPr>
          <a:xfrm>
            <a:off x="566928" y="2029968"/>
            <a:ext cx="3538728" cy="201168"/>
          </a:xfrm>
          <a:prstGeom prst="rect">
            <a:avLst/>
          </a:prstGeom>
          <a:noFill/>
          <a:ln/>
        </p:spPr>
        <p:txBody>
          <a:bodyPr wrap="square" lIns="0" tIns="0" rIns="0" bIns="0" rtlCol="0" anchor="t"/>
          <a:lstStyle/>
          <a:p>
            <a:pPr marL="0" indent="0" algn="l">
              <a:buNone/>
            </a:pPr>
            <a:r>
              <a:rPr lang="en-US" sz="900" b="1" kern="0" spc="140" dirty="0">
                <a:solidFill>
                  <a:srgbClr val="6E7781"/>
                </a:solidFill>
                <a:latin typeface="Calibri" pitchFamily="34" charset="0"/>
                <a:ea typeface="Calibri" pitchFamily="34" charset="-122"/>
                <a:cs typeface="Calibri" pitchFamily="34" charset="-120"/>
              </a:rPr>
              <a:t>THE FOLDER</a:t>
            </a:r>
            <a:endParaRPr lang="en-US" sz="900" dirty="0"/>
          </a:p>
        </p:txBody>
      </p:sp>
      <p:sp>
        <p:nvSpPr>
          <p:cNvPr id="8" name="Shape 6"/>
          <p:cNvSpPr/>
          <p:nvPr/>
        </p:nvSpPr>
        <p:spPr>
          <a:xfrm>
            <a:off x="566928" y="2267712"/>
            <a:ext cx="3538728" cy="3639312"/>
          </a:xfrm>
          <a:prstGeom prst="roundRect">
            <a:avLst>
              <a:gd name="adj" fmla="val 1292"/>
            </a:avLst>
          </a:prstGeom>
          <a:solidFill>
            <a:srgbClr val="0D1117"/>
          </a:solidFill>
          <a:ln w="12700">
            <a:solidFill>
              <a:srgbClr val="0D1117"/>
            </a:solidFill>
            <a:prstDash val="solid"/>
          </a:ln>
          <a:effectLst>
            <a:outerShdw blurRad="177800" dist="38100" dir="5400000" algn="bl" rotWithShape="0">
              <a:srgbClr val="8C959F">
                <a:alpha val="16000"/>
              </a:srgbClr>
            </a:outerShdw>
          </a:effectLst>
        </p:spPr>
      </p:sp>
      <p:sp>
        <p:nvSpPr>
          <p:cNvPr id="9" name="Text 7"/>
          <p:cNvSpPr/>
          <p:nvPr/>
        </p:nvSpPr>
        <p:spPr>
          <a:xfrm>
            <a:off x="731520" y="2386584"/>
            <a:ext cx="3209544" cy="3401568"/>
          </a:xfrm>
          <a:prstGeom prst="rect">
            <a:avLst/>
          </a:prstGeom>
          <a:noFill/>
          <a:ln/>
        </p:spPr>
        <p:txBody>
          <a:bodyPr wrap="square" lIns="0" tIns="0" rIns="0" bIns="0" rtlCol="0" anchor="t"/>
          <a:lstStyle/>
          <a:p>
            <a:pPr marL="0" indent="0">
              <a:lnSpc>
                <a:spcPts val="1512"/>
              </a:lnSpc>
              <a:buNone/>
            </a:pPr>
            <a:r>
              <a:rPr lang="en-US" sz="1050" b="1" dirty="0">
                <a:solidFill>
                  <a:srgbClr val="FFA657"/>
                </a:solidFill>
                <a:latin typeface="Courier New" pitchFamily="34" charset="0"/>
                <a:ea typeface="Courier New" pitchFamily="34" charset="-122"/>
                <a:cs typeface="Courier New" pitchFamily="34" charset="-120"/>
              </a:rPr>
              <a:t>MyApp/</a:t>
            </a:r>
            <a:endParaRPr lang="en-US" sz="1050" dirty="0"/>
          </a:p>
          <a:p>
            <a:pPr marL="0" indent="0">
              <a:lnSpc>
                <a:spcPts val="1512"/>
              </a:lnSpc>
              <a:buNone/>
            </a:pPr>
            <a:r>
              <a:rPr lang="en-US" sz="1050" dirty="0">
                <a:solidFill>
                  <a:srgbClr val="C9D1D9"/>
                </a:solidFill>
                <a:latin typeface="Courier New" pitchFamily="34" charset="0"/>
                <a:ea typeface="Courier New" pitchFamily="34" charset="-122"/>
                <a:cs typeface="Courier New" pitchFamily="34" charset="-120"/>
              </a:rPr>
              <a:t>  src/</a:t>
            </a:r>
            <a:endParaRPr lang="en-US" sz="1050" dirty="0"/>
          </a:p>
          <a:p>
            <a:pPr marL="0" indent="0">
              <a:lnSpc>
                <a:spcPts val="1512"/>
              </a:lnSpc>
              <a:buNone/>
            </a:pPr>
            <a:r>
              <a:rPr lang="en-US" sz="1050" dirty="0">
                <a:solidFill>
                  <a:srgbClr val="8B949E"/>
                </a:solidFill>
                <a:latin typeface="Courier New" pitchFamily="34" charset="0"/>
                <a:ea typeface="Courier New" pitchFamily="34" charset="-122"/>
                <a:cs typeface="Courier New" pitchFamily="34" charset="-120"/>
              </a:rPr>
              <a:t>      the application</a:t>
            </a:r>
            <a:endParaRPr lang="en-US" sz="1050" dirty="0"/>
          </a:p>
          <a:p>
            <a:pPr marL="0" indent="0">
              <a:lnSpc>
                <a:spcPts val="1512"/>
              </a:lnSpc>
              <a:buNone/>
            </a:pPr>
            <a:r>
              <a:rPr lang="en-US" sz="1050" dirty="0">
                <a:solidFill>
                  <a:srgbClr val="C9D1D9"/>
                </a:solidFill>
                <a:latin typeface="Courier New" pitchFamily="34" charset="0"/>
                <a:ea typeface="Courier New" pitchFamily="34" charset="-122"/>
                <a:cs typeface="Courier New" pitchFamily="34" charset="-120"/>
              </a:rPr>
              <a:t>  tests/</a:t>
            </a:r>
            <a:endParaRPr lang="en-US" sz="1050" dirty="0"/>
          </a:p>
          <a:p>
            <a:pPr marL="0" indent="0">
              <a:lnSpc>
                <a:spcPts val="1512"/>
              </a:lnSpc>
              <a:buNone/>
            </a:pPr>
            <a:r>
              <a:rPr lang="en-US" sz="1050" dirty="0">
                <a:solidFill>
                  <a:srgbClr val="8B949E"/>
                </a:solidFill>
                <a:latin typeface="Courier New" pitchFamily="34" charset="0"/>
                <a:ea typeface="Courier New" pitchFamily="34" charset="-122"/>
                <a:cs typeface="Courier New" pitchFamily="34" charset="-120"/>
              </a:rPr>
              <a:t>      one per src project</a:t>
            </a:r>
            <a:endParaRPr lang="en-US" sz="1050" dirty="0"/>
          </a:p>
          <a:p>
            <a:pPr marL="0" indent="0">
              <a:lnSpc>
                <a:spcPts val="1512"/>
              </a:lnSpc>
              <a:buNone/>
            </a:pPr>
            <a:r>
              <a:rPr lang="en-US" sz="1050" dirty="0">
                <a:solidFill>
                  <a:srgbClr val="7EE787"/>
                </a:solidFill>
                <a:latin typeface="Courier New" pitchFamily="34" charset="0"/>
                <a:ea typeface="Courier New" pitchFamily="34" charset="-122"/>
                <a:cs typeface="Courier New" pitchFamily="34" charset="-120"/>
              </a:rPr>
              <a:t>  .claude/skills/</a:t>
            </a:r>
            <a:endParaRPr lang="en-US" sz="1050" dirty="0"/>
          </a:p>
          <a:p>
            <a:pPr marL="0" indent="0">
              <a:lnSpc>
                <a:spcPts val="1512"/>
              </a:lnSpc>
              <a:buNone/>
            </a:pPr>
            <a:r>
              <a:rPr lang="en-US" sz="1050" dirty="0">
                <a:solidFill>
                  <a:srgbClr val="8B949E"/>
                </a:solidFill>
                <a:latin typeface="Courier New" pitchFamily="34" charset="0"/>
                <a:ea typeface="Courier New" pitchFamily="34" charset="-122"/>
                <a:cs typeface="Courier New" pitchFamily="34" charset="-120"/>
              </a:rPr>
              <a:t>      rules the agent obeys</a:t>
            </a:r>
            <a:endParaRPr lang="en-US" sz="1050" dirty="0"/>
          </a:p>
          <a:p>
            <a:pPr marL="0" indent="0">
              <a:lnSpc>
                <a:spcPts val="1512"/>
              </a:lnSpc>
              <a:buNone/>
            </a:pPr>
            <a:r>
              <a:rPr lang="en-US" sz="1050" dirty="0">
                <a:solidFill>
                  <a:srgbClr val="C9D1D9"/>
                </a:solidFill>
                <a:latin typeface="Courier New" pitchFamily="34" charset="0"/>
                <a:ea typeface="Courier New" pitchFamily="34" charset="-122"/>
                <a:cs typeface="Courier New" pitchFamily="34" charset="-120"/>
              </a:rPr>
              <a:t>  docs/adr/</a:t>
            </a:r>
            <a:endParaRPr lang="en-US" sz="1050" dirty="0"/>
          </a:p>
          <a:p>
            <a:pPr marL="0" indent="0">
              <a:lnSpc>
                <a:spcPts val="1512"/>
              </a:lnSpc>
              <a:buNone/>
            </a:pPr>
            <a:r>
              <a:rPr lang="en-US" sz="1050" dirty="0">
                <a:solidFill>
                  <a:srgbClr val="8B949E"/>
                </a:solidFill>
                <a:latin typeface="Courier New" pitchFamily="34" charset="0"/>
                <a:ea typeface="Courier New" pitchFamily="34" charset="-122"/>
                <a:cs typeface="Courier New" pitchFamily="34" charset="-120"/>
              </a:rPr>
              <a:t>      one file per decision</a:t>
            </a:r>
            <a:endParaRPr lang="en-US" sz="1050" dirty="0"/>
          </a:p>
          <a:p>
            <a:pPr marL="0" indent="0">
              <a:lnSpc>
                <a:spcPts val="1512"/>
              </a:lnSpc>
              <a:buNone/>
            </a:pPr>
            <a:r>
              <a:rPr lang="en-US" sz="1050" dirty="0">
                <a:solidFill>
                  <a:srgbClr val="A5D6FF"/>
                </a:solidFill>
                <a:latin typeface="Courier New" pitchFamily="34" charset="0"/>
                <a:ea typeface="Courier New" pitchFamily="34" charset="-122"/>
                <a:cs typeface="Courier New" pitchFamily="34" charset="-120"/>
              </a:rPr>
              <a:t>  .editorconfig</a:t>
            </a:r>
            <a:endParaRPr lang="en-US" sz="1050" dirty="0"/>
          </a:p>
          <a:p>
            <a:pPr marL="0" indent="0">
              <a:lnSpc>
                <a:spcPts val="1512"/>
              </a:lnSpc>
              <a:buNone/>
            </a:pPr>
            <a:r>
              <a:rPr lang="en-US" sz="1050" dirty="0">
                <a:solidFill>
                  <a:srgbClr val="8B949E"/>
                </a:solidFill>
                <a:latin typeface="Courier New" pitchFamily="34" charset="0"/>
                <a:ea typeface="Courier New" pitchFamily="34" charset="-122"/>
                <a:cs typeface="Courier New" pitchFamily="34" charset="-120"/>
              </a:rPr>
              <a:t>      analyzer severities</a:t>
            </a:r>
            <a:endParaRPr lang="en-US" sz="1050" dirty="0"/>
          </a:p>
          <a:p>
            <a:pPr marL="0" indent="0">
              <a:lnSpc>
                <a:spcPts val="1512"/>
              </a:lnSpc>
              <a:buNone/>
            </a:pPr>
            <a:r>
              <a:rPr lang="en-US" sz="1050" dirty="0">
                <a:solidFill>
                  <a:srgbClr val="A5D6FF"/>
                </a:solidFill>
                <a:latin typeface="Courier New" pitchFamily="34" charset="0"/>
                <a:ea typeface="Courier New" pitchFamily="34" charset="-122"/>
                <a:cs typeface="Courier New" pitchFamily="34" charset="-120"/>
              </a:rPr>
              <a:t>  Directory.Build.props</a:t>
            </a:r>
            <a:endParaRPr lang="en-US" sz="1050" dirty="0"/>
          </a:p>
          <a:p>
            <a:pPr marL="0" indent="0">
              <a:lnSpc>
                <a:spcPts val="1512"/>
              </a:lnSpc>
              <a:buNone/>
            </a:pPr>
            <a:r>
              <a:rPr lang="en-US" sz="1050" dirty="0">
                <a:solidFill>
                  <a:srgbClr val="8B949E"/>
                </a:solidFill>
                <a:latin typeface="Courier New" pitchFamily="34" charset="0"/>
                <a:ea typeface="Courier New" pitchFamily="34" charset="-122"/>
                <a:cs typeface="Courier New" pitchFamily="34" charset="-120"/>
              </a:rPr>
              <a:t>      inherited settings</a:t>
            </a:r>
            <a:endParaRPr lang="en-US" sz="1050" dirty="0"/>
          </a:p>
          <a:p>
            <a:pPr marL="0" indent="0">
              <a:lnSpc>
                <a:spcPts val="1512"/>
              </a:lnSpc>
              <a:buNone/>
            </a:pPr>
            <a:r>
              <a:rPr lang="en-US" sz="1050" dirty="0">
                <a:solidFill>
                  <a:srgbClr val="8B949E"/>
                </a:solidFill>
                <a:latin typeface="Courier New" pitchFamily="34" charset="0"/>
                <a:ea typeface="Courier New" pitchFamily="34" charset="-122"/>
                <a:cs typeface="Courier New" pitchFamily="34" charset="-120"/>
              </a:rPr>
              <a:t>  .gitignore + README</a:t>
            </a:r>
            <a:endParaRPr lang="en-US" sz="1050" dirty="0"/>
          </a:p>
        </p:txBody>
      </p:sp>
      <p:sp>
        <p:nvSpPr>
          <p:cNvPr id="10" name="Shape 8"/>
          <p:cNvSpPr/>
          <p:nvPr/>
        </p:nvSpPr>
        <p:spPr>
          <a:xfrm>
            <a:off x="4325112" y="2267712"/>
            <a:ext cx="3538728" cy="3639312"/>
          </a:xfrm>
          <a:prstGeom prst="roundRect">
            <a:avLst>
              <a:gd name="adj" fmla="val 1550"/>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11" name="Text 9"/>
          <p:cNvSpPr/>
          <p:nvPr/>
        </p:nvSpPr>
        <p:spPr>
          <a:xfrm>
            <a:off x="4581144" y="2450592"/>
            <a:ext cx="3026664" cy="310896"/>
          </a:xfrm>
          <a:prstGeom prst="rect">
            <a:avLst/>
          </a:prstGeom>
          <a:noFill/>
          <a:ln/>
        </p:spPr>
        <p:txBody>
          <a:bodyPr wrap="square" lIns="0" tIns="0" rIns="0" bIns="0" rtlCol="0" anchor="ctr"/>
          <a:lstStyle/>
          <a:p>
            <a:pPr marL="0" indent="0">
              <a:buNone/>
            </a:pPr>
            <a:r>
              <a:rPr lang="en-US" sz="1550" b="1" dirty="0">
                <a:solidFill>
                  <a:srgbClr val="0969DA"/>
                </a:solidFill>
                <a:latin typeface="Cambria" pitchFamily="34" charset="0"/>
                <a:ea typeface="Cambria" pitchFamily="34" charset="-122"/>
                <a:cs typeface="Cambria" pitchFamily="34" charset="-120"/>
              </a:rPr>
              <a:t>Step 1 — the first prompt</a:t>
            </a:r>
            <a:endParaRPr lang="en-US" sz="1550" dirty="0"/>
          </a:p>
        </p:txBody>
      </p:sp>
      <p:sp>
        <p:nvSpPr>
          <p:cNvPr id="12" name="Text 10"/>
          <p:cNvSpPr/>
          <p:nvPr/>
        </p:nvSpPr>
        <p:spPr>
          <a:xfrm>
            <a:off x="4581144" y="2779776"/>
            <a:ext cx="3026664" cy="219456"/>
          </a:xfrm>
          <a:prstGeom prst="rect">
            <a:avLst/>
          </a:prstGeom>
          <a:noFill/>
          <a:ln/>
        </p:spPr>
        <p:txBody>
          <a:bodyPr wrap="square" lIns="0" tIns="0" rIns="0" bIns="0" rtlCol="0" anchor="ctr"/>
          <a:lstStyle/>
          <a:p>
            <a:pPr marL="0" indent="0">
              <a:buNone/>
            </a:pPr>
            <a:r>
              <a:rPr lang="en-US" sz="950" dirty="0">
                <a:solidFill>
                  <a:srgbClr val="6E7781"/>
                </a:solidFill>
                <a:latin typeface="Calibri" pitchFamily="34" charset="0"/>
                <a:ea typeface="Calibri" pitchFamily="34" charset="-122"/>
                <a:cs typeface="Calibri" pitchFamily="34" charset="-120"/>
              </a:rPr>
              <a:t>one turn, before any feature code</a:t>
            </a:r>
            <a:endParaRPr lang="en-US" sz="950" dirty="0"/>
          </a:p>
        </p:txBody>
      </p:sp>
      <p:sp>
        <p:nvSpPr>
          <p:cNvPr id="13" name="Text 11"/>
          <p:cNvSpPr/>
          <p:nvPr/>
        </p:nvSpPr>
        <p:spPr>
          <a:xfrm>
            <a:off x="4581144" y="3182112"/>
            <a:ext cx="3026664" cy="1481328"/>
          </a:xfrm>
          <a:prstGeom prst="rect">
            <a:avLst/>
          </a:prstGeom>
          <a:noFill/>
          <a:ln/>
        </p:spPr>
        <p:txBody>
          <a:bodyPr wrap="square" lIns="0" tIns="0" rIns="0" bIns="0" rtlCol="0" anchor="t"/>
          <a:lstStyle/>
          <a:p>
            <a:pPr marL="0" indent="0">
              <a:lnSpc>
                <a:spcPts val="1500"/>
              </a:lnSpc>
              <a:buNone/>
            </a:pPr>
            <a:r>
              <a:rPr lang="en-US" sz="1100" i="1" dirty="0">
                <a:solidFill>
                  <a:srgbClr val="2B3138"/>
                </a:solidFill>
                <a:latin typeface="Calibri" pitchFamily="34" charset="0"/>
                <a:ea typeface="Calibri" pitchFamily="34" charset="-122"/>
                <a:cs typeface="Calibri" pitchFamily="34" charset="-120"/>
              </a:rPr>
              <a:t>"Create a new repository for &lt;project&gt; in this folder. Set up the structure before any feature code: src, tests, .claude/skills, docs/adr. Also .gitignore, .editorconfig with our analyzer severities, Directory.Build.props, a README and an initial commit. No features yet."</a:t>
            </a:r>
            <a:endParaRPr lang="en-US" sz="1100" dirty="0"/>
          </a:p>
        </p:txBody>
      </p:sp>
      <p:sp>
        <p:nvSpPr>
          <p:cNvPr id="14" name="Text 12"/>
          <p:cNvSpPr/>
          <p:nvPr/>
        </p:nvSpPr>
        <p:spPr>
          <a:xfrm>
            <a:off x="4581144" y="4718304"/>
            <a:ext cx="3026664" cy="1005840"/>
          </a:xfrm>
          <a:prstGeom prst="rect">
            <a:avLst/>
          </a:prstGeom>
          <a:noFill/>
          <a:ln/>
        </p:spPr>
        <p:txBody>
          <a:bodyPr wrap="square" lIns="0" tIns="0" rIns="0" bIns="0" rtlCol="0" anchor="t"/>
          <a:lstStyle/>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Stop the turn when dotnet build and dotnet test both exit 0 on an empty solution.</a:t>
            </a:r>
            <a:endParaRPr lang="en-US" sz="1100" dirty="0"/>
          </a:p>
        </p:txBody>
      </p:sp>
      <p:sp>
        <p:nvSpPr>
          <p:cNvPr id="15" name="Shape 13"/>
          <p:cNvSpPr/>
          <p:nvPr/>
        </p:nvSpPr>
        <p:spPr>
          <a:xfrm>
            <a:off x="8083296" y="2267712"/>
            <a:ext cx="3538728" cy="3639312"/>
          </a:xfrm>
          <a:prstGeom prst="roundRect">
            <a:avLst>
              <a:gd name="adj" fmla="val 1550"/>
            </a:avLst>
          </a:prstGeom>
          <a:solidFill>
            <a:srgbClr val="EAF6ED"/>
          </a:solidFill>
          <a:ln w="9525">
            <a:solidFill>
              <a:srgbClr val="D8DEE4"/>
            </a:solidFill>
            <a:prstDash val="solid"/>
          </a:ln>
          <a:effectLst>
            <a:outerShdw blurRad="177800" dist="38100" dir="5400000" algn="bl" rotWithShape="0">
              <a:srgbClr val="8C959F">
                <a:alpha val="16000"/>
              </a:srgbClr>
            </a:outerShdw>
          </a:effectLst>
        </p:spPr>
      </p:sp>
      <p:sp>
        <p:nvSpPr>
          <p:cNvPr id="16" name="Text 14"/>
          <p:cNvSpPr/>
          <p:nvPr/>
        </p:nvSpPr>
        <p:spPr>
          <a:xfrm>
            <a:off x="8339328" y="2450592"/>
            <a:ext cx="3026664" cy="310896"/>
          </a:xfrm>
          <a:prstGeom prst="rect">
            <a:avLst/>
          </a:prstGeom>
          <a:noFill/>
          <a:ln/>
        </p:spPr>
        <p:txBody>
          <a:bodyPr wrap="square" lIns="0" tIns="0" rIns="0" bIns="0" rtlCol="0" anchor="ctr"/>
          <a:lstStyle/>
          <a:p>
            <a:pPr marL="0" indent="0">
              <a:buNone/>
            </a:pPr>
            <a:r>
              <a:rPr lang="en-US" sz="1550" b="1" dirty="0">
                <a:solidFill>
                  <a:srgbClr val="1A7F37"/>
                </a:solidFill>
                <a:latin typeface="Cambria" pitchFamily="34" charset="0"/>
                <a:ea typeface="Cambria" pitchFamily="34" charset="-122"/>
                <a:cs typeface="Cambria" pitchFamily="34" charset="-120"/>
              </a:rPr>
              <a:t>Step 2 — the one artifact</a:t>
            </a:r>
            <a:endParaRPr lang="en-US" sz="1550" dirty="0"/>
          </a:p>
        </p:txBody>
      </p:sp>
      <p:sp>
        <p:nvSpPr>
          <p:cNvPr id="17" name="Text 15"/>
          <p:cNvSpPr/>
          <p:nvPr/>
        </p:nvSpPr>
        <p:spPr>
          <a:xfrm>
            <a:off x="8339328" y="2779776"/>
            <a:ext cx="3026664" cy="219456"/>
          </a:xfrm>
          <a:prstGeom prst="rect">
            <a:avLst/>
          </a:prstGeom>
          <a:noFill/>
          <a:ln/>
        </p:spPr>
        <p:txBody>
          <a:bodyPr wrap="square" lIns="0" tIns="0" rIns="0" bIns="0" rtlCol="0" anchor="ctr"/>
          <a:lstStyle/>
          <a:p>
            <a:pPr marL="0" indent="0">
              <a:buNone/>
            </a:pPr>
            <a:r>
              <a:rPr lang="en-US" sz="950" dirty="0">
                <a:solidFill>
                  <a:srgbClr val="6E7781"/>
                </a:solidFill>
                <a:latin typeface="Calibri" pitchFamily="34" charset="0"/>
                <a:ea typeface="Calibri" pitchFamily="34" charset="-122"/>
                <a:cs typeface="Calibri" pitchFamily="34" charset="-120"/>
              </a:rPr>
              <a:t>the file worth keeping afterwards</a:t>
            </a:r>
            <a:endParaRPr lang="en-US" sz="950" dirty="0"/>
          </a:p>
        </p:txBody>
      </p:sp>
      <p:sp>
        <p:nvSpPr>
          <p:cNvPr id="18" name="Text 16"/>
          <p:cNvSpPr/>
          <p:nvPr/>
        </p:nvSpPr>
        <p:spPr>
          <a:xfrm>
            <a:off x="8339328" y="3182112"/>
            <a:ext cx="3026664" cy="219456"/>
          </a:xfrm>
          <a:prstGeom prst="rect">
            <a:avLst/>
          </a:prstGeom>
          <a:noFill/>
          <a:ln/>
        </p:spPr>
        <p:txBody>
          <a:bodyPr wrap="square" lIns="0" tIns="0" rIns="0" bIns="0" rtlCol="0" anchor="t"/>
          <a:lstStyle/>
          <a:p>
            <a:pPr marL="0" indent="0">
              <a:buNone/>
            </a:pPr>
            <a:r>
              <a:rPr lang="en-US" sz="1000" dirty="0">
                <a:solidFill>
                  <a:srgbClr val="15181D"/>
                </a:solidFill>
                <a:latin typeface="Courier New" pitchFamily="34" charset="0"/>
                <a:ea typeface="Courier New" pitchFamily="34" charset="-122"/>
                <a:cs typeface="Courier New" pitchFamily="34" charset="-120"/>
              </a:rPr>
              <a:t>.claude/skills/verify-build/SKILL.md</a:t>
            </a:r>
            <a:endParaRPr lang="en-US" sz="1000" dirty="0"/>
          </a:p>
        </p:txBody>
      </p:sp>
      <p:sp>
        <p:nvSpPr>
          <p:cNvPr id="19" name="Text 17"/>
          <p:cNvSpPr/>
          <p:nvPr/>
        </p:nvSpPr>
        <p:spPr>
          <a:xfrm>
            <a:off x="8339328" y="3493008"/>
            <a:ext cx="3026664" cy="2212848"/>
          </a:xfrm>
          <a:prstGeom prst="rect">
            <a:avLst/>
          </a:prstGeom>
          <a:noFill/>
          <a:ln/>
        </p:spPr>
        <p:txBody>
          <a:bodyPr wrap="square" lIns="0" tIns="0" rIns="0" bIns="0" rtlCol="0" anchor="t"/>
          <a:lstStyle/>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Encodes the manual check: build with -warnaserror, run the tests, never suppress a warning, never weaken a test.</a:t>
            </a:r>
            <a:endParaRPr lang="en-US" sz="1050" dirty="0"/>
          </a:p>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A PostToolUse hook in .claude/settings.json enforces it — and it must exit 2, because exit 1 does not block.</a:t>
            </a:r>
            <a:endParaRPr lang="en-US" sz="1050" dirty="0"/>
          </a:p>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Visual Studio 2026 (18.5+) discovers skills from .claude/skills/ as well as .github/skills/, so one file drives both tools.</a:t>
            </a:r>
            <a:endParaRPr lang="en-US" sz="1050" dirty="0"/>
          </a:p>
        </p:txBody>
      </p:sp>
      <p:sp>
        <p:nvSpPr>
          <p:cNvPr id="20" name="Text 18"/>
          <p:cNvSpPr/>
          <p:nvPr/>
        </p:nvSpPr>
        <p:spPr>
          <a:xfrm>
            <a:off x="566928" y="6437376"/>
            <a:ext cx="10552176" cy="237744"/>
          </a:xfrm>
          <a:prstGeom prst="rect">
            <a:avLst/>
          </a:prstGeom>
          <a:noFill/>
          <a:ln/>
        </p:spPr>
        <p:txBody>
          <a:bodyPr wrap="square" lIns="0" tIns="0" rIns="0" bIns="0" rtlCol="0" anchor="ctr"/>
          <a:lstStyle/>
          <a:p>
            <a:pPr marL="0" indent="0">
              <a:buNone/>
            </a:pPr>
            <a:r>
              <a:rPr lang="en-US" sz="850" b="1" dirty="0">
                <a:solidFill>
                  <a:srgbClr val="6E7781"/>
                </a:solidFill>
                <a:latin typeface="Calibri" pitchFamily="34" charset="0"/>
                <a:ea typeface="Calibri" pitchFamily="34" charset="-122"/>
                <a:cs typeface="Calibri" pitchFamily="34" charset="-120"/>
              </a:rPr>
              <a:t>Sources   </a:t>
            </a:r>
            <a:r>
              <a:rPr lang="en-US" sz="850" dirty="0">
                <a:solidFill>
                  <a:srgbClr val="6E7781"/>
                </a:solidFill>
                <a:latin typeface="Calibri" pitchFamily="34" charset="0"/>
                <a:ea typeface="Calibri" pitchFamily="34" charset="-122"/>
                <a:cs typeface="Calibri" pitchFamily="34" charset="-120"/>
              </a:rPr>
              <a:t>learn.microsoft.com/visualstudio/ide/copilot-agent-skills · code.claude.com/docs/en/hooks</a:t>
            </a:r>
            <a:endParaRPr lang="en-US" sz="850" dirty="0"/>
          </a:p>
        </p:txBody>
      </p:sp>
      <p:sp>
        <p:nvSpPr>
          <p:cNvPr id="25"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anim calcmode="lin" valueType="num">
                                      <p:cBhvr additive="base">
                                        <p:cTn id="8" dur="420" fill="hold"/>
                                        <p:tgtEl>
                                          <p:spTgt spid="7"/>
                                        </p:tgtEl>
                                        <p:attrNameLst>
                                          <p:attrName>ppt_y</p:attrName>
                                        </p:attrNameLst>
                                      </p:cBhvr>
                                      <p:tavLst>
                                        <p:tav tm="0">
                                          <p:val>
                                            <p:strVal val="#ppt_y+0.035"/>
                                          </p:val>
                                        </p:tav>
                                        <p:tav tm="100000">
                                          <p:val>
                                            <p:strVal val="#ppt_y"/>
                                          </p:val>
                                        </p:tav>
                                      </p:tavLst>
                                    </p:anim>
                                    <p:set>
                                      <p:cBhvr>
                                        <p:cTn id="9" dur="1" fill="hold">
                                          <p:stCondLst>
                                            <p:cond delay="0"/>
                                          </p:stCondLst>
                                        </p:cTn>
                                        <p:tgtEl>
                                          <p:spTgt spid="8"/>
                                        </p:tgtEl>
                                        <p:attrNameLst>
                                          <p:attrName>style.visibility</p:attrName>
                                        </p:attrNameLst>
                                      </p:cBhvr>
                                      <p:to>
                                        <p:strVal val="visible"/>
                                      </p:to>
                                    </p:set>
                                    <p:animEffect transition="in" filter="fade">
                                      <p:cBhvr>
                                        <p:cTn id="10" dur="420"/>
                                        <p:tgtEl>
                                          <p:spTgt spid="8"/>
                                        </p:tgtEl>
                                      </p:cBhvr>
                                    </p:animEffect>
                                    <p:anim calcmode="lin" valueType="num">
                                      <p:cBhvr additive="base">
                                        <p:cTn id="11" dur="420" fill="hold"/>
                                        <p:tgtEl>
                                          <p:spTgt spid="8"/>
                                        </p:tgtEl>
                                        <p:attrNameLst>
                                          <p:attrName>ppt_y</p:attrName>
                                        </p:attrNameLst>
                                      </p:cBhvr>
                                      <p:tavLst>
                                        <p:tav tm="0">
                                          <p:val>
                                            <p:strVal val="#ppt_y+0.035"/>
                                          </p:val>
                                        </p:tav>
                                        <p:tav tm="100000">
                                          <p:val>
                                            <p:strVal val="#ppt_y"/>
                                          </p:val>
                                        </p:tav>
                                      </p:tavLst>
                                    </p:anim>
                                    <p:set>
                                      <p:cBhvr>
                                        <p:cTn id="12" dur="1" fill="hold">
                                          <p:stCondLst>
                                            <p:cond delay="0"/>
                                          </p:stCondLst>
                                        </p:cTn>
                                        <p:tgtEl>
                                          <p:spTgt spid="10"/>
                                        </p:tgtEl>
                                        <p:attrNameLst>
                                          <p:attrName>style.visibility</p:attrName>
                                        </p:attrNameLst>
                                      </p:cBhvr>
                                      <p:to>
                                        <p:strVal val="visible"/>
                                      </p:to>
                                    </p:set>
                                    <p:animEffect transition="in" filter="fade">
                                      <p:cBhvr>
                                        <p:cTn id="13" dur="420"/>
                                        <p:tgtEl>
                                          <p:spTgt spid="10"/>
                                        </p:tgtEl>
                                      </p:cBhvr>
                                    </p:animEffect>
                                    <p:anim calcmode="lin" valueType="num">
                                      <p:cBhvr additive="base">
                                        <p:cTn id="14" dur="420" fill="hold"/>
                                        <p:tgtEl>
                                          <p:spTgt spid="10"/>
                                        </p:tgtEl>
                                        <p:attrNameLst>
                                          <p:attrName>ppt_y</p:attrName>
                                        </p:attrNameLst>
                                      </p:cBhvr>
                                      <p:tavLst>
                                        <p:tav tm="0">
                                          <p:val>
                                            <p:strVal val="#ppt_y+0.035"/>
                                          </p:val>
                                        </p:tav>
                                        <p:tav tm="100000">
                                          <p:val>
                                            <p:strVal val="#ppt_y"/>
                                          </p:val>
                                        </p:tav>
                                      </p:tavLst>
                                    </p:anim>
                                    <p:set>
                                      <p:cBhvr>
                                        <p:cTn id="15" dur="1" fill="hold">
                                          <p:stCondLst>
                                            <p:cond delay="0"/>
                                          </p:stCondLst>
                                        </p:cTn>
                                        <p:tgtEl>
                                          <p:spTgt spid="15"/>
                                        </p:tgtEl>
                                        <p:attrNameLst>
                                          <p:attrName>style.visibility</p:attrName>
                                        </p:attrNameLst>
                                      </p:cBhvr>
                                      <p:to>
                                        <p:strVal val="visible"/>
                                      </p:to>
                                    </p:set>
                                    <p:animEffect transition="in" filter="fade">
                                      <p:cBhvr>
                                        <p:cTn id="16" dur="420"/>
                                        <p:tgtEl>
                                          <p:spTgt spid="15"/>
                                        </p:tgtEl>
                                      </p:cBhvr>
                                    </p:animEffect>
                                    <p:anim calcmode="lin" valueType="num">
                                      <p:cBhvr additive="base">
                                        <p:cTn id="17" dur="420" fill="hold"/>
                                        <p:tgtEl>
                                          <p:spTgt spid="15"/>
                                        </p:tgtEl>
                                        <p:attrNameLst>
                                          <p:attrName>ppt_y</p:attrName>
                                        </p:attrNameLst>
                                      </p:cBhvr>
                                      <p:tavLst>
                                        <p:tav tm="0">
                                          <p:val>
                                            <p:strVal val="#ppt_y+0.035"/>
                                          </p:val>
                                        </p:tav>
                                        <p:tav tm="100000">
                                          <p:val>
                                            <p:strVal val="#ppt_y"/>
                                          </p:val>
                                        </p:tav>
                                      </p:tavLst>
                                    </p:anim>
                                    <p:set>
                                      <p:cBhvr>
                                        <p:cTn id="18" dur="1" fill="hold">
                                          <p:stCondLst>
                                            <p:cond delay="0"/>
                                          </p:stCondLst>
                                        </p:cTn>
                                        <p:tgtEl>
                                          <p:spTgt spid="9"/>
                                        </p:tgtEl>
                                        <p:attrNameLst>
                                          <p:attrName>style.visibility</p:attrName>
                                        </p:attrNameLst>
                                      </p:cBhvr>
                                      <p:to>
                                        <p:strVal val="visible"/>
                                      </p:to>
                                    </p:set>
                                    <p:animEffect transition="in" filter="fade">
                                      <p:cBhvr>
                                        <p:cTn id="19" dur="420"/>
                                        <p:tgtEl>
                                          <p:spTgt spid="9"/>
                                        </p:tgtEl>
                                      </p:cBhvr>
                                    </p:animEffect>
                                    <p:anim calcmode="lin" valueType="num">
                                      <p:cBhvr additive="base">
                                        <p:cTn id="20" dur="420" fill="hold"/>
                                        <p:tgtEl>
                                          <p:spTgt spid="9"/>
                                        </p:tgtEl>
                                        <p:attrNameLst>
                                          <p:attrName>ppt_y</p:attrName>
                                        </p:attrNameLst>
                                      </p:cBhvr>
                                      <p:tavLst>
                                        <p:tav tm="0">
                                          <p:val>
                                            <p:strVal val="#ppt_y+0.035"/>
                                          </p:val>
                                        </p:tav>
                                        <p:tav tm="100000">
                                          <p:val>
                                            <p:strVal val="#ppt_y"/>
                                          </p:val>
                                        </p:tav>
                                      </p:tavLst>
                                    </p:anim>
                                    <p:set>
                                      <p:cBhvr>
                                        <p:cTn id="21" dur="1" fill="hold">
                                          <p:stCondLst>
                                            <p:cond delay="0"/>
                                          </p:stCondLst>
                                        </p:cTn>
                                        <p:tgtEl>
                                          <p:spTgt spid="11"/>
                                        </p:tgtEl>
                                        <p:attrNameLst>
                                          <p:attrName>style.visibility</p:attrName>
                                        </p:attrNameLst>
                                      </p:cBhvr>
                                      <p:to>
                                        <p:strVal val="visible"/>
                                      </p:to>
                                    </p:set>
                                    <p:animEffect transition="in" filter="fade">
                                      <p:cBhvr>
                                        <p:cTn id="22" dur="420"/>
                                        <p:tgtEl>
                                          <p:spTgt spid="11"/>
                                        </p:tgtEl>
                                      </p:cBhvr>
                                    </p:animEffect>
                                    <p:anim calcmode="lin" valueType="num">
                                      <p:cBhvr additive="base">
                                        <p:cTn id="23" dur="420" fill="hold"/>
                                        <p:tgtEl>
                                          <p:spTgt spid="11"/>
                                        </p:tgtEl>
                                        <p:attrNameLst>
                                          <p:attrName>ppt_y</p:attrName>
                                        </p:attrNameLst>
                                      </p:cBhvr>
                                      <p:tavLst>
                                        <p:tav tm="0">
                                          <p:val>
                                            <p:strVal val="#ppt_y+0.035"/>
                                          </p:val>
                                        </p:tav>
                                        <p:tav tm="100000">
                                          <p:val>
                                            <p:strVal val="#ppt_y"/>
                                          </p:val>
                                        </p:tav>
                                      </p:tavLst>
                                    </p:anim>
                                    <p:set>
                                      <p:cBhvr>
                                        <p:cTn id="24" dur="1" fill="hold">
                                          <p:stCondLst>
                                            <p:cond delay="0"/>
                                          </p:stCondLst>
                                        </p:cTn>
                                        <p:tgtEl>
                                          <p:spTgt spid="16"/>
                                        </p:tgtEl>
                                        <p:attrNameLst>
                                          <p:attrName>style.visibility</p:attrName>
                                        </p:attrNameLst>
                                      </p:cBhvr>
                                      <p:to>
                                        <p:strVal val="visible"/>
                                      </p:to>
                                    </p:set>
                                    <p:animEffect transition="in" filter="fade">
                                      <p:cBhvr>
                                        <p:cTn id="25" dur="420"/>
                                        <p:tgtEl>
                                          <p:spTgt spid="16"/>
                                        </p:tgtEl>
                                      </p:cBhvr>
                                    </p:animEffect>
                                    <p:anim calcmode="lin" valueType="num">
                                      <p:cBhvr additive="base">
                                        <p:cTn id="26" dur="420" fill="hold"/>
                                        <p:tgtEl>
                                          <p:spTgt spid="16"/>
                                        </p:tgtEl>
                                        <p:attrNameLst>
                                          <p:attrName>ppt_y</p:attrName>
                                        </p:attrNameLst>
                                      </p:cBhvr>
                                      <p:tavLst>
                                        <p:tav tm="0">
                                          <p:val>
                                            <p:strVal val="#ppt_y+0.035"/>
                                          </p:val>
                                        </p:tav>
                                        <p:tav tm="100000">
                                          <p:val>
                                            <p:strVal val="#ppt_y"/>
                                          </p:val>
                                        </p:tav>
                                      </p:tavLst>
                                    </p:anim>
                                    <p:set>
                                      <p:cBhvr>
                                        <p:cTn id="27" dur="1" fill="hold">
                                          <p:stCondLst>
                                            <p:cond delay="0"/>
                                          </p:stCondLst>
                                        </p:cTn>
                                        <p:tgtEl>
                                          <p:spTgt spid="12"/>
                                        </p:tgtEl>
                                        <p:attrNameLst>
                                          <p:attrName>style.visibility</p:attrName>
                                        </p:attrNameLst>
                                      </p:cBhvr>
                                      <p:to>
                                        <p:strVal val="visible"/>
                                      </p:to>
                                    </p:set>
                                    <p:animEffect transition="in" filter="fade">
                                      <p:cBhvr>
                                        <p:cTn id="28" dur="420"/>
                                        <p:tgtEl>
                                          <p:spTgt spid="12"/>
                                        </p:tgtEl>
                                      </p:cBhvr>
                                    </p:animEffect>
                                    <p:anim calcmode="lin" valueType="num">
                                      <p:cBhvr additive="base">
                                        <p:cTn id="29" dur="420" fill="hold"/>
                                        <p:tgtEl>
                                          <p:spTgt spid="12"/>
                                        </p:tgtEl>
                                        <p:attrNameLst>
                                          <p:attrName>ppt_y</p:attrName>
                                        </p:attrNameLst>
                                      </p:cBhvr>
                                      <p:tavLst>
                                        <p:tav tm="0">
                                          <p:val>
                                            <p:strVal val="#ppt_y+0.035"/>
                                          </p:val>
                                        </p:tav>
                                        <p:tav tm="100000">
                                          <p:val>
                                            <p:strVal val="#ppt_y"/>
                                          </p:val>
                                        </p:tav>
                                      </p:tavLst>
                                    </p:anim>
                                    <p:set>
                                      <p:cBhvr>
                                        <p:cTn id="30" dur="1" fill="hold">
                                          <p:stCondLst>
                                            <p:cond delay="0"/>
                                          </p:stCondLst>
                                        </p:cTn>
                                        <p:tgtEl>
                                          <p:spTgt spid="17"/>
                                        </p:tgtEl>
                                        <p:attrNameLst>
                                          <p:attrName>style.visibility</p:attrName>
                                        </p:attrNameLst>
                                      </p:cBhvr>
                                      <p:to>
                                        <p:strVal val="visible"/>
                                      </p:to>
                                    </p:set>
                                    <p:animEffect transition="in" filter="fade">
                                      <p:cBhvr>
                                        <p:cTn id="31" dur="420"/>
                                        <p:tgtEl>
                                          <p:spTgt spid="17"/>
                                        </p:tgtEl>
                                      </p:cBhvr>
                                    </p:animEffect>
                                    <p:anim calcmode="lin" valueType="num">
                                      <p:cBhvr additive="base">
                                        <p:cTn id="32" dur="420" fill="hold"/>
                                        <p:tgtEl>
                                          <p:spTgt spid="17"/>
                                        </p:tgtEl>
                                        <p:attrNameLst>
                                          <p:attrName>ppt_y</p:attrName>
                                        </p:attrNameLst>
                                      </p:cBhvr>
                                      <p:tavLst>
                                        <p:tav tm="0">
                                          <p:val>
                                            <p:strVal val="#ppt_y+0.035"/>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20"/>
                                        <p:tgtEl>
                                          <p:spTgt spid="13"/>
                                        </p:tgtEl>
                                      </p:cBhvr>
                                    </p:animEffect>
                                    <p:anim calcmode="lin" valueType="num">
                                      <p:cBhvr additive="base">
                                        <p:cTn id="38" dur="420" fill="hold"/>
                                        <p:tgtEl>
                                          <p:spTgt spid="13"/>
                                        </p:tgtEl>
                                        <p:attrNameLst>
                                          <p:attrName>ppt_y</p:attrName>
                                        </p:attrNameLst>
                                      </p:cBhvr>
                                      <p:tavLst>
                                        <p:tav tm="0">
                                          <p:val>
                                            <p:strVal val="#ppt_y+0.035"/>
                                          </p:val>
                                        </p:tav>
                                        <p:tav tm="100000">
                                          <p:val>
                                            <p:strVal val="#ppt_y"/>
                                          </p:val>
                                        </p:tav>
                                      </p:tavLst>
                                    </p:anim>
                                    <p:set>
                                      <p:cBhvr>
                                        <p:cTn id="39" dur="1" fill="hold">
                                          <p:stCondLst>
                                            <p:cond delay="0"/>
                                          </p:stCondLst>
                                        </p:cTn>
                                        <p:tgtEl>
                                          <p:spTgt spid="18"/>
                                        </p:tgtEl>
                                        <p:attrNameLst>
                                          <p:attrName>style.visibility</p:attrName>
                                        </p:attrNameLst>
                                      </p:cBhvr>
                                      <p:to>
                                        <p:strVal val="visible"/>
                                      </p:to>
                                    </p:set>
                                    <p:animEffect transition="in" filter="fade">
                                      <p:cBhvr>
                                        <p:cTn id="40" dur="420"/>
                                        <p:tgtEl>
                                          <p:spTgt spid="18"/>
                                        </p:tgtEl>
                                      </p:cBhvr>
                                    </p:animEffect>
                                    <p:anim calcmode="lin" valueType="num">
                                      <p:cBhvr additive="base">
                                        <p:cTn id="41" dur="420" fill="hold"/>
                                        <p:tgtEl>
                                          <p:spTgt spid="18"/>
                                        </p:tgtEl>
                                        <p:attrNameLst>
                                          <p:attrName>ppt_y</p:attrName>
                                        </p:attrNameLst>
                                      </p:cBhvr>
                                      <p:tavLst>
                                        <p:tav tm="0">
                                          <p:val>
                                            <p:strVal val="#ppt_y+0.035"/>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20"/>
                                        <p:tgtEl>
                                          <p:spTgt spid="19"/>
                                        </p:tgtEl>
                                      </p:cBhvr>
                                    </p:animEffect>
                                    <p:anim calcmode="lin" valueType="num">
                                      <p:cBhvr additive="base">
                                        <p:cTn id="47" dur="420" fill="hold"/>
                                        <p:tgtEl>
                                          <p:spTgt spid="19"/>
                                        </p:tgtEl>
                                        <p:attrNameLst>
                                          <p:attrName>ppt_y</p:attrName>
                                        </p:attrNameLst>
                                      </p:cBhvr>
                                      <p:tavLst>
                                        <p:tav tm="0">
                                          <p:val>
                                            <p:strVal val="#ppt_y+0.035"/>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20"/>
                                        <p:tgtEl>
                                          <p:spTgt spid="14"/>
                                        </p:tgtEl>
                                      </p:cBhvr>
                                    </p:animEffect>
                                    <p:anim calcmode="lin" valueType="num">
                                      <p:cBhvr additive="base">
                                        <p:cTn id="53" dur="420" fill="hold"/>
                                        <p:tgtEl>
                                          <p:spTgt spid="14"/>
                                        </p:tgtEl>
                                        <p:attrNameLst>
                                          <p:attrName>ppt_y</p:attrName>
                                        </p:attrNameLst>
                                      </p:cBhvr>
                                      <p:tavLst>
                                        <p:tav tm="0">
                                          <p:val>
                                            <p:strVal val="#ppt_y+0.035"/>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20"/>
                                        <p:tgtEl>
                                          <p:spTgt spid="20"/>
                                        </p:tgtEl>
                                      </p:cBhvr>
                                    </p:animEffect>
                                    <p:anim calcmode="lin" valueType="num">
                                      <p:cBhvr additive="base">
                                        <p:cTn id="59" dur="420" fill="hold"/>
                                        <p:tgtEl>
                                          <p:spTgt spid="20"/>
                                        </p:tgtEl>
                                        <p:attrNameLst>
                                          <p:attrName>ppt_y</p:attrName>
                                        </p:attrNameLst>
                                      </p:cBhvr>
                                      <p:tavLst>
                                        <p:tav tm="0">
                                          <p:val>
                                            <p:strVal val="#ppt_y+0.035"/>
                                          </p:val>
                                        </p:tav>
                                        <p:tav tm="100000">
                                          <p:val>
                                            <p:strVal val="#ppt_y"/>
                                          </p:val>
                                        </p:tav>
                                      </p:tavLst>
                                    </p:anim>
                                    <p:set>
                                      <p:cBhvr>
                                        <p:cTn id="60"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2" dur="420" fill="hold"/>
                                        <p:tgtEl>
                                          <p:spTgt spid="2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p:bldP spid="13" grpId="0" animBg="1"/>
      <p:bldP spid="14" grpId="0" animBg="1"/>
      <p:bldP spid="15" grpId="0"/>
      <p:bldP spid="16" grpId="0"/>
      <p:bldP spid="17" grpId="0"/>
      <p:bldP spid="18" grpId="0"/>
      <p:bldP spid="19" grpId="0" animBg="1"/>
      <p:bldP spid="20" grpId="0" animBg="1"/>
      <p:bldP spid="25" grpId="0"/>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05</a:t>
            </a:r>
            <a:r>
              <a:rPr lang="en-US" sz="1150" b="1" kern="0" spc="160" dirty="0">
                <a:solidFill>
                  <a:srgbClr val="6E7781"/>
                </a:solidFill>
                <a:latin typeface="Calibri" pitchFamily="34" charset="0"/>
                <a:ea typeface="Calibri" pitchFamily="34" charset="-122"/>
                <a:cs typeface="Calibri" pitchFamily="34" charset="-120"/>
              </a:rPr>
              <a:t>   THE HANDS-ON TEST</a:t>
            </a:r>
            <a:endParaRPr lang="en-US" sz="1150" dirty="0"/>
          </a:p>
        </p:txBody>
      </p:sp>
      <p:sp>
        <p:nvSpPr>
          <p:cNvPr id="3" name="Shape 1"/>
          <p:cNvSpPr/>
          <p:nvPr/>
        </p:nvSpPr>
        <p:spPr>
          <a:xfrm>
            <a:off x="10351008" y="393192"/>
            <a:ext cx="1271016" cy="292608"/>
          </a:xfrm>
          <a:prstGeom prst="roundRect">
            <a:avLst>
              <a:gd name="adj" fmla="val 59375"/>
            </a:avLst>
          </a:prstGeom>
          <a:solidFill>
            <a:srgbClr val="C2410C"/>
          </a:solidFill>
          <a:ln/>
        </p:spPr>
      </p:sp>
      <p:sp>
        <p:nvSpPr>
          <p:cNvPr id="4" name="Text 2"/>
          <p:cNvSpPr/>
          <p:nvPr/>
        </p:nvSpPr>
        <p:spPr>
          <a:xfrm>
            <a:off x="10351008" y="393192"/>
            <a:ext cx="1271016" cy="292608"/>
          </a:xfrm>
          <a:prstGeom prst="rect">
            <a:avLst/>
          </a:prstGeom>
          <a:noFill/>
          <a:ln/>
        </p:spPr>
        <p:txBody>
          <a:bodyPr wrap="square" lIns="0" tIns="0" rIns="0" bIns="0" rtlCol="0" anchor="ctr"/>
          <a:lstStyle/>
          <a:p>
            <a:pPr marL="0" indent="0" algn="ctr">
              <a:buNone/>
            </a:pPr>
            <a:r>
              <a:rPr lang="en-US" sz="950" b="1" kern="0" spc="120" dirty="0">
                <a:solidFill>
                  <a:srgbClr val="FFFFFF"/>
                </a:solidFill>
                <a:latin typeface="Calibri" pitchFamily="34" charset="0"/>
                <a:ea typeface="Calibri" pitchFamily="34" charset="-122"/>
                <a:cs typeface="Calibri" pitchFamily="34" charset="-120"/>
              </a:rPr>
              <a:t>PRACTICE</a:t>
            </a:r>
            <a:endParaRPr lang="en-US" sz="950" dirty="0"/>
          </a:p>
        </p:txBody>
      </p:sp>
      <p:sp>
        <p:nvSpPr>
          <p:cNvPr id="5" name="Text 3"/>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One scorecard, filled in as you go</a:t>
            </a:r>
            <a:endParaRPr lang="en-US" sz="3200" dirty="0"/>
          </a:p>
        </p:txBody>
      </p:sp>
      <p:sp>
        <p:nvSpPr>
          <p:cNvPr id="6" name="Text 4"/>
          <p:cNvSpPr/>
          <p:nvPr/>
        </p:nvSpPr>
        <p:spPr>
          <a:xfrm>
            <a:off x="566928" y="1389888"/>
            <a:ext cx="11055096" cy="566928"/>
          </a:xfrm>
          <a:prstGeom prst="rect">
            <a:avLst/>
          </a:prstGeom>
          <a:noFill/>
          <a:ln/>
        </p:spPr>
        <p:txBody>
          <a:bodyPr wrap="square" lIns="0" tIns="0" rIns="0" bIns="0" rtlCol="0" anchor="t"/>
          <a:lstStyle/>
          <a:p>
            <a:pPr marL="0" indent="0">
              <a:lnSpc>
                <a:spcPts val="1850"/>
              </a:lnSpc>
              <a:buNone/>
            </a:pPr>
            <a:r>
              <a:rPr lang="en-US" sz="1350" dirty="0">
                <a:solidFill>
                  <a:srgbClr val="2B3138"/>
                </a:solidFill>
                <a:latin typeface="Calibri" pitchFamily="34" charset="0"/>
                <a:ea typeface="Calibri" pitchFamily="34" charset="-122"/>
                <a:cs typeface="Calibri" pitchFamily="34" charset="-120"/>
              </a:rPr>
              <a:t>Four numbers and two sentences per app, written down while it is fresh. Print it, or keep it in the repo next to the ADRs.</a:t>
            </a:r>
            <a:endParaRPr lang="en-US" sz="1350" dirty="0"/>
          </a:p>
        </p:txBody>
      </p:sp>
      <p:sp>
        <p:nvSpPr>
          <p:cNvPr id="7" name="Text 5"/>
          <p:cNvSpPr/>
          <p:nvPr/>
        </p:nvSpPr>
        <p:spPr>
          <a:xfrm>
            <a:off x="4315968" y="2212848"/>
            <a:ext cx="1188720" cy="219456"/>
          </a:xfrm>
          <a:prstGeom prst="rect">
            <a:avLst/>
          </a:prstGeom>
          <a:noFill/>
          <a:ln/>
        </p:spPr>
        <p:txBody>
          <a:bodyPr wrap="square" lIns="0" tIns="0" rIns="0" bIns="0" rtlCol="0" anchor="ctr"/>
          <a:lstStyle/>
          <a:p>
            <a:pPr marL="0" indent="0" algn="ctr">
              <a:buNone/>
            </a:pPr>
            <a:r>
              <a:rPr lang="en-US" sz="1000" b="1" dirty="0">
                <a:solidFill>
                  <a:srgbClr val="0969DA"/>
                </a:solidFill>
                <a:latin typeface="Calibri" pitchFamily="34" charset="0"/>
                <a:ea typeface="Calibri" pitchFamily="34" charset="-122"/>
                <a:cs typeface="Calibri" pitchFamily="34" charset="-120"/>
              </a:rPr>
              <a:t>Copilot</a:t>
            </a:r>
            <a:endParaRPr lang="en-US" sz="1000" dirty="0"/>
          </a:p>
        </p:txBody>
      </p:sp>
      <p:sp>
        <p:nvSpPr>
          <p:cNvPr id="8" name="Text 6"/>
          <p:cNvSpPr/>
          <p:nvPr/>
        </p:nvSpPr>
        <p:spPr>
          <a:xfrm>
            <a:off x="5641848" y="2212848"/>
            <a:ext cx="1188720" cy="219456"/>
          </a:xfrm>
          <a:prstGeom prst="rect">
            <a:avLst/>
          </a:prstGeom>
          <a:noFill/>
          <a:ln/>
        </p:spPr>
        <p:txBody>
          <a:bodyPr wrap="square" lIns="0" tIns="0" rIns="0" bIns="0" rtlCol="0" anchor="ctr"/>
          <a:lstStyle/>
          <a:p>
            <a:pPr marL="0" indent="0" algn="ctr">
              <a:buNone/>
            </a:pPr>
            <a:r>
              <a:rPr lang="en-US" sz="1000" b="1" dirty="0">
                <a:solidFill>
                  <a:srgbClr val="C2410C"/>
                </a:solidFill>
                <a:latin typeface="Calibri" pitchFamily="34" charset="0"/>
                <a:ea typeface="Calibri" pitchFamily="34" charset="-122"/>
                <a:cs typeface="Calibri" pitchFamily="34" charset="-120"/>
              </a:rPr>
              <a:t>Claude Code</a:t>
            </a:r>
            <a:endParaRPr lang="en-US" sz="1000" dirty="0"/>
          </a:p>
        </p:txBody>
      </p:sp>
      <p:sp>
        <p:nvSpPr>
          <p:cNvPr id="9" name="Shape 7"/>
          <p:cNvSpPr/>
          <p:nvPr/>
        </p:nvSpPr>
        <p:spPr>
          <a:xfrm>
            <a:off x="566928" y="2505456"/>
            <a:ext cx="6400800" cy="566928"/>
          </a:xfrm>
          <a:prstGeom prst="rect">
            <a:avLst/>
          </a:prstGeom>
          <a:solidFill>
            <a:srgbClr val="F6F8FA"/>
          </a:solidFill>
          <a:ln/>
        </p:spPr>
      </p:sp>
      <p:sp>
        <p:nvSpPr>
          <p:cNvPr id="10" name="Text 8"/>
          <p:cNvSpPr/>
          <p:nvPr/>
        </p:nvSpPr>
        <p:spPr>
          <a:xfrm>
            <a:off x="768096" y="2505456"/>
            <a:ext cx="3383280" cy="566928"/>
          </a:xfrm>
          <a:prstGeom prst="rect">
            <a:avLst/>
          </a:prstGeom>
          <a:noFill/>
          <a:ln/>
        </p:spPr>
        <p:txBody>
          <a:bodyPr wrap="square" lIns="0" tIns="0" rIns="0" bIns="0" rtlCol="0" anchor="ctr"/>
          <a:lstStyle/>
          <a:p>
            <a:pPr marL="0" indent="0">
              <a:lnSpc>
                <a:spcPts val="1300"/>
              </a:lnSpc>
              <a:buNone/>
            </a:pPr>
            <a:r>
              <a:rPr lang="en-US" sz="1150" b="1" dirty="0">
                <a:solidFill>
                  <a:srgbClr val="15181D"/>
                </a:solidFill>
                <a:latin typeface="Calibri" pitchFamily="34" charset="0"/>
                <a:ea typeface="Calibri" pitchFamily="34" charset="-122"/>
                <a:cs typeface="Calibri" pitchFamily="34" charset="-120"/>
              </a:rPr>
              <a:t>Turns to green</a:t>
            </a:r>
            <a:endParaRPr lang="en-US" sz="1150" dirty="0"/>
          </a:p>
          <a:p>
            <a:pPr marL="0" indent="0">
              <a:lnSpc>
                <a:spcPts val="1300"/>
              </a:lnSpc>
              <a:buNone/>
            </a:pPr>
            <a:r>
              <a:rPr lang="en-US" sz="950" dirty="0">
                <a:solidFill>
                  <a:srgbClr val="6E7781"/>
                </a:solidFill>
                <a:latin typeface="Calibri" pitchFamily="34" charset="0"/>
                <a:ea typeface="Calibri" pitchFamily="34" charset="-122"/>
                <a:cs typeface="Calibri" pitchFamily="34" charset="-120"/>
              </a:rPr>
              <a:t>how many times you had to come back</a:t>
            </a:r>
            <a:endParaRPr lang="en-US" sz="1150" dirty="0"/>
          </a:p>
        </p:txBody>
      </p:sp>
      <p:sp>
        <p:nvSpPr>
          <p:cNvPr id="11" name="Shape 9"/>
          <p:cNvSpPr/>
          <p:nvPr/>
        </p:nvSpPr>
        <p:spPr>
          <a:xfrm>
            <a:off x="4315968" y="2633472"/>
            <a:ext cx="1188720" cy="310896"/>
          </a:xfrm>
          <a:prstGeom prst="roundRect">
            <a:avLst>
              <a:gd name="adj" fmla="val 11765"/>
            </a:avLst>
          </a:prstGeom>
          <a:solidFill>
            <a:srgbClr val="FFFFFF"/>
          </a:solidFill>
          <a:ln w="12700">
            <a:solidFill>
              <a:srgbClr val="0969DA"/>
            </a:solidFill>
            <a:prstDash val="solid"/>
          </a:ln>
        </p:spPr>
        <p:txBody>
          <a:bodyPr/>
          <a:lstStyle/>
          <a:p>
            <a:endParaRPr lang="ru-RU" dirty="0"/>
          </a:p>
        </p:txBody>
      </p:sp>
      <p:sp>
        <p:nvSpPr>
          <p:cNvPr id="12" name="Shape 10"/>
          <p:cNvSpPr/>
          <p:nvPr/>
        </p:nvSpPr>
        <p:spPr>
          <a:xfrm>
            <a:off x="5641848" y="2633472"/>
            <a:ext cx="1188720" cy="310896"/>
          </a:xfrm>
          <a:prstGeom prst="roundRect">
            <a:avLst>
              <a:gd name="adj" fmla="val 11765"/>
            </a:avLst>
          </a:prstGeom>
          <a:solidFill>
            <a:srgbClr val="FFFFFF"/>
          </a:solidFill>
          <a:ln w="12700">
            <a:solidFill>
              <a:srgbClr val="C2410C"/>
            </a:solidFill>
            <a:prstDash val="solid"/>
          </a:ln>
        </p:spPr>
      </p:sp>
      <p:sp>
        <p:nvSpPr>
          <p:cNvPr id="13" name="Text 11"/>
          <p:cNvSpPr/>
          <p:nvPr/>
        </p:nvSpPr>
        <p:spPr>
          <a:xfrm>
            <a:off x="768096" y="3072384"/>
            <a:ext cx="3383280" cy="566928"/>
          </a:xfrm>
          <a:prstGeom prst="rect">
            <a:avLst/>
          </a:prstGeom>
          <a:noFill/>
          <a:ln/>
        </p:spPr>
        <p:txBody>
          <a:bodyPr wrap="square" lIns="0" tIns="0" rIns="0" bIns="0" rtlCol="0" anchor="ctr"/>
          <a:lstStyle/>
          <a:p>
            <a:pPr marL="0" indent="0">
              <a:lnSpc>
                <a:spcPts val="1300"/>
              </a:lnSpc>
              <a:buNone/>
            </a:pPr>
            <a:r>
              <a:rPr lang="en-US" sz="1150" b="1" dirty="0">
                <a:solidFill>
                  <a:srgbClr val="15181D"/>
                </a:solidFill>
                <a:latin typeface="Calibri" pitchFamily="34" charset="0"/>
                <a:ea typeface="Calibri" pitchFamily="34" charset="-122"/>
                <a:cs typeface="Calibri" pitchFamily="34" charset="-120"/>
              </a:rPr>
              <a:t>Nudges needed</a:t>
            </a:r>
            <a:endParaRPr lang="en-US" sz="1150" dirty="0"/>
          </a:p>
          <a:p>
            <a:pPr marL="0" indent="0">
              <a:lnSpc>
                <a:spcPts val="1300"/>
              </a:lnSpc>
              <a:buNone/>
            </a:pPr>
            <a:r>
              <a:rPr lang="en-US" sz="950" dirty="0">
                <a:solidFill>
                  <a:srgbClr val="6E7781"/>
                </a:solidFill>
                <a:latin typeface="Calibri" pitchFamily="34" charset="0"/>
                <a:ea typeface="Calibri" pitchFamily="34" charset="-122"/>
                <a:cs typeface="Calibri" pitchFamily="34" charset="-120"/>
              </a:rPr>
              <a:t>how often it stopped and asked</a:t>
            </a:r>
            <a:endParaRPr lang="en-US" sz="1150" dirty="0"/>
          </a:p>
        </p:txBody>
      </p:sp>
      <p:sp>
        <p:nvSpPr>
          <p:cNvPr id="14" name="Shape 12"/>
          <p:cNvSpPr/>
          <p:nvPr/>
        </p:nvSpPr>
        <p:spPr>
          <a:xfrm>
            <a:off x="4315968" y="3200400"/>
            <a:ext cx="1188720" cy="310896"/>
          </a:xfrm>
          <a:prstGeom prst="roundRect">
            <a:avLst>
              <a:gd name="adj" fmla="val 11765"/>
            </a:avLst>
          </a:prstGeom>
          <a:solidFill>
            <a:srgbClr val="FFFFFF"/>
          </a:solidFill>
          <a:ln w="12700">
            <a:solidFill>
              <a:srgbClr val="0969DA"/>
            </a:solidFill>
            <a:prstDash val="solid"/>
          </a:ln>
        </p:spPr>
      </p:sp>
      <p:sp>
        <p:nvSpPr>
          <p:cNvPr id="15" name="Shape 13"/>
          <p:cNvSpPr/>
          <p:nvPr/>
        </p:nvSpPr>
        <p:spPr>
          <a:xfrm>
            <a:off x="5641848" y="3200400"/>
            <a:ext cx="1188720" cy="310896"/>
          </a:xfrm>
          <a:prstGeom prst="roundRect">
            <a:avLst>
              <a:gd name="adj" fmla="val 11765"/>
            </a:avLst>
          </a:prstGeom>
          <a:solidFill>
            <a:srgbClr val="FFFFFF"/>
          </a:solidFill>
          <a:ln w="12700">
            <a:solidFill>
              <a:srgbClr val="C2410C"/>
            </a:solidFill>
            <a:prstDash val="solid"/>
          </a:ln>
        </p:spPr>
      </p:sp>
      <p:sp>
        <p:nvSpPr>
          <p:cNvPr id="16" name="Shape 14"/>
          <p:cNvSpPr/>
          <p:nvPr/>
        </p:nvSpPr>
        <p:spPr>
          <a:xfrm>
            <a:off x="566928" y="3639312"/>
            <a:ext cx="6400800" cy="566928"/>
          </a:xfrm>
          <a:prstGeom prst="rect">
            <a:avLst/>
          </a:prstGeom>
          <a:solidFill>
            <a:srgbClr val="F6F8FA"/>
          </a:solidFill>
          <a:ln/>
        </p:spPr>
      </p:sp>
      <p:sp>
        <p:nvSpPr>
          <p:cNvPr id="17" name="Text 15"/>
          <p:cNvSpPr/>
          <p:nvPr/>
        </p:nvSpPr>
        <p:spPr>
          <a:xfrm>
            <a:off x="768096" y="3639312"/>
            <a:ext cx="3383280" cy="566928"/>
          </a:xfrm>
          <a:prstGeom prst="rect">
            <a:avLst/>
          </a:prstGeom>
          <a:noFill/>
          <a:ln/>
        </p:spPr>
        <p:txBody>
          <a:bodyPr wrap="square" lIns="0" tIns="0" rIns="0" bIns="0" rtlCol="0" anchor="ctr"/>
          <a:lstStyle/>
          <a:p>
            <a:pPr marL="0" indent="0">
              <a:lnSpc>
                <a:spcPts val="1300"/>
              </a:lnSpc>
              <a:buNone/>
            </a:pPr>
            <a:r>
              <a:rPr lang="en-US" sz="1150" b="1" dirty="0">
                <a:solidFill>
                  <a:srgbClr val="15181D"/>
                </a:solidFill>
                <a:latin typeface="Calibri" pitchFamily="34" charset="0"/>
                <a:ea typeface="Calibri" pitchFamily="34" charset="-122"/>
                <a:cs typeface="Calibri" pitchFamily="34" charset="-120"/>
              </a:rPr>
              <a:t>Human-active minutes</a:t>
            </a:r>
            <a:endParaRPr lang="en-US" sz="1150" dirty="0"/>
          </a:p>
          <a:p>
            <a:pPr marL="0" indent="0">
              <a:lnSpc>
                <a:spcPts val="1300"/>
              </a:lnSpc>
              <a:buNone/>
            </a:pPr>
            <a:r>
              <a:rPr lang="en-US" sz="950" dirty="0">
                <a:solidFill>
                  <a:srgbClr val="6E7781"/>
                </a:solidFill>
                <a:latin typeface="Calibri" pitchFamily="34" charset="0"/>
                <a:ea typeface="Calibri" pitchFamily="34" charset="-122"/>
                <a:cs typeface="Calibri" pitchFamily="34" charset="-120"/>
              </a:rPr>
              <a:t>the time you could not spend elsewhere</a:t>
            </a:r>
            <a:endParaRPr lang="en-US" sz="1150" dirty="0"/>
          </a:p>
        </p:txBody>
      </p:sp>
      <p:sp>
        <p:nvSpPr>
          <p:cNvPr id="18" name="Shape 16"/>
          <p:cNvSpPr/>
          <p:nvPr/>
        </p:nvSpPr>
        <p:spPr>
          <a:xfrm>
            <a:off x="4315968" y="3767328"/>
            <a:ext cx="1188720" cy="310896"/>
          </a:xfrm>
          <a:prstGeom prst="roundRect">
            <a:avLst>
              <a:gd name="adj" fmla="val 11765"/>
            </a:avLst>
          </a:prstGeom>
          <a:solidFill>
            <a:srgbClr val="FFFFFF"/>
          </a:solidFill>
          <a:ln w="12700">
            <a:solidFill>
              <a:srgbClr val="0969DA"/>
            </a:solidFill>
            <a:prstDash val="solid"/>
          </a:ln>
        </p:spPr>
      </p:sp>
      <p:sp>
        <p:nvSpPr>
          <p:cNvPr id="19" name="Shape 17"/>
          <p:cNvSpPr/>
          <p:nvPr/>
        </p:nvSpPr>
        <p:spPr>
          <a:xfrm>
            <a:off x="5641848" y="3767328"/>
            <a:ext cx="1188720" cy="310896"/>
          </a:xfrm>
          <a:prstGeom prst="roundRect">
            <a:avLst>
              <a:gd name="adj" fmla="val 11765"/>
            </a:avLst>
          </a:prstGeom>
          <a:solidFill>
            <a:srgbClr val="FFFFFF"/>
          </a:solidFill>
          <a:ln w="12700">
            <a:solidFill>
              <a:srgbClr val="C2410C"/>
            </a:solidFill>
            <a:prstDash val="solid"/>
          </a:ln>
        </p:spPr>
      </p:sp>
      <p:sp>
        <p:nvSpPr>
          <p:cNvPr id="20" name="Text 18"/>
          <p:cNvSpPr/>
          <p:nvPr/>
        </p:nvSpPr>
        <p:spPr>
          <a:xfrm>
            <a:off x="768096" y="4206240"/>
            <a:ext cx="3383280" cy="566928"/>
          </a:xfrm>
          <a:prstGeom prst="rect">
            <a:avLst/>
          </a:prstGeom>
          <a:noFill/>
          <a:ln/>
        </p:spPr>
        <p:txBody>
          <a:bodyPr wrap="square" lIns="0" tIns="0" rIns="0" bIns="0" rtlCol="0" anchor="ctr"/>
          <a:lstStyle/>
          <a:p>
            <a:pPr marL="0" indent="0">
              <a:lnSpc>
                <a:spcPts val="1300"/>
              </a:lnSpc>
              <a:buNone/>
            </a:pPr>
            <a:r>
              <a:rPr lang="en-US" sz="1150" b="1" dirty="0">
                <a:solidFill>
                  <a:srgbClr val="15181D"/>
                </a:solidFill>
                <a:latin typeface="Calibri" pitchFamily="34" charset="0"/>
                <a:ea typeface="Calibri" pitchFamily="34" charset="-122"/>
                <a:cs typeface="Calibri" pitchFamily="34" charset="-120"/>
              </a:rPr>
              <a:t>Agent-wait minutes</a:t>
            </a:r>
            <a:endParaRPr lang="en-US" sz="1150" dirty="0"/>
          </a:p>
          <a:p>
            <a:pPr marL="0" indent="0">
              <a:lnSpc>
                <a:spcPts val="1300"/>
              </a:lnSpc>
              <a:buNone/>
            </a:pPr>
            <a:r>
              <a:rPr lang="en-US" sz="950" dirty="0">
                <a:solidFill>
                  <a:srgbClr val="6E7781"/>
                </a:solidFill>
                <a:latin typeface="Calibri" pitchFamily="34" charset="0"/>
                <a:ea typeface="Calibri" pitchFamily="34" charset="-122"/>
                <a:cs typeface="Calibri" pitchFamily="34" charset="-120"/>
              </a:rPr>
              <a:t>the split matters more than the total</a:t>
            </a:r>
            <a:endParaRPr lang="en-US" sz="1150" dirty="0"/>
          </a:p>
        </p:txBody>
      </p:sp>
      <p:sp>
        <p:nvSpPr>
          <p:cNvPr id="21" name="Shape 19"/>
          <p:cNvSpPr/>
          <p:nvPr/>
        </p:nvSpPr>
        <p:spPr>
          <a:xfrm>
            <a:off x="4315968" y="4334256"/>
            <a:ext cx="1188720" cy="310896"/>
          </a:xfrm>
          <a:prstGeom prst="roundRect">
            <a:avLst>
              <a:gd name="adj" fmla="val 11765"/>
            </a:avLst>
          </a:prstGeom>
          <a:solidFill>
            <a:srgbClr val="FFFFFF"/>
          </a:solidFill>
          <a:ln w="12700">
            <a:solidFill>
              <a:srgbClr val="0969DA"/>
            </a:solidFill>
            <a:prstDash val="solid"/>
          </a:ln>
        </p:spPr>
      </p:sp>
      <p:sp>
        <p:nvSpPr>
          <p:cNvPr id="22" name="Shape 20"/>
          <p:cNvSpPr/>
          <p:nvPr/>
        </p:nvSpPr>
        <p:spPr>
          <a:xfrm>
            <a:off x="5641848" y="4334256"/>
            <a:ext cx="1188720" cy="310896"/>
          </a:xfrm>
          <a:prstGeom prst="roundRect">
            <a:avLst>
              <a:gd name="adj" fmla="val 11765"/>
            </a:avLst>
          </a:prstGeom>
          <a:solidFill>
            <a:srgbClr val="FFFFFF"/>
          </a:solidFill>
          <a:ln w="12700">
            <a:solidFill>
              <a:srgbClr val="C2410C"/>
            </a:solidFill>
            <a:prstDash val="solid"/>
          </a:ln>
        </p:spPr>
      </p:sp>
      <p:sp>
        <p:nvSpPr>
          <p:cNvPr id="23" name="Shape 21"/>
          <p:cNvSpPr/>
          <p:nvPr/>
        </p:nvSpPr>
        <p:spPr>
          <a:xfrm>
            <a:off x="566928" y="4773168"/>
            <a:ext cx="6400800" cy="566928"/>
          </a:xfrm>
          <a:prstGeom prst="rect">
            <a:avLst/>
          </a:prstGeom>
          <a:solidFill>
            <a:srgbClr val="F6F8FA"/>
          </a:solidFill>
          <a:ln/>
        </p:spPr>
      </p:sp>
      <p:sp>
        <p:nvSpPr>
          <p:cNvPr id="24" name="Text 22"/>
          <p:cNvSpPr/>
          <p:nvPr/>
        </p:nvSpPr>
        <p:spPr>
          <a:xfrm>
            <a:off x="768096" y="4773168"/>
            <a:ext cx="3383280" cy="566928"/>
          </a:xfrm>
          <a:prstGeom prst="rect">
            <a:avLst/>
          </a:prstGeom>
          <a:noFill/>
          <a:ln/>
        </p:spPr>
        <p:txBody>
          <a:bodyPr wrap="square" lIns="0" tIns="0" rIns="0" bIns="0" rtlCol="0" anchor="ctr"/>
          <a:lstStyle/>
          <a:p>
            <a:pPr marL="0" indent="0">
              <a:lnSpc>
                <a:spcPts val="1300"/>
              </a:lnSpc>
              <a:buNone/>
            </a:pPr>
            <a:r>
              <a:rPr lang="en-US" sz="1150" b="1" dirty="0">
                <a:solidFill>
                  <a:srgbClr val="15181D"/>
                </a:solidFill>
                <a:latin typeface="Calibri" pitchFamily="34" charset="0"/>
                <a:ea typeface="Calibri" pitchFamily="34" charset="-122"/>
                <a:cs typeface="Calibri" pitchFamily="34" charset="-120"/>
              </a:rPr>
              <a:t>Criteria passed unedited</a:t>
            </a:r>
            <a:endParaRPr lang="en-US" sz="1150" dirty="0"/>
          </a:p>
          <a:p>
            <a:pPr marL="0" indent="0">
              <a:lnSpc>
                <a:spcPts val="1300"/>
              </a:lnSpc>
              <a:buNone/>
            </a:pPr>
            <a:r>
              <a:rPr lang="en-US" sz="950" dirty="0">
                <a:solidFill>
                  <a:srgbClr val="6E7781"/>
                </a:solidFill>
                <a:latin typeface="Calibri" pitchFamily="34" charset="0"/>
                <a:ea typeface="Calibri" pitchFamily="34" charset="-122"/>
                <a:cs typeface="Calibri" pitchFamily="34" charset="-120"/>
              </a:rPr>
              <a:t>or did somebody loosen a gate</a:t>
            </a:r>
            <a:endParaRPr lang="en-US" sz="1150" dirty="0"/>
          </a:p>
        </p:txBody>
      </p:sp>
      <p:sp>
        <p:nvSpPr>
          <p:cNvPr id="25" name="Shape 23"/>
          <p:cNvSpPr/>
          <p:nvPr/>
        </p:nvSpPr>
        <p:spPr>
          <a:xfrm>
            <a:off x="4315968" y="4901184"/>
            <a:ext cx="1188720" cy="310896"/>
          </a:xfrm>
          <a:prstGeom prst="roundRect">
            <a:avLst>
              <a:gd name="adj" fmla="val 11765"/>
            </a:avLst>
          </a:prstGeom>
          <a:solidFill>
            <a:srgbClr val="FFFFFF"/>
          </a:solidFill>
          <a:ln w="12700">
            <a:solidFill>
              <a:srgbClr val="0969DA"/>
            </a:solidFill>
            <a:prstDash val="solid"/>
          </a:ln>
        </p:spPr>
      </p:sp>
      <p:sp>
        <p:nvSpPr>
          <p:cNvPr id="26" name="Shape 24"/>
          <p:cNvSpPr/>
          <p:nvPr/>
        </p:nvSpPr>
        <p:spPr>
          <a:xfrm>
            <a:off x="5641848" y="4901184"/>
            <a:ext cx="1188720" cy="310896"/>
          </a:xfrm>
          <a:prstGeom prst="roundRect">
            <a:avLst>
              <a:gd name="adj" fmla="val 11765"/>
            </a:avLst>
          </a:prstGeom>
          <a:solidFill>
            <a:srgbClr val="FFFFFF"/>
          </a:solidFill>
          <a:ln w="12700">
            <a:solidFill>
              <a:srgbClr val="C2410C"/>
            </a:solidFill>
            <a:prstDash val="solid"/>
          </a:ln>
        </p:spPr>
      </p:sp>
      <p:sp>
        <p:nvSpPr>
          <p:cNvPr id="27" name="Text 25"/>
          <p:cNvSpPr/>
          <p:nvPr/>
        </p:nvSpPr>
        <p:spPr>
          <a:xfrm>
            <a:off x="768096" y="5340096"/>
            <a:ext cx="2651760" cy="457200"/>
          </a:xfrm>
          <a:prstGeom prst="rect">
            <a:avLst/>
          </a:prstGeom>
          <a:noFill/>
          <a:ln/>
        </p:spPr>
        <p:txBody>
          <a:bodyPr wrap="square" lIns="0" tIns="0" rIns="0" bIns="0" rtlCol="0" anchor="ctr"/>
          <a:lstStyle/>
          <a:p>
            <a:pPr marL="0" indent="0">
              <a:buNone/>
            </a:pPr>
            <a:r>
              <a:rPr lang="en-US" sz="1050" b="1" dirty="0">
                <a:solidFill>
                  <a:srgbClr val="6E7781"/>
                </a:solidFill>
                <a:latin typeface="Calibri" pitchFamily="34" charset="0"/>
                <a:ea typeface="Calibri" pitchFamily="34" charset="-122"/>
                <a:cs typeface="Calibri" pitchFamily="34" charset="-120"/>
              </a:rPr>
              <a:t>Best thing either tool did</a:t>
            </a:r>
            <a:endParaRPr lang="en-US" sz="1050" dirty="0"/>
          </a:p>
        </p:txBody>
      </p:sp>
      <p:sp>
        <p:nvSpPr>
          <p:cNvPr id="28" name="Shape 26"/>
          <p:cNvSpPr/>
          <p:nvPr/>
        </p:nvSpPr>
        <p:spPr>
          <a:xfrm>
            <a:off x="3456432" y="5669280"/>
            <a:ext cx="3291840" cy="0"/>
          </a:xfrm>
          <a:prstGeom prst="line">
            <a:avLst/>
          </a:prstGeom>
          <a:noFill/>
          <a:ln w="12700">
            <a:solidFill>
              <a:srgbClr val="D8DEE4"/>
            </a:solidFill>
            <a:prstDash val="solid"/>
          </a:ln>
        </p:spPr>
      </p:sp>
      <p:sp>
        <p:nvSpPr>
          <p:cNvPr id="29" name="Shape 27"/>
          <p:cNvSpPr/>
          <p:nvPr/>
        </p:nvSpPr>
        <p:spPr>
          <a:xfrm>
            <a:off x="566928" y="5797296"/>
            <a:ext cx="6400800" cy="457200"/>
          </a:xfrm>
          <a:prstGeom prst="rect">
            <a:avLst/>
          </a:prstGeom>
          <a:solidFill>
            <a:srgbClr val="F6F8FA"/>
          </a:solidFill>
          <a:ln/>
        </p:spPr>
      </p:sp>
      <p:sp>
        <p:nvSpPr>
          <p:cNvPr id="30" name="Text 28"/>
          <p:cNvSpPr/>
          <p:nvPr/>
        </p:nvSpPr>
        <p:spPr>
          <a:xfrm>
            <a:off x="768096" y="5797296"/>
            <a:ext cx="2651760" cy="457200"/>
          </a:xfrm>
          <a:prstGeom prst="rect">
            <a:avLst/>
          </a:prstGeom>
          <a:noFill/>
          <a:ln/>
        </p:spPr>
        <p:txBody>
          <a:bodyPr wrap="square" lIns="0" tIns="0" rIns="0" bIns="0" rtlCol="0" anchor="ctr"/>
          <a:lstStyle/>
          <a:p>
            <a:pPr marL="0" indent="0">
              <a:buNone/>
            </a:pPr>
            <a:r>
              <a:rPr lang="en-US" sz="1050" b="1" dirty="0">
                <a:solidFill>
                  <a:srgbClr val="6E7781"/>
                </a:solidFill>
                <a:latin typeface="Calibri" pitchFamily="34" charset="0"/>
                <a:ea typeface="Calibri" pitchFamily="34" charset="-122"/>
                <a:cs typeface="Calibri" pitchFamily="34" charset="-120"/>
              </a:rPr>
              <a:t>Worst thing either tool did</a:t>
            </a:r>
            <a:endParaRPr lang="en-US" sz="1050" dirty="0"/>
          </a:p>
        </p:txBody>
      </p:sp>
      <p:sp>
        <p:nvSpPr>
          <p:cNvPr id="31" name="Shape 29"/>
          <p:cNvSpPr/>
          <p:nvPr/>
        </p:nvSpPr>
        <p:spPr>
          <a:xfrm>
            <a:off x="3456432" y="6126480"/>
            <a:ext cx="3291840" cy="0"/>
          </a:xfrm>
          <a:prstGeom prst="line">
            <a:avLst/>
          </a:prstGeom>
          <a:noFill/>
          <a:ln w="12700">
            <a:solidFill>
              <a:srgbClr val="D8DEE4"/>
            </a:solidFill>
            <a:prstDash val="solid"/>
          </a:ln>
        </p:spPr>
      </p:sp>
      <p:sp>
        <p:nvSpPr>
          <p:cNvPr id="32" name="Shape 30"/>
          <p:cNvSpPr/>
          <p:nvPr/>
        </p:nvSpPr>
        <p:spPr>
          <a:xfrm>
            <a:off x="7223760" y="2212848"/>
            <a:ext cx="4398264" cy="1261872"/>
          </a:xfrm>
          <a:prstGeom prst="roundRect">
            <a:avLst>
              <a:gd name="adj" fmla="val 4348"/>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33" name="Text 31"/>
          <p:cNvSpPr/>
          <p:nvPr/>
        </p:nvSpPr>
        <p:spPr>
          <a:xfrm>
            <a:off x="7479792" y="2395728"/>
            <a:ext cx="3886200" cy="310896"/>
          </a:xfrm>
          <a:prstGeom prst="rect">
            <a:avLst/>
          </a:prstGeom>
          <a:noFill/>
          <a:ln/>
        </p:spPr>
        <p:txBody>
          <a:bodyPr wrap="square" lIns="0" tIns="0" rIns="0" bIns="0" rtlCol="0" anchor="ctr"/>
          <a:lstStyle/>
          <a:p>
            <a:pPr marL="0" indent="0">
              <a:buNone/>
            </a:pPr>
            <a:r>
              <a:rPr lang="en-US" sz="1550" b="1" dirty="0">
                <a:solidFill>
                  <a:srgbClr val="C2410C"/>
                </a:solidFill>
                <a:latin typeface="Cambria" pitchFamily="34" charset="0"/>
                <a:ea typeface="Cambria" pitchFamily="34" charset="-122"/>
                <a:cs typeface="Cambria" pitchFamily="34" charset="-120"/>
              </a:rPr>
              <a:t>The line that decides everything</a:t>
            </a:r>
            <a:endParaRPr lang="en-US" sz="1550" dirty="0"/>
          </a:p>
        </p:txBody>
      </p:sp>
      <p:sp>
        <p:nvSpPr>
          <p:cNvPr id="34" name="Text 32"/>
          <p:cNvSpPr/>
          <p:nvPr/>
        </p:nvSpPr>
        <p:spPr>
          <a:xfrm>
            <a:off x="7479792" y="2871216"/>
            <a:ext cx="3886200" cy="731520"/>
          </a:xfrm>
          <a:prstGeom prst="rect">
            <a:avLst/>
          </a:prstGeom>
          <a:noFill/>
          <a:ln/>
        </p:spPr>
        <p:txBody>
          <a:bodyPr wrap="square" lIns="0" tIns="0" rIns="0" bIns="0" rtlCol="0" anchor="t"/>
          <a:lstStyle/>
          <a:p>
            <a:pPr marL="0" indent="0">
              <a:lnSpc>
                <a:spcPts val="1600"/>
              </a:lnSpc>
              <a:buNone/>
            </a:pPr>
            <a:r>
              <a:rPr lang="en-US" sz="1200" dirty="0">
                <a:solidFill>
                  <a:srgbClr val="2B3138"/>
                </a:solidFill>
                <a:latin typeface="Calibri" pitchFamily="34" charset="0"/>
                <a:ea typeface="Calibri" pitchFamily="34" charset="-122"/>
                <a:cs typeface="Calibri" pitchFamily="34" charset="-120"/>
              </a:rPr>
              <a:t>Would I let this run unattended on a real branch — yes or no, and because of what?</a:t>
            </a:r>
            <a:endParaRPr lang="en-US" sz="1200" dirty="0"/>
          </a:p>
        </p:txBody>
      </p:sp>
      <p:sp>
        <p:nvSpPr>
          <p:cNvPr id="35" name="Shape 33"/>
          <p:cNvSpPr/>
          <p:nvPr/>
        </p:nvSpPr>
        <p:spPr>
          <a:xfrm>
            <a:off x="7223760" y="3675888"/>
            <a:ext cx="4398264" cy="2121408"/>
          </a:xfrm>
          <a:prstGeom prst="roundRect">
            <a:avLst>
              <a:gd name="adj" fmla="val 2586"/>
            </a:avLst>
          </a:prstGeom>
          <a:solidFill>
            <a:srgbClr val="EAF6ED"/>
          </a:solidFill>
          <a:ln w="9525">
            <a:solidFill>
              <a:srgbClr val="D8DEE4"/>
            </a:solidFill>
            <a:prstDash val="solid"/>
          </a:ln>
          <a:effectLst>
            <a:outerShdw blurRad="177800" dist="38100" dir="5400000" algn="bl" rotWithShape="0">
              <a:srgbClr val="8C959F">
                <a:alpha val="16000"/>
              </a:srgbClr>
            </a:outerShdw>
          </a:effectLst>
        </p:spPr>
      </p:sp>
      <p:sp>
        <p:nvSpPr>
          <p:cNvPr id="36" name="Text 34"/>
          <p:cNvSpPr/>
          <p:nvPr/>
        </p:nvSpPr>
        <p:spPr>
          <a:xfrm>
            <a:off x="7479792" y="3858768"/>
            <a:ext cx="3886200" cy="310896"/>
          </a:xfrm>
          <a:prstGeom prst="rect">
            <a:avLst/>
          </a:prstGeom>
          <a:noFill/>
          <a:ln/>
        </p:spPr>
        <p:txBody>
          <a:bodyPr wrap="square" lIns="0" tIns="0" rIns="0" bIns="0" rtlCol="0" anchor="ctr"/>
          <a:lstStyle/>
          <a:p>
            <a:pPr marL="0" indent="0">
              <a:buNone/>
            </a:pPr>
            <a:r>
              <a:rPr lang="en-US" sz="1550" b="1" dirty="0">
                <a:solidFill>
                  <a:srgbClr val="1A7F37"/>
                </a:solidFill>
                <a:latin typeface="Cambria" pitchFamily="34" charset="0"/>
                <a:ea typeface="Cambria" pitchFamily="34" charset="-122"/>
                <a:cs typeface="Cambria" pitchFamily="34" charset="-120"/>
              </a:rPr>
              <a:t>Two rules for the scorecard</a:t>
            </a:r>
            <a:endParaRPr lang="en-US" sz="1550" dirty="0"/>
          </a:p>
        </p:txBody>
      </p:sp>
      <p:sp>
        <p:nvSpPr>
          <p:cNvPr id="37" name="Text 35"/>
          <p:cNvSpPr/>
          <p:nvPr/>
        </p:nvSpPr>
        <p:spPr>
          <a:xfrm>
            <a:off x="7479792" y="4370832"/>
            <a:ext cx="3886200" cy="1536192"/>
          </a:xfrm>
          <a:prstGeom prst="rect">
            <a:avLst/>
          </a:prstGeom>
          <a:noFill/>
          <a:ln/>
        </p:spPr>
        <p:txBody>
          <a:bodyPr wrap="square" lIns="0" tIns="0" rIns="0" bIns="0" rtlCol="0" anchor="t"/>
          <a:lstStyle/>
          <a:p>
            <a:pPr marL="177800" indent="-177800">
              <a:lnSpc>
                <a:spcPts val="1386"/>
              </a:lnSpc>
              <a:spcAft>
                <a:spcPts val="700"/>
              </a:spcAft>
              <a:buSzPct val="100000"/>
              <a:buChar char="•"/>
            </a:pPr>
            <a:r>
              <a:rPr lang="en-US" sz="1050" b="1" dirty="0">
                <a:solidFill>
                  <a:srgbClr val="1A7F37"/>
                </a:solidFill>
                <a:latin typeface="Calibri" pitchFamily="34" charset="0"/>
                <a:ea typeface="Calibri" pitchFamily="34" charset="-122"/>
                <a:cs typeface="Calibri" pitchFamily="34" charset="-120"/>
              </a:rPr>
              <a:t>A fix belongs in a rule, not a prompt. </a:t>
            </a:r>
            <a:r>
              <a:rPr lang="en-US" sz="1050" dirty="0">
                <a:solidFill>
                  <a:srgbClr val="2B3138"/>
                </a:solidFill>
                <a:latin typeface="Calibri" pitchFamily="34" charset="0"/>
                <a:ea typeface="Calibri" pitchFamily="34" charset="-122"/>
                <a:cs typeface="Calibri" pitchFamily="34" charset="-120"/>
              </a:rPr>
              <a:t>When a loop produces something wrong, it goes into SKILL.md, CLAUDE.md or an analyzer rule. A prompt fixes one run; a rule fixes every run after it.</a:t>
            </a:r>
            <a:endParaRPr lang="en-US" sz="1050" dirty="0"/>
          </a:p>
          <a:p>
            <a:pPr marL="177800" indent="-177800">
              <a:lnSpc>
                <a:spcPts val="1386"/>
              </a:lnSpc>
              <a:spcAft>
                <a:spcPts val="700"/>
              </a:spcAft>
              <a:buSzPct val="100000"/>
              <a:buChar char="•"/>
            </a:pPr>
            <a:r>
              <a:rPr lang="en-US" sz="1050" b="1" dirty="0">
                <a:solidFill>
                  <a:srgbClr val="1A7F37"/>
                </a:solidFill>
                <a:latin typeface="Calibri" pitchFamily="34" charset="0"/>
                <a:ea typeface="Calibri" pitchFamily="34" charset="-122"/>
                <a:cs typeface="Calibri" pitchFamily="34" charset="-120"/>
              </a:rPr>
              <a:t>Two metrics are banned. </a:t>
            </a:r>
            <a:r>
              <a:rPr lang="en-US" sz="1050" dirty="0">
                <a:solidFill>
                  <a:srgbClr val="2B3138"/>
                </a:solidFill>
                <a:latin typeface="Calibri" pitchFamily="34" charset="0"/>
                <a:ea typeface="Calibri" pitchFamily="34" charset="-122"/>
                <a:cs typeface="Calibri" pitchFamily="34" charset="-120"/>
              </a:rPr>
              <a:t>Lines of code and AI acceptance rate — both reward volume and are trivially gamed by an agent that writes more.</a:t>
            </a:r>
            <a:endParaRPr lang="en-US" sz="1050" dirty="0"/>
          </a:p>
        </p:txBody>
      </p:sp>
      <p:sp>
        <p:nvSpPr>
          <p:cNvPr id="38"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anim calcmode="lin" valueType="num">
                                      <p:cBhvr additive="base">
                                        <p:cTn id="8" dur="420" fill="hold"/>
                                        <p:tgtEl>
                                          <p:spTgt spid="7"/>
                                        </p:tgtEl>
                                        <p:attrNameLst>
                                          <p:attrName>ppt_y</p:attrName>
                                        </p:attrNameLst>
                                      </p:cBhvr>
                                      <p:tavLst>
                                        <p:tav tm="0">
                                          <p:val>
                                            <p:strVal val="#ppt_y+0.035"/>
                                          </p:val>
                                        </p:tav>
                                        <p:tav tm="100000">
                                          <p:val>
                                            <p:strVal val="#ppt_y"/>
                                          </p:val>
                                        </p:tav>
                                      </p:tavLst>
                                    </p:anim>
                                    <p:set>
                                      <p:cBhvr>
                                        <p:cTn id="9" dur="1" fill="hold">
                                          <p:stCondLst>
                                            <p:cond delay="0"/>
                                          </p:stCondLst>
                                        </p:cTn>
                                        <p:tgtEl>
                                          <p:spTgt spid="8"/>
                                        </p:tgtEl>
                                        <p:attrNameLst>
                                          <p:attrName>style.visibility</p:attrName>
                                        </p:attrNameLst>
                                      </p:cBhvr>
                                      <p:to>
                                        <p:strVal val="visible"/>
                                      </p:to>
                                    </p:set>
                                    <p:animEffect transition="in" filter="fade">
                                      <p:cBhvr>
                                        <p:cTn id="10" dur="420"/>
                                        <p:tgtEl>
                                          <p:spTgt spid="8"/>
                                        </p:tgtEl>
                                      </p:cBhvr>
                                    </p:animEffect>
                                    <p:anim calcmode="lin" valueType="num">
                                      <p:cBhvr additive="base">
                                        <p:cTn id="11" dur="420" fill="hold"/>
                                        <p:tgtEl>
                                          <p:spTgt spid="8"/>
                                        </p:tgtEl>
                                        <p:attrNameLst>
                                          <p:attrName>ppt_y</p:attrName>
                                        </p:attrNameLst>
                                      </p:cBhvr>
                                      <p:tavLst>
                                        <p:tav tm="0">
                                          <p:val>
                                            <p:strVal val="#ppt_y+0.035"/>
                                          </p:val>
                                        </p:tav>
                                        <p:tav tm="100000">
                                          <p:val>
                                            <p:strVal val="#ppt_y"/>
                                          </p:val>
                                        </p:tav>
                                      </p:tavLst>
                                    </p:anim>
                                    <p:set>
                                      <p:cBhvr>
                                        <p:cTn id="12" dur="1" fill="hold">
                                          <p:stCondLst>
                                            <p:cond delay="0"/>
                                          </p:stCondLst>
                                        </p:cTn>
                                        <p:tgtEl>
                                          <p:spTgt spid="32"/>
                                        </p:tgtEl>
                                        <p:attrNameLst>
                                          <p:attrName>style.visibility</p:attrName>
                                        </p:attrNameLst>
                                      </p:cBhvr>
                                      <p:to>
                                        <p:strVal val="visible"/>
                                      </p:to>
                                    </p:set>
                                    <p:animEffect transition="in" filter="fade">
                                      <p:cBhvr>
                                        <p:cTn id="13" dur="420"/>
                                        <p:tgtEl>
                                          <p:spTgt spid="32"/>
                                        </p:tgtEl>
                                      </p:cBhvr>
                                    </p:animEffect>
                                    <p:anim calcmode="lin" valueType="num">
                                      <p:cBhvr additive="base">
                                        <p:cTn id="14" dur="420" fill="hold"/>
                                        <p:tgtEl>
                                          <p:spTgt spid="32"/>
                                        </p:tgtEl>
                                        <p:attrNameLst>
                                          <p:attrName>ppt_y</p:attrName>
                                        </p:attrNameLst>
                                      </p:cBhvr>
                                      <p:tavLst>
                                        <p:tav tm="0">
                                          <p:val>
                                            <p:strVal val="#ppt_y+0.035"/>
                                          </p:val>
                                        </p:tav>
                                        <p:tav tm="100000">
                                          <p:val>
                                            <p:strVal val="#ppt_y"/>
                                          </p:val>
                                        </p:tav>
                                      </p:tavLst>
                                    </p:anim>
                                    <p:set>
                                      <p:cBhvr>
                                        <p:cTn id="15" dur="1" fill="hold">
                                          <p:stCondLst>
                                            <p:cond delay="0"/>
                                          </p:stCondLst>
                                        </p:cTn>
                                        <p:tgtEl>
                                          <p:spTgt spid="33"/>
                                        </p:tgtEl>
                                        <p:attrNameLst>
                                          <p:attrName>style.visibility</p:attrName>
                                        </p:attrNameLst>
                                      </p:cBhvr>
                                      <p:to>
                                        <p:strVal val="visible"/>
                                      </p:to>
                                    </p:set>
                                    <p:animEffect transition="in" filter="fade">
                                      <p:cBhvr>
                                        <p:cTn id="16" dur="420"/>
                                        <p:tgtEl>
                                          <p:spTgt spid="33"/>
                                        </p:tgtEl>
                                      </p:cBhvr>
                                    </p:animEffect>
                                    <p:anim calcmode="lin" valueType="num">
                                      <p:cBhvr additive="base">
                                        <p:cTn id="17" dur="420" fill="hold"/>
                                        <p:tgtEl>
                                          <p:spTgt spid="33"/>
                                        </p:tgtEl>
                                        <p:attrNameLst>
                                          <p:attrName>ppt_y</p:attrName>
                                        </p:attrNameLst>
                                      </p:cBhvr>
                                      <p:tavLst>
                                        <p:tav tm="0">
                                          <p:val>
                                            <p:strVal val="#ppt_y+0.035"/>
                                          </p:val>
                                        </p:tav>
                                        <p:tav tm="100000">
                                          <p:val>
                                            <p:strVal val="#ppt_y"/>
                                          </p:val>
                                        </p:tav>
                                      </p:tavLst>
                                    </p:anim>
                                    <p:set>
                                      <p:cBhvr>
                                        <p:cTn id="18" dur="1" fill="hold">
                                          <p:stCondLst>
                                            <p:cond delay="0"/>
                                          </p:stCondLst>
                                        </p:cTn>
                                        <p:tgtEl>
                                          <p:spTgt spid="9"/>
                                        </p:tgtEl>
                                        <p:attrNameLst>
                                          <p:attrName>style.visibility</p:attrName>
                                        </p:attrNameLst>
                                      </p:cBhvr>
                                      <p:to>
                                        <p:strVal val="visible"/>
                                      </p:to>
                                    </p:set>
                                    <p:animEffect transition="in" filter="fade">
                                      <p:cBhvr>
                                        <p:cTn id="19" dur="420"/>
                                        <p:tgtEl>
                                          <p:spTgt spid="9"/>
                                        </p:tgtEl>
                                      </p:cBhvr>
                                    </p:animEffect>
                                    <p:anim calcmode="lin" valueType="num">
                                      <p:cBhvr additive="base">
                                        <p:cTn id="20" dur="420" fill="hold"/>
                                        <p:tgtEl>
                                          <p:spTgt spid="9"/>
                                        </p:tgtEl>
                                        <p:attrNameLst>
                                          <p:attrName>ppt_y</p:attrName>
                                        </p:attrNameLst>
                                      </p:cBhvr>
                                      <p:tavLst>
                                        <p:tav tm="0">
                                          <p:val>
                                            <p:strVal val="#ppt_y+0.035"/>
                                          </p:val>
                                        </p:tav>
                                        <p:tav tm="100000">
                                          <p:val>
                                            <p:strVal val="#ppt_y"/>
                                          </p:val>
                                        </p:tav>
                                      </p:tavLst>
                                    </p:anim>
                                    <p:set>
                                      <p:cBhvr>
                                        <p:cTn id="21" dur="1" fill="hold">
                                          <p:stCondLst>
                                            <p:cond delay="0"/>
                                          </p:stCondLst>
                                        </p:cTn>
                                        <p:tgtEl>
                                          <p:spTgt spid="10"/>
                                        </p:tgtEl>
                                        <p:attrNameLst>
                                          <p:attrName>style.visibility</p:attrName>
                                        </p:attrNameLst>
                                      </p:cBhvr>
                                      <p:to>
                                        <p:strVal val="visible"/>
                                      </p:to>
                                    </p:set>
                                    <p:animEffect transition="in" filter="fade">
                                      <p:cBhvr>
                                        <p:cTn id="22" dur="420"/>
                                        <p:tgtEl>
                                          <p:spTgt spid="10"/>
                                        </p:tgtEl>
                                      </p:cBhvr>
                                    </p:animEffect>
                                    <p:anim calcmode="lin" valueType="num">
                                      <p:cBhvr additive="base">
                                        <p:cTn id="23" dur="420" fill="hold"/>
                                        <p:tgtEl>
                                          <p:spTgt spid="10"/>
                                        </p:tgtEl>
                                        <p:attrNameLst>
                                          <p:attrName>ppt_y</p:attrName>
                                        </p:attrNameLst>
                                      </p:cBhvr>
                                      <p:tavLst>
                                        <p:tav tm="0">
                                          <p:val>
                                            <p:strVal val="#ppt_y+0.035"/>
                                          </p:val>
                                        </p:tav>
                                        <p:tav tm="100000">
                                          <p:val>
                                            <p:strVal val="#ppt_y"/>
                                          </p:val>
                                        </p:tav>
                                      </p:tavLst>
                                    </p:anim>
                                    <p:set>
                                      <p:cBhvr>
                                        <p:cTn id="24" dur="1" fill="hold">
                                          <p:stCondLst>
                                            <p:cond delay="0"/>
                                          </p:stCondLst>
                                        </p:cTn>
                                        <p:tgtEl>
                                          <p:spTgt spid="11"/>
                                        </p:tgtEl>
                                        <p:attrNameLst>
                                          <p:attrName>style.visibility</p:attrName>
                                        </p:attrNameLst>
                                      </p:cBhvr>
                                      <p:to>
                                        <p:strVal val="visible"/>
                                      </p:to>
                                    </p:set>
                                    <p:animEffect transition="in" filter="fade">
                                      <p:cBhvr>
                                        <p:cTn id="25" dur="420"/>
                                        <p:tgtEl>
                                          <p:spTgt spid="11"/>
                                        </p:tgtEl>
                                      </p:cBhvr>
                                    </p:animEffect>
                                    <p:anim calcmode="lin" valueType="num">
                                      <p:cBhvr additive="base">
                                        <p:cTn id="26" dur="420" fill="hold"/>
                                        <p:tgtEl>
                                          <p:spTgt spid="11"/>
                                        </p:tgtEl>
                                        <p:attrNameLst>
                                          <p:attrName>ppt_y</p:attrName>
                                        </p:attrNameLst>
                                      </p:cBhvr>
                                      <p:tavLst>
                                        <p:tav tm="0">
                                          <p:val>
                                            <p:strVal val="#ppt_y+0.035"/>
                                          </p:val>
                                        </p:tav>
                                        <p:tav tm="100000">
                                          <p:val>
                                            <p:strVal val="#ppt_y"/>
                                          </p:val>
                                        </p:tav>
                                      </p:tavLst>
                                    </p:anim>
                                    <p:set>
                                      <p:cBhvr>
                                        <p:cTn id="27" dur="1" fill="hold">
                                          <p:stCondLst>
                                            <p:cond delay="0"/>
                                          </p:stCondLst>
                                        </p:cTn>
                                        <p:tgtEl>
                                          <p:spTgt spid="12"/>
                                        </p:tgtEl>
                                        <p:attrNameLst>
                                          <p:attrName>style.visibility</p:attrName>
                                        </p:attrNameLst>
                                      </p:cBhvr>
                                      <p:to>
                                        <p:strVal val="visible"/>
                                      </p:to>
                                    </p:set>
                                    <p:animEffect transition="in" filter="fade">
                                      <p:cBhvr>
                                        <p:cTn id="28" dur="420"/>
                                        <p:tgtEl>
                                          <p:spTgt spid="12"/>
                                        </p:tgtEl>
                                      </p:cBhvr>
                                    </p:animEffect>
                                    <p:anim calcmode="lin" valueType="num">
                                      <p:cBhvr additive="base">
                                        <p:cTn id="29" dur="420" fill="hold"/>
                                        <p:tgtEl>
                                          <p:spTgt spid="12"/>
                                        </p:tgtEl>
                                        <p:attrNameLst>
                                          <p:attrName>ppt_y</p:attrName>
                                        </p:attrNameLst>
                                      </p:cBhvr>
                                      <p:tavLst>
                                        <p:tav tm="0">
                                          <p:val>
                                            <p:strVal val="#ppt_y+0.035"/>
                                          </p:val>
                                        </p:tav>
                                        <p:tav tm="100000">
                                          <p:val>
                                            <p:strVal val="#ppt_y"/>
                                          </p:val>
                                        </p:tav>
                                      </p:tavLst>
                                    </p:anim>
                                    <p:set>
                                      <p:cBhvr>
                                        <p:cTn id="30" dur="1" fill="hold">
                                          <p:stCondLst>
                                            <p:cond delay="0"/>
                                          </p:stCondLst>
                                        </p:cTn>
                                        <p:tgtEl>
                                          <p:spTgt spid="34"/>
                                        </p:tgtEl>
                                        <p:attrNameLst>
                                          <p:attrName>style.visibility</p:attrName>
                                        </p:attrNameLst>
                                      </p:cBhvr>
                                      <p:to>
                                        <p:strVal val="visible"/>
                                      </p:to>
                                    </p:set>
                                    <p:animEffect transition="in" filter="fade">
                                      <p:cBhvr>
                                        <p:cTn id="31" dur="420"/>
                                        <p:tgtEl>
                                          <p:spTgt spid="34"/>
                                        </p:tgtEl>
                                      </p:cBhvr>
                                    </p:animEffect>
                                    <p:anim calcmode="lin" valueType="num">
                                      <p:cBhvr additive="base">
                                        <p:cTn id="32" dur="420" fill="hold"/>
                                        <p:tgtEl>
                                          <p:spTgt spid="34"/>
                                        </p:tgtEl>
                                        <p:attrNameLst>
                                          <p:attrName>ppt_y</p:attrName>
                                        </p:attrNameLst>
                                      </p:cBhvr>
                                      <p:tavLst>
                                        <p:tav tm="0">
                                          <p:val>
                                            <p:strVal val="#ppt_y+0.035"/>
                                          </p:val>
                                        </p:tav>
                                        <p:tav tm="100000">
                                          <p:val>
                                            <p:strVal val="#ppt_y"/>
                                          </p:val>
                                        </p:tav>
                                      </p:tavLst>
                                    </p:anim>
                                    <p:set>
                                      <p:cBhvr>
                                        <p:cTn id="33" dur="1" fill="hold">
                                          <p:stCondLst>
                                            <p:cond delay="0"/>
                                          </p:stCondLst>
                                        </p:cTn>
                                        <p:tgtEl>
                                          <p:spTgt spid="13"/>
                                        </p:tgtEl>
                                        <p:attrNameLst>
                                          <p:attrName>style.visibility</p:attrName>
                                        </p:attrNameLst>
                                      </p:cBhvr>
                                      <p:to>
                                        <p:strVal val="visible"/>
                                      </p:to>
                                    </p:set>
                                    <p:animEffect transition="in" filter="fade">
                                      <p:cBhvr>
                                        <p:cTn id="34" dur="420"/>
                                        <p:tgtEl>
                                          <p:spTgt spid="13"/>
                                        </p:tgtEl>
                                      </p:cBhvr>
                                    </p:animEffect>
                                    <p:anim calcmode="lin" valueType="num">
                                      <p:cBhvr additive="base">
                                        <p:cTn id="35" dur="420" fill="hold"/>
                                        <p:tgtEl>
                                          <p:spTgt spid="13"/>
                                        </p:tgtEl>
                                        <p:attrNameLst>
                                          <p:attrName>ppt_y</p:attrName>
                                        </p:attrNameLst>
                                      </p:cBhvr>
                                      <p:tavLst>
                                        <p:tav tm="0">
                                          <p:val>
                                            <p:strVal val="#ppt_y+0.035"/>
                                          </p:val>
                                        </p:tav>
                                        <p:tav tm="100000">
                                          <p:val>
                                            <p:strVal val="#ppt_y"/>
                                          </p:val>
                                        </p:tav>
                                      </p:tavLst>
                                    </p:anim>
                                    <p:set>
                                      <p:cBhvr>
                                        <p:cTn id="36" dur="1" fill="hold">
                                          <p:stCondLst>
                                            <p:cond delay="0"/>
                                          </p:stCondLst>
                                        </p:cTn>
                                        <p:tgtEl>
                                          <p:spTgt spid="14"/>
                                        </p:tgtEl>
                                        <p:attrNameLst>
                                          <p:attrName>style.visibility</p:attrName>
                                        </p:attrNameLst>
                                      </p:cBhvr>
                                      <p:to>
                                        <p:strVal val="visible"/>
                                      </p:to>
                                    </p:set>
                                    <p:animEffect transition="in" filter="fade">
                                      <p:cBhvr>
                                        <p:cTn id="37" dur="420"/>
                                        <p:tgtEl>
                                          <p:spTgt spid="14"/>
                                        </p:tgtEl>
                                      </p:cBhvr>
                                    </p:animEffect>
                                    <p:anim calcmode="lin" valueType="num">
                                      <p:cBhvr additive="base">
                                        <p:cTn id="38" dur="420" fill="hold"/>
                                        <p:tgtEl>
                                          <p:spTgt spid="14"/>
                                        </p:tgtEl>
                                        <p:attrNameLst>
                                          <p:attrName>ppt_y</p:attrName>
                                        </p:attrNameLst>
                                      </p:cBhvr>
                                      <p:tavLst>
                                        <p:tav tm="0">
                                          <p:val>
                                            <p:strVal val="#ppt_y+0.035"/>
                                          </p:val>
                                        </p:tav>
                                        <p:tav tm="100000">
                                          <p:val>
                                            <p:strVal val="#ppt_y"/>
                                          </p:val>
                                        </p:tav>
                                      </p:tavLst>
                                    </p:anim>
                                    <p:set>
                                      <p:cBhvr>
                                        <p:cTn id="39" dur="1" fill="hold">
                                          <p:stCondLst>
                                            <p:cond delay="0"/>
                                          </p:stCondLst>
                                        </p:cTn>
                                        <p:tgtEl>
                                          <p:spTgt spid="15"/>
                                        </p:tgtEl>
                                        <p:attrNameLst>
                                          <p:attrName>style.visibility</p:attrName>
                                        </p:attrNameLst>
                                      </p:cBhvr>
                                      <p:to>
                                        <p:strVal val="visible"/>
                                      </p:to>
                                    </p:set>
                                    <p:animEffect transition="in" filter="fade">
                                      <p:cBhvr>
                                        <p:cTn id="40" dur="420"/>
                                        <p:tgtEl>
                                          <p:spTgt spid="15"/>
                                        </p:tgtEl>
                                      </p:cBhvr>
                                    </p:animEffect>
                                    <p:anim calcmode="lin" valueType="num">
                                      <p:cBhvr additive="base">
                                        <p:cTn id="41" dur="420" fill="hold"/>
                                        <p:tgtEl>
                                          <p:spTgt spid="15"/>
                                        </p:tgtEl>
                                        <p:attrNameLst>
                                          <p:attrName>ppt_y</p:attrName>
                                        </p:attrNameLst>
                                      </p:cBhvr>
                                      <p:tavLst>
                                        <p:tav tm="0">
                                          <p:val>
                                            <p:strVal val="#ppt_y+0.035"/>
                                          </p:val>
                                        </p:tav>
                                        <p:tav tm="100000">
                                          <p:val>
                                            <p:strVal val="#ppt_y"/>
                                          </p:val>
                                        </p:tav>
                                      </p:tavLst>
                                    </p:anim>
                                    <p:set>
                                      <p:cBhvr>
                                        <p:cTn id="42" dur="1" fill="hold">
                                          <p:stCondLst>
                                            <p:cond delay="0"/>
                                          </p:stCondLst>
                                        </p:cTn>
                                        <p:tgtEl>
                                          <p:spTgt spid="16"/>
                                        </p:tgtEl>
                                        <p:attrNameLst>
                                          <p:attrName>style.visibility</p:attrName>
                                        </p:attrNameLst>
                                      </p:cBhvr>
                                      <p:to>
                                        <p:strVal val="visible"/>
                                      </p:to>
                                    </p:set>
                                    <p:animEffect transition="in" filter="fade">
                                      <p:cBhvr>
                                        <p:cTn id="43" dur="420"/>
                                        <p:tgtEl>
                                          <p:spTgt spid="16"/>
                                        </p:tgtEl>
                                      </p:cBhvr>
                                    </p:animEffect>
                                    <p:anim calcmode="lin" valueType="num">
                                      <p:cBhvr additive="base">
                                        <p:cTn id="44" dur="420" fill="hold"/>
                                        <p:tgtEl>
                                          <p:spTgt spid="16"/>
                                        </p:tgtEl>
                                        <p:attrNameLst>
                                          <p:attrName>ppt_y</p:attrName>
                                        </p:attrNameLst>
                                      </p:cBhvr>
                                      <p:tavLst>
                                        <p:tav tm="0">
                                          <p:val>
                                            <p:strVal val="#ppt_y+0.035"/>
                                          </p:val>
                                        </p:tav>
                                        <p:tav tm="100000">
                                          <p:val>
                                            <p:strVal val="#ppt_y"/>
                                          </p:val>
                                        </p:tav>
                                      </p:tavLst>
                                    </p:anim>
                                    <p:set>
                                      <p:cBhvr>
                                        <p:cTn id="45" dur="1" fill="hold">
                                          <p:stCondLst>
                                            <p:cond delay="0"/>
                                          </p:stCondLst>
                                        </p:cTn>
                                        <p:tgtEl>
                                          <p:spTgt spid="17"/>
                                        </p:tgtEl>
                                        <p:attrNameLst>
                                          <p:attrName>style.visibility</p:attrName>
                                        </p:attrNameLst>
                                      </p:cBhvr>
                                      <p:to>
                                        <p:strVal val="visible"/>
                                      </p:to>
                                    </p:set>
                                    <p:animEffect transition="in" filter="fade">
                                      <p:cBhvr>
                                        <p:cTn id="46" dur="420"/>
                                        <p:tgtEl>
                                          <p:spTgt spid="17"/>
                                        </p:tgtEl>
                                      </p:cBhvr>
                                    </p:animEffect>
                                    <p:anim calcmode="lin" valueType="num">
                                      <p:cBhvr additive="base">
                                        <p:cTn id="47" dur="420" fill="hold"/>
                                        <p:tgtEl>
                                          <p:spTgt spid="17"/>
                                        </p:tgtEl>
                                        <p:attrNameLst>
                                          <p:attrName>ppt_y</p:attrName>
                                        </p:attrNameLst>
                                      </p:cBhvr>
                                      <p:tavLst>
                                        <p:tav tm="0">
                                          <p:val>
                                            <p:strVal val="#ppt_y+0.035"/>
                                          </p:val>
                                        </p:tav>
                                        <p:tav tm="100000">
                                          <p:val>
                                            <p:strVal val="#ppt_y"/>
                                          </p:val>
                                        </p:tav>
                                      </p:tavLst>
                                    </p:anim>
                                    <p:set>
                                      <p:cBhvr>
                                        <p:cTn id="48" dur="1" fill="hold">
                                          <p:stCondLst>
                                            <p:cond delay="0"/>
                                          </p:stCondLst>
                                        </p:cTn>
                                        <p:tgtEl>
                                          <p:spTgt spid="35"/>
                                        </p:tgtEl>
                                        <p:attrNameLst>
                                          <p:attrName>style.visibility</p:attrName>
                                        </p:attrNameLst>
                                      </p:cBhvr>
                                      <p:to>
                                        <p:strVal val="visible"/>
                                      </p:to>
                                    </p:set>
                                    <p:animEffect transition="in" filter="fade">
                                      <p:cBhvr>
                                        <p:cTn id="49" dur="420"/>
                                        <p:tgtEl>
                                          <p:spTgt spid="35"/>
                                        </p:tgtEl>
                                      </p:cBhvr>
                                    </p:animEffect>
                                    <p:anim calcmode="lin" valueType="num">
                                      <p:cBhvr additive="base">
                                        <p:cTn id="50" dur="420" fill="hold"/>
                                        <p:tgtEl>
                                          <p:spTgt spid="35"/>
                                        </p:tgtEl>
                                        <p:attrNameLst>
                                          <p:attrName>ppt_y</p:attrName>
                                        </p:attrNameLst>
                                      </p:cBhvr>
                                      <p:tavLst>
                                        <p:tav tm="0">
                                          <p:val>
                                            <p:strVal val="#ppt_y+0.035"/>
                                          </p:val>
                                        </p:tav>
                                        <p:tav tm="100000">
                                          <p:val>
                                            <p:strVal val="#ppt_y"/>
                                          </p:val>
                                        </p:tav>
                                      </p:tavLst>
                                    </p:anim>
                                    <p:set>
                                      <p:cBhvr>
                                        <p:cTn id="51" dur="1" fill="hold">
                                          <p:stCondLst>
                                            <p:cond delay="0"/>
                                          </p:stCondLst>
                                        </p:cTn>
                                        <p:tgtEl>
                                          <p:spTgt spid="18"/>
                                        </p:tgtEl>
                                        <p:attrNameLst>
                                          <p:attrName>style.visibility</p:attrName>
                                        </p:attrNameLst>
                                      </p:cBhvr>
                                      <p:to>
                                        <p:strVal val="visible"/>
                                      </p:to>
                                    </p:set>
                                    <p:animEffect transition="in" filter="fade">
                                      <p:cBhvr>
                                        <p:cTn id="52" dur="420"/>
                                        <p:tgtEl>
                                          <p:spTgt spid="18"/>
                                        </p:tgtEl>
                                      </p:cBhvr>
                                    </p:animEffect>
                                    <p:anim calcmode="lin" valueType="num">
                                      <p:cBhvr additive="base">
                                        <p:cTn id="53" dur="420" fill="hold"/>
                                        <p:tgtEl>
                                          <p:spTgt spid="18"/>
                                        </p:tgtEl>
                                        <p:attrNameLst>
                                          <p:attrName>ppt_y</p:attrName>
                                        </p:attrNameLst>
                                      </p:cBhvr>
                                      <p:tavLst>
                                        <p:tav tm="0">
                                          <p:val>
                                            <p:strVal val="#ppt_y+0.035"/>
                                          </p:val>
                                        </p:tav>
                                        <p:tav tm="100000">
                                          <p:val>
                                            <p:strVal val="#ppt_y"/>
                                          </p:val>
                                        </p:tav>
                                      </p:tavLst>
                                    </p:anim>
                                    <p:set>
                                      <p:cBhvr>
                                        <p:cTn id="54" dur="1" fill="hold">
                                          <p:stCondLst>
                                            <p:cond delay="0"/>
                                          </p:stCondLst>
                                        </p:cTn>
                                        <p:tgtEl>
                                          <p:spTgt spid="19"/>
                                        </p:tgtEl>
                                        <p:attrNameLst>
                                          <p:attrName>style.visibility</p:attrName>
                                        </p:attrNameLst>
                                      </p:cBhvr>
                                      <p:to>
                                        <p:strVal val="visible"/>
                                      </p:to>
                                    </p:set>
                                    <p:animEffect transition="in" filter="fade">
                                      <p:cBhvr>
                                        <p:cTn id="55" dur="420"/>
                                        <p:tgtEl>
                                          <p:spTgt spid="19"/>
                                        </p:tgtEl>
                                      </p:cBhvr>
                                    </p:animEffect>
                                    <p:anim calcmode="lin" valueType="num">
                                      <p:cBhvr additive="base">
                                        <p:cTn id="56" dur="420" fill="hold"/>
                                        <p:tgtEl>
                                          <p:spTgt spid="19"/>
                                        </p:tgtEl>
                                        <p:attrNameLst>
                                          <p:attrName>ppt_y</p:attrName>
                                        </p:attrNameLst>
                                      </p:cBhvr>
                                      <p:tavLst>
                                        <p:tav tm="0">
                                          <p:val>
                                            <p:strVal val="#ppt_y+0.035"/>
                                          </p:val>
                                        </p:tav>
                                        <p:tav tm="100000">
                                          <p:val>
                                            <p:strVal val="#ppt_y"/>
                                          </p:val>
                                        </p:tav>
                                      </p:tavLst>
                                    </p:anim>
                                    <p:set>
                                      <p:cBhvr>
                                        <p:cTn id="57" dur="1" fill="hold">
                                          <p:stCondLst>
                                            <p:cond delay="0"/>
                                          </p:stCondLst>
                                        </p:cTn>
                                        <p:tgtEl>
                                          <p:spTgt spid="36"/>
                                        </p:tgtEl>
                                        <p:attrNameLst>
                                          <p:attrName>style.visibility</p:attrName>
                                        </p:attrNameLst>
                                      </p:cBhvr>
                                      <p:to>
                                        <p:strVal val="visible"/>
                                      </p:to>
                                    </p:set>
                                    <p:animEffect transition="in" filter="fade">
                                      <p:cBhvr>
                                        <p:cTn id="58" dur="420"/>
                                        <p:tgtEl>
                                          <p:spTgt spid="36"/>
                                        </p:tgtEl>
                                      </p:cBhvr>
                                    </p:animEffect>
                                    <p:anim calcmode="lin" valueType="num">
                                      <p:cBhvr additive="base">
                                        <p:cTn id="59" dur="420" fill="hold"/>
                                        <p:tgtEl>
                                          <p:spTgt spid="36"/>
                                        </p:tgtEl>
                                        <p:attrNameLst>
                                          <p:attrName>ppt_y</p:attrName>
                                        </p:attrNameLst>
                                      </p:cBhvr>
                                      <p:tavLst>
                                        <p:tav tm="0">
                                          <p:val>
                                            <p:strVal val="#ppt_y+0.035"/>
                                          </p:val>
                                        </p:tav>
                                        <p:tav tm="100000">
                                          <p:val>
                                            <p:strVal val="#ppt_y"/>
                                          </p:val>
                                        </p:tav>
                                      </p:tavLst>
                                    </p:anim>
                                    <p:set>
                                      <p:cBhvr>
                                        <p:cTn id="60" dur="1" fill="hold">
                                          <p:stCondLst>
                                            <p:cond delay="0"/>
                                          </p:stCondLst>
                                        </p:cTn>
                                        <p:tgtEl>
                                          <p:spTgt spid="20"/>
                                        </p:tgtEl>
                                        <p:attrNameLst>
                                          <p:attrName>style.visibility</p:attrName>
                                        </p:attrNameLst>
                                      </p:cBhvr>
                                      <p:to>
                                        <p:strVal val="visible"/>
                                      </p:to>
                                    </p:set>
                                    <p:animEffect transition="in" filter="fade">
                                      <p:cBhvr>
                                        <p:cTn id="61" dur="420"/>
                                        <p:tgtEl>
                                          <p:spTgt spid="20"/>
                                        </p:tgtEl>
                                      </p:cBhvr>
                                    </p:animEffect>
                                    <p:anim calcmode="lin" valueType="num">
                                      <p:cBhvr additive="base">
                                        <p:cTn id="62" dur="420" fill="hold"/>
                                        <p:tgtEl>
                                          <p:spTgt spid="20"/>
                                        </p:tgtEl>
                                        <p:attrNameLst>
                                          <p:attrName>ppt_y</p:attrName>
                                        </p:attrNameLst>
                                      </p:cBhvr>
                                      <p:tavLst>
                                        <p:tav tm="0">
                                          <p:val>
                                            <p:strVal val="#ppt_y+0.035"/>
                                          </p:val>
                                        </p:tav>
                                        <p:tav tm="100000">
                                          <p:val>
                                            <p:strVal val="#ppt_y"/>
                                          </p:val>
                                        </p:tav>
                                      </p:tavLst>
                                    </p:anim>
                                    <p:set>
                                      <p:cBhvr>
                                        <p:cTn id="63" dur="1" fill="hold">
                                          <p:stCondLst>
                                            <p:cond delay="0"/>
                                          </p:stCondLst>
                                        </p:cTn>
                                        <p:tgtEl>
                                          <p:spTgt spid="21"/>
                                        </p:tgtEl>
                                        <p:attrNameLst>
                                          <p:attrName>style.visibility</p:attrName>
                                        </p:attrNameLst>
                                      </p:cBhvr>
                                      <p:to>
                                        <p:strVal val="visible"/>
                                      </p:to>
                                    </p:set>
                                    <p:animEffect transition="in" filter="fade">
                                      <p:cBhvr>
                                        <p:cTn id="64" dur="420"/>
                                        <p:tgtEl>
                                          <p:spTgt spid="21"/>
                                        </p:tgtEl>
                                      </p:cBhvr>
                                    </p:animEffect>
                                    <p:anim calcmode="lin" valueType="num">
                                      <p:cBhvr additive="base">
                                        <p:cTn id="65" dur="420" fill="hold"/>
                                        <p:tgtEl>
                                          <p:spTgt spid="21"/>
                                        </p:tgtEl>
                                        <p:attrNameLst>
                                          <p:attrName>ppt_y</p:attrName>
                                        </p:attrNameLst>
                                      </p:cBhvr>
                                      <p:tavLst>
                                        <p:tav tm="0">
                                          <p:val>
                                            <p:strVal val="#ppt_y+0.035"/>
                                          </p:val>
                                        </p:tav>
                                        <p:tav tm="100000">
                                          <p:val>
                                            <p:strVal val="#ppt_y"/>
                                          </p:val>
                                        </p:tav>
                                      </p:tavLst>
                                    </p:anim>
                                    <p:set>
                                      <p:cBhvr>
                                        <p:cTn id="66" dur="1" fill="hold">
                                          <p:stCondLst>
                                            <p:cond delay="0"/>
                                          </p:stCondLst>
                                        </p:cTn>
                                        <p:tgtEl>
                                          <p:spTgt spid="22"/>
                                        </p:tgtEl>
                                        <p:attrNameLst>
                                          <p:attrName>style.visibility</p:attrName>
                                        </p:attrNameLst>
                                      </p:cBhvr>
                                      <p:to>
                                        <p:strVal val="visible"/>
                                      </p:to>
                                    </p:set>
                                    <p:animEffect transition="in" filter="fade">
                                      <p:cBhvr>
                                        <p:cTn id="67" dur="420"/>
                                        <p:tgtEl>
                                          <p:spTgt spid="22"/>
                                        </p:tgtEl>
                                      </p:cBhvr>
                                    </p:animEffect>
                                    <p:anim calcmode="lin" valueType="num">
                                      <p:cBhvr additive="base">
                                        <p:cTn id="68" dur="420" fill="hold"/>
                                        <p:tgtEl>
                                          <p:spTgt spid="22"/>
                                        </p:tgtEl>
                                        <p:attrNameLst>
                                          <p:attrName>ppt_y</p:attrName>
                                        </p:attrNameLst>
                                      </p:cBhvr>
                                      <p:tavLst>
                                        <p:tav tm="0">
                                          <p:val>
                                            <p:strVal val="#ppt_y+0.035"/>
                                          </p:val>
                                        </p:tav>
                                        <p:tav tm="100000">
                                          <p:val>
                                            <p:strVal val="#ppt_y"/>
                                          </p:val>
                                        </p:tav>
                                      </p:tavLst>
                                    </p:anim>
                                    <p:set>
                                      <p:cBhvr>
                                        <p:cTn id="69" dur="1" fill="hold">
                                          <p:stCondLst>
                                            <p:cond delay="0"/>
                                          </p:stCondLst>
                                        </p:cTn>
                                        <p:tgtEl>
                                          <p:spTgt spid="37"/>
                                        </p:tgtEl>
                                        <p:attrNameLst>
                                          <p:attrName>style.visibility</p:attrName>
                                        </p:attrNameLst>
                                      </p:cBhvr>
                                      <p:to>
                                        <p:strVal val="visible"/>
                                      </p:to>
                                    </p:set>
                                    <p:animEffect transition="in" filter="fade">
                                      <p:cBhvr>
                                        <p:cTn id="70" dur="420"/>
                                        <p:tgtEl>
                                          <p:spTgt spid="37"/>
                                        </p:tgtEl>
                                      </p:cBhvr>
                                    </p:animEffect>
                                    <p:anim calcmode="lin" valueType="num">
                                      <p:cBhvr additive="base">
                                        <p:cTn id="71" dur="420" fill="hold"/>
                                        <p:tgtEl>
                                          <p:spTgt spid="37"/>
                                        </p:tgtEl>
                                        <p:attrNameLst>
                                          <p:attrName>ppt_y</p:attrName>
                                        </p:attrNameLst>
                                      </p:cBhvr>
                                      <p:tavLst>
                                        <p:tav tm="0">
                                          <p:val>
                                            <p:strVal val="#ppt_y+0.035"/>
                                          </p:val>
                                        </p:tav>
                                        <p:tav tm="100000">
                                          <p:val>
                                            <p:strVal val="#ppt_y"/>
                                          </p:val>
                                        </p:tav>
                                      </p:tavLst>
                                    </p:anim>
                                    <p:set>
                                      <p:cBhvr>
                                        <p:cTn id="72" dur="1" fill="hold">
                                          <p:stCondLst>
                                            <p:cond delay="0"/>
                                          </p:stCondLst>
                                        </p:cTn>
                                        <p:tgtEl>
                                          <p:spTgt spid="23"/>
                                        </p:tgtEl>
                                        <p:attrNameLst>
                                          <p:attrName>style.visibility</p:attrName>
                                        </p:attrNameLst>
                                      </p:cBhvr>
                                      <p:to>
                                        <p:strVal val="visible"/>
                                      </p:to>
                                    </p:set>
                                    <p:animEffect transition="in" filter="fade">
                                      <p:cBhvr>
                                        <p:cTn id="73" dur="420"/>
                                        <p:tgtEl>
                                          <p:spTgt spid="23"/>
                                        </p:tgtEl>
                                      </p:cBhvr>
                                    </p:animEffect>
                                    <p:anim calcmode="lin" valueType="num">
                                      <p:cBhvr additive="base">
                                        <p:cTn id="74" dur="420" fill="hold"/>
                                        <p:tgtEl>
                                          <p:spTgt spid="23"/>
                                        </p:tgtEl>
                                        <p:attrNameLst>
                                          <p:attrName>ppt_y</p:attrName>
                                        </p:attrNameLst>
                                      </p:cBhvr>
                                      <p:tavLst>
                                        <p:tav tm="0">
                                          <p:val>
                                            <p:strVal val="#ppt_y+0.035"/>
                                          </p:val>
                                        </p:tav>
                                        <p:tav tm="100000">
                                          <p:val>
                                            <p:strVal val="#ppt_y"/>
                                          </p:val>
                                        </p:tav>
                                      </p:tavLst>
                                    </p:anim>
                                    <p:set>
                                      <p:cBhvr>
                                        <p:cTn id="75" dur="1" fill="hold">
                                          <p:stCondLst>
                                            <p:cond delay="0"/>
                                          </p:stCondLst>
                                        </p:cTn>
                                        <p:tgtEl>
                                          <p:spTgt spid="24"/>
                                        </p:tgtEl>
                                        <p:attrNameLst>
                                          <p:attrName>style.visibility</p:attrName>
                                        </p:attrNameLst>
                                      </p:cBhvr>
                                      <p:to>
                                        <p:strVal val="visible"/>
                                      </p:to>
                                    </p:set>
                                    <p:animEffect transition="in" filter="fade">
                                      <p:cBhvr>
                                        <p:cTn id="76" dur="420"/>
                                        <p:tgtEl>
                                          <p:spTgt spid="24"/>
                                        </p:tgtEl>
                                      </p:cBhvr>
                                    </p:animEffect>
                                    <p:anim calcmode="lin" valueType="num">
                                      <p:cBhvr additive="base">
                                        <p:cTn id="77" dur="420" fill="hold"/>
                                        <p:tgtEl>
                                          <p:spTgt spid="24"/>
                                        </p:tgtEl>
                                        <p:attrNameLst>
                                          <p:attrName>ppt_y</p:attrName>
                                        </p:attrNameLst>
                                      </p:cBhvr>
                                      <p:tavLst>
                                        <p:tav tm="0">
                                          <p:val>
                                            <p:strVal val="#ppt_y+0.035"/>
                                          </p:val>
                                        </p:tav>
                                        <p:tav tm="100000">
                                          <p:val>
                                            <p:strVal val="#ppt_y"/>
                                          </p:val>
                                        </p:tav>
                                      </p:tavLst>
                                    </p:anim>
                                    <p:set>
                                      <p:cBhvr>
                                        <p:cTn id="78" dur="1" fill="hold">
                                          <p:stCondLst>
                                            <p:cond delay="0"/>
                                          </p:stCondLst>
                                        </p:cTn>
                                        <p:tgtEl>
                                          <p:spTgt spid="25"/>
                                        </p:tgtEl>
                                        <p:attrNameLst>
                                          <p:attrName>style.visibility</p:attrName>
                                        </p:attrNameLst>
                                      </p:cBhvr>
                                      <p:to>
                                        <p:strVal val="visible"/>
                                      </p:to>
                                    </p:set>
                                    <p:animEffect transition="in" filter="fade">
                                      <p:cBhvr>
                                        <p:cTn id="79" dur="420"/>
                                        <p:tgtEl>
                                          <p:spTgt spid="25"/>
                                        </p:tgtEl>
                                      </p:cBhvr>
                                    </p:animEffect>
                                    <p:anim calcmode="lin" valueType="num">
                                      <p:cBhvr additive="base">
                                        <p:cTn id="80" dur="420" fill="hold"/>
                                        <p:tgtEl>
                                          <p:spTgt spid="25"/>
                                        </p:tgtEl>
                                        <p:attrNameLst>
                                          <p:attrName>ppt_y</p:attrName>
                                        </p:attrNameLst>
                                      </p:cBhvr>
                                      <p:tavLst>
                                        <p:tav tm="0">
                                          <p:val>
                                            <p:strVal val="#ppt_y+0.035"/>
                                          </p:val>
                                        </p:tav>
                                        <p:tav tm="100000">
                                          <p:val>
                                            <p:strVal val="#ppt_y"/>
                                          </p:val>
                                        </p:tav>
                                      </p:tavLst>
                                    </p:anim>
                                    <p:set>
                                      <p:cBhvr>
                                        <p:cTn id="81" dur="1" fill="hold">
                                          <p:stCondLst>
                                            <p:cond delay="0"/>
                                          </p:stCondLst>
                                        </p:cTn>
                                        <p:tgtEl>
                                          <p:spTgt spid="26"/>
                                        </p:tgtEl>
                                        <p:attrNameLst>
                                          <p:attrName>style.visibility</p:attrName>
                                        </p:attrNameLst>
                                      </p:cBhvr>
                                      <p:to>
                                        <p:strVal val="visible"/>
                                      </p:to>
                                    </p:set>
                                    <p:animEffect transition="in" filter="fade">
                                      <p:cBhvr>
                                        <p:cTn id="82" dur="420"/>
                                        <p:tgtEl>
                                          <p:spTgt spid="26"/>
                                        </p:tgtEl>
                                      </p:cBhvr>
                                    </p:animEffect>
                                    <p:anim calcmode="lin" valueType="num">
                                      <p:cBhvr additive="base">
                                        <p:cTn id="83" dur="420" fill="hold"/>
                                        <p:tgtEl>
                                          <p:spTgt spid="26"/>
                                        </p:tgtEl>
                                        <p:attrNameLst>
                                          <p:attrName>ppt_y</p:attrName>
                                        </p:attrNameLst>
                                      </p:cBhvr>
                                      <p:tavLst>
                                        <p:tav tm="0">
                                          <p:val>
                                            <p:strVal val="#ppt_y+0.035"/>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fade">
                                      <p:cBhvr>
                                        <p:cTn id="88" dur="420"/>
                                        <p:tgtEl>
                                          <p:spTgt spid="27"/>
                                        </p:tgtEl>
                                      </p:cBhvr>
                                    </p:animEffect>
                                    <p:anim calcmode="lin" valueType="num">
                                      <p:cBhvr additive="base">
                                        <p:cTn id="89" dur="420" fill="hold"/>
                                        <p:tgtEl>
                                          <p:spTgt spid="27"/>
                                        </p:tgtEl>
                                        <p:attrNameLst>
                                          <p:attrName>ppt_y</p:attrName>
                                        </p:attrNameLst>
                                      </p:cBhvr>
                                      <p:tavLst>
                                        <p:tav tm="0">
                                          <p:val>
                                            <p:strVal val="#ppt_y+0.035"/>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28"/>
                                        </p:tgtEl>
                                        <p:attrNameLst>
                                          <p:attrName>style.visibility</p:attrName>
                                        </p:attrNameLst>
                                      </p:cBhvr>
                                      <p:to>
                                        <p:strVal val="visible"/>
                                      </p:to>
                                    </p:set>
                                    <p:animEffect transition="in" filter="fade">
                                      <p:cBhvr>
                                        <p:cTn id="94" dur="420"/>
                                        <p:tgtEl>
                                          <p:spTgt spid="28"/>
                                        </p:tgtEl>
                                      </p:cBhvr>
                                    </p:animEffect>
                                    <p:anim calcmode="lin" valueType="num">
                                      <p:cBhvr additive="base">
                                        <p:cTn id="95" dur="420" fill="hold"/>
                                        <p:tgtEl>
                                          <p:spTgt spid="28"/>
                                        </p:tgtEl>
                                        <p:attrNameLst>
                                          <p:attrName>ppt_y</p:attrName>
                                        </p:attrNameLst>
                                      </p:cBhvr>
                                      <p:tavLst>
                                        <p:tav tm="0">
                                          <p:val>
                                            <p:strVal val="#ppt_y+0.035"/>
                                          </p:val>
                                        </p:tav>
                                        <p:tav tm="100000">
                                          <p:val>
                                            <p:strVal val="#ppt_y"/>
                                          </p:val>
                                        </p:tav>
                                      </p:tavLst>
                                    </p:anim>
                                    <p:set>
                                      <p:cBhvr>
                                        <p:cTn id="96" dur="1" fill="hold">
                                          <p:stCondLst>
                                            <p:cond delay="0"/>
                                          </p:stCondLst>
                                        </p:cTn>
                                        <p:tgtEl>
                                          <p:spTgt spid="29"/>
                                        </p:tgtEl>
                                        <p:attrNameLst>
                                          <p:attrName>style.visibility</p:attrName>
                                        </p:attrNameLst>
                                      </p:cBhvr>
                                      <p:to>
                                        <p:strVal val="visible"/>
                                      </p:to>
                                    </p:set>
                                    <p:animEffect transition="in" filter="fade">
                                      <p:cBhvr>
                                        <p:cTn id="97" dur="420"/>
                                        <p:tgtEl>
                                          <p:spTgt spid="29"/>
                                        </p:tgtEl>
                                      </p:cBhvr>
                                    </p:animEffect>
                                    <p:anim calcmode="lin" valueType="num">
                                      <p:cBhvr additive="base">
                                        <p:cTn id="98" dur="420" fill="hold"/>
                                        <p:tgtEl>
                                          <p:spTgt spid="29"/>
                                        </p:tgtEl>
                                        <p:attrNameLst>
                                          <p:attrName>ppt_y</p:attrName>
                                        </p:attrNameLst>
                                      </p:cBhvr>
                                      <p:tavLst>
                                        <p:tav tm="0">
                                          <p:val>
                                            <p:strVal val="#ppt_y+0.035"/>
                                          </p:val>
                                        </p:tav>
                                        <p:tav tm="100000">
                                          <p:val>
                                            <p:strVal val="#ppt_y"/>
                                          </p:val>
                                        </p:tav>
                                      </p:tavLst>
                                    </p:anim>
                                    <p:set>
                                      <p:cBhvr>
                                        <p:cTn id="99" dur="1" fill="hold">
                                          <p:stCondLst>
                                            <p:cond delay="0"/>
                                          </p:stCondLst>
                                        </p:cTn>
                                        <p:tgtEl>
                                          <p:spTgt spid="30"/>
                                        </p:tgtEl>
                                        <p:attrNameLst>
                                          <p:attrName>style.visibility</p:attrName>
                                        </p:attrNameLst>
                                      </p:cBhvr>
                                      <p:to>
                                        <p:strVal val="visible"/>
                                      </p:to>
                                    </p:set>
                                    <p:animEffect transition="in" filter="fade">
                                      <p:cBhvr>
                                        <p:cTn id="100" dur="420"/>
                                        <p:tgtEl>
                                          <p:spTgt spid="30"/>
                                        </p:tgtEl>
                                      </p:cBhvr>
                                    </p:animEffect>
                                    <p:anim calcmode="lin" valueType="num">
                                      <p:cBhvr additive="base">
                                        <p:cTn id="101" dur="420" fill="hold"/>
                                        <p:tgtEl>
                                          <p:spTgt spid="30"/>
                                        </p:tgtEl>
                                        <p:attrNameLst>
                                          <p:attrName>ppt_y</p:attrName>
                                        </p:attrNameLst>
                                      </p:cBhvr>
                                      <p:tavLst>
                                        <p:tav tm="0">
                                          <p:val>
                                            <p:strVal val="#ppt_y+0.035"/>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31"/>
                                        </p:tgtEl>
                                        <p:attrNameLst>
                                          <p:attrName>style.visibility</p:attrName>
                                        </p:attrNameLst>
                                      </p:cBhvr>
                                      <p:to>
                                        <p:strVal val="visible"/>
                                      </p:to>
                                    </p:set>
                                    <p:animEffect transition="in" filter="fade">
                                      <p:cBhvr>
                                        <p:cTn id="106" dur="420"/>
                                        <p:tgtEl>
                                          <p:spTgt spid="31"/>
                                        </p:tgtEl>
                                      </p:cBhvr>
                                    </p:animEffect>
                                    <p:anim calcmode="lin" valueType="num">
                                      <p:cBhvr additive="base">
                                        <p:cTn id="107" dur="420" fill="hold"/>
                                        <p:tgtEl>
                                          <p:spTgt spid="31"/>
                                        </p:tgtEl>
                                        <p:attrNameLst>
                                          <p:attrName>ppt_y</p:attrName>
                                        </p:attrNameLst>
                                      </p:cBhvr>
                                      <p:tavLst>
                                        <p:tav tm="0">
                                          <p:val>
                                            <p:strVal val="#ppt_y+0.035"/>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420"/>
                                        <p:tgtEl>
                                          <p:spTgt spid="25"/>
                                        </p:tgtEl>
                                      </p:cBhvr>
                                    </p:animEffect>
                                    <p:anim calcmode="lin" valueType="num">
                                      <p:cBhvr additive="base">
                                        <p:cTn id="113" dur="420" fill="hold"/>
                                        <p:tgtEl>
                                          <p:spTgt spid="2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animBg="1"/>
      <p:bldP spid="26" grpId="0"/>
      <p:bldP spid="27" grpId="0" animBg="1"/>
      <p:bldP spid="28" grpId="0" animBg="1"/>
      <p:bldP spid="29" grpId="0"/>
      <p:bldP spid="30" grpId="0"/>
      <p:bldP spid="31" grpId="0" animBg="1"/>
      <p:bldP spid="32" grpId="0"/>
      <p:bldP spid="33" grpId="0"/>
      <p:bldP spid="34" grpId="0"/>
      <p:bldP spid="35" grpId="0"/>
      <p:bldP spid="36" grpId="0"/>
      <p:bldP spid="37" grpId="0"/>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05</a:t>
            </a:r>
            <a:r>
              <a:rPr lang="en-US" sz="1150" b="1" kern="0" spc="160" dirty="0">
                <a:solidFill>
                  <a:srgbClr val="6E7781"/>
                </a:solidFill>
                <a:latin typeface="Calibri" pitchFamily="34" charset="0"/>
                <a:ea typeface="Calibri" pitchFamily="34" charset="-122"/>
                <a:cs typeface="Calibri" pitchFamily="34" charset="-120"/>
              </a:rPr>
              <a:t>   THE HANDS-ON TEST</a:t>
            </a:r>
            <a:endParaRPr lang="en-US" sz="1150" dirty="0"/>
          </a:p>
        </p:txBody>
      </p:sp>
      <p:sp>
        <p:nvSpPr>
          <p:cNvPr id="3" name="Shape 1"/>
          <p:cNvSpPr/>
          <p:nvPr/>
        </p:nvSpPr>
        <p:spPr>
          <a:xfrm>
            <a:off x="10351008" y="393192"/>
            <a:ext cx="1271016" cy="292608"/>
          </a:xfrm>
          <a:prstGeom prst="roundRect">
            <a:avLst>
              <a:gd name="adj" fmla="val 59375"/>
            </a:avLst>
          </a:prstGeom>
          <a:solidFill>
            <a:srgbClr val="C2410C"/>
          </a:solidFill>
          <a:ln/>
        </p:spPr>
      </p:sp>
      <p:sp>
        <p:nvSpPr>
          <p:cNvPr id="4" name="Text 2"/>
          <p:cNvSpPr/>
          <p:nvPr/>
        </p:nvSpPr>
        <p:spPr>
          <a:xfrm>
            <a:off x="10351008" y="393192"/>
            <a:ext cx="1271016" cy="292608"/>
          </a:xfrm>
          <a:prstGeom prst="rect">
            <a:avLst/>
          </a:prstGeom>
          <a:noFill/>
          <a:ln/>
        </p:spPr>
        <p:txBody>
          <a:bodyPr wrap="square" lIns="0" tIns="0" rIns="0" bIns="0" rtlCol="0" anchor="ctr"/>
          <a:lstStyle/>
          <a:p>
            <a:pPr marL="0" indent="0" algn="ctr">
              <a:buNone/>
            </a:pPr>
            <a:r>
              <a:rPr lang="en-US" sz="950" b="1" kern="0" spc="120" dirty="0">
                <a:solidFill>
                  <a:srgbClr val="FFFFFF"/>
                </a:solidFill>
                <a:latin typeface="Calibri" pitchFamily="34" charset="0"/>
                <a:ea typeface="Calibri" pitchFamily="34" charset="-122"/>
                <a:cs typeface="Calibri" pitchFamily="34" charset="-120"/>
              </a:rPr>
              <a:t>PRACTICE</a:t>
            </a:r>
            <a:endParaRPr lang="en-US" sz="950" dirty="0"/>
          </a:p>
        </p:txBody>
      </p:sp>
      <p:sp>
        <p:nvSpPr>
          <p:cNvPr id="5" name="Text 3"/>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Four apps, four prompts, four skills</a:t>
            </a:r>
            <a:endParaRPr lang="en-US" sz="3200" dirty="0"/>
          </a:p>
        </p:txBody>
      </p:sp>
      <p:sp>
        <p:nvSpPr>
          <p:cNvPr id="6" name="Text 4"/>
          <p:cNvSpPr/>
          <p:nvPr/>
        </p:nvSpPr>
        <p:spPr>
          <a:xfrm>
            <a:off x="566928" y="1389888"/>
            <a:ext cx="11055096" cy="566928"/>
          </a:xfrm>
          <a:prstGeom prst="rect">
            <a:avLst/>
          </a:prstGeom>
          <a:noFill/>
          <a:ln/>
        </p:spPr>
        <p:txBody>
          <a:bodyPr wrap="square" lIns="0" tIns="0" rIns="0" bIns="0" rtlCol="0" anchor="t"/>
          <a:lstStyle/>
          <a:p>
            <a:pPr marL="0" indent="0">
              <a:lnSpc>
                <a:spcPts val="1850"/>
              </a:lnSpc>
              <a:buNone/>
            </a:pPr>
            <a:r>
              <a:rPr lang="en-US" sz="1350" dirty="0">
                <a:solidFill>
                  <a:srgbClr val="2B3138"/>
                </a:solidFill>
                <a:latin typeface="Calibri" pitchFamily="34" charset="0"/>
                <a:ea typeface="Calibri" pitchFamily="34" charset="-122"/>
                <a:cs typeface="Calibri" pitchFamily="34" charset="-120"/>
              </a:rPr>
              <a:t>Each one is a real slice of the stack — small enough to finish, big enough to fail honestly. Same prompt, same skill and the same acceptance criteria go to both tools, and the four apps are deliberately not four phases: a calendar cannot fail, an app that does not build can.</a:t>
            </a:r>
            <a:endParaRPr lang="en-US" sz="1350" dirty="0"/>
          </a:p>
        </p:txBody>
      </p:sp>
      <p:sp>
        <p:nvSpPr>
          <p:cNvPr id="7" name="Shape 5"/>
          <p:cNvSpPr/>
          <p:nvPr/>
        </p:nvSpPr>
        <p:spPr>
          <a:xfrm>
            <a:off x="566928" y="2212848"/>
            <a:ext cx="7589520" cy="3803904"/>
          </a:xfrm>
          <a:prstGeom prst="roundRect">
            <a:avLst>
              <a:gd name="adj" fmla="val 1442"/>
            </a:avLst>
          </a:prstGeom>
          <a:solidFill>
            <a:srgbClr val="F6F8FA"/>
          </a:solidFill>
          <a:ln w="9525">
            <a:solidFill>
              <a:srgbClr val="D8DEE4"/>
            </a:solidFill>
            <a:prstDash val="solid"/>
          </a:ln>
          <a:effectLst>
            <a:outerShdw blurRad="177800" dist="38100" dir="5400000" algn="bl" rotWithShape="0">
              <a:srgbClr val="8C959F">
                <a:alpha val="16000"/>
              </a:srgbClr>
            </a:outerShdw>
          </a:effectLst>
        </p:spPr>
      </p:sp>
      <p:sp>
        <p:nvSpPr>
          <p:cNvPr id="8" name="Text 6"/>
          <p:cNvSpPr/>
          <p:nvPr/>
        </p:nvSpPr>
        <p:spPr>
          <a:xfrm>
            <a:off x="859536" y="2414016"/>
            <a:ext cx="7004304" cy="237744"/>
          </a:xfrm>
          <a:prstGeom prst="rect">
            <a:avLst/>
          </a:prstGeom>
          <a:noFill/>
          <a:ln/>
        </p:spPr>
        <p:txBody>
          <a:bodyPr wrap="square" lIns="0" tIns="0" rIns="0" bIns="0" rtlCol="0" anchor="ctr"/>
          <a:lstStyle/>
          <a:p>
            <a:pPr marL="0" indent="0">
              <a:buNone/>
            </a:pPr>
            <a:r>
              <a:rPr lang="en-US" sz="950" b="1" kern="0" spc="140" dirty="0">
                <a:solidFill>
                  <a:srgbClr val="6E7781"/>
                </a:solidFill>
                <a:latin typeface="Calibri" pitchFamily="34" charset="0"/>
                <a:ea typeface="Calibri" pitchFamily="34" charset="-122"/>
                <a:cs typeface="Calibri" pitchFamily="34" charset="-120"/>
              </a:rPr>
              <a:t>THE FOUR APPS</a:t>
            </a:r>
            <a:endParaRPr lang="en-US" sz="950" dirty="0"/>
          </a:p>
        </p:txBody>
      </p:sp>
      <p:sp>
        <p:nvSpPr>
          <p:cNvPr id="9" name="Shape 7"/>
          <p:cNvSpPr/>
          <p:nvPr/>
        </p:nvSpPr>
        <p:spPr>
          <a:xfrm>
            <a:off x="877824" y="3099816"/>
            <a:ext cx="384048" cy="384048"/>
          </a:xfrm>
          <a:prstGeom prst="ellipse">
            <a:avLst/>
          </a:prstGeom>
          <a:solidFill>
            <a:srgbClr val="C2410C"/>
          </a:solidFill>
          <a:ln/>
        </p:spPr>
      </p:sp>
      <p:sp>
        <p:nvSpPr>
          <p:cNvPr id="10" name="Text 8"/>
          <p:cNvSpPr/>
          <p:nvPr/>
        </p:nvSpPr>
        <p:spPr>
          <a:xfrm>
            <a:off x="877824" y="309981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1426464" y="2926080"/>
            <a:ext cx="3931920" cy="731520"/>
          </a:xfrm>
          <a:prstGeom prst="rect">
            <a:avLst/>
          </a:prstGeom>
          <a:noFill/>
          <a:ln/>
        </p:spPr>
        <p:txBody>
          <a:bodyPr wrap="square" lIns="0" tIns="0" rIns="0" bIns="0" rtlCol="0" anchor="ctr"/>
          <a:lstStyle/>
          <a:p>
            <a:pPr marL="0" indent="0">
              <a:lnSpc>
                <a:spcPts val="1500"/>
              </a:lnSpc>
              <a:buNone/>
            </a:pPr>
            <a:r>
              <a:rPr lang="en-US" sz="1350" b="1" dirty="0">
                <a:solidFill>
                  <a:srgbClr val="15181D"/>
                </a:solidFill>
                <a:latin typeface="Calibri" pitchFamily="34" charset="0"/>
                <a:ea typeface="Calibri" pitchFamily="34" charset="-122"/>
                <a:cs typeface="Calibri" pitchFamily="34" charset="-120"/>
              </a:rPr>
              <a:t>DevExtreme DataGrid on React + Vite</a:t>
            </a:r>
            <a:endParaRPr lang="en-US" sz="1350" dirty="0"/>
          </a:p>
          <a:p>
            <a:pPr marL="0" indent="0">
              <a:lnSpc>
                <a:spcPts val="1500"/>
              </a:lnSpc>
              <a:buNone/>
            </a:pPr>
            <a:r>
              <a:rPr lang="en-US" sz="1000" b="1" dirty="0">
                <a:solidFill>
                  <a:srgbClr val="C2410C"/>
                </a:solidFill>
                <a:latin typeface="Calibri" pitchFamily="34" charset="0"/>
                <a:ea typeface="Calibri" pitchFamily="34" charset="-122"/>
                <a:cs typeface="Calibri" pitchFamily="34" charset="-120"/>
              </a:rPr>
              <a:t>React + DevExtreme</a:t>
            </a:r>
            <a:endParaRPr lang="en-US" sz="1350" dirty="0"/>
          </a:p>
        </p:txBody>
      </p:sp>
      <p:sp>
        <p:nvSpPr>
          <p:cNvPr id="12" name="Text 10"/>
          <p:cNvSpPr/>
          <p:nvPr/>
        </p:nvSpPr>
        <p:spPr>
          <a:xfrm>
            <a:off x="5504688" y="2926080"/>
            <a:ext cx="2505456" cy="731520"/>
          </a:xfrm>
          <a:prstGeom prst="rect">
            <a:avLst/>
          </a:prstGeom>
          <a:noFill/>
          <a:ln/>
        </p:spPr>
        <p:txBody>
          <a:bodyPr wrap="square" lIns="0" tIns="0" rIns="0" bIns="0" rtlCol="0" anchor="ctr"/>
          <a:lstStyle/>
          <a:p>
            <a:pPr marL="0" indent="0">
              <a:lnSpc>
                <a:spcPts val="1200"/>
              </a:lnSpc>
              <a:buNone/>
            </a:pPr>
            <a:r>
              <a:rPr lang="en-US" sz="850" dirty="0">
                <a:solidFill>
                  <a:srgbClr val="6E7781"/>
                </a:solidFill>
                <a:latin typeface="Courier New" pitchFamily="34" charset="0"/>
                <a:ea typeface="Courier New" pitchFamily="34" charset="-122"/>
                <a:cs typeface="Courier New" pitchFamily="34" charset="-120"/>
              </a:rPr>
              <a:t>React 19 · DevExtreme 26.1</a:t>
            </a:r>
            <a:endParaRPr lang="en-US" sz="850" dirty="0"/>
          </a:p>
          <a:p>
            <a:pPr marL="0" indent="0">
              <a:lnSpc>
                <a:spcPts val="1200"/>
              </a:lnSpc>
              <a:buNone/>
            </a:pPr>
            <a:r>
              <a:rPr lang="en-US" sz="850" dirty="0">
                <a:solidFill>
                  <a:srgbClr val="6E7781"/>
                </a:solidFill>
                <a:latin typeface="Courier New" pitchFamily="34" charset="0"/>
                <a:ea typeface="Courier New" pitchFamily="34" charset="-122"/>
                <a:cs typeface="Courier New" pitchFamily="34" charset="-120"/>
              </a:rPr>
              <a:t>Vite · Vitest · Playwright</a:t>
            </a:r>
            <a:endParaRPr lang="en-US" sz="850" dirty="0"/>
          </a:p>
        </p:txBody>
      </p:sp>
      <p:sp>
        <p:nvSpPr>
          <p:cNvPr id="13" name="Shape 11"/>
          <p:cNvSpPr/>
          <p:nvPr/>
        </p:nvSpPr>
        <p:spPr>
          <a:xfrm>
            <a:off x="713232" y="3657600"/>
            <a:ext cx="7296912" cy="731520"/>
          </a:xfrm>
          <a:prstGeom prst="rect">
            <a:avLst/>
          </a:prstGeom>
          <a:solidFill>
            <a:srgbClr val="FFFFFF"/>
          </a:solidFill>
          <a:ln/>
        </p:spPr>
      </p:sp>
      <p:sp>
        <p:nvSpPr>
          <p:cNvPr id="14" name="Shape 12"/>
          <p:cNvSpPr/>
          <p:nvPr/>
        </p:nvSpPr>
        <p:spPr>
          <a:xfrm>
            <a:off x="877824" y="3831336"/>
            <a:ext cx="384048" cy="384048"/>
          </a:xfrm>
          <a:prstGeom prst="ellipse">
            <a:avLst/>
          </a:prstGeom>
          <a:solidFill>
            <a:srgbClr val="0969DA"/>
          </a:solidFill>
          <a:ln/>
        </p:spPr>
      </p:sp>
      <p:sp>
        <p:nvSpPr>
          <p:cNvPr id="15" name="Text 13"/>
          <p:cNvSpPr/>
          <p:nvPr/>
        </p:nvSpPr>
        <p:spPr>
          <a:xfrm>
            <a:off x="877824" y="383133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1426464" y="3657600"/>
            <a:ext cx="3931920" cy="731520"/>
          </a:xfrm>
          <a:prstGeom prst="rect">
            <a:avLst/>
          </a:prstGeom>
          <a:noFill/>
          <a:ln/>
        </p:spPr>
        <p:txBody>
          <a:bodyPr wrap="square" lIns="0" tIns="0" rIns="0" bIns="0" rtlCol="0" anchor="ctr"/>
          <a:lstStyle/>
          <a:p>
            <a:pPr marL="0" indent="0">
              <a:lnSpc>
                <a:spcPts val="1500"/>
              </a:lnSpc>
              <a:buNone/>
            </a:pPr>
            <a:r>
              <a:rPr lang="en-US" sz="1350" b="1" dirty="0">
                <a:solidFill>
                  <a:srgbClr val="15181D"/>
                </a:solidFill>
                <a:latin typeface="Calibri" pitchFamily="34" charset="0"/>
                <a:ea typeface="Calibri" pitchFamily="34" charset="-122"/>
                <a:cs typeface="Calibri" pitchFamily="34" charset="-120"/>
              </a:rPr>
              <a:t>The same grid, in Angular</a:t>
            </a:r>
            <a:endParaRPr lang="en-US" sz="1350" dirty="0"/>
          </a:p>
          <a:p>
            <a:pPr marL="0" indent="0">
              <a:lnSpc>
                <a:spcPts val="1500"/>
              </a:lnSpc>
              <a:buNone/>
            </a:pPr>
            <a:r>
              <a:rPr lang="en-US" sz="1000" b="1" dirty="0">
                <a:solidFill>
                  <a:srgbClr val="0969DA"/>
                </a:solidFill>
                <a:latin typeface="Calibri" pitchFamily="34" charset="0"/>
                <a:ea typeface="Calibri" pitchFamily="34" charset="-122"/>
                <a:cs typeface="Calibri" pitchFamily="34" charset="-120"/>
              </a:rPr>
              <a:t>Angular + DevExtreme</a:t>
            </a:r>
            <a:endParaRPr lang="en-US" sz="1350" dirty="0"/>
          </a:p>
        </p:txBody>
      </p:sp>
      <p:sp>
        <p:nvSpPr>
          <p:cNvPr id="17" name="Text 15"/>
          <p:cNvSpPr/>
          <p:nvPr/>
        </p:nvSpPr>
        <p:spPr>
          <a:xfrm>
            <a:off x="5504688" y="3657600"/>
            <a:ext cx="2505456" cy="731520"/>
          </a:xfrm>
          <a:prstGeom prst="rect">
            <a:avLst/>
          </a:prstGeom>
          <a:noFill/>
          <a:ln/>
        </p:spPr>
        <p:txBody>
          <a:bodyPr wrap="square" lIns="0" tIns="0" rIns="0" bIns="0" rtlCol="0" anchor="ctr"/>
          <a:lstStyle/>
          <a:p>
            <a:pPr marL="0" indent="0">
              <a:lnSpc>
                <a:spcPts val="1200"/>
              </a:lnSpc>
              <a:buNone/>
            </a:pPr>
            <a:r>
              <a:rPr lang="en-US" sz="850" dirty="0">
                <a:solidFill>
                  <a:srgbClr val="6E7781"/>
                </a:solidFill>
                <a:latin typeface="Courier New" pitchFamily="34" charset="0"/>
                <a:ea typeface="Courier New" pitchFamily="34" charset="-122"/>
                <a:cs typeface="Courier New" pitchFamily="34" charset="-120"/>
              </a:rPr>
              <a:t>Angular 22 · DevExtreme 26.1</a:t>
            </a:r>
            <a:endParaRPr lang="en-US" sz="850" dirty="0"/>
          </a:p>
          <a:p>
            <a:pPr marL="0" indent="0">
              <a:lnSpc>
                <a:spcPts val="1200"/>
              </a:lnSpc>
              <a:buNone/>
            </a:pPr>
            <a:r>
              <a:rPr lang="en-US" sz="850" dirty="0">
                <a:solidFill>
                  <a:srgbClr val="6E7781"/>
                </a:solidFill>
                <a:latin typeface="Courier New" pitchFamily="34" charset="0"/>
                <a:ea typeface="Courier New" pitchFamily="34" charset="-122"/>
                <a:cs typeface="Courier New" pitchFamily="34" charset="-120"/>
              </a:rPr>
              <a:t>.NET 10 · Vitest · TypeScript</a:t>
            </a:r>
            <a:endParaRPr lang="en-US" sz="850" dirty="0"/>
          </a:p>
        </p:txBody>
      </p:sp>
      <p:sp>
        <p:nvSpPr>
          <p:cNvPr id="18" name="Shape 16"/>
          <p:cNvSpPr/>
          <p:nvPr/>
        </p:nvSpPr>
        <p:spPr>
          <a:xfrm>
            <a:off x="877824" y="4562856"/>
            <a:ext cx="384048" cy="384048"/>
          </a:xfrm>
          <a:prstGeom prst="ellipse">
            <a:avLst/>
          </a:prstGeom>
          <a:solidFill>
            <a:srgbClr val="C2410C"/>
          </a:solidFill>
          <a:ln/>
        </p:spPr>
      </p:sp>
      <p:sp>
        <p:nvSpPr>
          <p:cNvPr id="19" name="Text 17"/>
          <p:cNvSpPr/>
          <p:nvPr/>
        </p:nvSpPr>
        <p:spPr>
          <a:xfrm>
            <a:off x="877824" y="456285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1426464" y="4389120"/>
            <a:ext cx="3931920" cy="731520"/>
          </a:xfrm>
          <a:prstGeom prst="rect">
            <a:avLst/>
          </a:prstGeom>
          <a:noFill/>
          <a:ln/>
        </p:spPr>
        <p:txBody>
          <a:bodyPr wrap="square" lIns="0" tIns="0" rIns="0" bIns="0" rtlCol="0" anchor="ctr"/>
          <a:lstStyle/>
          <a:p>
            <a:pPr marL="0" indent="0">
              <a:lnSpc>
                <a:spcPts val="1500"/>
              </a:lnSpc>
              <a:buNone/>
            </a:pPr>
            <a:r>
              <a:rPr lang="en-US" sz="1350" b="1" dirty="0">
                <a:solidFill>
                  <a:srgbClr val="15181D"/>
                </a:solidFill>
                <a:latin typeface="Calibri" pitchFamily="34" charset="0"/>
                <a:ea typeface="Calibri" pitchFamily="34" charset="-122"/>
                <a:cs typeface="Calibri" pitchFamily="34" charset="-120"/>
              </a:rPr>
              <a:t>A WPF desktop app that actually opens</a:t>
            </a:r>
            <a:endParaRPr lang="en-US" sz="1350" dirty="0"/>
          </a:p>
          <a:p>
            <a:pPr marL="0" indent="0">
              <a:lnSpc>
                <a:spcPts val="1500"/>
              </a:lnSpc>
              <a:buNone/>
            </a:pPr>
            <a:r>
              <a:rPr lang="en-US" sz="1000" b="1" dirty="0">
                <a:solidFill>
                  <a:srgbClr val="C2410C"/>
                </a:solidFill>
                <a:latin typeface="Calibri" pitchFamily="34" charset="0"/>
                <a:ea typeface="Calibri" pitchFamily="34" charset="-122"/>
                <a:cs typeface="Calibri" pitchFamily="34" charset="-120"/>
              </a:rPr>
              <a:t>Desktop (WPF)</a:t>
            </a:r>
            <a:endParaRPr lang="en-US" sz="1350" dirty="0"/>
          </a:p>
        </p:txBody>
      </p:sp>
      <p:sp>
        <p:nvSpPr>
          <p:cNvPr id="21" name="Text 19"/>
          <p:cNvSpPr/>
          <p:nvPr/>
        </p:nvSpPr>
        <p:spPr>
          <a:xfrm>
            <a:off x="5504688" y="4389120"/>
            <a:ext cx="2505456" cy="731520"/>
          </a:xfrm>
          <a:prstGeom prst="rect">
            <a:avLst/>
          </a:prstGeom>
          <a:noFill/>
          <a:ln/>
        </p:spPr>
        <p:txBody>
          <a:bodyPr wrap="square" lIns="0" tIns="0" rIns="0" bIns="0" rtlCol="0" anchor="ctr"/>
          <a:lstStyle/>
          <a:p>
            <a:pPr marL="0" indent="0">
              <a:lnSpc>
                <a:spcPts val="1200"/>
              </a:lnSpc>
              <a:buNone/>
            </a:pPr>
            <a:r>
              <a:rPr lang="en-US" sz="850" dirty="0">
                <a:solidFill>
                  <a:srgbClr val="6E7781"/>
                </a:solidFill>
                <a:latin typeface="Courier New" pitchFamily="34" charset="0"/>
                <a:ea typeface="Courier New" pitchFamily="34" charset="-122"/>
                <a:cs typeface="Courier New" pitchFamily="34" charset="-120"/>
              </a:rPr>
              <a:t>.NET 10 LTS · WPF · EF Core</a:t>
            </a:r>
            <a:endParaRPr lang="en-US" sz="850" dirty="0"/>
          </a:p>
          <a:p>
            <a:pPr marL="0" indent="0">
              <a:lnSpc>
                <a:spcPts val="1200"/>
              </a:lnSpc>
              <a:buNone/>
            </a:pPr>
            <a:r>
              <a:rPr lang="en-US" sz="850" dirty="0">
                <a:solidFill>
                  <a:srgbClr val="6E7781"/>
                </a:solidFill>
                <a:latin typeface="Courier New" pitchFamily="34" charset="0"/>
                <a:ea typeface="Courier New" pitchFamily="34" charset="-122"/>
                <a:cs typeface="Courier New" pitchFamily="34" charset="-120"/>
              </a:rPr>
              <a:t>CommunityToolkit.Mvvm · xUnit</a:t>
            </a:r>
            <a:endParaRPr lang="en-US" sz="850" dirty="0"/>
          </a:p>
        </p:txBody>
      </p:sp>
      <p:sp>
        <p:nvSpPr>
          <p:cNvPr id="22" name="Shape 20"/>
          <p:cNvSpPr/>
          <p:nvPr/>
        </p:nvSpPr>
        <p:spPr>
          <a:xfrm>
            <a:off x="713232" y="5120640"/>
            <a:ext cx="7296912" cy="731520"/>
          </a:xfrm>
          <a:prstGeom prst="rect">
            <a:avLst/>
          </a:prstGeom>
          <a:solidFill>
            <a:srgbClr val="FFFFFF"/>
          </a:solidFill>
          <a:ln/>
        </p:spPr>
      </p:sp>
      <p:sp>
        <p:nvSpPr>
          <p:cNvPr id="23" name="Shape 21"/>
          <p:cNvSpPr/>
          <p:nvPr/>
        </p:nvSpPr>
        <p:spPr>
          <a:xfrm>
            <a:off x="877824" y="5294376"/>
            <a:ext cx="384048" cy="384048"/>
          </a:xfrm>
          <a:prstGeom prst="ellipse">
            <a:avLst/>
          </a:prstGeom>
          <a:solidFill>
            <a:srgbClr val="0969DA"/>
          </a:solidFill>
          <a:ln/>
        </p:spPr>
      </p:sp>
      <p:sp>
        <p:nvSpPr>
          <p:cNvPr id="24" name="Text 22"/>
          <p:cNvSpPr/>
          <p:nvPr/>
        </p:nvSpPr>
        <p:spPr>
          <a:xfrm>
            <a:off x="877824" y="529437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1426464" y="5120640"/>
            <a:ext cx="3931920" cy="731520"/>
          </a:xfrm>
          <a:prstGeom prst="rect">
            <a:avLst/>
          </a:prstGeom>
          <a:noFill/>
          <a:ln/>
        </p:spPr>
        <p:txBody>
          <a:bodyPr wrap="square" lIns="0" tIns="0" rIns="0" bIns="0" rtlCol="0" anchor="ctr"/>
          <a:lstStyle/>
          <a:p>
            <a:pPr marL="0" indent="0">
              <a:lnSpc>
                <a:spcPts val="1500"/>
              </a:lnSpc>
              <a:buNone/>
            </a:pPr>
            <a:r>
              <a:rPr lang="en-US" sz="1350" b="1" dirty="0">
                <a:solidFill>
                  <a:srgbClr val="15181D"/>
                </a:solidFill>
                <a:latin typeface="Calibri" pitchFamily="34" charset="0"/>
                <a:ea typeface="Calibri" pitchFamily="34" charset="-122"/>
                <a:cs typeface="Calibri" pitchFamily="34" charset="-120"/>
              </a:rPr>
              <a:t>A weather API with no API key</a:t>
            </a:r>
            <a:endParaRPr lang="en-US" sz="1350" dirty="0"/>
          </a:p>
          <a:p>
            <a:pPr marL="0" indent="0">
              <a:lnSpc>
                <a:spcPts val="1500"/>
              </a:lnSpc>
              <a:buNone/>
            </a:pPr>
            <a:r>
              <a:rPr lang="en-US" sz="1000" b="1" dirty="0">
                <a:solidFill>
                  <a:srgbClr val="0969DA"/>
                </a:solidFill>
                <a:latin typeface="Calibri" pitchFamily="34" charset="0"/>
                <a:ea typeface="Calibri" pitchFamily="34" charset="-122"/>
                <a:cs typeface="Calibri" pitchFamily="34" charset="-120"/>
              </a:rPr>
              <a:t>Backend</a:t>
            </a:r>
            <a:endParaRPr lang="en-US" sz="1350" dirty="0"/>
          </a:p>
        </p:txBody>
      </p:sp>
      <p:sp>
        <p:nvSpPr>
          <p:cNvPr id="26" name="Text 24"/>
          <p:cNvSpPr/>
          <p:nvPr/>
        </p:nvSpPr>
        <p:spPr>
          <a:xfrm>
            <a:off x="5504688" y="5120640"/>
            <a:ext cx="2505456" cy="731520"/>
          </a:xfrm>
          <a:prstGeom prst="rect">
            <a:avLst/>
          </a:prstGeom>
          <a:noFill/>
          <a:ln/>
        </p:spPr>
        <p:txBody>
          <a:bodyPr wrap="square" lIns="0" tIns="0" rIns="0" bIns="0" rtlCol="0" anchor="ctr"/>
          <a:lstStyle/>
          <a:p>
            <a:pPr marL="0" indent="0">
              <a:lnSpc>
                <a:spcPts val="1200"/>
              </a:lnSpc>
              <a:buNone/>
            </a:pPr>
            <a:r>
              <a:rPr lang="en-US" sz="850" dirty="0">
                <a:solidFill>
                  <a:srgbClr val="6E7781"/>
                </a:solidFill>
                <a:latin typeface="Courier New" pitchFamily="34" charset="0"/>
                <a:ea typeface="Courier New" pitchFamily="34" charset="-122"/>
                <a:cs typeface="Courier New" pitchFamily="34" charset="-120"/>
              </a:rPr>
              <a:t>.NET 10 · minimal API</a:t>
            </a:r>
            <a:endParaRPr lang="en-US" sz="850" dirty="0"/>
          </a:p>
          <a:p>
            <a:pPr marL="0" indent="0">
              <a:lnSpc>
                <a:spcPts val="1200"/>
              </a:lnSpc>
              <a:buNone/>
            </a:pPr>
            <a:r>
              <a:rPr lang="en-US" sz="850" dirty="0">
                <a:solidFill>
                  <a:srgbClr val="6E7781"/>
                </a:solidFill>
                <a:latin typeface="Courier New" pitchFamily="34" charset="0"/>
                <a:ea typeface="Courier New" pitchFamily="34" charset="-122"/>
                <a:cs typeface="Courier New" pitchFamily="34" charset="-120"/>
              </a:rPr>
              <a:t>Open-Meteo · xUnit v3 · Docker</a:t>
            </a:r>
            <a:endParaRPr lang="en-US" sz="850" dirty="0"/>
          </a:p>
        </p:txBody>
      </p:sp>
      <p:sp>
        <p:nvSpPr>
          <p:cNvPr id="27" name="Shape 25"/>
          <p:cNvSpPr/>
          <p:nvPr/>
        </p:nvSpPr>
        <p:spPr>
          <a:xfrm>
            <a:off x="8375904" y="2212848"/>
            <a:ext cx="3246120" cy="3803904"/>
          </a:xfrm>
          <a:prstGeom prst="roundRect">
            <a:avLst>
              <a:gd name="adj" fmla="val 1690"/>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28" name="Text 26"/>
          <p:cNvSpPr/>
          <p:nvPr/>
        </p:nvSpPr>
        <p:spPr>
          <a:xfrm>
            <a:off x="8631936" y="2395728"/>
            <a:ext cx="2734056" cy="310896"/>
          </a:xfrm>
          <a:prstGeom prst="rect">
            <a:avLst/>
          </a:prstGeom>
          <a:noFill/>
          <a:ln/>
        </p:spPr>
        <p:txBody>
          <a:bodyPr wrap="square" lIns="0" tIns="0" rIns="0" bIns="0" rtlCol="0" anchor="ctr"/>
          <a:lstStyle/>
          <a:p>
            <a:pPr marL="0" indent="0">
              <a:buNone/>
            </a:pPr>
            <a:r>
              <a:rPr lang="en-US" sz="1550" b="1" dirty="0">
                <a:solidFill>
                  <a:srgbClr val="C2410C"/>
                </a:solidFill>
                <a:latin typeface="Cambria" pitchFamily="34" charset="0"/>
                <a:ea typeface="Cambria" pitchFamily="34" charset="-122"/>
                <a:cs typeface="Cambria" pitchFamily="34" charset="-120"/>
              </a:rPr>
              <a:t>Record only these four</a:t>
            </a:r>
            <a:endParaRPr lang="en-US" sz="1550" dirty="0"/>
          </a:p>
        </p:txBody>
      </p:sp>
      <p:sp>
        <p:nvSpPr>
          <p:cNvPr id="29" name="Text 27"/>
          <p:cNvSpPr/>
          <p:nvPr/>
        </p:nvSpPr>
        <p:spPr>
          <a:xfrm>
            <a:off x="8631936" y="2724912"/>
            <a:ext cx="2734056" cy="219456"/>
          </a:xfrm>
          <a:prstGeom prst="rect">
            <a:avLst/>
          </a:prstGeom>
          <a:noFill/>
          <a:ln/>
        </p:spPr>
        <p:txBody>
          <a:bodyPr wrap="square" lIns="0" tIns="0" rIns="0" bIns="0" rtlCol="0" anchor="ctr"/>
          <a:lstStyle/>
          <a:p>
            <a:pPr marL="0" indent="0">
              <a:buNone/>
            </a:pPr>
            <a:r>
              <a:rPr lang="en-US" sz="950" dirty="0">
                <a:solidFill>
                  <a:srgbClr val="6E7781"/>
                </a:solidFill>
                <a:latin typeface="Calibri" pitchFamily="34" charset="0"/>
                <a:ea typeface="Calibri" pitchFamily="34" charset="-122"/>
                <a:cs typeface="Calibri" pitchFamily="34" charset="-120"/>
              </a:rPr>
              <a:t>every one is machine-checkable</a:t>
            </a:r>
            <a:endParaRPr lang="en-US" sz="950" dirty="0"/>
          </a:p>
        </p:txBody>
      </p:sp>
      <p:sp>
        <p:nvSpPr>
          <p:cNvPr id="30" name="Text 28"/>
          <p:cNvSpPr/>
          <p:nvPr/>
        </p:nvSpPr>
        <p:spPr>
          <a:xfrm>
            <a:off x="8631936" y="3182112"/>
            <a:ext cx="2734056" cy="2633472"/>
          </a:xfrm>
          <a:prstGeom prst="rect">
            <a:avLst/>
          </a:prstGeom>
          <a:noFill/>
          <a:ln/>
        </p:spPr>
        <p:txBody>
          <a:bodyPr wrap="square" lIns="0" tIns="0" rIns="0" bIns="0" rtlCol="0" anchor="t"/>
          <a:lstStyle/>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Turns to green.</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Nudges needed.</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Human-active versus waiting.</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Criteria passed unedited.</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Nothing else — the comparison should not rest on anyone's impression of the experience.</a:t>
            </a:r>
            <a:endParaRPr lang="en-US" sz="1100" dirty="0"/>
          </a:p>
        </p:txBody>
      </p:sp>
      <p:sp>
        <p:nvSpPr>
          <p:cNvPr id="31"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anim calcmode="lin" valueType="num">
                                      <p:cBhvr additive="base">
                                        <p:cTn id="8" dur="420" fill="hold"/>
                                        <p:tgtEl>
                                          <p:spTgt spid="7"/>
                                        </p:tgtEl>
                                        <p:attrNameLst>
                                          <p:attrName>ppt_y</p:attrName>
                                        </p:attrNameLst>
                                      </p:cBhvr>
                                      <p:tavLst>
                                        <p:tav tm="0">
                                          <p:val>
                                            <p:strVal val="#ppt_y+0.035"/>
                                          </p:val>
                                        </p:tav>
                                        <p:tav tm="100000">
                                          <p:val>
                                            <p:strVal val="#ppt_y"/>
                                          </p:val>
                                        </p:tav>
                                      </p:tavLst>
                                    </p:anim>
                                    <p:set>
                                      <p:cBhvr>
                                        <p:cTn id="9" dur="1" fill="hold">
                                          <p:stCondLst>
                                            <p:cond delay="0"/>
                                          </p:stCondLst>
                                        </p:cTn>
                                        <p:tgtEl>
                                          <p:spTgt spid="27"/>
                                        </p:tgtEl>
                                        <p:attrNameLst>
                                          <p:attrName>style.visibility</p:attrName>
                                        </p:attrNameLst>
                                      </p:cBhvr>
                                      <p:to>
                                        <p:strVal val="visible"/>
                                      </p:to>
                                    </p:set>
                                    <p:animEffect transition="in" filter="fade">
                                      <p:cBhvr>
                                        <p:cTn id="10" dur="420"/>
                                        <p:tgtEl>
                                          <p:spTgt spid="27"/>
                                        </p:tgtEl>
                                      </p:cBhvr>
                                    </p:animEffect>
                                    <p:anim calcmode="lin" valueType="num">
                                      <p:cBhvr additive="base">
                                        <p:cTn id="11" dur="420" fill="hold"/>
                                        <p:tgtEl>
                                          <p:spTgt spid="27"/>
                                        </p:tgtEl>
                                        <p:attrNameLst>
                                          <p:attrName>ppt_y</p:attrName>
                                        </p:attrNameLst>
                                      </p:cBhvr>
                                      <p:tavLst>
                                        <p:tav tm="0">
                                          <p:val>
                                            <p:strVal val="#ppt_y+0.035"/>
                                          </p:val>
                                        </p:tav>
                                        <p:tav tm="100000">
                                          <p:val>
                                            <p:strVal val="#ppt_y"/>
                                          </p:val>
                                        </p:tav>
                                      </p:tavLst>
                                    </p:anim>
                                    <p:set>
                                      <p:cBhvr>
                                        <p:cTn id="12" dur="1" fill="hold">
                                          <p:stCondLst>
                                            <p:cond delay="0"/>
                                          </p:stCondLst>
                                        </p:cTn>
                                        <p:tgtEl>
                                          <p:spTgt spid="28"/>
                                        </p:tgtEl>
                                        <p:attrNameLst>
                                          <p:attrName>style.visibility</p:attrName>
                                        </p:attrNameLst>
                                      </p:cBhvr>
                                      <p:to>
                                        <p:strVal val="visible"/>
                                      </p:to>
                                    </p:set>
                                    <p:animEffect transition="in" filter="fade">
                                      <p:cBhvr>
                                        <p:cTn id="13" dur="420"/>
                                        <p:tgtEl>
                                          <p:spTgt spid="28"/>
                                        </p:tgtEl>
                                      </p:cBhvr>
                                    </p:animEffect>
                                    <p:anim calcmode="lin" valueType="num">
                                      <p:cBhvr additive="base">
                                        <p:cTn id="14" dur="420" fill="hold"/>
                                        <p:tgtEl>
                                          <p:spTgt spid="28"/>
                                        </p:tgtEl>
                                        <p:attrNameLst>
                                          <p:attrName>ppt_y</p:attrName>
                                        </p:attrNameLst>
                                      </p:cBhvr>
                                      <p:tavLst>
                                        <p:tav tm="0">
                                          <p:val>
                                            <p:strVal val="#ppt_y+0.035"/>
                                          </p:val>
                                        </p:tav>
                                        <p:tav tm="100000">
                                          <p:val>
                                            <p:strVal val="#ppt_y"/>
                                          </p:val>
                                        </p:tav>
                                      </p:tavLst>
                                    </p:anim>
                                    <p:set>
                                      <p:cBhvr>
                                        <p:cTn id="15" dur="1" fill="hold">
                                          <p:stCondLst>
                                            <p:cond delay="0"/>
                                          </p:stCondLst>
                                        </p:cTn>
                                        <p:tgtEl>
                                          <p:spTgt spid="8"/>
                                        </p:tgtEl>
                                        <p:attrNameLst>
                                          <p:attrName>style.visibility</p:attrName>
                                        </p:attrNameLst>
                                      </p:cBhvr>
                                      <p:to>
                                        <p:strVal val="visible"/>
                                      </p:to>
                                    </p:set>
                                    <p:animEffect transition="in" filter="fade">
                                      <p:cBhvr>
                                        <p:cTn id="16" dur="420"/>
                                        <p:tgtEl>
                                          <p:spTgt spid="8"/>
                                        </p:tgtEl>
                                      </p:cBhvr>
                                    </p:animEffect>
                                    <p:anim calcmode="lin" valueType="num">
                                      <p:cBhvr additive="base">
                                        <p:cTn id="17" dur="420" fill="hold"/>
                                        <p:tgtEl>
                                          <p:spTgt spid="8"/>
                                        </p:tgtEl>
                                        <p:attrNameLst>
                                          <p:attrName>ppt_y</p:attrName>
                                        </p:attrNameLst>
                                      </p:cBhvr>
                                      <p:tavLst>
                                        <p:tav tm="0">
                                          <p:val>
                                            <p:strVal val="#ppt_y+0.035"/>
                                          </p:val>
                                        </p:tav>
                                        <p:tav tm="100000">
                                          <p:val>
                                            <p:strVal val="#ppt_y"/>
                                          </p:val>
                                        </p:tav>
                                      </p:tavLst>
                                    </p:anim>
                                    <p:set>
                                      <p:cBhvr>
                                        <p:cTn id="18" dur="1" fill="hold">
                                          <p:stCondLst>
                                            <p:cond delay="0"/>
                                          </p:stCondLst>
                                        </p:cTn>
                                        <p:tgtEl>
                                          <p:spTgt spid="29"/>
                                        </p:tgtEl>
                                        <p:attrNameLst>
                                          <p:attrName>style.visibility</p:attrName>
                                        </p:attrNameLst>
                                      </p:cBhvr>
                                      <p:to>
                                        <p:strVal val="visible"/>
                                      </p:to>
                                    </p:set>
                                    <p:animEffect transition="in" filter="fade">
                                      <p:cBhvr>
                                        <p:cTn id="19" dur="420"/>
                                        <p:tgtEl>
                                          <p:spTgt spid="29"/>
                                        </p:tgtEl>
                                      </p:cBhvr>
                                    </p:animEffect>
                                    <p:anim calcmode="lin" valueType="num">
                                      <p:cBhvr additive="base">
                                        <p:cTn id="20" dur="420" fill="hold"/>
                                        <p:tgtEl>
                                          <p:spTgt spid="29"/>
                                        </p:tgtEl>
                                        <p:attrNameLst>
                                          <p:attrName>ppt_y</p:attrName>
                                        </p:attrNameLst>
                                      </p:cBhvr>
                                      <p:tavLst>
                                        <p:tav tm="0">
                                          <p:val>
                                            <p:strVal val="#ppt_y+0.035"/>
                                          </p:val>
                                        </p:tav>
                                        <p:tav tm="100000">
                                          <p:val>
                                            <p:strVal val="#ppt_y"/>
                                          </p:val>
                                        </p:tav>
                                      </p:tavLst>
                                    </p:anim>
                                    <p:set>
                                      <p:cBhvr>
                                        <p:cTn id="21" dur="1" fill="hold">
                                          <p:stCondLst>
                                            <p:cond delay="0"/>
                                          </p:stCondLst>
                                        </p:cTn>
                                        <p:tgtEl>
                                          <p:spTgt spid="11"/>
                                        </p:tgtEl>
                                        <p:attrNameLst>
                                          <p:attrName>style.visibility</p:attrName>
                                        </p:attrNameLst>
                                      </p:cBhvr>
                                      <p:to>
                                        <p:strVal val="visible"/>
                                      </p:to>
                                    </p:set>
                                    <p:animEffect transition="in" filter="fade">
                                      <p:cBhvr>
                                        <p:cTn id="22" dur="420"/>
                                        <p:tgtEl>
                                          <p:spTgt spid="11"/>
                                        </p:tgtEl>
                                      </p:cBhvr>
                                    </p:animEffect>
                                    <p:anim calcmode="lin" valueType="num">
                                      <p:cBhvr additive="base">
                                        <p:cTn id="23" dur="420" fill="hold"/>
                                        <p:tgtEl>
                                          <p:spTgt spid="11"/>
                                        </p:tgtEl>
                                        <p:attrNameLst>
                                          <p:attrName>ppt_y</p:attrName>
                                        </p:attrNameLst>
                                      </p:cBhvr>
                                      <p:tavLst>
                                        <p:tav tm="0">
                                          <p:val>
                                            <p:strVal val="#ppt_y+0.035"/>
                                          </p:val>
                                        </p:tav>
                                        <p:tav tm="100000">
                                          <p:val>
                                            <p:strVal val="#ppt_y"/>
                                          </p:val>
                                        </p:tav>
                                      </p:tavLst>
                                    </p:anim>
                                    <p:set>
                                      <p:cBhvr>
                                        <p:cTn id="24" dur="1" fill="hold">
                                          <p:stCondLst>
                                            <p:cond delay="0"/>
                                          </p:stCondLst>
                                        </p:cTn>
                                        <p:tgtEl>
                                          <p:spTgt spid="12"/>
                                        </p:tgtEl>
                                        <p:attrNameLst>
                                          <p:attrName>style.visibility</p:attrName>
                                        </p:attrNameLst>
                                      </p:cBhvr>
                                      <p:to>
                                        <p:strVal val="visible"/>
                                      </p:to>
                                    </p:set>
                                    <p:animEffect transition="in" filter="fade">
                                      <p:cBhvr>
                                        <p:cTn id="25" dur="420"/>
                                        <p:tgtEl>
                                          <p:spTgt spid="12"/>
                                        </p:tgtEl>
                                      </p:cBhvr>
                                    </p:animEffect>
                                    <p:anim calcmode="lin" valueType="num">
                                      <p:cBhvr additive="base">
                                        <p:cTn id="26" dur="420" fill="hold"/>
                                        <p:tgtEl>
                                          <p:spTgt spid="12"/>
                                        </p:tgtEl>
                                        <p:attrNameLst>
                                          <p:attrName>ppt_y</p:attrName>
                                        </p:attrNameLst>
                                      </p:cBhvr>
                                      <p:tavLst>
                                        <p:tav tm="0">
                                          <p:val>
                                            <p:strVal val="#ppt_y+0.035"/>
                                          </p:val>
                                        </p:tav>
                                        <p:tav tm="100000">
                                          <p:val>
                                            <p:strVal val="#ppt_y"/>
                                          </p:val>
                                        </p:tav>
                                      </p:tavLst>
                                    </p:anim>
                                    <p:set>
                                      <p:cBhvr>
                                        <p:cTn id="27" dur="1" fill="hold">
                                          <p:stCondLst>
                                            <p:cond delay="0"/>
                                          </p:stCondLst>
                                        </p:cTn>
                                        <p:tgtEl>
                                          <p:spTgt spid="9"/>
                                        </p:tgtEl>
                                        <p:attrNameLst>
                                          <p:attrName>style.visibility</p:attrName>
                                        </p:attrNameLst>
                                      </p:cBhvr>
                                      <p:to>
                                        <p:strVal val="visible"/>
                                      </p:to>
                                    </p:set>
                                    <p:animEffect transition="in" filter="fade">
                                      <p:cBhvr>
                                        <p:cTn id="28" dur="420"/>
                                        <p:tgtEl>
                                          <p:spTgt spid="9"/>
                                        </p:tgtEl>
                                      </p:cBhvr>
                                    </p:animEffect>
                                    <p:anim calcmode="lin" valueType="num">
                                      <p:cBhvr additive="base">
                                        <p:cTn id="29" dur="420" fill="hold"/>
                                        <p:tgtEl>
                                          <p:spTgt spid="9"/>
                                        </p:tgtEl>
                                        <p:attrNameLst>
                                          <p:attrName>ppt_y</p:attrName>
                                        </p:attrNameLst>
                                      </p:cBhvr>
                                      <p:tavLst>
                                        <p:tav tm="0">
                                          <p:val>
                                            <p:strVal val="#ppt_y+0.035"/>
                                          </p:val>
                                        </p:tav>
                                        <p:tav tm="100000">
                                          <p:val>
                                            <p:strVal val="#ppt_y"/>
                                          </p:val>
                                        </p:tav>
                                      </p:tavLst>
                                    </p:anim>
                                    <p:set>
                                      <p:cBhvr>
                                        <p:cTn id="30" dur="1" fill="hold">
                                          <p:stCondLst>
                                            <p:cond delay="0"/>
                                          </p:stCondLst>
                                        </p:cTn>
                                        <p:tgtEl>
                                          <p:spTgt spid="10"/>
                                        </p:tgtEl>
                                        <p:attrNameLst>
                                          <p:attrName>style.visibility</p:attrName>
                                        </p:attrNameLst>
                                      </p:cBhvr>
                                      <p:to>
                                        <p:strVal val="visible"/>
                                      </p:to>
                                    </p:set>
                                    <p:animEffect transition="in" filter="fade">
                                      <p:cBhvr>
                                        <p:cTn id="31" dur="420"/>
                                        <p:tgtEl>
                                          <p:spTgt spid="10"/>
                                        </p:tgtEl>
                                      </p:cBhvr>
                                    </p:animEffect>
                                    <p:anim calcmode="lin" valueType="num">
                                      <p:cBhvr additive="base">
                                        <p:cTn id="32" dur="420" fill="hold"/>
                                        <p:tgtEl>
                                          <p:spTgt spid="10"/>
                                        </p:tgtEl>
                                        <p:attrNameLst>
                                          <p:attrName>ppt_y</p:attrName>
                                        </p:attrNameLst>
                                      </p:cBhvr>
                                      <p:tavLst>
                                        <p:tav tm="0">
                                          <p:val>
                                            <p:strVal val="#ppt_y+0.035"/>
                                          </p:val>
                                        </p:tav>
                                        <p:tav tm="100000">
                                          <p:val>
                                            <p:strVal val="#ppt_y"/>
                                          </p:val>
                                        </p:tav>
                                      </p:tavLst>
                                    </p:anim>
                                    <p:set>
                                      <p:cBhvr>
                                        <p:cTn id="33" dur="1" fill="hold">
                                          <p:stCondLst>
                                            <p:cond delay="0"/>
                                          </p:stCondLst>
                                        </p:cTn>
                                        <p:tgtEl>
                                          <p:spTgt spid="30"/>
                                        </p:tgtEl>
                                        <p:attrNameLst>
                                          <p:attrName>style.visibility</p:attrName>
                                        </p:attrNameLst>
                                      </p:cBhvr>
                                      <p:to>
                                        <p:strVal val="visible"/>
                                      </p:to>
                                    </p:set>
                                    <p:animEffect transition="in" filter="fade">
                                      <p:cBhvr>
                                        <p:cTn id="34" dur="420"/>
                                        <p:tgtEl>
                                          <p:spTgt spid="30"/>
                                        </p:tgtEl>
                                      </p:cBhvr>
                                    </p:animEffect>
                                    <p:anim calcmode="lin" valueType="num">
                                      <p:cBhvr additive="base">
                                        <p:cTn id="35" dur="420" fill="hold"/>
                                        <p:tgtEl>
                                          <p:spTgt spid="30"/>
                                        </p:tgtEl>
                                        <p:attrNameLst>
                                          <p:attrName>ppt_y</p:attrName>
                                        </p:attrNameLst>
                                      </p:cBhvr>
                                      <p:tavLst>
                                        <p:tav tm="0">
                                          <p:val>
                                            <p:strVal val="#ppt_y+0.035"/>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20"/>
                                        <p:tgtEl>
                                          <p:spTgt spid="13"/>
                                        </p:tgtEl>
                                      </p:cBhvr>
                                    </p:animEffect>
                                    <p:anim calcmode="lin" valueType="num">
                                      <p:cBhvr additive="base">
                                        <p:cTn id="41" dur="420" fill="hold"/>
                                        <p:tgtEl>
                                          <p:spTgt spid="13"/>
                                        </p:tgtEl>
                                        <p:attrNameLst>
                                          <p:attrName>ppt_y</p:attrName>
                                        </p:attrNameLst>
                                      </p:cBhvr>
                                      <p:tavLst>
                                        <p:tav tm="0">
                                          <p:val>
                                            <p:strVal val="#ppt_y+0.035"/>
                                          </p:val>
                                        </p:tav>
                                        <p:tav tm="100000">
                                          <p:val>
                                            <p:strVal val="#ppt_y"/>
                                          </p:val>
                                        </p:tav>
                                      </p:tavLst>
                                    </p:anim>
                                    <p:set>
                                      <p:cBhvr>
                                        <p:cTn id="42" dur="1" fill="hold">
                                          <p:stCondLst>
                                            <p:cond delay="0"/>
                                          </p:stCondLst>
                                        </p:cTn>
                                        <p:tgtEl>
                                          <p:spTgt spid="16"/>
                                        </p:tgtEl>
                                        <p:attrNameLst>
                                          <p:attrName>style.visibility</p:attrName>
                                        </p:attrNameLst>
                                      </p:cBhvr>
                                      <p:to>
                                        <p:strVal val="visible"/>
                                      </p:to>
                                    </p:set>
                                    <p:animEffect transition="in" filter="fade">
                                      <p:cBhvr>
                                        <p:cTn id="43" dur="420"/>
                                        <p:tgtEl>
                                          <p:spTgt spid="16"/>
                                        </p:tgtEl>
                                      </p:cBhvr>
                                    </p:animEffect>
                                    <p:anim calcmode="lin" valueType="num">
                                      <p:cBhvr additive="base">
                                        <p:cTn id="44" dur="420" fill="hold"/>
                                        <p:tgtEl>
                                          <p:spTgt spid="16"/>
                                        </p:tgtEl>
                                        <p:attrNameLst>
                                          <p:attrName>ppt_y</p:attrName>
                                        </p:attrNameLst>
                                      </p:cBhvr>
                                      <p:tavLst>
                                        <p:tav tm="0">
                                          <p:val>
                                            <p:strVal val="#ppt_y+0.035"/>
                                          </p:val>
                                        </p:tav>
                                        <p:tav tm="100000">
                                          <p:val>
                                            <p:strVal val="#ppt_y"/>
                                          </p:val>
                                        </p:tav>
                                      </p:tavLst>
                                    </p:anim>
                                    <p:set>
                                      <p:cBhvr>
                                        <p:cTn id="45" dur="1" fill="hold">
                                          <p:stCondLst>
                                            <p:cond delay="0"/>
                                          </p:stCondLst>
                                        </p:cTn>
                                        <p:tgtEl>
                                          <p:spTgt spid="17"/>
                                        </p:tgtEl>
                                        <p:attrNameLst>
                                          <p:attrName>style.visibility</p:attrName>
                                        </p:attrNameLst>
                                      </p:cBhvr>
                                      <p:to>
                                        <p:strVal val="visible"/>
                                      </p:to>
                                    </p:set>
                                    <p:animEffect transition="in" filter="fade">
                                      <p:cBhvr>
                                        <p:cTn id="46" dur="420"/>
                                        <p:tgtEl>
                                          <p:spTgt spid="17"/>
                                        </p:tgtEl>
                                      </p:cBhvr>
                                    </p:animEffect>
                                    <p:anim calcmode="lin" valueType="num">
                                      <p:cBhvr additive="base">
                                        <p:cTn id="47" dur="420" fill="hold"/>
                                        <p:tgtEl>
                                          <p:spTgt spid="17"/>
                                        </p:tgtEl>
                                        <p:attrNameLst>
                                          <p:attrName>ppt_y</p:attrName>
                                        </p:attrNameLst>
                                      </p:cBhvr>
                                      <p:tavLst>
                                        <p:tav tm="0">
                                          <p:val>
                                            <p:strVal val="#ppt_y+0.035"/>
                                          </p:val>
                                        </p:tav>
                                        <p:tav tm="100000">
                                          <p:val>
                                            <p:strVal val="#ppt_y"/>
                                          </p:val>
                                        </p:tav>
                                      </p:tavLst>
                                    </p:anim>
                                    <p:set>
                                      <p:cBhvr>
                                        <p:cTn id="48" dur="1" fill="hold">
                                          <p:stCondLst>
                                            <p:cond delay="0"/>
                                          </p:stCondLst>
                                        </p:cTn>
                                        <p:tgtEl>
                                          <p:spTgt spid="14"/>
                                        </p:tgtEl>
                                        <p:attrNameLst>
                                          <p:attrName>style.visibility</p:attrName>
                                        </p:attrNameLst>
                                      </p:cBhvr>
                                      <p:to>
                                        <p:strVal val="visible"/>
                                      </p:to>
                                    </p:set>
                                    <p:animEffect transition="in" filter="fade">
                                      <p:cBhvr>
                                        <p:cTn id="49" dur="420"/>
                                        <p:tgtEl>
                                          <p:spTgt spid="14"/>
                                        </p:tgtEl>
                                      </p:cBhvr>
                                    </p:animEffect>
                                    <p:anim calcmode="lin" valueType="num">
                                      <p:cBhvr additive="base">
                                        <p:cTn id="50" dur="420" fill="hold"/>
                                        <p:tgtEl>
                                          <p:spTgt spid="14"/>
                                        </p:tgtEl>
                                        <p:attrNameLst>
                                          <p:attrName>ppt_y</p:attrName>
                                        </p:attrNameLst>
                                      </p:cBhvr>
                                      <p:tavLst>
                                        <p:tav tm="0">
                                          <p:val>
                                            <p:strVal val="#ppt_y+0.035"/>
                                          </p:val>
                                        </p:tav>
                                        <p:tav tm="100000">
                                          <p:val>
                                            <p:strVal val="#ppt_y"/>
                                          </p:val>
                                        </p:tav>
                                      </p:tavLst>
                                    </p:anim>
                                    <p:set>
                                      <p:cBhvr>
                                        <p:cTn id="51" dur="1" fill="hold">
                                          <p:stCondLst>
                                            <p:cond delay="0"/>
                                          </p:stCondLst>
                                        </p:cTn>
                                        <p:tgtEl>
                                          <p:spTgt spid="15"/>
                                        </p:tgtEl>
                                        <p:attrNameLst>
                                          <p:attrName>style.visibility</p:attrName>
                                        </p:attrNameLst>
                                      </p:cBhvr>
                                      <p:to>
                                        <p:strVal val="visible"/>
                                      </p:to>
                                    </p:set>
                                    <p:animEffect transition="in" filter="fade">
                                      <p:cBhvr>
                                        <p:cTn id="52" dur="420"/>
                                        <p:tgtEl>
                                          <p:spTgt spid="15"/>
                                        </p:tgtEl>
                                      </p:cBhvr>
                                    </p:animEffect>
                                    <p:anim calcmode="lin" valueType="num">
                                      <p:cBhvr additive="base">
                                        <p:cTn id="53" dur="420" fill="hold"/>
                                        <p:tgtEl>
                                          <p:spTgt spid="15"/>
                                        </p:tgtEl>
                                        <p:attrNameLst>
                                          <p:attrName>ppt_y</p:attrName>
                                        </p:attrNameLst>
                                      </p:cBhvr>
                                      <p:tavLst>
                                        <p:tav tm="0">
                                          <p:val>
                                            <p:strVal val="#ppt_y+0.035"/>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20"/>
                                        <p:tgtEl>
                                          <p:spTgt spid="20"/>
                                        </p:tgtEl>
                                      </p:cBhvr>
                                    </p:animEffect>
                                    <p:anim calcmode="lin" valueType="num">
                                      <p:cBhvr additive="base">
                                        <p:cTn id="59" dur="420" fill="hold"/>
                                        <p:tgtEl>
                                          <p:spTgt spid="20"/>
                                        </p:tgtEl>
                                        <p:attrNameLst>
                                          <p:attrName>ppt_y</p:attrName>
                                        </p:attrNameLst>
                                      </p:cBhvr>
                                      <p:tavLst>
                                        <p:tav tm="0">
                                          <p:val>
                                            <p:strVal val="#ppt_y+0.035"/>
                                          </p:val>
                                        </p:tav>
                                        <p:tav tm="100000">
                                          <p:val>
                                            <p:strVal val="#ppt_y"/>
                                          </p:val>
                                        </p:tav>
                                      </p:tavLst>
                                    </p:anim>
                                    <p:set>
                                      <p:cBhvr>
                                        <p:cTn id="60" dur="1" fill="hold">
                                          <p:stCondLst>
                                            <p:cond delay="0"/>
                                          </p:stCondLst>
                                        </p:cTn>
                                        <p:tgtEl>
                                          <p:spTgt spid="21"/>
                                        </p:tgtEl>
                                        <p:attrNameLst>
                                          <p:attrName>style.visibility</p:attrName>
                                        </p:attrNameLst>
                                      </p:cBhvr>
                                      <p:to>
                                        <p:strVal val="visible"/>
                                      </p:to>
                                    </p:set>
                                    <p:animEffect transition="in" filter="fade">
                                      <p:cBhvr>
                                        <p:cTn id="61" dur="420"/>
                                        <p:tgtEl>
                                          <p:spTgt spid="21"/>
                                        </p:tgtEl>
                                      </p:cBhvr>
                                    </p:animEffect>
                                    <p:anim calcmode="lin" valueType="num">
                                      <p:cBhvr additive="base">
                                        <p:cTn id="62" dur="420" fill="hold"/>
                                        <p:tgtEl>
                                          <p:spTgt spid="21"/>
                                        </p:tgtEl>
                                        <p:attrNameLst>
                                          <p:attrName>ppt_y</p:attrName>
                                        </p:attrNameLst>
                                      </p:cBhvr>
                                      <p:tavLst>
                                        <p:tav tm="0">
                                          <p:val>
                                            <p:strVal val="#ppt_y+0.035"/>
                                          </p:val>
                                        </p:tav>
                                        <p:tav tm="100000">
                                          <p:val>
                                            <p:strVal val="#ppt_y"/>
                                          </p:val>
                                        </p:tav>
                                      </p:tavLst>
                                    </p:anim>
                                    <p:set>
                                      <p:cBhvr>
                                        <p:cTn id="63" dur="1" fill="hold">
                                          <p:stCondLst>
                                            <p:cond delay="0"/>
                                          </p:stCondLst>
                                        </p:cTn>
                                        <p:tgtEl>
                                          <p:spTgt spid="18"/>
                                        </p:tgtEl>
                                        <p:attrNameLst>
                                          <p:attrName>style.visibility</p:attrName>
                                        </p:attrNameLst>
                                      </p:cBhvr>
                                      <p:to>
                                        <p:strVal val="visible"/>
                                      </p:to>
                                    </p:set>
                                    <p:animEffect transition="in" filter="fade">
                                      <p:cBhvr>
                                        <p:cTn id="64" dur="420"/>
                                        <p:tgtEl>
                                          <p:spTgt spid="18"/>
                                        </p:tgtEl>
                                      </p:cBhvr>
                                    </p:animEffect>
                                    <p:anim calcmode="lin" valueType="num">
                                      <p:cBhvr additive="base">
                                        <p:cTn id="65" dur="420" fill="hold"/>
                                        <p:tgtEl>
                                          <p:spTgt spid="18"/>
                                        </p:tgtEl>
                                        <p:attrNameLst>
                                          <p:attrName>ppt_y</p:attrName>
                                        </p:attrNameLst>
                                      </p:cBhvr>
                                      <p:tavLst>
                                        <p:tav tm="0">
                                          <p:val>
                                            <p:strVal val="#ppt_y+0.035"/>
                                          </p:val>
                                        </p:tav>
                                        <p:tav tm="100000">
                                          <p:val>
                                            <p:strVal val="#ppt_y"/>
                                          </p:val>
                                        </p:tav>
                                      </p:tavLst>
                                    </p:anim>
                                    <p:set>
                                      <p:cBhvr>
                                        <p:cTn id="66" dur="1" fill="hold">
                                          <p:stCondLst>
                                            <p:cond delay="0"/>
                                          </p:stCondLst>
                                        </p:cTn>
                                        <p:tgtEl>
                                          <p:spTgt spid="19"/>
                                        </p:tgtEl>
                                        <p:attrNameLst>
                                          <p:attrName>style.visibility</p:attrName>
                                        </p:attrNameLst>
                                      </p:cBhvr>
                                      <p:to>
                                        <p:strVal val="visible"/>
                                      </p:to>
                                    </p:set>
                                    <p:animEffect transition="in" filter="fade">
                                      <p:cBhvr>
                                        <p:cTn id="67" dur="420"/>
                                        <p:tgtEl>
                                          <p:spTgt spid="19"/>
                                        </p:tgtEl>
                                      </p:cBhvr>
                                    </p:animEffect>
                                    <p:anim calcmode="lin" valueType="num">
                                      <p:cBhvr additive="base">
                                        <p:cTn id="68" dur="420" fill="hold"/>
                                        <p:tgtEl>
                                          <p:spTgt spid="19"/>
                                        </p:tgtEl>
                                        <p:attrNameLst>
                                          <p:attrName>ppt_y</p:attrName>
                                        </p:attrNameLst>
                                      </p:cBhvr>
                                      <p:tavLst>
                                        <p:tav tm="0">
                                          <p:val>
                                            <p:strVal val="#ppt_y+0.035"/>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420"/>
                                        <p:tgtEl>
                                          <p:spTgt spid="22"/>
                                        </p:tgtEl>
                                      </p:cBhvr>
                                    </p:animEffect>
                                    <p:anim calcmode="lin" valueType="num">
                                      <p:cBhvr additive="base">
                                        <p:cTn id="74" dur="420" fill="hold"/>
                                        <p:tgtEl>
                                          <p:spTgt spid="22"/>
                                        </p:tgtEl>
                                        <p:attrNameLst>
                                          <p:attrName>ppt_y</p:attrName>
                                        </p:attrNameLst>
                                      </p:cBhvr>
                                      <p:tavLst>
                                        <p:tav tm="0">
                                          <p:val>
                                            <p:strVal val="#ppt_y+0.035"/>
                                          </p:val>
                                        </p:tav>
                                        <p:tav tm="100000">
                                          <p:val>
                                            <p:strVal val="#ppt_y"/>
                                          </p:val>
                                        </p:tav>
                                      </p:tavLst>
                                    </p:anim>
                                    <p:set>
                                      <p:cBhvr>
                                        <p:cTn id="75" dur="1" fill="hold">
                                          <p:stCondLst>
                                            <p:cond delay="0"/>
                                          </p:stCondLst>
                                        </p:cTn>
                                        <p:tgtEl>
                                          <p:spTgt spid="25"/>
                                        </p:tgtEl>
                                        <p:attrNameLst>
                                          <p:attrName>style.visibility</p:attrName>
                                        </p:attrNameLst>
                                      </p:cBhvr>
                                      <p:to>
                                        <p:strVal val="visible"/>
                                      </p:to>
                                    </p:set>
                                    <p:animEffect transition="in" filter="fade">
                                      <p:cBhvr>
                                        <p:cTn id="76" dur="420"/>
                                        <p:tgtEl>
                                          <p:spTgt spid="25"/>
                                        </p:tgtEl>
                                      </p:cBhvr>
                                    </p:animEffect>
                                    <p:anim calcmode="lin" valueType="num">
                                      <p:cBhvr additive="base">
                                        <p:cTn id="77" dur="420" fill="hold"/>
                                        <p:tgtEl>
                                          <p:spTgt spid="25"/>
                                        </p:tgtEl>
                                        <p:attrNameLst>
                                          <p:attrName>ppt_y</p:attrName>
                                        </p:attrNameLst>
                                      </p:cBhvr>
                                      <p:tavLst>
                                        <p:tav tm="0">
                                          <p:val>
                                            <p:strVal val="#ppt_y+0.035"/>
                                          </p:val>
                                        </p:tav>
                                        <p:tav tm="100000">
                                          <p:val>
                                            <p:strVal val="#ppt_y"/>
                                          </p:val>
                                        </p:tav>
                                      </p:tavLst>
                                    </p:anim>
                                    <p:set>
                                      <p:cBhvr>
                                        <p:cTn id="78" dur="1" fill="hold">
                                          <p:stCondLst>
                                            <p:cond delay="0"/>
                                          </p:stCondLst>
                                        </p:cTn>
                                        <p:tgtEl>
                                          <p:spTgt spid="26"/>
                                        </p:tgtEl>
                                        <p:attrNameLst>
                                          <p:attrName>style.visibility</p:attrName>
                                        </p:attrNameLst>
                                      </p:cBhvr>
                                      <p:to>
                                        <p:strVal val="visible"/>
                                      </p:to>
                                    </p:set>
                                    <p:animEffect transition="in" filter="fade">
                                      <p:cBhvr>
                                        <p:cTn id="79" dur="420"/>
                                        <p:tgtEl>
                                          <p:spTgt spid="26"/>
                                        </p:tgtEl>
                                      </p:cBhvr>
                                    </p:animEffect>
                                    <p:anim calcmode="lin" valueType="num">
                                      <p:cBhvr additive="base">
                                        <p:cTn id="80" dur="420" fill="hold"/>
                                        <p:tgtEl>
                                          <p:spTgt spid="26"/>
                                        </p:tgtEl>
                                        <p:attrNameLst>
                                          <p:attrName>ppt_y</p:attrName>
                                        </p:attrNameLst>
                                      </p:cBhvr>
                                      <p:tavLst>
                                        <p:tav tm="0">
                                          <p:val>
                                            <p:strVal val="#ppt_y+0.035"/>
                                          </p:val>
                                        </p:tav>
                                        <p:tav tm="100000">
                                          <p:val>
                                            <p:strVal val="#ppt_y"/>
                                          </p:val>
                                        </p:tav>
                                      </p:tavLst>
                                    </p:anim>
                                    <p:set>
                                      <p:cBhvr>
                                        <p:cTn id="81" dur="1" fill="hold">
                                          <p:stCondLst>
                                            <p:cond delay="0"/>
                                          </p:stCondLst>
                                        </p:cTn>
                                        <p:tgtEl>
                                          <p:spTgt spid="23"/>
                                        </p:tgtEl>
                                        <p:attrNameLst>
                                          <p:attrName>style.visibility</p:attrName>
                                        </p:attrNameLst>
                                      </p:cBhvr>
                                      <p:to>
                                        <p:strVal val="visible"/>
                                      </p:to>
                                    </p:set>
                                    <p:animEffect transition="in" filter="fade">
                                      <p:cBhvr>
                                        <p:cTn id="82" dur="420"/>
                                        <p:tgtEl>
                                          <p:spTgt spid="23"/>
                                        </p:tgtEl>
                                      </p:cBhvr>
                                    </p:animEffect>
                                    <p:anim calcmode="lin" valueType="num">
                                      <p:cBhvr additive="base">
                                        <p:cTn id="83" dur="420" fill="hold"/>
                                        <p:tgtEl>
                                          <p:spTgt spid="23"/>
                                        </p:tgtEl>
                                        <p:attrNameLst>
                                          <p:attrName>ppt_y</p:attrName>
                                        </p:attrNameLst>
                                      </p:cBhvr>
                                      <p:tavLst>
                                        <p:tav tm="0">
                                          <p:val>
                                            <p:strVal val="#ppt_y+0.035"/>
                                          </p:val>
                                        </p:tav>
                                        <p:tav tm="100000">
                                          <p:val>
                                            <p:strVal val="#ppt_y"/>
                                          </p:val>
                                        </p:tav>
                                      </p:tavLst>
                                    </p:anim>
                                    <p:set>
                                      <p:cBhvr>
                                        <p:cTn id="84" dur="1" fill="hold">
                                          <p:stCondLst>
                                            <p:cond delay="0"/>
                                          </p:stCondLst>
                                        </p:cTn>
                                        <p:tgtEl>
                                          <p:spTgt spid="24"/>
                                        </p:tgtEl>
                                        <p:attrNameLst>
                                          <p:attrName>style.visibility</p:attrName>
                                        </p:attrNameLst>
                                      </p:cBhvr>
                                      <p:to>
                                        <p:strVal val="visible"/>
                                      </p:to>
                                    </p:set>
                                    <p:animEffect transition="in" filter="fade">
                                      <p:cBhvr>
                                        <p:cTn id="85" dur="420"/>
                                        <p:tgtEl>
                                          <p:spTgt spid="24"/>
                                        </p:tgtEl>
                                      </p:cBhvr>
                                    </p:animEffect>
                                    <p:anim calcmode="lin" valueType="num">
                                      <p:cBhvr additive="base">
                                        <p:cTn id="86" dur="420" fill="hold"/>
                                        <p:tgtEl>
                                          <p:spTgt spid="24"/>
                                        </p:tgtEl>
                                        <p:attrNameLst>
                                          <p:attrName>ppt_y</p:attrName>
                                        </p:attrNameLst>
                                      </p:cBhvr>
                                      <p:tavLst>
                                        <p:tav tm="0">
                                          <p:val>
                                            <p:strVal val="#ppt_y+0.035"/>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25"/>
                                        </p:tgtEl>
                                        <p:attrNameLst>
                                          <p:attrName>style.visibility</p:attrName>
                                        </p:attrNameLst>
                                      </p:cBhvr>
                                      <p:to>
                                        <p:strVal val="visible"/>
                                      </p:to>
                                    </p:set>
                                    <p:animEffect transition="in" filter="fade">
                                      <p:cBhvr>
                                        <p:cTn id="91" dur="420"/>
                                        <p:tgtEl>
                                          <p:spTgt spid="25"/>
                                        </p:tgtEl>
                                      </p:cBhvr>
                                    </p:animEffect>
                                    <p:anim calcmode="lin" valueType="num">
                                      <p:cBhvr additive="base">
                                        <p:cTn id="92" dur="420" fill="hold"/>
                                        <p:tgtEl>
                                          <p:spTgt spid="2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p:bldP spid="13" grpId="0" animBg="1"/>
      <p:bldP spid="14" grpId="0"/>
      <p:bldP spid="15" grpId="0"/>
      <p:bldP spid="16" grpId="0"/>
      <p:bldP spid="17" grpId="0"/>
      <p:bldP spid="18" grpId="0"/>
      <p:bldP spid="19" grpId="0"/>
      <p:bldP spid="20" grpId="0" animBg="1"/>
      <p:bldP spid="21" grpId="0"/>
      <p:bldP spid="22" grpId="0" animBg="1"/>
      <p:bldP spid="23" grpId="0"/>
      <p:bldP spid="24" grpId="0"/>
      <p:bldP spid="25" grpId="0" animBg="1"/>
      <p:bldP spid="26" grpId="0"/>
      <p:bldP spid="27" grpId="0"/>
      <p:bldP spid="28" grpId="0"/>
      <p:bldP spid="29" grpId="0"/>
      <p:bldP spid="30" grpId="0"/>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05</a:t>
            </a:r>
            <a:r>
              <a:rPr lang="en-US" sz="1150" b="1" kern="0" spc="160" dirty="0">
                <a:solidFill>
                  <a:srgbClr val="6E7781"/>
                </a:solidFill>
                <a:latin typeface="Calibri" pitchFamily="34" charset="0"/>
                <a:ea typeface="Calibri" pitchFamily="34" charset="-122"/>
                <a:cs typeface="Calibri" pitchFamily="34" charset="-120"/>
              </a:rPr>
              <a:t>   HOW TO RUN IT  ·  WAY 1 OF 3</a:t>
            </a:r>
            <a:endParaRPr lang="en-US" sz="1150" dirty="0"/>
          </a:p>
        </p:txBody>
      </p:sp>
      <p:sp>
        <p:nvSpPr>
          <p:cNvPr id="3" name="Shape 1"/>
          <p:cNvSpPr/>
          <p:nvPr/>
        </p:nvSpPr>
        <p:spPr>
          <a:xfrm>
            <a:off x="10351008" y="393192"/>
            <a:ext cx="1271016" cy="292608"/>
          </a:xfrm>
          <a:prstGeom prst="roundRect">
            <a:avLst>
              <a:gd name="adj" fmla="val 59375"/>
            </a:avLst>
          </a:prstGeom>
          <a:solidFill>
            <a:srgbClr val="0969DA"/>
          </a:solidFill>
          <a:ln/>
        </p:spPr>
      </p:sp>
      <p:sp>
        <p:nvSpPr>
          <p:cNvPr id="4" name="Text 2"/>
          <p:cNvSpPr/>
          <p:nvPr/>
        </p:nvSpPr>
        <p:spPr>
          <a:xfrm>
            <a:off x="10351008" y="393192"/>
            <a:ext cx="1271016" cy="292608"/>
          </a:xfrm>
          <a:prstGeom prst="rect">
            <a:avLst/>
          </a:prstGeom>
          <a:noFill/>
          <a:ln/>
        </p:spPr>
        <p:txBody>
          <a:bodyPr wrap="square" lIns="0" tIns="0" rIns="0" bIns="0" rtlCol="0" anchor="ctr"/>
          <a:lstStyle/>
          <a:p>
            <a:pPr marL="0" indent="0" algn="ctr">
              <a:buNone/>
            </a:pPr>
            <a:r>
              <a:rPr lang="en-US" sz="950" b="1" kern="0" spc="120" dirty="0">
                <a:solidFill>
                  <a:srgbClr val="FFFFFF"/>
                </a:solidFill>
                <a:latin typeface="Calibri" pitchFamily="34" charset="0"/>
                <a:ea typeface="Calibri" pitchFamily="34" charset="-122"/>
                <a:cs typeface="Calibri" pitchFamily="34" charset="-120"/>
              </a:rPr>
              <a:t>VS CODE</a:t>
            </a:r>
            <a:endParaRPr lang="en-US" sz="950" dirty="0"/>
          </a:p>
        </p:txBody>
      </p:sp>
      <p:sp>
        <p:nvSpPr>
          <p:cNvPr id="5" name="Text 3"/>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Copilot agent mode, in VS Code</a:t>
            </a:r>
            <a:endParaRPr lang="en-US" sz="3200" dirty="0"/>
          </a:p>
        </p:txBody>
      </p:sp>
      <p:sp>
        <p:nvSpPr>
          <p:cNvPr id="6" name="Text 4"/>
          <p:cNvSpPr/>
          <p:nvPr/>
        </p:nvSpPr>
        <p:spPr>
          <a:xfrm>
            <a:off x="566928" y="1389888"/>
            <a:ext cx="11055096" cy="566928"/>
          </a:xfrm>
          <a:prstGeom prst="rect">
            <a:avLst/>
          </a:prstGeom>
          <a:noFill/>
          <a:ln/>
        </p:spPr>
        <p:txBody>
          <a:bodyPr wrap="square" lIns="0" tIns="0" rIns="0" bIns="0" rtlCol="0" anchor="t"/>
          <a:lstStyle/>
          <a:p>
            <a:pPr marL="0" indent="0">
              <a:lnSpc>
                <a:spcPts val="1850"/>
              </a:lnSpc>
              <a:buNone/>
            </a:pPr>
            <a:r>
              <a:rPr lang="en-US" sz="1350" dirty="0">
                <a:solidFill>
                  <a:srgbClr val="2B3138"/>
                </a:solidFill>
                <a:latin typeface="Calibri" pitchFamily="34" charset="0"/>
                <a:ea typeface="Calibri" pitchFamily="34" charset="-122"/>
                <a:cs typeface="Calibri" pitchFamily="34" charset="-120"/>
              </a:rPr>
              <a:t>This is way 1 from "Three ways to run an agent": synchronous, in your editor, you watch every edit land. Nothing runs in the cloud and no sandbox has to be configured.</a:t>
            </a:r>
            <a:endParaRPr lang="en-US" sz="1350" dirty="0"/>
          </a:p>
        </p:txBody>
      </p:sp>
      <p:sp>
        <p:nvSpPr>
          <p:cNvPr id="7" name="Shape 5"/>
          <p:cNvSpPr/>
          <p:nvPr/>
        </p:nvSpPr>
        <p:spPr>
          <a:xfrm>
            <a:off x="566928" y="2212848"/>
            <a:ext cx="5760720" cy="4023360"/>
          </a:xfrm>
          <a:prstGeom prst="roundRect">
            <a:avLst>
              <a:gd name="adj" fmla="val 682"/>
            </a:avLst>
          </a:prstGeom>
          <a:solidFill>
            <a:srgbClr val="0D1117"/>
          </a:solidFill>
          <a:ln w="12700">
            <a:solidFill>
              <a:srgbClr val="30363D"/>
            </a:solidFill>
            <a:prstDash val="solid"/>
          </a:ln>
          <a:effectLst>
            <a:outerShdw blurRad="177800" dist="38100" dir="5400000" algn="bl" rotWithShape="0">
              <a:srgbClr val="8C959F">
                <a:alpha val="16000"/>
              </a:srgbClr>
            </a:outerShdw>
          </a:effectLst>
        </p:spPr>
      </p:sp>
      <p:sp>
        <p:nvSpPr>
          <p:cNvPr id="8" name="Shape 6"/>
          <p:cNvSpPr/>
          <p:nvPr/>
        </p:nvSpPr>
        <p:spPr>
          <a:xfrm>
            <a:off x="576072" y="2231136"/>
            <a:ext cx="5742432" cy="347472"/>
          </a:xfrm>
          <a:prstGeom prst="rect">
            <a:avLst/>
          </a:prstGeom>
          <a:solidFill>
            <a:srgbClr val="161B22"/>
          </a:solidFill>
          <a:ln/>
        </p:spPr>
      </p:sp>
      <p:sp>
        <p:nvSpPr>
          <p:cNvPr id="9" name="Shape 7"/>
          <p:cNvSpPr/>
          <p:nvPr/>
        </p:nvSpPr>
        <p:spPr>
          <a:xfrm>
            <a:off x="566928" y="2578608"/>
            <a:ext cx="5760720" cy="0"/>
          </a:xfrm>
          <a:prstGeom prst="line">
            <a:avLst/>
          </a:prstGeom>
          <a:noFill/>
          <a:ln w="12700">
            <a:solidFill>
              <a:srgbClr val="30363D"/>
            </a:solidFill>
            <a:prstDash val="solid"/>
          </a:ln>
        </p:spPr>
      </p:sp>
      <p:sp>
        <p:nvSpPr>
          <p:cNvPr id="10" name="Shape 8"/>
          <p:cNvSpPr/>
          <p:nvPr/>
        </p:nvSpPr>
        <p:spPr>
          <a:xfrm>
            <a:off x="749808" y="2345436"/>
            <a:ext cx="100584" cy="100584"/>
          </a:xfrm>
          <a:prstGeom prst="ellipse">
            <a:avLst/>
          </a:prstGeom>
          <a:solidFill>
            <a:srgbClr val="E5534B"/>
          </a:solidFill>
          <a:ln/>
        </p:spPr>
      </p:sp>
      <p:sp>
        <p:nvSpPr>
          <p:cNvPr id="11" name="Shape 9"/>
          <p:cNvSpPr/>
          <p:nvPr/>
        </p:nvSpPr>
        <p:spPr>
          <a:xfrm>
            <a:off x="886968" y="2345436"/>
            <a:ext cx="100584" cy="100584"/>
          </a:xfrm>
          <a:prstGeom prst="ellipse">
            <a:avLst/>
          </a:prstGeom>
          <a:solidFill>
            <a:srgbClr val="C69026"/>
          </a:solidFill>
          <a:ln/>
        </p:spPr>
      </p:sp>
      <p:sp>
        <p:nvSpPr>
          <p:cNvPr id="12" name="Shape 10"/>
          <p:cNvSpPr/>
          <p:nvPr/>
        </p:nvSpPr>
        <p:spPr>
          <a:xfrm>
            <a:off x="1024128" y="2345436"/>
            <a:ext cx="100584" cy="100584"/>
          </a:xfrm>
          <a:prstGeom prst="ellipse">
            <a:avLst/>
          </a:prstGeom>
          <a:solidFill>
            <a:srgbClr val="3FB950"/>
          </a:solidFill>
          <a:ln/>
        </p:spPr>
      </p:sp>
      <p:sp>
        <p:nvSpPr>
          <p:cNvPr id="13" name="Text 11"/>
          <p:cNvSpPr/>
          <p:nvPr/>
        </p:nvSpPr>
        <p:spPr>
          <a:xfrm>
            <a:off x="1225296" y="2249424"/>
            <a:ext cx="4846320" cy="310896"/>
          </a:xfrm>
          <a:prstGeom prst="rect">
            <a:avLst/>
          </a:prstGeom>
          <a:noFill/>
          <a:ln/>
        </p:spPr>
        <p:txBody>
          <a:bodyPr wrap="square" lIns="0" tIns="0" rIns="0" bIns="0" rtlCol="0" anchor="ctr"/>
          <a:lstStyle/>
          <a:p>
            <a:pPr marL="0" indent="0">
              <a:buNone/>
            </a:pPr>
            <a:r>
              <a:rPr lang="en-US" sz="800" dirty="0">
                <a:solidFill>
                  <a:srgbClr val="8B949E"/>
                </a:solidFill>
                <a:latin typeface="Calibri" pitchFamily="34" charset="0"/>
                <a:ea typeface="Calibri" pitchFamily="34" charset="-122"/>
                <a:cs typeface="Calibri" pitchFamily="34" charset="-120"/>
              </a:rPr>
              <a:t>orders-grid  —  Visual Studio Code</a:t>
            </a:r>
            <a:endParaRPr lang="en-US" sz="800" dirty="0"/>
          </a:p>
        </p:txBody>
      </p:sp>
      <p:sp>
        <p:nvSpPr>
          <p:cNvPr id="14" name="Shape 12"/>
          <p:cNvSpPr/>
          <p:nvPr/>
        </p:nvSpPr>
        <p:spPr>
          <a:xfrm>
            <a:off x="576072" y="2587752"/>
            <a:ext cx="365760" cy="3639312"/>
          </a:xfrm>
          <a:prstGeom prst="rect">
            <a:avLst/>
          </a:prstGeom>
          <a:solidFill>
            <a:srgbClr val="161B22"/>
          </a:solidFill>
          <a:ln/>
        </p:spPr>
      </p:sp>
      <p:sp>
        <p:nvSpPr>
          <p:cNvPr id="15" name="Shape 13"/>
          <p:cNvSpPr/>
          <p:nvPr/>
        </p:nvSpPr>
        <p:spPr>
          <a:xfrm>
            <a:off x="676656" y="2724912"/>
            <a:ext cx="164592" cy="164592"/>
          </a:xfrm>
          <a:prstGeom prst="roundRect">
            <a:avLst>
              <a:gd name="adj" fmla="val 16667"/>
            </a:avLst>
          </a:prstGeom>
          <a:solidFill>
            <a:srgbClr val="484F58"/>
          </a:solidFill>
          <a:ln/>
        </p:spPr>
      </p:sp>
      <p:sp>
        <p:nvSpPr>
          <p:cNvPr id="16" name="Shape 14"/>
          <p:cNvSpPr/>
          <p:nvPr/>
        </p:nvSpPr>
        <p:spPr>
          <a:xfrm>
            <a:off x="676656" y="3035808"/>
            <a:ext cx="164592" cy="164592"/>
          </a:xfrm>
          <a:prstGeom prst="roundRect">
            <a:avLst>
              <a:gd name="adj" fmla="val 16667"/>
            </a:avLst>
          </a:prstGeom>
          <a:solidFill>
            <a:srgbClr val="484F58"/>
          </a:solidFill>
          <a:ln/>
        </p:spPr>
      </p:sp>
      <p:sp>
        <p:nvSpPr>
          <p:cNvPr id="17" name="Shape 15"/>
          <p:cNvSpPr/>
          <p:nvPr/>
        </p:nvSpPr>
        <p:spPr>
          <a:xfrm>
            <a:off x="676656" y="3346704"/>
            <a:ext cx="164592" cy="164592"/>
          </a:xfrm>
          <a:prstGeom prst="roundRect">
            <a:avLst>
              <a:gd name="adj" fmla="val 16667"/>
            </a:avLst>
          </a:prstGeom>
          <a:solidFill>
            <a:srgbClr val="484F58"/>
          </a:solidFill>
          <a:ln/>
        </p:spPr>
      </p:sp>
      <p:sp>
        <p:nvSpPr>
          <p:cNvPr id="18" name="Shape 16"/>
          <p:cNvSpPr/>
          <p:nvPr/>
        </p:nvSpPr>
        <p:spPr>
          <a:xfrm>
            <a:off x="676656" y="3657600"/>
            <a:ext cx="164592" cy="164592"/>
          </a:xfrm>
          <a:prstGeom prst="roundRect">
            <a:avLst>
              <a:gd name="adj" fmla="val 16667"/>
            </a:avLst>
          </a:prstGeom>
          <a:solidFill>
            <a:srgbClr val="58A6FF"/>
          </a:solidFill>
          <a:ln/>
        </p:spPr>
      </p:sp>
      <p:sp>
        <p:nvSpPr>
          <p:cNvPr id="19" name="Text 17"/>
          <p:cNvSpPr/>
          <p:nvPr/>
        </p:nvSpPr>
        <p:spPr>
          <a:xfrm>
            <a:off x="1042416" y="2615184"/>
            <a:ext cx="1371600" cy="201168"/>
          </a:xfrm>
          <a:prstGeom prst="rect">
            <a:avLst/>
          </a:prstGeom>
          <a:noFill/>
          <a:ln/>
        </p:spPr>
        <p:txBody>
          <a:bodyPr wrap="square" lIns="0" tIns="0" rIns="0" bIns="0" rtlCol="0" anchor="ctr"/>
          <a:lstStyle/>
          <a:p>
            <a:pPr marL="0" indent="0">
              <a:buNone/>
            </a:pPr>
            <a:r>
              <a:rPr lang="en-US" sz="700" dirty="0">
                <a:solidFill>
                  <a:srgbClr val="C9D1D9"/>
                </a:solidFill>
                <a:latin typeface="Courier New" pitchFamily="34" charset="0"/>
                <a:ea typeface="Courier New" pitchFamily="34" charset="-122"/>
                <a:cs typeface="Courier New" pitchFamily="34" charset="-120"/>
              </a:rPr>
              <a:t>OrdersGrid.tsx</a:t>
            </a:r>
            <a:endParaRPr lang="en-US" sz="700" dirty="0"/>
          </a:p>
        </p:txBody>
      </p:sp>
      <p:sp>
        <p:nvSpPr>
          <p:cNvPr id="20" name="Shape 18"/>
          <p:cNvSpPr/>
          <p:nvPr/>
        </p:nvSpPr>
        <p:spPr>
          <a:xfrm>
            <a:off x="941832" y="2834640"/>
            <a:ext cx="2615184" cy="0"/>
          </a:xfrm>
          <a:prstGeom prst="line">
            <a:avLst/>
          </a:prstGeom>
          <a:noFill/>
          <a:ln w="12700">
            <a:solidFill>
              <a:srgbClr val="30363D"/>
            </a:solidFill>
            <a:prstDash val="solid"/>
          </a:ln>
        </p:spPr>
      </p:sp>
      <p:sp>
        <p:nvSpPr>
          <p:cNvPr id="21" name="Shape 19"/>
          <p:cNvSpPr/>
          <p:nvPr/>
        </p:nvSpPr>
        <p:spPr>
          <a:xfrm>
            <a:off x="1078992" y="2962656"/>
            <a:ext cx="822960" cy="68580"/>
          </a:xfrm>
          <a:prstGeom prst="roundRect">
            <a:avLst>
              <a:gd name="adj" fmla="val 40000"/>
            </a:avLst>
          </a:prstGeom>
          <a:solidFill>
            <a:srgbClr val="FF7B72"/>
          </a:solidFill>
          <a:ln/>
        </p:spPr>
      </p:sp>
      <p:sp>
        <p:nvSpPr>
          <p:cNvPr id="22" name="Shape 20"/>
          <p:cNvSpPr/>
          <p:nvPr/>
        </p:nvSpPr>
        <p:spPr>
          <a:xfrm>
            <a:off x="1078992" y="3145536"/>
            <a:ext cx="1371600" cy="68580"/>
          </a:xfrm>
          <a:prstGeom prst="roundRect">
            <a:avLst>
              <a:gd name="adj" fmla="val 40000"/>
            </a:avLst>
          </a:prstGeom>
          <a:solidFill>
            <a:srgbClr val="A5D6FF"/>
          </a:solidFill>
          <a:ln/>
        </p:spPr>
      </p:sp>
      <p:sp>
        <p:nvSpPr>
          <p:cNvPr id="23" name="Shape 21"/>
          <p:cNvSpPr/>
          <p:nvPr/>
        </p:nvSpPr>
        <p:spPr>
          <a:xfrm>
            <a:off x="1078992" y="3328416"/>
            <a:ext cx="1097280" cy="68580"/>
          </a:xfrm>
          <a:prstGeom prst="roundRect">
            <a:avLst>
              <a:gd name="adj" fmla="val 40000"/>
            </a:avLst>
          </a:prstGeom>
          <a:solidFill>
            <a:srgbClr val="79C0FF"/>
          </a:solidFill>
          <a:ln/>
        </p:spPr>
      </p:sp>
      <p:sp>
        <p:nvSpPr>
          <p:cNvPr id="24" name="Shape 22"/>
          <p:cNvSpPr/>
          <p:nvPr/>
        </p:nvSpPr>
        <p:spPr>
          <a:xfrm>
            <a:off x="1078992" y="3511296"/>
            <a:ext cx="1645920" cy="68580"/>
          </a:xfrm>
          <a:prstGeom prst="roundRect">
            <a:avLst>
              <a:gd name="adj" fmla="val 40000"/>
            </a:avLst>
          </a:prstGeom>
          <a:solidFill>
            <a:srgbClr val="C9D1D9"/>
          </a:solidFill>
          <a:ln/>
        </p:spPr>
      </p:sp>
      <p:sp>
        <p:nvSpPr>
          <p:cNvPr id="25" name="Shape 23"/>
          <p:cNvSpPr/>
          <p:nvPr/>
        </p:nvSpPr>
        <p:spPr>
          <a:xfrm>
            <a:off x="1078992" y="3694176"/>
            <a:ext cx="1005840" cy="68580"/>
          </a:xfrm>
          <a:prstGeom prst="roundRect">
            <a:avLst>
              <a:gd name="adj" fmla="val 40000"/>
            </a:avLst>
          </a:prstGeom>
          <a:solidFill>
            <a:srgbClr val="D2A8FF"/>
          </a:solidFill>
          <a:ln/>
        </p:spPr>
      </p:sp>
      <p:sp>
        <p:nvSpPr>
          <p:cNvPr id="26" name="Shape 24"/>
          <p:cNvSpPr/>
          <p:nvPr/>
        </p:nvSpPr>
        <p:spPr>
          <a:xfrm>
            <a:off x="1078992" y="3877056"/>
            <a:ext cx="1463040" cy="68580"/>
          </a:xfrm>
          <a:prstGeom prst="roundRect">
            <a:avLst>
              <a:gd name="adj" fmla="val 40000"/>
            </a:avLst>
          </a:prstGeom>
          <a:solidFill>
            <a:srgbClr val="A5D6FF"/>
          </a:solidFill>
          <a:ln/>
        </p:spPr>
      </p:sp>
      <p:sp>
        <p:nvSpPr>
          <p:cNvPr id="27" name="Shape 25"/>
          <p:cNvSpPr/>
          <p:nvPr/>
        </p:nvSpPr>
        <p:spPr>
          <a:xfrm>
            <a:off x="1078992" y="4059936"/>
            <a:ext cx="731520" cy="68580"/>
          </a:xfrm>
          <a:prstGeom prst="roundRect">
            <a:avLst>
              <a:gd name="adj" fmla="val 40000"/>
            </a:avLst>
          </a:prstGeom>
          <a:solidFill>
            <a:srgbClr val="7EE787"/>
          </a:solidFill>
          <a:ln/>
        </p:spPr>
      </p:sp>
      <p:sp>
        <p:nvSpPr>
          <p:cNvPr id="28" name="Shape 26"/>
          <p:cNvSpPr/>
          <p:nvPr/>
        </p:nvSpPr>
        <p:spPr>
          <a:xfrm>
            <a:off x="1078992" y="4242816"/>
            <a:ext cx="1737360" cy="68580"/>
          </a:xfrm>
          <a:prstGeom prst="roundRect">
            <a:avLst>
              <a:gd name="adj" fmla="val 40000"/>
            </a:avLst>
          </a:prstGeom>
          <a:solidFill>
            <a:srgbClr val="C9D1D9"/>
          </a:solidFill>
          <a:ln/>
        </p:spPr>
      </p:sp>
      <p:sp>
        <p:nvSpPr>
          <p:cNvPr id="29" name="Shape 27"/>
          <p:cNvSpPr/>
          <p:nvPr/>
        </p:nvSpPr>
        <p:spPr>
          <a:xfrm>
            <a:off x="1078992" y="4425696"/>
            <a:ext cx="1188720" cy="68580"/>
          </a:xfrm>
          <a:prstGeom prst="roundRect">
            <a:avLst>
              <a:gd name="adj" fmla="val 40000"/>
            </a:avLst>
          </a:prstGeom>
          <a:solidFill>
            <a:srgbClr val="FFA657"/>
          </a:solidFill>
          <a:ln/>
        </p:spPr>
      </p:sp>
      <p:sp>
        <p:nvSpPr>
          <p:cNvPr id="30" name="Shape 28"/>
          <p:cNvSpPr/>
          <p:nvPr/>
        </p:nvSpPr>
        <p:spPr>
          <a:xfrm>
            <a:off x="1078992" y="4608576"/>
            <a:ext cx="1371600" cy="68580"/>
          </a:xfrm>
          <a:prstGeom prst="roundRect">
            <a:avLst>
              <a:gd name="adj" fmla="val 40000"/>
            </a:avLst>
          </a:prstGeom>
          <a:solidFill>
            <a:srgbClr val="A5D6FF"/>
          </a:solidFill>
          <a:ln/>
        </p:spPr>
      </p:sp>
      <p:sp>
        <p:nvSpPr>
          <p:cNvPr id="31" name="Shape 29"/>
          <p:cNvSpPr/>
          <p:nvPr/>
        </p:nvSpPr>
        <p:spPr>
          <a:xfrm>
            <a:off x="1078992" y="4791456"/>
            <a:ext cx="914400" cy="68580"/>
          </a:xfrm>
          <a:prstGeom prst="roundRect">
            <a:avLst>
              <a:gd name="adj" fmla="val 40000"/>
            </a:avLst>
          </a:prstGeom>
          <a:solidFill>
            <a:srgbClr val="79C0FF"/>
          </a:solidFill>
          <a:ln/>
        </p:spPr>
      </p:sp>
      <p:sp>
        <p:nvSpPr>
          <p:cNvPr id="32" name="Shape 30"/>
          <p:cNvSpPr/>
          <p:nvPr/>
        </p:nvSpPr>
        <p:spPr>
          <a:xfrm>
            <a:off x="1078992" y="4974336"/>
            <a:ext cx="1554480" cy="68580"/>
          </a:xfrm>
          <a:prstGeom prst="roundRect">
            <a:avLst>
              <a:gd name="adj" fmla="val 40000"/>
            </a:avLst>
          </a:prstGeom>
          <a:solidFill>
            <a:srgbClr val="C9D1D9"/>
          </a:solidFill>
          <a:ln/>
        </p:spPr>
      </p:sp>
      <p:sp>
        <p:nvSpPr>
          <p:cNvPr id="33" name="Shape 31"/>
          <p:cNvSpPr/>
          <p:nvPr/>
        </p:nvSpPr>
        <p:spPr>
          <a:xfrm>
            <a:off x="3584448" y="2587752"/>
            <a:ext cx="2734056" cy="3639312"/>
          </a:xfrm>
          <a:prstGeom prst="rect">
            <a:avLst/>
          </a:prstGeom>
          <a:solidFill>
            <a:srgbClr val="161B22"/>
          </a:solidFill>
          <a:ln/>
        </p:spPr>
      </p:sp>
      <p:sp>
        <p:nvSpPr>
          <p:cNvPr id="34" name="Shape 32"/>
          <p:cNvSpPr/>
          <p:nvPr/>
        </p:nvSpPr>
        <p:spPr>
          <a:xfrm>
            <a:off x="3584448" y="2587752"/>
            <a:ext cx="0" cy="3639312"/>
          </a:xfrm>
          <a:prstGeom prst="line">
            <a:avLst/>
          </a:prstGeom>
          <a:noFill/>
          <a:ln w="12700">
            <a:solidFill>
              <a:srgbClr val="30363D"/>
            </a:solidFill>
            <a:prstDash val="solid"/>
          </a:ln>
        </p:spPr>
      </p:sp>
      <p:sp>
        <p:nvSpPr>
          <p:cNvPr id="35" name="Shape 33"/>
          <p:cNvSpPr/>
          <p:nvPr/>
        </p:nvSpPr>
        <p:spPr>
          <a:xfrm>
            <a:off x="3447288" y="2615184"/>
            <a:ext cx="274320" cy="274320"/>
          </a:xfrm>
          <a:prstGeom prst="ellipse">
            <a:avLst/>
          </a:prstGeom>
          <a:solidFill>
            <a:srgbClr val="C2410C"/>
          </a:solidFill>
          <a:ln w="19050">
            <a:solidFill>
              <a:srgbClr val="FFFFFF"/>
            </a:solidFill>
            <a:prstDash val="solid"/>
          </a:ln>
        </p:spPr>
      </p:sp>
      <p:sp>
        <p:nvSpPr>
          <p:cNvPr id="36" name="Text 34"/>
          <p:cNvSpPr/>
          <p:nvPr/>
        </p:nvSpPr>
        <p:spPr>
          <a:xfrm>
            <a:off x="3447288" y="261518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7" name="Text 35"/>
          <p:cNvSpPr/>
          <p:nvPr/>
        </p:nvSpPr>
        <p:spPr>
          <a:xfrm>
            <a:off x="3913632" y="2651760"/>
            <a:ext cx="1097280" cy="182880"/>
          </a:xfrm>
          <a:prstGeom prst="rect">
            <a:avLst/>
          </a:prstGeom>
          <a:noFill/>
          <a:ln/>
        </p:spPr>
        <p:txBody>
          <a:bodyPr wrap="square" lIns="0" tIns="0" rIns="0" bIns="0" rtlCol="0" anchor="ctr"/>
          <a:lstStyle/>
          <a:p>
            <a:pPr marL="0" indent="0">
              <a:buNone/>
            </a:pPr>
            <a:r>
              <a:rPr lang="en-US" sz="700" b="1" kern="0" spc="120" dirty="0">
                <a:solidFill>
                  <a:srgbClr val="8B949E"/>
                </a:solidFill>
                <a:latin typeface="Calibri" pitchFamily="34" charset="0"/>
                <a:ea typeface="Calibri" pitchFamily="34" charset="-122"/>
                <a:cs typeface="Calibri" pitchFamily="34" charset="-120"/>
              </a:rPr>
              <a:t>CHAT</a:t>
            </a:r>
            <a:endParaRPr lang="en-US" sz="700" dirty="0"/>
          </a:p>
        </p:txBody>
      </p:sp>
      <p:sp>
        <p:nvSpPr>
          <p:cNvPr id="38" name="Shape 36"/>
          <p:cNvSpPr/>
          <p:nvPr/>
        </p:nvSpPr>
        <p:spPr>
          <a:xfrm>
            <a:off x="3730752" y="2926080"/>
            <a:ext cx="2450592" cy="457200"/>
          </a:xfrm>
          <a:prstGeom prst="roundRect">
            <a:avLst>
              <a:gd name="adj" fmla="val 8000"/>
            </a:avLst>
          </a:prstGeom>
          <a:solidFill>
            <a:srgbClr val="0D1117"/>
          </a:solidFill>
          <a:ln w="9525">
            <a:solidFill>
              <a:srgbClr val="30363D"/>
            </a:solidFill>
            <a:prstDash val="solid"/>
          </a:ln>
        </p:spPr>
      </p:sp>
      <p:sp>
        <p:nvSpPr>
          <p:cNvPr id="39" name="Shape 37"/>
          <p:cNvSpPr/>
          <p:nvPr/>
        </p:nvSpPr>
        <p:spPr>
          <a:xfrm>
            <a:off x="3840480" y="3054096"/>
            <a:ext cx="1920240" cy="59436"/>
          </a:xfrm>
          <a:prstGeom prst="roundRect">
            <a:avLst>
              <a:gd name="adj" fmla="val 46154"/>
            </a:avLst>
          </a:prstGeom>
          <a:solidFill>
            <a:srgbClr val="6E7781"/>
          </a:solidFill>
          <a:ln/>
        </p:spPr>
      </p:sp>
      <p:sp>
        <p:nvSpPr>
          <p:cNvPr id="40" name="Shape 38"/>
          <p:cNvSpPr/>
          <p:nvPr/>
        </p:nvSpPr>
        <p:spPr>
          <a:xfrm>
            <a:off x="3840480" y="3191256"/>
            <a:ext cx="1417320" cy="59436"/>
          </a:xfrm>
          <a:prstGeom prst="roundRect">
            <a:avLst>
              <a:gd name="adj" fmla="val 46154"/>
            </a:avLst>
          </a:prstGeom>
          <a:solidFill>
            <a:srgbClr val="6E7781"/>
          </a:solidFill>
          <a:ln/>
        </p:spPr>
      </p:sp>
      <p:sp>
        <p:nvSpPr>
          <p:cNvPr id="41" name="Text 39"/>
          <p:cNvSpPr/>
          <p:nvPr/>
        </p:nvSpPr>
        <p:spPr>
          <a:xfrm>
            <a:off x="3730752" y="3456432"/>
            <a:ext cx="2450592" cy="201168"/>
          </a:xfrm>
          <a:prstGeom prst="rect">
            <a:avLst/>
          </a:prstGeom>
          <a:noFill/>
          <a:ln/>
        </p:spPr>
        <p:txBody>
          <a:bodyPr wrap="square" lIns="0" tIns="0" rIns="0" bIns="0" rtlCol="0" anchor="ctr"/>
          <a:lstStyle/>
          <a:p>
            <a:pPr marL="0" indent="0">
              <a:buNone/>
            </a:pPr>
            <a:r>
              <a:rPr lang="en-US" sz="650" dirty="0">
                <a:solidFill>
                  <a:srgbClr val="7EE787"/>
                </a:solidFill>
                <a:latin typeface="Courier New" pitchFamily="34" charset="0"/>
                <a:ea typeface="Courier New" pitchFamily="34" charset="-122"/>
                <a:cs typeface="Courier New" pitchFamily="34" charset="-120"/>
              </a:rPr>
              <a:t>Read  SKILL.md   ✓   Edited  ordersStore.ts</a:t>
            </a:r>
            <a:endParaRPr lang="en-US" sz="650" dirty="0"/>
          </a:p>
        </p:txBody>
      </p:sp>
      <p:sp>
        <p:nvSpPr>
          <p:cNvPr id="42" name="Shape 40"/>
          <p:cNvSpPr/>
          <p:nvPr/>
        </p:nvSpPr>
        <p:spPr>
          <a:xfrm>
            <a:off x="3840480" y="3749040"/>
            <a:ext cx="2103120" cy="59436"/>
          </a:xfrm>
          <a:prstGeom prst="roundRect">
            <a:avLst>
              <a:gd name="adj" fmla="val 46154"/>
            </a:avLst>
          </a:prstGeom>
          <a:solidFill>
            <a:srgbClr val="6E7781"/>
          </a:solidFill>
          <a:ln/>
        </p:spPr>
      </p:sp>
      <p:sp>
        <p:nvSpPr>
          <p:cNvPr id="43" name="Shape 41"/>
          <p:cNvSpPr/>
          <p:nvPr/>
        </p:nvSpPr>
        <p:spPr>
          <a:xfrm>
            <a:off x="3840480" y="3886200"/>
            <a:ext cx="1737360" cy="59436"/>
          </a:xfrm>
          <a:prstGeom prst="roundRect">
            <a:avLst>
              <a:gd name="adj" fmla="val 46154"/>
            </a:avLst>
          </a:prstGeom>
          <a:solidFill>
            <a:srgbClr val="6E7781"/>
          </a:solidFill>
          <a:ln/>
        </p:spPr>
      </p:sp>
      <p:sp>
        <p:nvSpPr>
          <p:cNvPr id="44" name="Shape 42"/>
          <p:cNvSpPr/>
          <p:nvPr/>
        </p:nvSpPr>
        <p:spPr>
          <a:xfrm>
            <a:off x="3730752" y="4187952"/>
            <a:ext cx="2450592" cy="658368"/>
          </a:xfrm>
          <a:prstGeom prst="roundRect">
            <a:avLst>
              <a:gd name="adj" fmla="val 6944"/>
            </a:avLst>
          </a:prstGeom>
          <a:solidFill>
            <a:srgbClr val="0D1117"/>
          </a:solidFill>
          <a:ln w="15875">
            <a:solidFill>
              <a:srgbClr val="58A6FF"/>
            </a:solidFill>
            <a:prstDash val="solid"/>
          </a:ln>
        </p:spPr>
      </p:sp>
      <p:sp>
        <p:nvSpPr>
          <p:cNvPr id="45" name="Text 43"/>
          <p:cNvSpPr/>
          <p:nvPr/>
        </p:nvSpPr>
        <p:spPr>
          <a:xfrm>
            <a:off x="3840480" y="4261104"/>
            <a:ext cx="2231136" cy="548640"/>
          </a:xfrm>
          <a:prstGeom prst="rect">
            <a:avLst/>
          </a:prstGeom>
          <a:noFill/>
          <a:ln/>
        </p:spPr>
        <p:txBody>
          <a:bodyPr wrap="square" lIns="0" tIns="0" rIns="0" bIns="0" rtlCol="0" anchor="t"/>
          <a:lstStyle/>
          <a:p>
            <a:pPr marL="0" indent="0">
              <a:lnSpc>
                <a:spcPts val="950"/>
              </a:lnSpc>
              <a:buNone/>
            </a:pPr>
            <a:r>
              <a:rPr lang="en-US" sz="700" dirty="0">
                <a:solidFill>
                  <a:srgbClr val="C9D1D9"/>
                </a:solidFill>
                <a:latin typeface="Courier New" pitchFamily="34" charset="0"/>
                <a:ea typeface="Courier New" pitchFamily="34" charset="-122"/>
                <a:cs typeface="Courier New" pitchFamily="34" charset="-120"/>
              </a:rPr>
              <a:t>Build the app described in</a:t>
            </a:r>
            <a:endParaRPr lang="en-US" sz="700" dirty="0"/>
          </a:p>
          <a:p>
            <a:pPr marL="0" indent="0">
              <a:lnSpc>
                <a:spcPts val="950"/>
              </a:lnSpc>
              <a:buNone/>
            </a:pPr>
            <a:r>
              <a:rPr lang="en-US" sz="700" dirty="0">
                <a:solidFill>
                  <a:srgbClr val="C9D1D9"/>
                </a:solidFill>
                <a:latin typeface="Courier New" pitchFamily="34" charset="0"/>
                <a:ea typeface="Courier New" pitchFamily="34" charset="-122"/>
                <a:cs typeface="Courier New" pitchFamily="34" charset="-120"/>
              </a:rPr>
              <a:t>#react-devextreme-grid.PROMPT.md</a:t>
            </a:r>
            <a:endParaRPr lang="en-US" sz="700" dirty="0"/>
          </a:p>
          <a:p>
            <a:pPr marL="0" indent="0">
              <a:lnSpc>
                <a:spcPts val="950"/>
              </a:lnSpc>
              <a:buNone/>
            </a:pPr>
            <a:r>
              <a:rPr lang="en-US" sz="700" dirty="0">
                <a:solidFill>
                  <a:srgbClr val="C9D1D9"/>
                </a:solidFill>
                <a:latin typeface="Courier New" pitchFamily="34" charset="0"/>
                <a:ea typeface="Courier New" pitchFamily="34" charset="-122"/>
                <a:cs typeface="Courier New" pitchFamily="34" charset="-120"/>
              </a:rPr>
              <a:t>Follow it exactly.</a:t>
            </a:r>
            <a:endParaRPr lang="en-US" sz="700" dirty="0"/>
          </a:p>
        </p:txBody>
      </p:sp>
      <p:sp>
        <p:nvSpPr>
          <p:cNvPr id="46" name="Shape 44"/>
          <p:cNvSpPr/>
          <p:nvPr/>
        </p:nvSpPr>
        <p:spPr>
          <a:xfrm>
            <a:off x="3447288" y="4334256"/>
            <a:ext cx="274320" cy="274320"/>
          </a:xfrm>
          <a:prstGeom prst="ellipse">
            <a:avLst/>
          </a:prstGeom>
          <a:solidFill>
            <a:srgbClr val="C2410C"/>
          </a:solidFill>
          <a:ln w="19050">
            <a:solidFill>
              <a:srgbClr val="FFFFFF"/>
            </a:solidFill>
            <a:prstDash val="solid"/>
          </a:ln>
        </p:spPr>
      </p:sp>
      <p:sp>
        <p:nvSpPr>
          <p:cNvPr id="47" name="Text 45"/>
          <p:cNvSpPr/>
          <p:nvPr/>
        </p:nvSpPr>
        <p:spPr>
          <a:xfrm>
            <a:off x="3447288" y="433425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8" name="Shape 46"/>
          <p:cNvSpPr/>
          <p:nvPr/>
        </p:nvSpPr>
        <p:spPr>
          <a:xfrm>
            <a:off x="3730752" y="5010912"/>
            <a:ext cx="676656" cy="237744"/>
          </a:xfrm>
          <a:prstGeom prst="roundRect">
            <a:avLst>
              <a:gd name="adj" fmla="val 45455"/>
            </a:avLst>
          </a:prstGeom>
          <a:solidFill>
            <a:srgbClr val="1F6FEB"/>
          </a:solidFill>
          <a:ln/>
        </p:spPr>
      </p:sp>
      <p:sp>
        <p:nvSpPr>
          <p:cNvPr id="49" name="Text 47"/>
          <p:cNvSpPr/>
          <p:nvPr/>
        </p:nvSpPr>
        <p:spPr>
          <a:xfrm>
            <a:off x="3730752" y="5010912"/>
            <a:ext cx="676656" cy="237744"/>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Agent  ▾</a:t>
            </a:r>
            <a:endParaRPr lang="en-US" sz="750" dirty="0"/>
          </a:p>
        </p:txBody>
      </p:sp>
      <p:sp>
        <p:nvSpPr>
          <p:cNvPr id="50" name="Shape 48"/>
          <p:cNvSpPr/>
          <p:nvPr/>
        </p:nvSpPr>
        <p:spPr>
          <a:xfrm>
            <a:off x="4480560" y="5010912"/>
            <a:ext cx="859536" cy="237744"/>
          </a:xfrm>
          <a:prstGeom prst="roundRect">
            <a:avLst>
              <a:gd name="adj" fmla="val 45455"/>
            </a:avLst>
          </a:prstGeom>
          <a:solidFill>
            <a:srgbClr val="0D1117"/>
          </a:solidFill>
          <a:ln w="9525">
            <a:solidFill>
              <a:srgbClr val="30363D"/>
            </a:solidFill>
            <a:prstDash val="solid"/>
          </a:ln>
        </p:spPr>
      </p:sp>
      <p:sp>
        <p:nvSpPr>
          <p:cNvPr id="51" name="Text 49"/>
          <p:cNvSpPr/>
          <p:nvPr/>
        </p:nvSpPr>
        <p:spPr>
          <a:xfrm>
            <a:off x="4480560" y="5010912"/>
            <a:ext cx="859536" cy="237744"/>
          </a:xfrm>
          <a:prstGeom prst="rect">
            <a:avLst/>
          </a:prstGeom>
          <a:noFill/>
          <a:ln/>
        </p:spPr>
        <p:txBody>
          <a:bodyPr wrap="square" lIns="0" tIns="0" rIns="0" bIns="0" rtlCol="0" anchor="ctr"/>
          <a:lstStyle/>
          <a:p>
            <a:pPr marL="0" indent="0" algn="ctr">
              <a:buNone/>
            </a:pPr>
            <a:r>
              <a:rPr lang="en-US" sz="750" b="1" dirty="0">
                <a:solidFill>
                  <a:srgbClr val="C9D1D9"/>
                </a:solidFill>
                <a:latin typeface="Calibri" pitchFamily="34" charset="0"/>
                <a:ea typeface="Calibri" pitchFamily="34" charset="-122"/>
                <a:cs typeface="Calibri" pitchFamily="34" charset="-120"/>
              </a:rPr>
              <a:t>Claude Opus  ▾</a:t>
            </a:r>
            <a:endParaRPr lang="en-US" sz="750" dirty="0"/>
          </a:p>
        </p:txBody>
      </p:sp>
      <p:sp>
        <p:nvSpPr>
          <p:cNvPr id="52" name="Shape 50"/>
          <p:cNvSpPr/>
          <p:nvPr/>
        </p:nvSpPr>
        <p:spPr>
          <a:xfrm>
            <a:off x="5413248" y="5010912"/>
            <a:ext cx="365760" cy="237744"/>
          </a:xfrm>
          <a:prstGeom prst="roundRect">
            <a:avLst>
              <a:gd name="adj" fmla="val 45455"/>
            </a:avLst>
          </a:prstGeom>
          <a:solidFill>
            <a:srgbClr val="0D1117"/>
          </a:solidFill>
          <a:ln w="9525">
            <a:solidFill>
              <a:srgbClr val="30363D"/>
            </a:solidFill>
            <a:prstDash val="solid"/>
          </a:ln>
        </p:spPr>
      </p:sp>
      <p:sp>
        <p:nvSpPr>
          <p:cNvPr id="53" name="Text 51"/>
          <p:cNvSpPr/>
          <p:nvPr/>
        </p:nvSpPr>
        <p:spPr>
          <a:xfrm>
            <a:off x="5413248" y="5010912"/>
            <a:ext cx="365760" cy="237744"/>
          </a:xfrm>
          <a:prstGeom prst="rect">
            <a:avLst/>
          </a:prstGeom>
          <a:noFill/>
          <a:ln/>
        </p:spPr>
        <p:txBody>
          <a:bodyPr wrap="square" lIns="0" tIns="0" rIns="0" bIns="0" rtlCol="0" anchor="ctr"/>
          <a:lstStyle/>
          <a:p>
            <a:pPr marL="0" indent="0" algn="ctr">
              <a:buNone/>
            </a:pPr>
            <a:r>
              <a:rPr lang="en-US" sz="800" b="1" dirty="0">
                <a:solidFill>
                  <a:srgbClr val="8B949E"/>
                </a:solidFill>
                <a:latin typeface="Calibri" pitchFamily="34" charset="0"/>
                <a:ea typeface="Calibri" pitchFamily="34" charset="-122"/>
                <a:cs typeface="Calibri" pitchFamily="34" charset="-120"/>
              </a:rPr>
              <a:t>⚒</a:t>
            </a:r>
            <a:endParaRPr lang="en-US" sz="800" dirty="0"/>
          </a:p>
        </p:txBody>
      </p:sp>
      <p:sp>
        <p:nvSpPr>
          <p:cNvPr id="54" name="Shape 52"/>
          <p:cNvSpPr/>
          <p:nvPr/>
        </p:nvSpPr>
        <p:spPr>
          <a:xfrm>
            <a:off x="3447288" y="4992624"/>
            <a:ext cx="274320" cy="274320"/>
          </a:xfrm>
          <a:prstGeom prst="ellipse">
            <a:avLst/>
          </a:prstGeom>
          <a:solidFill>
            <a:srgbClr val="C2410C"/>
          </a:solidFill>
          <a:ln w="19050">
            <a:solidFill>
              <a:srgbClr val="FFFFFF"/>
            </a:solidFill>
            <a:prstDash val="solid"/>
          </a:ln>
        </p:spPr>
      </p:sp>
      <p:sp>
        <p:nvSpPr>
          <p:cNvPr id="55" name="Text 53"/>
          <p:cNvSpPr/>
          <p:nvPr/>
        </p:nvSpPr>
        <p:spPr>
          <a:xfrm>
            <a:off x="3447288" y="499262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56" name="Shape 54"/>
          <p:cNvSpPr/>
          <p:nvPr/>
        </p:nvSpPr>
        <p:spPr>
          <a:xfrm>
            <a:off x="3730752" y="5596128"/>
            <a:ext cx="603504" cy="237744"/>
          </a:xfrm>
          <a:prstGeom prst="roundRect">
            <a:avLst>
              <a:gd name="adj" fmla="val 45455"/>
            </a:avLst>
          </a:prstGeom>
          <a:solidFill>
            <a:srgbClr val="238636"/>
          </a:solidFill>
          <a:ln/>
        </p:spPr>
      </p:sp>
      <p:sp>
        <p:nvSpPr>
          <p:cNvPr id="57" name="Text 55"/>
          <p:cNvSpPr/>
          <p:nvPr/>
        </p:nvSpPr>
        <p:spPr>
          <a:xfrm>
            <a:off x="3730752" y="5596128"/>
            <a:ext cx="603504" cy="237744"/>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Keep</a:t>
            </a:r>
            <a:endParaRPr lang="en-US" sz="750" dirty="0"/>
          </a:p>
        </p:txBody>
      </p:sp>
      <p:sp>
        <p:nvSpPr>
          <p:cNvPr id="58" name="Shape 56"/>
          <p:cNvSpPr/>
          <p:nvPr/>
        </p:nvSpPr>
        <p:spPr>
          <a:xfrm>
            <a:off x="4407408" y="5596128"/>
            <a:ext cx="603504" cy="237744"/>
          </a:xfrm>
          <a:prstGeom prst="roundRect">
            <a:avLst>
              <a:gd name="adj" fmla="val 45455"/>
            </a:avLst>
          </a:prstGeom>
          <a:solidFill>
            <a:srgbClr val="0D1117"/>
          </a:solidFill>
          <a:ln w="9525">
            <a:solidFill>
              <a:srgbClr val="30363D"/>
            </a:solidFill>
            <a:prstDash val="solid"/>
          </a:ln>
        </p:spPr>
      </p:sp>
      <p:sp>
        <p:nvSpPr>
          <p:cNvPr id="59" name="Text 57"/>
          <p:cNvSpPr/>
          <p:nvPr/>
        </p:nvSpPr>
        <p:spPr>
          <a:xfrm>
            <a:off x="4407408" y="5596128"/>
            <a:ext cx="603504" cy="237744"/>
          </a:xfrm>
          <a:prstGeom prst="rect">
            <a:avLst/>
          </a:prstGeom>
          <a:noFill/>
          <a:ln/>
        </p:spPr>
        <p:txBody>
          <a:bodyPr wrap="square" lIns="0" tIns="0" rIns="0" bIns="0" rtlCol="0" anchor="ctr"/>
          <a:lstStyle/>
          <a:p>
            <a:pPr marL="0" indent="0" algn="ctr">
              <a:buNone/>
            </a:pPr>
            <a:r>
              <a:rPr lang="en-US" sz="750" b="1" dirty="0">
                <a:solidFill>
                  <a:srgbClr val="C9D1D9"/>
                </a:solidFill>
                <a:latin typeface="Calibri" pitchFamily="34" charset="0"/>
                <a:ea typeface="Calibri" pitchFamily="34" charset="-122"/>
                <a:cs typeface="Calibri" pitchFamily="34" charset="-120"/>
              </a:rPr>
              <a:t>Undo</a:t>
            </a:r>
            <a:endParaRPr lang="en-US" sz="750" dirty="0"/>
          </a:p>
        </p:txBody>
      </p:sp>
      <p:sp>
        <p:nvSpPr>
          <p:cNvPr id="60" name="Text 58"/>
          <p:cNvSpPr/>
          <p:nvPr/>
        </p:nvSpPr>
        <p:spPr>
          <a:xfrm>
            <a:off x="5120640" y="5596128"/>
            <a:ext cx="1097280" cy="237744"/>
          </a:xfrm>
          <a:prstGeom prst="rect">
            <a:avLst/>
          </a:prstGeom>
          <a:noFill/>
          <a:ln/>
        </p:spPr>
        <p:txBody>
          <a:bodyPr wrap="square" lIns="0" tIns="0" rIns="0" bIns="0" rtlCol="0" anchor="ctr"/>
          <a:lstStyle/>
          <a:p>
            <a:pPr marL="0" indent="0">
              <a:buNone/>
            </a:pPr>
            <a:r>
              <a:rPr lang="en-US" sz="700" dirty="0">
                <a:solidFill>
                  <a:srgbClr val="8B949E"/>
                </a:solidFill>
                <a:latin typeface="Calibri" pitchFamily="34" charset="0"/>
                <a:ea typeface="Calibri" pitchFamily="34" charset="-122"/>
                <a:cs typeface="Calibri" pitchFamily="34" charset="-120"/>
              </a:rPr>
              <a:t>12 files changed</a:t>
            </a:r>
            <a:endParaRPr lang="en-US" sz="700" dirty="0"/>
          </a:p>
        </p:txBody>
      </p:sp>
      <p:sp>
        <p:nvSpPr>
          <p:cNvPr id="61" name="Shape 59"/>
          <p:cNvSpPr/>
          <p:nvPr/>
        </p:nvSpPr>
        <p:spPr>
          <a:xfrm>
            <a:off x="3447288" y="5577840"/>
            <a:ext cx="274320" cy="274320"/>
          </a:xfrm>
          <a:prstGeom prst="ellipse">
            <a:avLst/>
          </a:prstGeom>
          <a:solidFill>
            <a:srgbClr val="C2410C"/>
          </a:solidFill>
          <a:ln w="19050">
            <a:solidFill>
              <a:srgbClr val="FFFFFF"/>
            </a:solidFill>
            <a:prstDash val="solid"/>
          </a:ln>
        </p:spPr>
      </p:sp>
      <p:sp>
        <p:nvSpPr>
          <p:cNvPr id="62" name="Text 60"/>
          <p:cNvSpPr/>
          <p:nvPr/>
        </p:nvSpPr>
        <p:spPr>
          <a:xfrm>
            <a:off x="3447288" y="55778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63" name="Shape 61"/>
          <p:cNvSpPr/>
          <p:nvPr/>
        </p:nvSpPr>
        <p:spPr>
          <a:xfrm>
            <a:off x="6547104" y="2212848"/>
            <a:ext cx="5074920" cy="1920240"/>
          </a:xfrm>
          <a:prstGeom prst="roundRect">
            <a:avLst>
              <a:gd name="adj" fmla="val 2857"/>
            </a:avLst>
          </a:prstGeom>
          <a:solidFill>
            <a:srgbClr val="F6F8FA"/>
          </a:solidFill>
          <a:ln w="9525">
            <a:solidFill>
              <a:srgbClr val="D8DEE4"/>
            </a:solidFill>
            <a:prstDash val="solid"/>
          </a:ln>
          <a:effectLst>
            <a:outerShdw blurRad="177800" dist="38100" dir="5400000" algn="bl" rotWithShape="0">
              <a:srgbClr val="8C959F">
                <a:alpha val="16000"/>
              </a:srgbClr>
            </a:outerShdw>
          </a:effectLst>
        </p:spPr>
      </p:sp>
      <p:sp>
        <p:nvSpPr>
          <p:cNvPr id="64" name="Text 62"/>
          <p:cNvSpPr/>
          <p:nvPr/>
        </p:nvSpPr>
        <p:spPr>
          <a:xfrm>
            <a:off x="6803136" y="2350008"/>
            <a:ext cx="4562856" cy="292608"/>
          </a:xfrm>
          <a:prstGeom prst="rect">
            <a:avLst/>
          </a:prstGeom>
          <a:noFill/>
          <a:ln/>
        </p:spPr>
        <p:txBody>
          <a:bodyPr wrap="square" lIns="0" tIns="0" rIns="0" bIns="0" rtlCol="0" anchor="ctr"/>
          <a:lstStyle/>
          <a:p>
            <a:pPr marL="0" indent="0">
              <a:buNone/>
            </a:pPr>
            <a:r>
              <a:rPr lang="en-US" sz="1550" b="1" dirty="0">
                <a:solidFill>
                  <a:srgbClr val="15181D"/>
                </a:solidFill>
                <a:latin typeface="Cambria" pitchFamily="34" charset="0"/>
                <a:ea typeface="Cambria" pitchFamily="34" charset="-122"/>
                <a:cs typeface="Cambria" pitchFamily="34" charset="-120"/>
              </a:rPr>
              <a:t>Preconditions</a:t>
            </a:r>
            <a:endParaRPr lang="en-US" sz="1550" dirty="0"/>
          </a:p>
        </p:txBody>
      </p:sp>
      <p:sp>
        <p:nvSpPr>
          <p:cNvPr id="65" name="Text 63"/>
          <p:cNvSpPr/>
          <p:nvPr/>
        </p:nvSpPr>
        <p:spPr>
          <a:xfrm>
            <a:off x="6803136" y="2642616"/>
            <a:ext cx="4562856" cy="201168"/>
          </a:xfrm>
          <a:prstGeom prst="rect">
            <a:avLst/>
          </a:prstGeom>
          <a:noFill/>
          <a:ln/>
        </p:spPr>
        <p:txBody>
          <a:bodyPr wrap="square" lIns="0" tIns="0" rIns="0" bIns="0" rtlCol="0" anchor="ctr"/>
          <a:lstStyle/>
          <a:p>
            <a:pPr marL="0" indent="0">
              <a:buNone/>
            </a:pPr>
            <a:r>
              <a:rPr lang="en-US" sz="950" dirty="0">
                <a:solidFill>
                  <a:srgbClr val="6E7781"/>
                </a:solidFill>
                <a:latin typeface="Calibri" pitchFamily="34" charset="0"/>
                <a:ea typeface="Calibri" pitchFamily="34" charset="-122"/>
                <a:cs typeface="Calibri" pitchFamily="34" charset="-120"/>
              </a:rPr>
              <a:t>what the repo needs before you start</a:t>
            </a:r>
            <a:endParaRPr lang="en-US" sz="950" dirty="0"/>
          </a:p>
        </p:txBody>
      </p:sp>
      <p:sp>
        <p:nvSpPr>
          <p:cNvPr id="66" name="Text 64"/>
          <p:cNvSpPr/>
          <p:nvPr/>
        </p:nvSpPr>
        <p:spPr>
          <a:xfrm>
            <a:off x="6803136" y="2907792"/>
            <a:ext cx="4562856" cy="1097280"/>
          </a:xfrm>
          <a:prstGeom prst="rect">
            <a:avLst/>
          </a:prstGeom>
          <a:noFill/>
          <a:ln/>
        </p:spPr>
        <p:txBody>
          <a:bodyPr wrap="square" lIns="0" tIns="0" rIns="0" bIns="0" rtlCol="0" anchor="t"/>
          <a:lstStyle/>
          <a:p>
            <a:pPr marL="177800" indent="-177800">
              <a:lnSpc>
                <a:spcPts val="1320"/>
              </a:lnSpc>
              <a:spcAft>
                <a:spcPts val="700"/>
              </a:spcAft>
              <a:buSzPct val="100000"/>
              <a:buChar char="•"/>
            </a:pPr>
            <a:r>
              <a:rPr lang="en-US" sz="1000" b="1" dirty="0">
                <a:solidFill>
                  <a:srgbClr val="15181D"/>
                </a:solidFill>
                <a:latin typeface="Calibri" pitchFamily="34" charset="0"/>
                <a:ea typeface="Calibri" pitchFamily="34" charset="-122"/>
                <a:cs typeface="Calibri" pitchFamily="34" charset="-120"/>
              </a:rPr>
              <a:t>The starter repo (sample/) open as the workspace folder. </a:t>
            </a:r>
            <a:endParaRPr lang="en-US" sz="1000" dirty="0"/>
          </a:p>
          <a:p>
            <a:pPr marL="177800" indent="-177800">
              <a:lnSpc>
                <a:spcPts val="1320"/>
              </a:lnSpc>
              <a:spcAft>
                <a:spcPts val="700"/>
              </a:spcAft>
              <a:buSzPct val="100000"/>
              <a:buChar char="•"/>
            </a:pPr>
            <a:r>
              <a:rPr lang="en-US" sz="1000" b="1" dirty="0">
                <a:solidFill>
                  <a:srgbClr val="15181D"/>
                </a:solidFill>
                <a:latin typeface="Calibri" pitchFamily="34" charset="0"/>
                <a:ea typeface="Calibri" pitchFamily="34" charset="-122"/>
                <a:cs typeface="Calibri" pitchFamily="34" charset="-120"/>
              </a:rPr>
              <a:t>.claude/skills/&lt;name&gt;/SKILL.md committed. </a:t>
            </a:r>
            <a:r>
              <a:rPr lang="en-US" sz="1000" dirty="0">
                <a:solidFill>
                  <a:srgbClr val="2B3138"/>
                </a:solidFill>
                <a:latin typeface="Calibri" pitchFamily="34" charset="0"/>
                <a:ea typeface="Calibri" pitchFamily="34" charset="-122"/>
                <a:cs typeface="Calibri" pitchFamily="34" charset="-120"/>
              </a:rPr>
              <a:t>VS Code reads .github/skills/ too.</a:t>
            </a:r>
            <a:endParaRPr lang="en-US" sz="1000" dirty="0"/>
          </a:p>
          <a:p>
            <a:pPr marL="177800" indent="-177800">
              <a:lnSpc>
                <a:spcPts val="1320"/>
              </a:lnSpc>
              <a:spcAft>
                <a:spcPts val="700"/>
              </a:spcAft>
              <a:buSzPct val="100000"/>
              <a:buChar char="•"/>
            </a:pPr>
            <a:r>
              <a:rPr lang="en-US" sz="1000" b="1" dirty="0">
                <a:solidFill>
                  <a:srgbClr val="15181D"/>
                </a:solidFill>
                <a:latin typeface="Calibri" pitchFamily="34" charset="0"/>
                <a:ea typeface="Calibri" pitchFamily="34" charset="-122"/>
                <a:cs typeface="Calibri" pitchFamily="34" charset="-120"/>
              </a:rPr>
              <a:t>prompts/&lt;app&gt;.PROMPT.md in the repo, </a:t>
            </a:r>
            <a:r>
              <a:rPr lang="en-US" sz="1000" dirty="0">
                <a:solidFill>
                  <a:srgbClr val="2B3138"/>
                </a:solidFill>
                <a:latin typeface="Calibri" pitchFamily="34" charset="0"/>
                <a:ea typeface="Calibri" pitchFamily="34" charset="-122"/>
                <a:cs typeface="Calibri" pitchFamily="34" charset="-120"/>
              </a:rPr>
              <a:t>so you can # it instead of pasting 500 lines.</a:t>
            </a:r>
            <a:endParaRPr lang="en-US" sz="1000" dirty="0"/>
          </a:p>
          <a:p>
            <a:pPr marL="177800" indent="-177800">
              <a:lnSpc>
                <a:spcPts val="1320"/>
              </a:lnSpc>
              <a:spcAft>
                <a:spcPts val="700"/>
              </a:spcAft>
              <a:buSzPct val="100000"/>
              <a:buChar char="•"/>
            </a:pPr>
            <a:r>
              <a:rPr lang="en-US" sz="1000" b="1" dirty="0">
                <a:solidFill>
                  <a:srgbClr val="15181D"/>
                </a:solidFill>
                <a:latin typeface="Calibri" pitchFamily="34" charset="0"/>
                <a:ea typeface="Calibri" pitchFamily="34" charset="-122"/>
                <a:cs typeface="Calibri" pitchFamily="34" charset="-120"/>
              </a:rPr>
              <a:t>Copilot Chat installed and signed in, </a:t>
            </a:r>
            <a:r>
              <a:rPr lang="en-US" sz="1000" dirty="0">
                <a:solidFill>
                  <a:srgbClr val="2B3138"/>
                </a:solidFill>
                <a:latin typeface="Calibri" pitchFamily="34" charset="0"/>
                <a:ea typeface="Calibri" pitchFamily="34" charset="-122"/>
                <a:cs typeface="Calibri" pitchFamily="34" charset="-120"/>
              </a:rPr>
              <a:t>on a paid plan.</a:t>
            </a:r>
            <a:endParaRPr lang="en-US" sz="1000" dirty="0"/>
          </a:p>
        </p:txBody>
      </p:sp>
      <p:sp>
        <p:nvSpPr>
          <p:cNvPr id="67" name="Shape 65"/>
          <p:cNvSpPr/>
          <p:nvPr/>
        </p:nvSpPr>
        <p:spPr>
          <a:xfrm>
            <a:off x="6547104" y="4352544"/>
            <a:ext cx="5074920" cy="1883664"/>
          </a:xfrm>
          <a:prstGeom prst="roundRect">
            <a:avLst>
              <a:gd name="adj" fmla="val 2913"/>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68" name="Text 66"/>
          <p:cNvSpPr/>
          <p:nvPr/>
        </p:nvSpPr>
        <p:spPr>
          <a:xfrm>
            <a:off x="6803136" y="4489704"/>
            <a:ext cx="4562856" cy="292608"/>
          </a:xfrm>
          <a:prstGeom prst="rect">
            <a:avLst/>
          </a:prstGeom>
          <a:noFill/>
          <a:ln/>
        </p:spPr>
        <p:txBody>
          <a:bodyPr wrap="square" lIns="0" tIns="0" rIns="0" bIns="0" rtlCol="0" anchor="ctr"/>
          <a:lstStyle/>
          <a:p>
            <a:pPr marL="0" indent="0">
              <a:buNone/>
            </a:pPr>
            <a:r>
              <a:rPr lang="en-US" sz="1550" b="1" dirty="0">
                <a:solidFill>
                  <a:srgbClr val="0969DA"/>
                </a:solidFill>
                <a:latin typeface="Cambria" pitchFamily="34" charset="0"/>
                <a:ea typeface="Cambria" pitchFamily="34" charset="-122"/>
                <a:cs typeface="Cambria" pitchFamily="34" charset="-120"/>
              </a:rPr>
              <a:t>Run one iteration</a:t>
            </a:r>
            <a:endParaRPr lang="en-US" sz="1550" dirty="0"/>
          </a:p>
        </p:txBody>
      </p:sp>
      <p:sp>
        <p:nvSpPr>
          <p:cNvPr id="69" name="Text 67"/>
          <p:cNvSpPr/>
          <p:nvPr/>
        </p:nvSpPr>
        <p:spPr>
          <a:xfrm>
            <a:off x="6803136" y="4782312"/>
            <a:ext cx="4562856" cy="201168"/>
          </a:xfrm>
          <a:prstGeom prst="rect">
            <a:avLst/>
          </a:prstGeom>
          <a:noFill/>
          <a:ln/>
        </p:spPr>
        <p:txBody>
          <a:bodyPr wrap="square" lIns="0" tIns="0" rIns="0" bIns="0" rtlCol="0" anchor="ctr"/>
          <a:lstStyle/>
          <a:p>
            <a:pPr marL="0" indent="0">
              <a:buNone/>
            </a:pPr>
            <a:r>
              <a:rPr lang="en-US" sz="950" dirty="0">
                <a:solidFill>
                  <a:srgbClr val="6E7781"/>
                </a:solidFill>
                <a:latin typeface="Calibri" pitchFamily="34" charset="0"/>
                <a:ea typeface="Calibri" pitchFamily="34" charset="-122"/>
                <a:cs typeface="Calibri" pitchFamily="34" charset="-120"/>
              </a:rPr>
              <a:t>the numbers match the picture</a:t>
            </a:r>
            <a:endParaRPr lang="en-US" sz="950" dirty="0"/>
          </a:p>
        </p:txBody>
      </p:sp>
      <p:sp>
        <p:nvSpPr>
          <p:cNvPr id="70" name="Text 68"/>
          <p:cNvSpPr/>
          <p:nvPr/>
        </p:nvSpPr>
        <p:spPr>
          <a:xfrm>
            <a:off x="6803136" y="5047488"/>
            <a:ext cx="4562856" cy="1060704"/>
          </a:xfrm>
          <a:prstGeom prst="rect">
            <a:avLst/>
          </a:prstGeom>
          <a:noFill/>
          <a:ln/>
        </p:spPr>
        <p:txBody>
          <a:bodyPr wrap="square" lIns="0" tIns="0" rIns="0" bIns="0" rtlCol="0" anchor="t"/>
          <a:lstStyle/>
          <a:p>
            <a:pPr marL="0" indent="0">
              <a:lnSpc>
                <a:spcPts val="1300"/>
              </a:lnSpc>
              <a:spcAft>
                <a:spcPts val="600"/>
              </a:spcAft>
              <a:buNone/>
            </a:pPr>
            <a:r>
              <a:rPr lang="en-US" sz="1000" b="1" dirty="0">
                <a:solidFill>
                  <a:srgbClr val="0969DA"/>
                </a:solidFill>
                <a:latin typeface="Calibri" pitchFamily="34" charset="0"/>
                <a:ea typeface="Calibri" pitchFamily="34" charset="-122"/>
                <a:cs typeface="Calibri" pitchFamily="34" charset="-120"/>
              </a:rPr>
              <a:t>1.  </a:t>
            </a:r>
            <a:r>
              <a:rPr lang="en-US" sz="1000" dirty="0">
                <a:solidFill>
                  <a:srgbClr val="2B3138"/>
                </a:solidFill>
                <a:latin typeface="Calibri" pitchFamily="34" charset="0"/>
                <a:ea typeface="Calibri" pitchFamily="34" charset="-122"/>
                <a:cs typeface="Calibri" pitchFamily="34" charset="-120"/>
              </a:rPr>
              <a:t>Open the chat pane — Ctrl+Alt+I, or View → Chat.</a:t>
            </a:r>
            <a:endParaRPr lang="en-US" sz="1000" dirty="0"/>
          </a:p>
          <a:p>
            <a:pPr marL="0" indent="0">
              <a:lnSpc>
                <a:spcPts val="1300"/>
              </a:lnSpc>
              <a:spcAft>
                <a:spcPts val="600"/>
              </a:spcAft>
              <a:buNone/>
            </a:pPr>
            <a:r>
              <a:rPr lang="en-US" sz="1000" b="1" dirty="0">
                <a:solidFill>
                  <a:srgbClr val="0969DA"/>
                </a:solidFill>
                <a:latin typeface="Calibri" pitchFamily="34" charset="0"/>
                <a:ea typeface="Calibri" pitchFamily="34" charset="-122"/>
                <a:cs typeface="Calibri" pitchFamily="34" charset="-120"/>
              </a:rPr>
              <a:t>2.  </a:t>
            </a:r>
            <a:r>
              <a:rPr lang="en-US" sz="1000" dirty="0">
                <a:solidFill>
                  <a:srgbClr val="2B3138"/>
                </a:solidFill>
                <a:latin typeface="Calibri" pitchFamily="34" charset="0"/>
                <a:ea typeface="Calibri" pitchFamily="34" charset="-122"/>
                <a:cs typeface="Calibri" pitchFamily="34" charset="-120"/>
              </a:rPr>
              <a:t>Switch the mode picker from Ask to Agent, then pick a model.</a:t>
            </a:r>
            <a:endParaRPr lang="en-US" sz="1000" dirty="0"/>
          </a:p>
          <a:p>
            <a:pPr marL="0" indent="0">
              <a:lnSpc>
                <a:spcPts val="1300"/>
              </a:lnSpc>
              <a:spcAft>
                <a:spcPts val="600"/>
              </a:spcAft>
              <a:buNone/>
            </a:pPr>
            <a:r>
              <a:rPr lang="en-US" sz="1000" b="1" dirty="0">
                <a:solidFill>
                  <a:srgbClr val="0969DA"/>
                </a:solidFill>
                <a:latin typeface="Calibri" pitchFamily="34" charset="0"/>
                <a:ea typeface="Calibri" pitchFamily="34" charset="-122"/>
                <a:cs typeface="Calibri" pitchFamily="34" charset="-120"/>
              </a:rPr>
              <a:t>3.  </a:t>
            </a:r>
            <a:r>
              <a:rPr lang="en-US" sz="1000" dirty="0">
                <a:solidFill>
                  <a:srgbClr val="2B3138"/>
                </a:solidFill>
                <a:latin typeface="Calibri" pitchFamily="34" charset="0"/>
                <a:ea typeface="Calibri" pitchFamily="34" charset="-122"/>
                <a:cs typeface="Calibri" pitchFamily="34" charset="-120"/>
              </a:rPr>
              <a:t>Type the goal and reference the prompt file with #. Approve the tool calls.</a:t>
            </a:r>
            <a:endParaRPr lang="en-US" sz="1000" dirty="0"/>
          </a:p>
          <a:p>
            <a:pPr marL="0" indent="0">
              <a:lnSpc>
                <a:spcPts val="1300"/>
              </a:lnSpc>
              <a:spcAft>
                <a:spcPts val="600"/>
              </a:spcAft>
              <a:buNone/>
            </a:pPr>
            <a:r>
              <a:rPr lang="en-US" sz="1000" b="1" dirty="0">
                <a:solidFill>
                  <a:srgbClr val="0969DA"/>
                </a:solidFill>
                <a:latin typeface="Calibri" pitchFamily="34" charset="0"/>
                <a:ea typeface="Calibri" pitchFamily="34" charset="-122"/>
                <a:cs typeface="Calibri" pitchFamily="34" charset="-120"/>
              </a:rPr>
              <a:t>4.  </a:t>
            </a:r>
            <a:r>
              <a:rPr lang="en-US" sz="1000" dirty="0">
                <a:solidFill>
                  <a:srgbClr val="2B3138"/>
                </a:solidFill>
                <a:latin typeface="Calibri" pitchFamily="34" charset="0"/>
                <a:ea typeface="Calibri" pitchFamily="34" charset="-122"/>
                <a:cs typeface="Calibri" pitchFamily="34" charset="-120"/>
              </a:rPr>
              <a:t>Review the diff, Keep or Undo, then re-run the gates yourself.</a:t>
            </a:r>
            <a:endParaRPr lang="en-US" sz="1000" dirty="0"/>
          </a:p>
        </p:txBody>
      </p:sp>
      <p:sp>
        <p:nvSpPr>
          <p:cNvPr id="71" name="Text 69"/>
          <p:cNvSpPr/>
          <p:nvPr/>
        </p:nvSpPr>
        <p:spPr>
          <a:xfrm>
            <a:off x="566928" y="6437376"/>
            <a:ext cx="10552176" cy="237744"/>
          </a:xfrm>
          <a:prstGeom prst="rect">
            <a:avLst/>
          </a:prstGeom>
          <a:noFill/>
          <a:ln/>
        </p:spPr>
        <p:txBody>
          <a:bodyPr wrap="square" lIns="0" tIns="0" rIns="0" bIns="0" rtlCol="0" anchor="ctr"/>
          <a:lstStyle/>
          <a:p>
            <a:pPr marL="0" indent="0">
              <a:buNone/>
            </a:pPr>
            <a:r>
              <a:rPr lang="en-US" sz="850" b="1" dirty="0">
                <a:solidFill>
                  <a:srgbClr val="6E7781"/>
                </a:solidFill>
                <a:latin typeface="Calibri" pitchFamily="34" charset="0"/>
                <a:ea typeface="Calibri" pitchFamily="34" charset="-122"/>
                <a:cs typeface="Calibri" pitchFamily="34" charset="-120"/>
              </a:rPr>
              <a:t>Sources   </a:t>
            </a:r>
            <a:r>
              <a:rPr lang="en-US" sz="850" dirty="0">
                <a:solidFill>
                  <a:srgbClr val="6E7781"/>
                </a:solidFill>
                <a:latin typeface="Calibri" pitchFamily="34" charset="0"/>
                <a:ea typeface="Calibri" pitchFamily="34" charset="-122"/>
                <a:cs typeface="Calibri" pitchFamily="34" charset="-120"/>
              </a:rPr>
              <a:t>code.visualstudio.com/docs/copilot/chat/chat-agent-mode · code.visualstudio.com/docs/copilot/customization/agent-skills · learn.microsoft.com/visualstudio/ide/copilot-agent-skills</a:t>
            </a:r>
            <a:endParaRPr lang="en-US" sz="850" dirty="0"/>
          </a:p>
        </p:txBody>
      </p:sp>
      <p:sp>
        <p:nvSpPr>
          <p:cNvPr id="72"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anim calcmode="lin" valueType="num">
                                      <p:cBhvr additive="base">
                                        <p:cTn id="8" dur="420" fill="hold"/>
                                        <p:tgtEl>
                                          <p:spTgt spid="7"/>
                                        </p:tgtEl>
                                        <p:attrNameLst>
                                          <p:attrName>ppt_y</p:attrName>
                                        </p:attrNameLst>
                                      </p:cBhvr>
                                      <p:tavLst>
                                        <p:tav tm="0">
                                          <p:val>
                                            <p:strVal val="#ppt_y+0.035"/>
                                          </p:val>
                                        </p:tav>
                                        <p:tav tm="100000">
                                          <p:val>
                                            <p:strVal val="#ppt_y"/>
                                          </p:val>
                                        </p:tav>
                                      </p:tavLst>
                                    </p:anim>
                                    <p:set>
                                      <p:cBhvr>
                                        <p:cTn id="9" dur="1" fill="hold">
                                          <p:stCondLst>
                                            <p:cond delay="0"/>
                                          </p:stCondLst>
                                        </p:cTn>
                                        <p:tgtEl>
                                          <p:spTgt spid="63"/>
                                        </p:tgtEl>
                                        <p:attrNameLst>
                                          <p:attrName>style.visibility</p:attrName>
                                        </p:attrNameLst>
                                      </p:cBhvr>
                                      <p:to>
                                        <p:strVal val="visible"/>
                                      </p:to>
                                    </p:set>
                                    <p:animEffect transition="in" filter="fade">
                                      <p:cBhvr>
                                        <p:cTn id="10" dur="420"/>
                                        <p:tgtEl>
                                          <p:spTgt spid="63"/>
                                        </p:tgtEl>
                                      </p:cBhvr>
                                    </p:animEffect>
                                    <p:anim calcmode="lin" valueType="num">
                                      <p:cBhvr additive="base">
                                        <p:cTn id="11" dur="420" fill="hold"/>
                                        <p:tgtEl>
                                          <p:spTgt spid="63"/>
                                        </p:tgtEl>
                                        <p:attrNameLst>
                                          <p:attrName>ppt_y</p:attrName>
                                        </p:attrNameLst>
                                      </p:cBhvr>
                                      <p:tavLst>
                                        <p:tav tm="0">
                                          <p:val>
                                            <p:strVal val="#ppt_y+0.035"/>
                                          </p:val>
                                        </p:tav>
                                        <p:tav tm="100000">
                                          <p:val>
                                            <p:strVal val="#ppt_y"/>
                                          </p:val>
                                        </p:tav>
                                      </p:tavLst>
                                    </p:anim>
                                    <p:set>
                                      <p:cBhvr>
                                        <p:cTn id="12" dur="1" fill="hold">
                                          <p:stCondLst>
                                            <p:cond delay="0"/>
                                          </p:stCondLst>
                                        </p:cTn>
                                        <p:tgtEl>
                                          <p:spTgt spid="8"/>
                                        </p:tgtEl>
                                        <p:attrNameLst>
                                          <p:attrName>style.visibility</p:attrName>
                                        </p:attrNameLst>
                                      </p:cBhvr>
                                      <p:to>
                                        <p:strVal val="visible"/>
                                      </p:to>
                                    </p:set>
                                    <p:animEffect transition="in" filter="fade">
                                      <p:cBhvr>
                                        <p:cTn id="13" dur="420"/>
                                        <p:tgtEl>
                                          <p:spTgt spid="8"/>
                                        </p:tgtEl>
                                      </p:cBhvr>
                                    </p:animEffect>
                                    <p:anim calcmode="lin" valueType="num">
                                      <p:cBhvr additive="base">
                                        <p:cTn id="14" dur="420" fill="hold"/>
                                        <p:tgtEl>
                                          <p:spTgt spid="8"/>
                                        </p:tgtEl>
                                        <p:attrNameLst>
                                          <p:attrName>ppt_y</p:attrName>
                                        </p:attrNameLst>
                                      </p:cBhvr>
                                      <p:tavLst>
                                        <p:tav tm="0">
                                          <p:val>
                                            <p:strVal val="#ppt_y+0.035"/>
                                          </p:val>
                                        </p:tav>
                                        <p:tav tm="100000">
                                          <p:val>
                                            <p:strVal val="#ppt_y"/>
                                          </p:val>
                                        </p:tav>
                                      </p:tavLst>
                                    </p:anim>
                                    <p:set>
                                      <p:cBhvr>
                                        <p:cTn id="15" dur="1" fill="hold">
                                          <p:stCondLst>
                                            <p:cond delay="0"/>
                                          </p:stCondLst>
                                        </p:cTn>
                                        <p:tgtEl>
                                          <p:spTgt spid="13"/>
                                        </p:tgtEl>
                                        <p:attrNameLst>
                                          <p:attrName>style.visibility</p:attrName>
                                        </p:attrNameLst>
                                      </p:cBhvr>
                                      <p:to>
                                        <p:strVal val="visible"/>
                                      </p:to>
                                    </p:set>
                                    <p:animEffect transition="in" filter="fade">
                                      <p:cBhvr>
                                        <p:cTn id="16" dur="420"/>
                                        <p:tgtEl>
                                          <p:spTgt spid="13"/>
                                        </p:tgtEl>
                                      </p:cBhvr>
                                    </p:animEffect>
                                    <p:anim calcmode="lin" valueType="num">
                                      <p:cBhvr additive="base">
                                        <p:cTn id="17" dur="420" fill="hold"/>
                                        <p:tgtEl>
                                          <p:spTgt spid="13"/>
                                        </p:tgtEl>
                                        <p:attrNameLst>
                                          <p:attrName>ppt_y</p:attrName>
                                        </p:attrNameLst>
                                      </p:cBhvr>
                                      <p:tavLst>
                                        <p:tav tm="0">
                                          <p:val>
                                            <p:strVal val="#ppt_y+0.035"/>
                                          </p:val>
                                        </p:tav>
                                        <p:tav tm="100000">
                                          <p:val>
                                            <p:strVal val="#ppt_y"/>
                                          </p:val>
                                        </p:tav>
                                      </p:tavLst>
                                    </p:anim>
                                    <p:set>
                                      <p:cBhvr>
                                        <p:cTn id="18" dur="1" fill="hold">
                                          <p:stCondLst>
                                            <p:cond delay="0"/>
                                          </p:stCondLst>
                                        </p:cTn>
                                        <p:tgtEl>
                                          <p:spTgt spid="10"/>
                                        </p:tgtEl>
                                        <p:attrNameLst>
                                          <p:attrName>style.visibility</p:attrName>
                                        </p:attrNameLst>
                                      </p:cBhvr>
                                      <p:to>
                                        <p:strVal val="visible"/>
                                      </p:to>
                                    </p:set>
                                    <p:animEffect transition="in" filter="fade">
                                      <p:cBhvr>
                                        <p:cTn id="19" dur="420"/>
                                        <p:tgtEl>
                                          <p:spTgt spid="10"/>
                                        </p:tgtEl>
                                      </p:cBhvr>
                                    </p:animEffect>
                                    <p:anim calcmode="lin" valueType="num">
                                      <p:cBhvr additive="base">
                                        <p:cTn id="20" dur="420" fill="hold"/>
                                        <p:tgtEl>
                                          <p:spTgt spid="10"/>
                                        </p:tgtEl>
                                        <p:attrNameLst>
                                          <p:attrName>ppt_y</p:attrName>
                                        </p:attrNameLst>
                                      </p:cBhvr>
                                      <p:tavLst>
                                        <p:tav tm="0">
                                          <p:val>
                                            <p:strVal val="#ppt_y+0.035"/>
                                          </p:val>
                                        </p:tav>
                                        <p:tav tm="100000">
                                          <p:val>
                                            <p:strVal val="#ppt_y"/>
                                          </p:val>
                                        </p:tav>
                                      </p:tavLst>
                                    </p:anim>
                                    <p:set>
                                      <p:cBhvr>
                                        <p:cTn id="21" dur="1" fill="hold">
                                          <p:stCondLst>
                                            <p:cond delay="0"/>
                                          </p:stCondLst>
                                        </p:cTn>
                                        <p:tgtEl>
                                          <p:spTgt spid="11"/>
                                        </p:tgtEl>
                                        <p:attrNameLst>
                                          <p:attrName>style.visibility</p:attrName>
                                        </p:attrNameLst>
                                      </p:cBhvr>
                                      <p:to>
                                        <p:strVal val="visible"/>
                                      </p:to>
                                    </p:set>
                                    <p:animEffect transition="in" filter="fade">
                                      <p:cBhvr>
                                        <p:cTn id="22" dur="420"/>
                                        <p:tgtEl>
                                          <p:spTgt spid="11"/>
                                        </p:tgtEl>
                                      </p:cBhvr>
                                    </p:animEffect>
                                    <p:anim calcmode="lin" valueType="num">
                                      <p:cBhvr additive="base">
                                        <p:cTn id="23" dur="420" fill="hold"/>
                                        <p:tgtEl>
                                          <p:spTgt spid="11"/>
                                        </p:tgtEl>
                                        <p:attrNameLst>
                                          <p:attrName>ppt_y</p:attrName>
                                        </p:attrNameLst>
                                      </p:cBhvr>
                                      <p:tavLst>
                                        <p:tav tm="0">
                                          <p:val>
                                            <p:strVal val="#ppt_y+0.035"/>
                                          </p:val>
                                        </p:tav>
                                        <p:tav tm="100000">
                                          <p:val>
                                            <p:strVal val="#ppt_y"/>
                                          </p:val>
                                        </p:tav>
                                      </p:tavLst>
                                    </p:anim>
                                    <p:set>
                                      <p:cBhvr>
                                        <p:cTn id="24" dur="1" fill="hold">
                                          <p:stCondLst>
                                            <p:cond delay="0"/>
                                          </p:stCondLst>
                                        </p:cTn>
                                        <p:tgtEl>
                                          <p:spTgt spid="12"/>
                                        </p:tgtEl>
                                        <p:attrNameLst>
                                          <p:attrName>style.visibility</p:attrName>
                                        </p:attrNameLst>
                                      </p:cBhvr>
                                      <p:to>
                                        <p:strVal val="visible"/>
                                      </p:to>
                                    </p:set>
                                    <p:animEffect transition="in" filter="fade">
                                      <p:cBhvr>
                                        <p:cTn id="25" dur="420"/>
                                        <p:tgtEl>
                                          <p:spTgt spid="12"/>
                                        </p:tgtEl>
                                      </p:cBhvr>
                                    </p:animEffect>
                                    <p:anim calcmode="lin" valueType="num">
                                      <p:cBhvr additive="base">
                                        <p:cTn id="26" dur="420" fill="hold"/>
                                        <p:tgtEl>
                                          <p:spTgt spid="12"/>
                                        </p:tgtEl>
                                        <p:attrNameLst>
                                          <p:attrName>ppt_y</p:attrName>
                                        </p:attrNameLst>
                                      </p:cBhvr>
                                      <p:tavLst>
                                        <p:tav tm="0">
                                          <p:val>
                                            <p:strVal val="#ppt_y+0.035"/>
                                          </p:val>
                                        </p:tav>
                                        <p:tav tm="100000">
                                          <p:val>
                                            <p:strVal val="#ppt_y"/>
                                          </p:val>
                                        </p:tav>
                                      </p:tavLst>
                                    </p:anim>
                                    <p:set>
                                      <p:cBhvr>
                                        <p:cTn id="27" dur="1" fill="hold">
                                          <p:stCondLst>
                                            <p:cond delay="0"/>
                                          </p:stCondLst>
                                        </p:cTn>
                                        <p:tgtEl>
                                          <p:spTgt spid="64"/>
                                        </p:tgtEl>
                                        <p:attrNameLst>
                                          <p:attrName>style.visibility</p:attrName>
                                        </p:attrNameLst>
                                      </p:cBhvr>
                                      <p:to>
                                        <p:strVal val="visible"/>
                                      </p:to>
                                    </p:set>
                                    <p:animEffect transition="in" filter="fade">
                                      <p:cBhvr>
                                        <p:cTn id="28" dur="420"/>
                                        <p:tgtEl>
                                          <p:spTgt spid="64"/>
                                        </p:tgtEl>
                                      </p:cBhvr>
                                    </p:animEffect>
                                    <p:anim calcmode="lin" valueType="num">
                                      <p:cBhvr additive="base">
                                        <p:cTn id="29" dur="420" fill="hold"/>
                                        <p:tgtEl>
                                          <p:spTgt spid="64"/>
                                        </p:tgtEl>
                                        <p:attrNameLst>
                                          <p:attrName>ppt_y</p:attrName>
                                        </p:attrNameLst>
                                      </p:cBhvr>
                                      <p:tavLst>
                                        <p:tav tm="0">
                                          <p:val>
                                            <p:strVal val="#ppt_y+0.035"/>
                                          </p:val>
                                        </p:tav>
                                        <p:tav tm="100000">
                                          <p:val>
                                            <p:strVal val="#ppt_y"/>
                                          </p:val>
                                        </p:tav>
                                      </p:tavLst>
                                    </p:anim>
                                    <p:set>
                                      <p:cBhvr>
                                        <p:cTn id="30" dur="1" fill="hold">
                                          <p:stCondLst>
                                            <p:cond delay="0"/>
                                          </p:stCondLst>
                                        </p:cTn>
                                        <p:tgtEl>
                                          <p:spTgt spid="9"/>
                                        </p:tgtEl>
                                        <p:attrNameLst>
                                          <p:attrName>style.visibility</p:attrName>
                                        </p:attrNameLst>
                                      </p:cBhvr>
                                      <p:to>
                                        <p:strVal val="visible"/>
                                      </p:to>
                                    </p:set>
                                    <p:animEffect transition="in" filter="fade">
                                      <p:cBhvr>
                                        <p:cTn id="31" dur="420"/>
                                        <p:tgtEl>
                                          <p:spTgt spid="9"/>
                                        </p:tgtEl>
                                      </p:cBhvr>
                                    </p:animEffect>
                                    <p:anim calcmode="lin" valueType="num">
                                      <p:cBhvr additive="base">
                                        <p:cTn id="32" dur="420" fill="hold"/>
                                        <p:tgtEl>
                                          <p:spTgt spid="9"/>
                                        </p:tgtEl>
                                        <p:attrNameLst>
                                          <p:attrName>ppt_y</p:attrName>
                                        </p:attrNameLst>
                                      </p:cBhvr>
                                      <p:tavLst>
                                        <p:tav tm="0">
                                          <p:val>
                                            <p:strVal val="#ppt_y+0.035"/>
                                          </p:val>
                                        </p:tav>
                                        <p:tav tm="100000">
                                          <p:val>
                                            <p:strVal val="#ppt_y"/>
                                          </p:val>
                                        </p:tav>
                                      </p:tavLst>
                                    </p:anim>
                                    <p:set>
                                      <p:cBhvr>
                                        <p:cTn id="33" dur="1" fill="hold">
                                          <p:stCondLst>
                                            <p:cond delay="0"/>
                                          </p:stCondLst>
                                        </p:cTn>
                                        <p:tgtEl>
                                          <p:spTgt spid="14"/>
                                        </p:tgtEl>
                                        <p:attrNameLst>
                                          <p:attrName>style.visibility</p:attrName>
                                        </p:attrNameLst>
                                      </p:cBhvr>
                                      <p:to>
                                        <p:strVal val="visible"/>
                                      </p:to>
                                    </p:set>
                                    <p:animEffect transition="in" filter="fade">
                                      <p:cBhvr>
                                        <p:cTn id="34" dur="420"/>
                                        <p:tgtEl>
                                          <p:spTgt spid="14"/>
                                        </p:tgtEl>
                                      </p:cBhvr>
                                    </p:animEffect>
                                    <p:anim calcmode="lin" valueType="num">
                                      <p:cBhvr additive="base">
                                        <p:cTn id="35" dur="420" fill="hold"/>
                                        <p:tgtEl>
                                          <p:spTgt spid="14"/>
                                        </p:tgtEl>
                                        <p:attrNameLst>
                                          <p:attrName>ppt_y</p:attrName>
                                        </p:attrNameLst>
                                      </p:cBhvr>
                                      <p:tavLst>
                                        <p:tav tm="0">
                                          <p:val>
                                            <p:strVal val="#ppt_y+0.035"/>
                                          </p:val>
                                        </p:tav>
                                        <p:tav tm="100000">
                                          <p:val>
                                            <p:strVal val="#ppt_y"/>
                                          </p:val>
                                        </p:tav>
                                      </p:tavLst>
                                    </p:anim>
                                    <p:set>
                                      <p:cBhvr>
                                        <p:cTn id="36" dur="1" fill="hold">
                                          <p:stCondLst>
                                            <p:cond delay="0"/>
                                          </p:stCondLst>
                                        </p:cTn>
                                        <p:tgtEl>
                                          <p:spTgt spid="33"/>
                                        </p:tgtEl>
                                        <p:attrNameLst>
                                          <p:attrName>style.visibility</p:attrName>
                                        </p:attrNameLst>
                                      </p:cBhvr>
                                      <p:to>
                                        <p:strVal val="visible"/>
                                      </p:to>
                                    </p:set>
                                    <p:animEffect transition="in" filter="fade">
                                      <p:cBhvr>
                                        <p:cTn id="37" dur="420"/>
                                        <p:tgtEl>
                                          <p:spTgt spid="33"/>
                                        </p:tgtEl>
                                      </p:cBhvr>
                                    </p:animEffect>
                                    <p:anim calcmode="lin" valueType="num">
                                      <p:cBhvr additive="base">
                                        <p:cTn id="38" dur="420" fill="hold"/>
                                        <p:tgtEl>
                                          <p:spTgt spid="33"/>
                                        </p:tgtEl>
                                        <p:attrNameLst>
                                          <p:attrName>ppt_y</p:attrName>
                                        </p:attrNameLst>
                                      </p:cBhvr>
                                      <p:tavLst>
                                        <p:tav tm="0">
                                          <p:val>
                                            <p:strVal val="#ppt_y+0.035"/>
                                          </p:val>
                                        </p:tav>
                                        <p:tav tm="100000">
                                          <p:val>
                                            <p:strVal val="#ppt_y"/>
                                          </p:val>
                                        </p:tav>
                                      </p:tavLst>
                                    </p:anim>
                                    <p:set>
                                      <p:cBhvr>
                                        <p:cTn id="39" dur="1" fill="hold">
                                          <p:stCondLst>
                                            <p:cond delay="0"/>
                                          </p:stCondLst>
                                        </p:cTn>
                                        <p:tgtEl>
                                          <p:spTgt spid="34"/>
                                        </p:tgtEl>
                                        <p:attrNameLst>
                                          <p:attrName>style.visibility</p:attrName>
                                        </p:attrNameLst>
                                      </p:cBhvr>
                                      <p:to>
                                        <p:strVal val="visible"/>
                                      </p:to>
                                    </p:set>
                                    <p:animEffect transition="in" filter="fade">
                                      <p:cBhvr>
                                        <p:cTn id="40" dur="420"/>
                                        <p:tgtEl>
                                          <p:spTgt spid="34"/>
                                        </p:tgtEl>
                                      </p:cBhvr>
                                    </p:animEffect>
                                    <p:anim calcmode="lin" valueType="num">
                                      <p:cBhvr additive="base">
                                        <p:cTn id="41" dur="420" fill="hold"/>
                                        <p:tgtEl>
                                          <p:spTgt spid="34"/>
                                        </p:tgtEl>
                                        <p:attrNameLst>
                                          <p:attrName>ppt_y</p:attrName>
                                        </p:attrNameLst>
                                      </p:cBhvr>
                                      <p:tavLst>
                                        <p:tav tm="0">
                                          <p:val>
                                            <p:strVal val="#ppt_y+0.035"/>
                                          </p:val>
                                        </p:tav>
                                        <p:tav tm="100000">
                                          <p:val>
                                            <p:strVal val="#ppt_y"/>
                                          </p:val>
                                        </p:tav>
                                      </p:tavLst>
                                    </p:anim>
                                    <p:set>
                                      <p:cBhvr>
                                        <p:cTn id="42" dur="1" fill="hold">
                                          <p:stCondLst>
                                            <p:cond delay="0"/>
                                          </p:stCondLst>
                                        </p:cTn>
                                        <p:tgtEl>
                                          <p:spTgt spid="19"/>
                                        </p:tgtEl>
                                        <p:attrNameLst>
                                          <p:attrName>style.visibility</p:attrName>
                                        </p:attrNameLst>
                                      </p:cBhvr>
                                      <p:to>
                                        <p:strVal val="visible"/>
                                      </p:to>
                                    </p:set>
                                    <p:animEffect transition="in" filter="fade">
                                      <p:cBhvr>
                                        <p:cTn id="43" dur="420"/>
                                        <p:tgtEl>
                                          <p:spTgt spid="19"/>
                                        </p:tgtEl>
                                      </p:cBhvr>
                                    </p:animEffect>
                                    <p:anim calcmode="lin" valueType="num">
                                      <p:cBhvr additive="base">
                                        <p:cTn id="44" dur="420" fill="hold"/>
                                        <p:tgtEl>
                                          <p:spTgt spid="19"/>
                                        </p:tgtEl>
                                        <p:attrNameLst>
                                          <p:attrName>ppt_y</p:attrName>
                                        </p:attrNameLst>
                                      </p:cBhvr>
                                      <p:tavLst>
                                        <p:tav tm="0">
                                          <p:val>
                                            <p:strVal val="#ppt_y+0.035"/>
                                          </p:val>
                                        </p:tav>
                                        <p:tav tm="100000">
                                          <p:val>
                                            <p:strVal val="#ppt_y"/>
                                          </p:val>
                                        </p:tav>
                                      </p:tavLst>
                                    </p:anim>
                                    <p:set>
                                      <p:cBhvr>
                                        <p:cTn id="45" dur="1" fill="hold">
                                          <p:stCondLst>
                                            <p:cond delay="0"/>
                                          </p:stCondLst>
                                        </p:cTn>
                                        <p:tgtEl>
                                          <p:spTgt spid="35"/>
                                        </p:tgtEl>
                                        <p:attrNameLst>
                                          <p:attrName>style.visibility</p:attrName>
                                        </p:attrNameLst>
                                      </p:cBhvr>
                                      <p:to>
                                        <p:strVal val="visible"/>
                                      </p:to>
                                    </p:set>
                                    <p:animEffect transition="in" filter="fade">
                                      <p:cBhvr>
                                        <p:cTn id="46" dur="420"/>
                                        <p:tgtEl>
                                          <p:spTgt spid="35"/>
                                        </p:tgtEl>
                                      </p:cBhvr>
                                    </p:animEffect>
                                    <p:anim calcmode="lin" valueType="num">
                                      <p:cBhvr additive="base">
                                        <p:cTn id="47" dur="420" fill="hold"/>
                                        <p:tgtEl>
                                          <p:spTgt spid="35"/>
                                        </p:tgtEl>
                                        <p:attrNameLst>
                                          <p:attrName>ppt_y</p:attrName>
                                        </p:attrNameLst>
                                      </p:cBhvr>
                                      <p:tavLst>
                                        <p:tav tm="0">
                                          <p:val>
                                            <p:strVal val="#ppt_y+0.035"/>
                                          </p:val>
                                        </p:tav>
                                        <p:tav tm="100000">
                                          <p:val>
                                            <p:strVal val="#ppt_y"/>
                                          </p:val>
                                        </p:tav>
                                      </p:tavLst>
                                    </p:anim>
                                    <p:set>
                                      <p:cBhvr>
                                        <p:cTn id="48" dur="1" fill="hold">
                                          <p:stCondLst>
                                            <p:cond delay="0"/>
                                          </p:stCondLst>
                                        </p:cTn>
                                        <p:tgtEl>
                                          <p:spTgt spid="36"/>
                                        </p:tgtEl>
                                        <p:attrNameLst>
                                          <p:attrName>style.visibility</p:attrName>
                                        </p:attrNameLst>
                                      </p:cBhvr>
                                      <p:to>
                                        <p:strVal val="visible"/>
                                      </p:to>
                                    </p:set>
                                    <p:animEffect transition="in" filter="fade">
                                      <p:cBhvr>
                                        <p:cTn id="49" dur="420"/>
                                        <p:tgtEl>
                                          <p:spTgt spid="36"/>
                                        </p:tgtEl>
                                      </p:cBhvr>
                                    </p:animEffect>
                                    <p:anim calcmode="lin" valueType="num">
                                      <p:cBhvr additive="base">
                                        <p:cTn id="50" dur="420" fill="hold"/>
                                        <p:tgtEl>
                                          <p:spTgt spid="36"/>
                                        </p:tgtEl>
                                        <p:attrNameLst>
                                          <p:attrName>ppt_y</p:attrName>
                                        </p:attrNameLst>
                                      </p:cBhvr>
                                      <p:tavLst>
                                        <p:tav tm="0">
                                          <p:val>
                                            <p:strVal val="#ppt_y+0.035"/>
                                          </p:val>
                                        </p:tav>
                                        <p:tav tm="100000">
                                          <p:val>
                                            <p:strVal val="#ppt_y"/>
                                          </p:val>
                                        </p:tav>
                                      </p:tavLst>
                                    </p:anim>
                                    <p:set>
                                      <p:cBhvr>
                                        <p:cTn id="51" dur="1" fill="hold">
                                          <p:stCondLst>
                                            <p:cond delay="0"/>
                                          </p:stCondLst>
                                        </p:cTn>
                                        <p:tgtEl>
                                          <p:spTgt spid="65"/>
                                        </p:tgtEl>
                                        <p:attrNameLst>
                                          <p:attrName>style.visibility</p:attrName>
                                        </p:attrNameLst>
                                      </p:cBhvr>
                                      <p:to>
                                        <p:strVal val="visible"/>
                                      </p:to>
                                    </p:set>
                                    <p:animEffect transition="in" filter="fade">
                                      <p:cBhvr>
                                        <p:cTn id="52" dur="420"/>
                                        <p:tgtEl>
                                          <p:spTgt spid="65"/>
                                        </p:tgtEl>
                                      </p:cBhvr>
                                    </p:animEffect>
                                    <p:anim calcmode="lin" valueType="num">
                                      <p:cBhvr additive="base">
                                        <p:cTn id="53" dur="420" fill="hold"/>
                                        <p:tgtEl>
                                          <p:spTgt spid="65"/>
                                        </p:tgtEl>
                                        <p:attrNameLst>
                                          <p:attrName>ppt_y</p:attrName>
                                        </p:attrNameLst>
                                      </p:cBhvr>
                                      <p:tavLst>
                                        <p:tav tm="0">
                                          <p:val>
                                            <p:strVal val="#ppt_y+0.035"/>
                                          </p:val>
                                        </p:tav>
                                        <p:tav tm="100000">
                                          <p:val>
                                            <p:strVal val="#ppt_y"/>
                                          </p:val>
                                        </p:tav>
                                      </p:tavLst>
                                    </p:anim>
                                    <p:set>
                                      <p:cBhvr>
                                        <p:cTn id="54" dur="1" fill="hold">
                                          <p:stCondLst>
                                            <p:cond delay="0"/>
                                          </p:stCondLst>
                                        </p:cTn>
                                        <p:tgtEl>
                                          <p:spTgt spid="37"/>
                                        </p:tgtEl>
                                        <p:attrNameLst>
                                          <p:attrName>style.visibility</p:attrName>
                                        </p:attrNameLst>
                                      </p:cBhvr>
                                      <p:to>
                                        <p:strVal val="visible"/>
                                      </p:to>
                                    </p:set>
                                    <p:animEffect transition="in" filter="fade">
                                      <p:cBhvr>
                                        <p:cTn id="55" dur="420"/>
                                        <p:tgtEl>
                                          <p:spTgt spid="37"/>
                                        </p:tgtEl>
                                      </p:cBhvr>
                                    </p:animEffect>
                                    <p:anim calcmode="lin" valueType="num">
                                      <p:cBhvr additive="base">
                                        <p:cTn id="56" dur="420" fill="hold"/>
                                        <p:tgtEl>
                                          <p:spTgt spid="37"/>
                                        </p:tgtEl>
                                        <p:attrNameLst>
                                          <p:attrName>ppt_y</p:attrName>
                                        </p:attrNameLst>
                                      </p:cBhvr>
                                      <p:tavLst>
                                        <p:tav tm="0">
                                          <p:val>
                                            <p:strVal val="#ppt_y+0.035"/>
                                          </p:val>
                                        </p:tav>
                                        <p:tav tm="100000">
                                          <p:val>
                                            <p:strVal val="#ppt_y"/>
                                          </p:val>
                                        </p:tav>
                                      </p:tavLst>
                                    </p:anim>
                                    <p:set>
                                      <p:cBhvr>
                                        <p:cTn id="57" dur="1" fill="hold">
                                          <p:stCondLst>
                                            <p:cond delay="0"/>
                                          </p:stCondLst>
                                        </p:cTn>
                                        <p:tgtEl>
                                          <p:spTgt spid="15"/>
                                        </p:tgtEl>
                                        <p:attrNameLst>
                                          <p:attrName>style.visibility</p:attrName>
                                        </p:attrNameLst>
                                      </p:cBhvr>
                                      <p:to>
                                        <p:strVal val="visible"/>
                                      </p:to>
                                    </p:set>
                                    <p:animEffect transition="in" filter="fade">
                                      <p:cBhvr>
                                        <p:cTn id="58" dur="420"/>
                                        <p:tgtEl>
                                          <p:spTgt spid="15"/>
                                        </p:tgtEl>
                                      </p:cBhvr>
                                    </p:animEffect>
                                    <p:anim calcmode="lin" valueType="num">
                                      <p:cBhvr additive="base">
                                        <p:cTn id="59" dur="420" fill="hold"/>
                                        <p:tgtEl>
                                          <p:spTgt spid="15"/>
                                        </p:tgtEl>
                                        <p:attrNameLst>
                                          <p:attrName>ppt_y</p:attrName>
                                        </p:attrNameLst>
                                      </p:cBhvr>
                                      <p:tavLst>
                                        <p:tav tm="0">
                                          <p:val>
                                            <p:strVal val="#ppt_y+0.035"/>
                                          </p:val>
                                        </p:tav>
                                        <p:tav tm="100000">
                                          <p:val>
                                            <p:strVal val="#ppt_y"/>
                                          </p:val>
                                        </p:tav>
                                      </p:tavLst>
                                    </p:anim>
                                    <p:set>
                                      <p:cBhvr>
                                        <p:cTn id="60" dur="1" fill="hold">
                                          <p:stCondLst>
                                            <p:cond delay="0"/>
                                          </p:stCondLst>
                                        </p:cTn>
                                        <p:tgtEl>
                                          <p:spTgt spid="20"/>
                                        </p:tgtEl>
                                        <p:attrNameLst>
                                          <p:attrName>style.visibility</p:attrName>
                                        </p:attrNameLst>
                                      </p:cBhvr>
                                      <p:to>
                                        <p:strVal val="visible"/>
                                      </p:to>
                                    </p:set>
                                    <p:animEffect transition="in" filter="fade">
                                      <p:cBhvr>
                                        <p:cTn id="61" dur="420"/>
                                        <p:tgtEl>
                                          <p:spTgt spid="20"/>
                                        </p:tgtEl>
                                      </p:cBhvr>
                                    </p:animEffect>
                                    <p:anim calcmode="lin" valueType="num">
                                      <p:cBhvr additive="base">
                                        <p:cTn id="62" dur="420" fill="hold"/>
                                        <p:tgtEl>
                                          <p:spTgt spid="20"/>
                                        </p:tgtEl>
                                        <p:attrNameLst>
                                          <p:attrName>ppt_y</p:attrName>
                                        </p:attrNameLst>
                                      </p:cBhvr>
                                      <p:tavLst>
                                        <p:tav tm="0">
                                          <p:val>
                                            <p:strVal val="#ppt_y+0.035"/>
                                          </p:val>
                                        </p:tav>
                                        <p:tav tm="100000">
                                          <p:val>
                                            <p:strVal val="#ppt_y"/>
                                          </p:val>
                                        </p:tav>
                                      </p:tavLst>
                                    </p:anim>
                                    <p:set>
                                      <p:cBhvr>
                                        <p:cTn id="63" dur="1" fill="hold">
                                          <p:stCondLst>
                                            <p:cond delay="0"/>
                                          </p:stCondLst>
                                        </p:cTn>
                                        <p:tgtEl>
                                          <p:spTgt spid="66"/>
                                        </p:tgtEl>
                                        <p:attrNameLst>
                                          <p:attrName>style.visibility</p:attrName>
                                        </p:attrNameLst>
                                      </p:cBhvr>
                                      <p:to>
                                        <p:strVal val="visible"/>
                                      </p:to>
                                    </p:set>
                                    <p:animEffect transition="in" filter="fade">
                                      <p:cBhvr>
                                        <p:cTn id="64" dur="420"/>
                                        <p:tgtEl>
                                          <p:spTgt spid="66"/>
                                        </p:tgtEl>
                                      </p:cBhvr>
                                    </p:animEffect>
                                    <p:anim calcmode="lin" valueType="num">
                                      <p:cBhvr additive="base">
                                        <p:cTn id="65" dur="420" fill="hold"/>
                                        <p:tgtEl>
                                          <p:spTgt spid="66"/>
                                        </p:tgtEl>
                                        <p:attrNameLst>
                                          <p:attrName>ppt_y</p:attrName>
                                        </p:attrNameLst>
                                      </p:cBhvr>
                                      <p:tavLst>
                                        <p:tav tm="0">
                                          <p:val>
                                            <p:strVal val="#ppt_y+0.035"/>
                                          </p:val>
                                        </p:tav>
                                        <p:tav tm="100000">
                                          <p:val>
                                            <p:strVal val="#ppt_y"/>
                                          </p:val>
                                        </p:tav>
                                      </p:tavLst>
                                    </p:anim>
                                    <p:set>
                                      <p:cBhvr>
                                        <p:cTn id="66" dur="1" fill="hold">
                                          <p:stCondLst>
                                            <p:cond delay="0"/>
                                          </p:stCondLst>
                                        </p:cTn>
                                        <p:tgtEl>
                                          <p:spTgt spid="38"/>
                                        </p:tgtEl>
                                        <p:attrNameLst>
                                          <p:attrName>style.visibility</p:attrName>
                                        </p:attrNameLst>
                                      </p:cBhvr>
                                      <p:to>
                                        <p:strVal val="visible"/>
                                      </p:to>
                                    </p:set>
                                    <p:animEffect transition="in" filter="fade">
                                      <p:cBhvr>
                                        <p:cTn id="67" dur="420"/>
                                        <p:tgtEl>
                                          <p:spTgt spid="38"/>
                                        </p:tgtEl>
                                      </p:cBhvr>
                                    </p:animEffect>
                                    <p:anim calcmode="lin" valueType="num">
                                      <p:cBhvr additive="base">
                                        <p:cTn id="68" dur="420" fill="hold"/>
                                        <p:tgtEl>
                                          <p:spTgt spid="38"/>
                                        </p:tgtEl>
                                        <p:attrNameLst>
                                          <p:attrName>ppt_y</p:attrName>
                                        </p:attrNameLst>
                                      </p:cBhvr>
                                      <p:tavLst>
                                        <p:tav tm="0">
                                          <p:val>
                                            <p:strVal val="#ppt_y+0.035"/>
                                          </p:val>
                                        </p:tav>
                                        <p:tav tm="100000">
                                          <p:val>
                                            <p:strVal val="#ppt_y"/>
                                          </p:val>
                                        </p:tav>
                                      </p:tavLst>
                                    </p:anim>
                                    <p:set>
                                      <p:cBhvr>
                                        <p:cTn id="69" dur="1" fill="hold">
                                          <p:stCondLst>
                                            <p:cond delay="0"/>
                                          </p:stCondLst>
                                        </p:cTn>
                                        <p:tgtEl>
                                          <p:spTgt spid="21"/>
                                        </p:tgtEl>
                                        <p:attrNameLst>
                                          <p:attrName>style.visibility</p:attrName>
                                        </p:attrNameLst>
                                      </p:cBhvr>
                                      <p:to>
                                        <p:strVal val="visible"/>
                                      </p:to>
                                    </p:set>
                                    <p:animEffect transition="in" filter="fade">
                                      <p:cBhvr>
                                        <p:cTn id="70" dur="420"/>
                                        <p:tgtEl>
                                          <p:spTgt spid="21"/>
                                        </p:tgtEl>
                                      </p:cBhvr>
                                    </p:animEffect>
                                    <p:anim calcmode="lin" valueType="num">
                                      <p:cBhvr additive="base">
                                        <p:cTn id="71" dur="420" fill="hold"/>
                                        <p:tgtEl>
                                          <p:spTgt spid="21"/>
                                        </p:tgtEl>
                                        <p:attrNameLst>
                                          <p:attrName>ppt_y</p:attrName>
                                        </p:attrNameLst>
                                      </p:cBhvr>
                                      <p:tavLst>
                                        <p:tav tm="0">
                                          <p:val>
                                            <p:strVal val="#ppt_y+0.035"/>
                                          </p:val>
                                        </p:tav>
                                        <p:tav tm="100000">
                                          <p:val>
                                            <p:strVal val="#ppt_y"/>
                                          </p:val>
                                        </p:tav>
                                      </p:tavLst>
                                    </p:anim>
                                    <p:set>
                                      <p:cBhvr>
                                        <p:cTn id="72" dur="1" fill="hold">
                                          <p:stCondLst>
                                            <p:cond delay="0"/>
                                          </p:stCondLst>
                                        </p:cTn>
                                        <p:tgtEl>
                                          <p:spTgt spid="16"/>
                                        </p:tgtEl>
                                        <p:attrNameLst>
                                          <p:attrName>style.visibility</p:attrName>
                                        </p:attrNameLst>
                                      </p:cBhvr>
                                      <p:to>
                                        <p:strVal val="visible"/>
                                      </p:to>
                                    </p:set>
                                    <p:animEffect transition="in" filter="fade">
                                      <p:cBhvr>
                                        <p:cTn id="73" dur="420"/>
                                        <p:tgtEl>
                                          <p:spTgt spid="16"/>
                                        </p:tgtEl>
                                      </p:cBhvr>
                                    </p:animEffect>
                                    <p:anim calcmode="lin" valueType="num">
                                      <p:cBhvr additive="base">
                                        <p:cTn id="74" dur="420" fill="hold"/>
                                        <p:tgtEl>
                                          <p:spTgt spid="16"/>
                                        </p:tgtEl>
                                        <p:attrNameLst>
                                          <p:attrName>ppt_y</p:attrName>
                                        </p:attrNameLst>
                                      </p:cBhvr>
                                      <p:tavLst>
                                        <p:tav tm="0">
                                          <p:val>
                                            <p:strVal val="#ppt_y+0.035"/>
                                          </p:val>
                                        </p:tav>
                                        <p:tav tm="100000">
                                          <p:val>
                                            <p:strVal val="#ppt_y"/>
                                          </p:val>
                                        </p:tav>
                                      </p:tavLst>
                                    </p:anim>
                                    <p:set>
                                      <p:cBhvr>
                                        <p:cTn id="75" dur="1" fill="hold">
                                          <p:stCondLst>
                                            <p:cond delay="0"/>
                                          </p:stCondLst>
                                        </p:cTn>
                                        <p:tgtEl>
                                          <p:spTgt spid="39"/>
                                        </p:tgtEl>
                                        <p:attrNameLst>
                                          <p:attrName>style.visibility</p:attrName>
                                        </p:attrNameLst>
                                      </p:cBhvr>
                                      <p:to>
                                        <p:strVal val="visible"/>
                                      </p:to>
                                    </p:set>
                                    <p:animEffect transition="in" filter="fade">
                                      <p:cBhvr>
                                        <p:cTn id="76" dur="420"/>
                                        <p:tgtEl>
                                          <p:spTgt spid="39"/>
                                        </p:tgtEl>
                                      </p:cBhvr>
                                    </p:animEffect>
                                    <p:anim calcmode="lin" valueType="num">
                                      <p:cBhvr additive="base">
                                        <p:cTn id="77" dur="420" fill="hold"/>
                                        <p:tgtEl>
                                          <p:spTgt spid="39"/>
                                        </p:tgtEl>
                                        <p:attrNameLst>
                                          <p:attrName>ppt_y</p:attrName>
                                        </p:attrNameLst>
                                      </p:cBhvr>
                                      <p:tavLst>
                                        <p:tav tm="0">
                                          <p:val>
                                            <p:strVal val="#ppt_y+0.035"/>
                                          </p:val>
                                        </p:tav>
                                        <p:tav tm="100000">
                                          <p:val>
                                            <p:strVal val="#ppt_y"/>
                                          </p:val>
                                        </p:tav>
                                      </p:tavLst>
                                    </p:anim>
                                    <p:set>
                                      <p:cBhvr>
                                        <p:cTn id="78" dur="1" fill="hold">
                                          <p:stCondLst>
                                            <p:cond delay="0"/>
                                          </p:stCondLst>
                                        </p:cTn>
                                        <p:tgtEl>
                                          <p:spTgt spid="22"/>
                                        </p:tgtEl>
                                        <p:attrNameLst>
                                          <p:attrName>style.visibility</p:attrName>
                                        </p:attrNameLst>
                                      </p:cBhvr>
                                      <p:to>
                                        <p:strVal val="visible"/>
                                      </p:to>
                                    </p:set>
                                    <p:animEffect transition="in" filter="fade">
                                      <p:cBhvr>
                                        <p:cTn id="79" dur="420"/>
                                        <p:tgtEl>
                                          <p:spTgt spid="22"/>
                                        </p:tgtEl>
                                      </p:cBhvr>
                                    </p:animEffect>
                                    <p:anim calcmode="lin" valueType="num">
                                      <p:cBhvr additive="base">
                                        <p:cTn id="80" dur="420" fill="hold"/>
                                        <p:tgtEl>
                                          <p:spTgt spid="22"/>
                                        </p:tgtEl>
                                        <p:attrNameLst>
                                          <p:attrName>ppt_y</p:attrName>
                                        </p:attrNameLst>
                                      </p:cBhvr>
                                      <p:tavLst>
                                        <p:tav tm="0">
                                          <p:val>
                                            <p:strVal val="#ppt_y+0.035"/>
                                          </p:val>
                                        </p:tav>
                                        <p:tav tm="100000">
                                          <p:val>
                                            <p:strVal val="#ppt_y"/>
                                          </p:val>
                                        </p:tav>
                                      </p:tavLst>
                                    </p:anim>
                                    <p:set>
                                      <p:cBhvr>
                                        <p:cTn id="81" dur="1" fill="hold">
                                          <p:stCondLst>
                                            <p:cond delay="0"/>
                                          </p:stCondLst>
                                        </p:cTn>
                                        <p:tgtEl>
                                          <p:spTgt spid="40"/>
                                        </p:tgtEl>
                                        <p:attrNameLst>
                                          <p:attrName>style.visibility</p:attrName>
                                        </p:attrNameLst>
                                      </p:cBhvr>
                                      <p:to>
                                        <p:strVal val="visible"/>
                                      </p:to>
                                    </p:set>
                                    <p:animEffect transition="in" filter="fade">
                                      <p:cBhvr>
                                        <p:cTn id="82" dur="420"/>
                                        <p:tgtEl>
                                          <p:spTgt spid="40"/>
                                        </p:tgtEl>
                                      </p:cBhvr>
                                    </p:animEffect>
                                    <p:anim calcmode="lin" valueType="num">
                                      <p:cBhvr additive="base">
                                        <p:cTn id="83" dur="420" fill="hold"/>
                                        <p:tgtEl>
                                          <p:spTgt spid="40"/>
                                        </p:tgtEl>
                                        <p:attrNameLst>
                                          <p:attrName>ppt_y</p:attrName>
                                        </p:attrNameLst>
                                      </p:cBhvr>
                                      <p:tavLst>
                                        <p:tav tm="0">
                                          <p:val>
                                            <p:strVal val="#ppt_y+0.035"/>
                                          </p:val>
                                        </p:tav>
                                        <p:tav tm="100000">
                                          <p:val>
                                            <p:strVal val="#ppt_y"/>
                                          </p:val>
                                        </p:tav>
                                      </p:tavLst>
                                    </p:anim>
                                    <p:set>
                                      <p:cBhvr>
                                        <p:cTn id="84" dur="1" fill="hold">
                                          <p:stCondLst>
                                            <p:cond delay="0"/>
                                          </p:stCondLst>
                                        </p:cTn>
                                        <p:tgtEl>
                                          <p:spTgt spid="23"/>
                                        </p:tgtEl>
                                        <p:attrNameLst>
                                          <p:attrName>style.visibility</p:attrName>
                                        </p:attrNameLst>
                                      </p:cBhvr>
                                      <p:to>
                                        <p:strVal val="visible"/>
                                      </p:to>
                                    </p:set>
                                    <p:animEffect transition="in" filter="fade">
                                      <p:cBhvr>
                                        <p:cTn id="85" dur="420"/>
                                        <p:tgtEl>
                                          <p:spTgt spid="23"/>
                                        </p:tgtEl>
                                      </p:cBhvr>
                                    </p:animEffect>
                                    <p:anim calcmode="lin" valueType="num">
                                      <p:cBhvr additive="base">
                                        <p:cTn id="86" dur="420" fill="hold"/>
                                        <p:tgtEl>
                                          <p:spTgt spid="23"/>
                                        </p:tgtEl>
                                        <p:attrNameLst>
                                          <p:attrName>ppt_y</p:attrName>
                                        </p:attrNameLst>
                                      </p:cBhvr>
                                      <p:tavLst>
                                        <p:tav tm="0">
                                          <p:val>
                                            <p:strVal val="#ppt_y+0.035"/>
                                          </p:val>
                                        </p:tav>
                                        <p:tav tm="100000">
                                          <p:val>
                                            <p:strVal val="#ppt_y"/>
                                          </p:val>
                                        </p:tav>
                                      </p:tavLst>
                                    </p:anim>
                                    <p:set>
                                      <p:cBhvr>
                                        <p:cTn id="87" dur="1" fill="hold">
                                          <p:stCondLst>
                                            <p:cond delay="0"/>
                                          </p:stCondLst>
                                        </p:cTn>
                                        <p:tgtEl>
                                          <p:spTgt spid="17"/>
                                        </p:tgtEl>
                                        <p:attrNameLst>
                                          <p:attrName>style.visibility</p:attrName>
                                        </p:attrNameLst>
                                      </p:cBhvr>
                                      <p:to>
                                        <p:strVal val="visible"/>
                                      </p:to>
                                    </p:set>
                                    <p:animEffect transition="in" filter="fade">
                                      <p:cBhvr>
                                        <p:cTn id="88" dur="420"/>
                                        <p:tgtEl>
                                          <p:spTgt spid="17"/>
                                        </p:tgtEl>
                                      </p:cBhvr>
                                    </p:animEffect>
                                    <p:anim calcmode="lin" valueType="num">
                                      <p:cBhvr additive="base">
                                        <p:cTn id="89" dur="420" fill="hold"/>
                                        <p:tgtEl>
                                          <p:spTgt spid="17"/>
                                        </p:tgtEl>
                                        <p:attrNameLst>
                                          <p:attrName>ppt_y</p:attrName>
                                        </p:attrNameLst>
                                      </p:cBhvr>
                                      <p:tavLst>
                                        <p:tav tm="0">
                                          <p:val>
                                            <p:strVal val="#ppt_y+0.035"/>
                                          </p:val>
                                        </p:tav>
                                        <p:tav tm="100000">
                                          <p:val>
                                            <p:strVal val="#ppt_y"/>
                                          </p:val>
                                        </p:tav>
                                      </p:tavLst>
                                    </p:anim>
                                    <p:set>
                                      <p:cBhvr>
                                        <p:cTn id="90" dur="1" fill="hold">
                                          <p:stCondLst>
                                            <p:cond delay="0"/>
                                          </p:stCondLst>
                                        </p:cTn>
                                        <p:tgtEl>
                                          <p:spTgt spid="41"/>
                                        </p:tgtEl>
                                        <p:attrNameLst>
                                          <p:attrName>style.visibility</p:attrName>
                                        </p:attrNameLst>
                                      </p:cBhvr>
                                      <p:to>
                                        <p:strVal val="visible"/>
                                      </p:to>
                                    </p:set>
                                    <p:animEffect transition="in" filter="fade">
                                      <p:cBhvr>
                                        <p:cTn id="91" dur="420"/>
                                        <p:tgtEl>
                                          <p:spTgt spid="41"/>
                                        </p:tgtEl>
                                      </p:cBhvr>
                                    </p:animEffect>
                                    <p:anim calcmode="lin" valueType="num">
                                      <p:cBhvr additive="base">
                                        <p:cTn id="92" dur="420" fill="hold"/>
                                        <p:tgtEl>
                                          <p:spTgt spid="41"/>
                                        </p:tgtEl>
                                        <p:attrNameLst>
                                          <p:attrName>ppt_y</p:attrName>
                                        </p:attrNameLst>
                                      </p:cBhvr>
                                      <p:tavLst>
                                        <p:tav tm="0">
                                          <p:val>
                                            <p:strVal val="#ppt_y+0.035"/>
                                          </p:val>
                                        </p:tav>
                                        <p:tav tm="100000">
                                          <p:val>
                                            <p:strVal val="#ppt_y"/>
                                          </p:val>
                                        </p:tav>
                                      </p:tavLst>
                                    </p:anim>
                                    <p:set>
                                      <p:cBhvr>
                                        <p:cTn id="93" dur="1" fill="hold">
                                          <p:stCondLst>
                                            <p:cond delay="0"/>
                                          </p:stCondLst>
                                        </p:cTn>
                                        <p:tgtEl>
                                          <p:spTgt spid="24"/>
                                        </p:tgtEl>
                                        <p:attrNameLst>
                                          <p:attrName>style.visibility</p:attrName>
                                        </p:attrNameLst>
                                      </p:cBhvr>
                                      <p:to>
                                        <p:strVal val="visible"/>
                                      </p:to>
                                    </p:set>
                                    <p:animEffect transition="in" filter="fade">
                                      <p:cBhvr>
                                        <p:cTn id="94" dur="420"/>
                                        <p:tgtEl>
                                          <p:spTgt spid="24"/>
                                        </p:tgtEl>
                                      </p:cBhvr>
                                    </p:animEffect>
                                    <p:anim calcmode="lin" valueType="num">
                                      <p:cBhvr additive="base">
                                        <p:cTn id="95" dur="420" fill="hold"/>
                                        <p:tgtEl>
                                          <p:spTgt spid="24"/>
                                        </p:tgtEl>
                                        <p:attrNameLst>
                                          <p:attrName>ppt_y</p:attrName>
                                        </p:attrNameLst>
                                      </p:cBhvr>
                                      <p:tavLst>
                                        <p:tav tm="0">
                                          <p:val>
                                            <p:strVal val="#ppt_y+0.035"/>
                                          </p:val>
                                        </p:tav>
                                        <p:tav tm="100000">
                                          <p:val>
                                            <p:strVal val="#ppt_y"/>
                                          </p:val>
                                        </p:tav>
                                      </p:tavLst>
                                    </p:anim>
                                    <p:set>
                                      <p:cBhvr>
                                        <p:cTn id="96" dur="1" fill="hold">
                                          <p:stCondLst>
                                            <p:cond delay="0"/>
                                          </p:stCondLst>
                                        </p:cTn>
                                        <p:tgtEl>
                                          <p:spTgt spid="18"/>
                                        </p:tgtEl>
                                        <p:attrNameLst>
                                          <p:attrName>style.visibility</p:attrName>
                                        </p:attrNameLst>
                                      </p:cBhvr>
                                      <p:to>
                                        <p:strVal val="visible"/>
                                      </p:to>
                                    </p:set>
                                    <p:animEffect transition="in" filter="fade">
                                      <p:cBhvr>
                                        <p:cTn id="97" dur="420"/>
                                        <p:tgtEl>
                                          <p:spTgt spid="18"/>
                                        </p:tgtEl>
                                      </p:cBhvr>
                                    </p:animEffect>
                                    <p:anim calcmode="lin" valueType="num">
                                      <p:cBhvr additive="base">
                                        <p:cTn id="98" dur="420" fill="hold"/>
                                        <p:tgtEl>
                                          <p:spTgt spid="18"/>
                                        </p:tgtEl>
                                        <p:attrNameLst>
                                          <p:attrName>ppt_y</p:attrName>
                                        </p:attrNameLst>
                                      </p:cBhvr>
                                      <p:tavLst>
                                        <p:tav tm="0">
                                          <p:val>
                                            <p:strVal val="#ppt_y+0.035"/>
                                          </p:val>
                                        </p:tav>
                                        <p:tav tm="100000">
                                          <p:val>
                                            <p:strVal val="#ppt_y"/>
                                          </p:val>
                                        </p:tav>
                                      </p:tavLst>
                                    </p:anim>
                                    <p:set>
                                      <p:cBhvr>
                                        <p:cTn id="99" dur="1" fill="hold">
                                          <p:stCondLst>
                                            <p:cond delay="0"/>
                                          </p:stCondLst>
                                        </p:cTn>
                                        <p:tgtEl>
                                          <p:spTgt spid="25"/>
                                        </p:tgtEl>
                                        <p:attrNameLst>
                                          <p:attrName>style.visibility</p:attrName>
                                        </p:attrNameLst>
                                      </p:cBhvr>
                                      <p:to>
                                        <p:strVal val="visible"/>
                                      </p:to>
                                    </p:set>
                                    <p:animEffect transition="in" filter="fade">
                                      <p:cBhvr>
                                        <p:cTn id="100" dur="420"/>
                                        <p:tgtEl>
                                          <p:spTgt spid="25"/>
                                        </p:tgtEl>
                                      </p:cBhvr>
                                    </p:animEffect>
                                    <p:anim calcmode="lin" valueType="num">
                                      <p:cBhvr additive="base">
                                        <p:cTn id="101" dur="420" fill="hold"/>
                                        <p:tgtEl>
                                          <p:spTgt spid="25"/>
                                        </p:tgtEl>
                                        <p:attrNameLst>
                                          <p:attrName>ppt_y</p:attrName>
                                        </p:attrNameLst>
                                      </p:cBhvr>
                                      <p:tavLst>
                                        <p:tav tm="0">
                                          <p:val>
                                            <p:strVal val="#ppt_y+0.035"/>
                                          </p:val>
                                        </p:tav>
                                        <p:tav tm="100000">
                                          <p:val>
                                            <p:strVal val="#ppt_y"/>
                                          </p:val>
                                        </p:tav>
                                      </p:tavLst>
                                    </p:anim>
                                    <p:set>
                                      <p:cBhvr>
                                        <p:cTn id="102" dur="1" fill="hold">
                                          <p:stCondLst>
                                            <p:cond delay="0"/>
                                          </p:stCondLst>
                                        </p:cTn>
                                        <p:tgtEl>
                                          <p:spTgt spid="42"/>
                                        </p:tgtEl>
                                        <p:attrNameLst>
                                          <p:attrName>style.visibility</p:attrName>
                                        </p:attrNameLst>
                                      </p:cBhvr>
                                      <p:to>
                                        <p:strVal val="visible"/>
                                      </p:to>
                                    </p:set>
                                    <p:animEffect transition="in" filter="fade">
                                      <p:cBhvr>
                                        <p:cTn id="103" dur="420"/>
                                        <p:tgtEl>
                                          <p:spTgt spid="42"/>
                                        </p:tgtEl>
                                      </p:cBhvr>
                                    </p:animEffect>
                                    <p:anim calcmode="lin" valueType="num">
                                      <p:cBhvr additive="base">
                                        <p:cTn id="104" dur="420" fill="hold"/>
                                        <p:tgtEl>
                                          <p:spTgt spid="42"/>
                                        </p:tgtEl>
                                        <p:attrNameLst>
                                          <p:attrName>ppt_y</p:attrName>
                                        </p:attrNameLst>
                                      </p:cBhvr>
                                      <p:tavLst>
                                        <p:tav tm="0">
                                          <p:val>
                                            <p:strVal val="#ppt_y+0.035"/>
                                          </p:val>
                                        </p:tav>
                                        <p:tav tm="100000">
                                          <p:val>
                                            <p:strVal val="#ppt_y"/>
                                          </p:val>
                                        </p:tav>
                                      </p:tavLst>
                                    </p:anim>
                                    <p:set>
                                      <p:cBhvr>
                                        <p:cTn id="105" dur="1" fill="hold">
                                          <p:stCondLst>
                                            <p:cond delay="0"/>
                                          </p:stCondLst>
                                        </p:cTn>
                                        <p:tgtEl>
                                          <p:spTgt spid="26"/>
                                        </p:tgtEl>
                                        <p:attrNameLst>
                                          <p:attrName>style.visibility</p:attrName>
                                        </p:attrNameLst>
                                      </p:cBhvr>
                                      <p:to>
                                        <p:strVal val="visible"/>
                                      </p:to>
                                    </p:set>
                                    <p:animEffect transition="in" filter="fade">
                                      <p:cBhvr>
                                        <p:cTn id="106" dur="420"/>
                                        <p:tgtEl>
                                          <p:spTgt spid="26"/>
                                        </p:tgtEl>
                                      </p:cBhvr>
                                    </p:animEffect>
                                    <p:anim calcmode="lin" valueType="num">
                                      <p:cBhvr additive="base">
                                        <p:cTn id="107" dur="420" fill="hold"/>
                                        <p:tgtEl>
                                          <p:spTgt spid="26"/>
                                        </p:tgtEl>
                                        <p:attrNameLst>
                                          <p:attrName>ppt_y</p:attrName>
                                        </p:attrNameLst>
                                      </p:cBhvr>
                                      <p:tavLst>
                                        <p:tav tm="0">
                                          <p:val>
                                            <p:strVal val="#ppt_y+0.035"/>
                                          </p:val>
                                        </p:tav>
                                        <p:tav tm="100000">
                                          <p:val>
                                            <p:strVal val="#ppt_y"/>
                                          </p:val>
                                        </p:tav>
                                      </p:tavLst>
                                    </p:anim>
                                    <p:set>
                                      <p:cBhvr>
                                        <p:cTn id="108" dur="1" fill="hold">
                                          <p:stCondLst>
                                            <p:cond delay="0"/>
                                          </p:stCondLst>
                                        </p:cTn>
                                        <p:tgtEl>
                                          <p:spTgt spid="43"/>
                                        </p:tgtEl>
                                        <p:attrNameLst>
                                          <p:attrName>style.visibility</p:attrName>
                                        </p:attrNameLst>
                                      </p:cBhvr>
                                      <p:to>
                                        <p:strVal val="visible"/>
                                      </p:to>
                                    </p:set>
                                    <p:animEffect transition="in" filter="fade">
                                      <p:cBhvr>
                                        <p:cTn id="109" dur="420"/>
                                        <p:tgtEl>
                                          <p:spTgt spid="43"/>
                                        </p:tgtEl>
                                      </p:cBhvr>
                                    </p:animEffect>
                                    <p:anim calcmode="lin" valueType="num">
                                      <p:cBhvr additive="base">
                                        <p:cTn id="110" dur="420" fill="hold"/>
                                        <p:tgtEl>
                                          <p:spTgt spid="43"/>
                                        </p:tgtEl>
                                        <p:attrNameLst>
                                          <p:attrName>ppt_y</p:attrName>
                                        </p:attrNameLst>
                                      </p:cBhvr>
                                      <p:tavLst>
                                        <p:tav tm="0">
                                          <p:val>
                                            <p:strVal val="#ppt_y+0.035"/>
                                          </p:val>
                                        </p:tav>
                                        <p:tav tm="100000">
                                          <p:val>
                                            <p:strVal val="#ppt_y"/>
                                          </p:val>
                                        </p:tav>
                                      </p:tavLst>
                                    </p:anim>
                                    <p:set>
                                      <p:cBhvr>
                                        <p:cTn id="111" dur="1" fill="hold">
                                          <p:stCondLst>
                                            <p:cond delay="0"/>
                                          </p:stCondLst>
                                        </p:cTn>
                                        <p:tgtEl>
                                          <p:spTgt spid="27"/>
                                        </p:tgtEl>
                                        <p:attrNameLst>
                                          <p:attrName>style.visibility</p:attrName>
                                        </p:attrNameLst>
                                      </p:cBhvr>
                                      <p:to>
                                        <p:strVal val="visible"/>
                                      </p:to>
                                    </p:set>
                                    <p:animEffect transition="in" filter="fade">
                                      <p:cBhvr>
                                        <p:cTn id="112" dur="420"/>
                                        <p:tgtEl>
                                          <p:spTgt spid="27"/>
                                        </p:tgtEl>
                                      </p:cBhvr>
                                    </p:animEffect>
                                    <p:anim calcmode="lin" valueType="num">
                                      <p:cBhvr additive="base">
                                        <p:cTn id="113" dur="420" fill="hold"/>
                                        <p:tgtEl>
                                          <p:spTgt spid="27"/>
                                        </p:tgtEl>
                                        <p:attrNameLst>
                                          <p:attrName>ppt_y</p:attrName>
                                        </p:attrNameLst>
                                      </p:cBhvr>
                                      <p:tavLst>
                                        <p:tav tm="0">
                                          <p:val>
                                            <p:strVal val="#ppt_y+0.035"/>
                                          </p:val>
                                        </p:tav>
                                        <p:tav tm="100000">
                                          <p:val>
                                            <p:strVal val="#ppt_y"/>
                                          </p:val>
                                        </p:tav>
                                      </p:tavLst>
                                    </p:anim>
                                    <p:set>
                                      <p:cBhvr>
                                        <p:cTn id="114"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anim calcmode="lin" valueType="num">
                                      <p:cBhvr additive="base">
                                        <p:cTn id="116" dur="420" fill="hold"/>
                                        <p:tgtEl>
                                          <p:spTgt spid="44"/>
                                        </p:tgtEl>
                                        <p:attrNameLst>
                                          <p:attrName>ppt_y</p:attrName>
                                        </p:attrNameLst>
                                      </p:cBhvr>
                                      <p:tavLst>
                                        <p:tav tm="0">
                                          <p:val>
                                            <p:strVal val="#ppt_y+0.035"/>
                                          </p:val>
                                        </p:tav>
                                        <p:tav tm="100000">
                                          <p:val>
                                            <p:strVal val="#ppt_y"/>
                                          </p:val>
                                        </p:tav>
                                      </p:tavLst>
                                    </p:anim>
                                    <p:set>
                                      <p:cBhvr>
                                        <p:cTn id="117" dur="1" fill="hold">
                                          <p:stCondLst>
                                            <p:cond delay="0"/>
                                          </p:stCondLst>
                                        </p:cTn>
                                        <p:tgtEl>
                                          <p:spTgt spid="28"/>
                                        </p:tgtEl>
                                        <p:attrNameLst>
                                          <p:attrName>style.visibility</p:attrName>
                                        </p:attrNameLst>
                                      </p:cBhvr>
                                      <p:to>
                                        <p:strVal val="visible"/>
                                      </p:to>
                                    </p:set>
                                    <p:animEffect transition="in" filter="fade">
                                      <p:cBhvr>
                                        <p:cTn id="118" dur="420"/>
                                        <p:tgtEl>
                                          <p:spTgt spid="28"/>
                                        </p:tgtEl>
                                      </p:cBhvr>
                                    </p:animEffect>
                                    <p:anim calcmode="lin" valueType="num">
                                      <p:cBhvr additive="base">
                                        <p:cTn id="119" dur="420" fill="hold"/>
                                        <p:tgtEl>
                                          <p:spTgt spid="28"/>
                                        </p:tgtEl>
                                        <p:attrNameLst>
                                          <p:attrName>ppt_y</p:attrName>
                                        </p:attrNameLst>
                                      </p:cBhvr>
                                      <p:tavLst>
                                        <p:tav tm="0">
                                          <p:val>
                                            <p:strVal val="#ppt_y+0.035"/>
                                          </p:val>
                                        </p:tav>
                                        <p:tav tm="100000">
                                          <p:val>
                                            <p:strVal val="#ppt_y"/>
                                          </p:val>
                                        </p:tav>
                                      </p:tavLst>
                                    </p:anim>
                                    <p:set>
                                      <p:cBhvr>
                                        <p:cTn id="120" dur="1" fill="hold">
                                          <p:stCondLst>
                                            <p:cond delay="0"/>
                                          </p:stCondLst>
                                        </p:cTn>
                                        <p:tgtEl>
                                          <p:spTgt spid="45"/>
                                        </p:tgtEl>
                                        <p:attrNameLst>
                                          <p:attrName>style.visibility</p:attrName>
                                        </p:attrNameLst>
                                      </p:cBhvr>
                                      <p:to>
                                        <p:strVal val="visible"/>
                                      </p:to>
                                    </p:set>
                                    <p:animEffect transition="in" filter="fade">
                                      <p:cBhvr>
                                        <p:cTn id="121" dur="420"/>
                                        <p:tgtEl>
                                          <p:spTgt spid="45"/>
                                        </p:tgtEl>
                                      </p:cBhvr>
                                    </p:animEffect>
                                    <p:anim calcmode="lin" valueType="num">
                                      <p:cBhvr additive="base">
                                        <p:cTn id="122" dur="420" fill="hold"/>
                                        <p:tgtEl>
                                          <p:spTgt spid="45"/>
                                        </p:tgtEl>
                                        <p:attrNameLst>
                                          <p:attrName>ppt_y</p:attrName>
                                        </p:attrNameLst>
                                      </p:cBhvr>
                                      <p:tavLst>
                                        <p:tav tm="0">
                                          <p:val>
                                            <p:strVal val="#ppt_y+0.035"/>
                                          </p:val>
                                        </p:tav>
                                        <p:tav tm="100000">
                                          <p:val>
                                            <p:strVal val="#ppt_y"/>
                                          </p:val>
                                        </p:tav>
                                      </p:tavLst>
                                    </p:anim>
                                    <p:set>
                                      <p:cBhvr>
                                        <p:cTn id="123" dur="1" fill="hold">
                                          <p:stCondLst>
                                            <p:cond delay="0"/>
                                          </p:stCondLst>
                                        </p:cTn>
                                        <p:tgtEl>
                                          <p:spTgt spid="46"/>
                                        </p:tgtEl>
                                        <p:attrNameLst>
                                          <p:attrName>style.visibility</p:attrName>
                                        </p:attrNameLst>
                                      </p:cBhvr>
                                      <p:to>
                                        <p:strVal val="visible"/>
                                      </p:to>
                                    </p:set>
                                    <p:animEffect transition="in" filter="fade">
                                      <p:cBhvr>
                                        <p:cTn id="124" dur="420"/>
                                        <p:tgtEl>
                                          <p:spTgt spid="46"/>
                                        </p:tgtEl>
                                      </p:cBhvr>
                                    </p:animEffect>
                                    <p:anim calcmode="lin" valueType="num">
                                      <p:cBhvr additive="base">
                                        <p:cTn id="125" dur="420" fill="hold"/>
                                        <p:tgtEl>
                                          <p:spTgt spid="46"/>
                                        </p:tgtEl>
                                        <p:attrNameLst>
                                          <p:attrName>ppt_y</p:attrName>
                                        </p:attrNameLst>
                                      </p:cBhvr>
                                      <p:tavLst>
                                        <p:tav tm="0">
                                          <p:val>
                                            <p:strVal val="#ppt_y+0.035"/>
                                          </p:val>
                                        </p:tav>
                                        <p:tav tm="100000">
                                          <p:val>
                                            <p:strVal val="#ppt_y"/>
                                          </p:val>
                                        </p:tav>
                                      </p:tavLst>
                                    </p:anim>
                                    <p:set>
                                      <p:cBhvr>
                                        <p:cTn id="126" dur="1" fill="hold">
                                          <p:stCondLst>
                                            <p:cond delay="0"/>
                                          </p:stCondLst>
                                        </p:cTn>
                                        <p:tgtEl>
                                          <p:spTgt spid="47"/>
                                        </p:tgtEl>
                                        <p:attrNameLst>
                                          <p:attrName>style.visibility</p:attrName>
                                        </p:attrNameLst>
                                      </p:cBhvr>
                                      <p:to>
                                        <p:strVal val="visible"/>
                                      </p:to>
                                    </p:set>
                                    <p:animEffect transition="in" filter="fade">
                                      <p:cBhvr>
                                        <p:cTn id="127" dur="420"/>
                                        <p:tgtEl>
                                          <p:spTgt spid="47"/>
                                        </p:tgtEl>
                                      </p:cBhvr>
                                    </p:animEffect>
                                    <p:anim calcmode="lin" valueType="num">
                                      <p:cBhvr additive="base">
                                        <p:cTn id="128" dur="420" fill="hold"/>
                                        <p:tgtEl>
                                          <p:spTgt spid="47"/>
                                        </p:tgtEl>
                                        <p:attrNameLst>
                                          <p:attrName>ppt_y</p:attrName>
                                        </p:attrNameLst>
                                      </p:cBhvr>
                                      <p:tavLst>
                                        <p:tav tm="0">
                                          <p:val>
                                            <p:strVal val="#ppt_y+0.035"/>
                                          </p:val>
                                        </p:tav>
                                        <p:tav tm="100000">
                                          <p:val>
                                            <p:strVal val="#ppt_y"/>
                                          </p:val>
                                        </p:tav>
                                      </p:tavLst>
                                    </p:anim>
                                    <p:set>
                                      <p:cBhvr>
                                        <p:cTn id="129" dur="1" fill="hold">
                                          <p:stCondLst>
                                            <p:cond delay="0"/>
                                          </p:stCondLst>
                                        </p:cTn>
                                        <p:tgtEl>
                                          <p:spTgt spid="67"/>
                                        </p:tgtEl>
                                        <p:attrNameLst>
                                          <p:attrName>style.visibility</p:attrName>
                                        </p:attrNameLst>
                                      </p:cBhvr>
                                      <p:to>
                                        <p:strVal val="visible"/>
                                      </p:to>
                                    </p:set>
                                    <p:animEffect transition="in" filter="fade">
                                      <p:cBhvr>
                                        <p:cTn id="130" dur="420"/>
                                        <p:tgtEl>
                                          <p:spTgt spid="67"/>
                                        </p:tgtEl>
                                      </p:cBhvr>
                                    </p:animEffect>
                                    <p:anim calcmode="lin" valueType="num">
                                      <p:cBhvr additive="base">
                                        <p:cTn id="131" dur="420" fill="hold"/>
                                        <p:tgtEl>
                                          <p:spTgt spid="67"/>
                                        </p:tgtEl>
                                        <p:attrNameLst>
                                          <p:attrName>ppt_y</p:attrName>
                                        </p:attrNameLst>
                                      </p:cBhvr>
                                      <p:tavLst>
                                        <p:tav tm="0">
                                          <p:val>
                                            <p:strVal val="#ppt_y+0.035"/>
                                          </p:val>
                                        </p:tav>
                                        <p:tav tm="100000">
                                          <p:val>
                                            <p:strVal val="#ppt_y"/>
                                          </p:val>
                                        </p:tav>
                                      </p:tavLst>
                                    </p:anim>
                                    <p:set>
                                      <p:cBhvr>
                                        <p:cTn id="132" dur="1" fill="hold">
                                          <p:stCondLst>
                                            <p:cond delay="0"/>
                                          </p:stCondLst>
                                        </p:cTn>
                                        <p:tgtEl>
                                          <p:spTgt spid="29"/>
                                        </p:tgtEl>
                                        <p:attrNameLst>
                                          <p:attrName>style.visibility</p:attrName>
                                        </p:attrNameLst>
                                      </p:cBhvr>
                                      <p:to>
                                        <p:strVal val="visible"/>
                                      </p:to>
                                    </p:set>
                                    <p:animEffect transition="in" filter="fade">
                                      <p:cBhvr>
                                        <p:cTn id="133" dur="420"/>
                                        <p:tgtEl>
                                          <p:spTgt spid="29"/>
                                        </p:tgtEl>
                                      </p:cBhvr>
                                    </p:animEffect>
                                    <p:anim calcmode="lin" valueType="num">
                                      <p:cBhvr additive="base">
                                        <p:cTn id="134" dur="420" fill="hold"/>
                                        <p:tgtEl>
                                          <p:spTgt spid="29"/>
                                        </p:tgtEl>
                                        <p:attrNameLst>
                                          <p:attrName>ppt_y</p:attrName>
                                        </p:attrNameLst>
                                      </p:cBhvr>
                                      <p:tavLst>
                                        <p:tav tm="0">
                                          <p:val>
                                            <p:strVal val="#ppt_y+0.035"/>
                                          </p:val>
                                        </p:tav>
                                        <p:tav tm="100000">
                                          <p:val>
                                            <p:strVal val="#ppt_y"/>
                                          </p:val>
                                        </p:tav>
                                      </p:tavLst>
                                    </p:anim>
                                    <p:set>
                                      <p:cBhvr>
                                        <p:cTn id="135" dur="1" fill="hold">
                                          <p:stCondLst>
                                            <p:cond delay="0"/>
                                          </p:stCondLst>
                                        </p:cTn>
                                        <p:tgtEl>
                                          <p:spTgt spid="68"/>
                                        </p:tgtEl>
                                        <p:attrNameLst>
                                          <p:attrName>style.visibility</p:attrName>
                                        </p:attrNameLst>
                                      </p:cBhvr>
                                      <p:to>
                                        <p:strVal val="visible"/>
                                      </p:to>
                                    </p:set>
                                    <p:animEffect transition="in" filter="fade">
                                      <p:cBhvr>
                                        <p:cTn id="136" dur="420"/>
                                        <p:tgtEl>
                                          <p:spTgt spid="68"/>
                                        </p:tgtEl>
                                      </p:cBhvr>
                                    </p:animEffect>
                                    <p:anim calcmode="lin" valueType="num">
                                      <p:cBhvr additive="base">
                                        <p:cTn id="137" dur="420" fill="hold"/>
                                        <p:tgtEl>
                                          <p:spTgt spid="68"/>
                                        </p:tgtEl>
                                        <p:attrNameLst>
                                          <p:attrName>ppt_y</p:attrName>
                                        </p:attrNameLst>
                                      </p:cBhvr>
                                      <p:tavLst>
                                        <p:tav tm="0">
                                          <p:val>
                                            <p:strVal val="#ppt_y+0.035"/>
                                          </p:val>
                                        </p:tav>
                                        <p:tav tm="100000">
                                          <p:val>
                                            <p:strVal val="#ppt_y"/>
                                          </p:val>
                                        </p:tav>
                                      </p:tavLst>
                                    </p:anim>
                                    <p:set>
                                      <p:cBhvr>
                                        <p:cTn id="138" dur="1" fill="hold">
                                          <p:stCondLst>
                                            <p:cond delay="0"/>
                                          </p:stCondLst>
                                        </p:cTn>
                                        <p:tgtEl>
                                          <p:spTgt spid="30"/>
                                        </p:tgtEl>
                                        <p:attrNameLst>
                                          <p:attrName>style.visibility</p:attrName>
                                        </p:attrNameLst>
                                      </p:cBhvr>
                                      <p:to>
                                        <p:strVal val="visible"/>
                                      </p:to>
                                    </p:set>
                                    <p:animEffect transition="in" filter="fade">
                                      <p:cBhvr>
                                        <p:cTn id="139" dur="420"/>
                                        <p:tgtEl>
                                          <p:spTgt spid="30"/>
                                        </p:tgtEl>
                                      </p:cBhvr>
                                    </p:animEffect>
                                    <p:anim calcmode="lin" valueType="num">
                                      <p:cBhvr additive="base">
                                        <p:cTn id="140" dur="420" fill="hold"/>
                                        <p:tgtEl>
                                          <p:spTgt spid="30"/>
                                        </p:tgtEl>
                                        <p:attrNameLst>
                                          <p:attrName>ppt_y</p:attrName>
                                        </p:attrNameLst>
                                      </p:cBhvr>
                                      <p:tavLst>
                                        <p:tav tm="0">
                                          <p:val>
                                            <p:strVal val="#ppt_y+0.035"/>
                                          </p:val>
                                        </p:tav>
                                        <p:tav tm="100000">
                                          <p:val>
                                            <p:strVal val="#ppt_y"/>
                                          </p:val>
                                        </p:tav>
                                      </p:tavLst>
                                    </p:anim>
                                    <p:set>
                                      <p:cBhvr>
                                        <p:cTn id="141" dur="1" fill="hold">
                                          <p:stCondLst>
                                            <p:cond delay="0"/>
                                          </p:stCondLst>
                                        </p:cTn>
                                        <p:tgtEl>
                                          <p:spTgt spid="69"/>
                                        </p:tgtEl>
                                        <p:attrNameLst>
                                          <p:attrName>style.visibility</p:attrName>
                                        </p:attrNameLst>
                                      </p:cBhvr>
                                      <p:to>
                                        <p:strVal val="visible"/>
                                      </p:to>
                                    </p:set>
                                    <p:animEffect transition="in" filter="fade">
                                      <p:cBhvr>
                                        <p:cTn id="142" dur="420"/>
                                        <p:tgtEl>
                                          <p:spTgt spid="69"/>
                                        </p:tgtEl>
                                      </p:cBhvr>
                                    </p:animEffect>
                                    <p:anim calcmode="lin" valueType="num">
                                      <p:cBhvr additive="base">
                                        <p:cTn id="143" dur="420" fill="hold"/>
                                        <p:tgtEl>
                                          <p:spTgt spid="69"/>
                                        </p:tgtEl>
                                        <p:attrNameLst>
                                          <p:attrName>ppt_y</p:attrName>
                                        </p:attrNameLst>
                                      </p:cBhvr>
                                      <p:tavLst>
                                        <p:tav tm="0">
                                          <p:val>
                                            <p:strVal val="#ppt_y+0.035"/>
                                          </p:val>
                                        </p:tav>
                                        <p:tav tm="100000">
                                          <p:val>
                                            <p:strVal val="#ppt_y"/>
                                          </p:val>
                                        </p:tav>
                                      </p:tavLst>
                                    </p:anim>
                                    <p:set>
                                      <p:cBhvr>
                                        <p:cTn id="144" dur="1" fill="hold">
                                          <p:stCondLst>
                                            <p:cond delay="0"/>
                                          </p:stCondLst>
                                        </p:cTn>
                                        <p:tgtEl>
                                          <p:spTgt spid="31"/>
                                        </p:tgtEl>
                                        <p:attrNameLst>
                                          <p:attrName>style.visibility</p:attrName>
                                        </p:attrNameLst>
                                      </p:cBhvr>
                                      <p:to>
                                        <p:strVal val="visible"/>
                                      </p:to>
                                    </p:set>
                                    <p:animEffect transition="in" filter="fade">
                                      <p:cBhvr>
                                        <p:cTn id="145" dur="420"/>
                                        <p:tgtEl>
                                          <p:spTgt spid="31"/>
                                        </p:tgtEl>
                                      </p:cBhvr>
                                    </p:animEffect>
                                    <p:anim calcmode="lin" valueType="num">
                                      <p:cBhvr additive="base">
                                        <p:cTn id="146" dur="420" fill="hold"/>
                                        <p:tgtEl>
                                          <p:spTgt spid="31"/>
                                        </p:tgtEl>
                                        <p:attrNameLst>
                                          <p:attrName>ppt_y</p:attrName>
                                        </p:attrNameLst>
                                      </p:cBhvr>
                                      <p:tavLst>
                                        <p:tav tm="0">
                                          <p:val>
                                            <p:strVal val="#ppt_y+0.035"/>
                                          </p:val>
                                        </p:tav>
                                        <p:tav tm="100000">
                                          <p:val>
                                            <p:strVal val="#ppt_y"/>
                                          </p:val>
                                        </p:tav>
                                      </p:tavLst>
                                    </p:anim>
                                    <p:set>
                                      <p:cBhvr>
                                        <p:cTn id="147" dur="1" fill="hold">
                                          <p:stCondLst>
                                            <p:cond delay="0"/>
                                          </p:stCondLst>
                                        </p:cTn>
                                        <p:tgtEl>
                                          <p:spTgt spid="32"/>
                                        </p:tgtEl>
                                        <p:attrNameLst>
                                          <p:attrName>style.visibility</p:attrName>
                                        </p:attrNameLst>
                                      </p:cBhvr>
                                      <p:to>
                                        <p:strVal val="visible"/>
                                      </p:to>
                                    </p:set>
                                    <p:animEffect transition="in" filter="fade">
                                      <p:cBhvr>
                                        <p:cTn id="148" dur="420"/>
                                        <p:tgtEl>
                                          <p:spTgt spid="32"/>
                                        </p:tgtEl>
                                      </p:cBhvr>
                                    </p:animEffect>
                                    <p:anim calcmode="lin" valueType="num">
                                      <p:cBhvr additive="base">
                                        <p:cTn id="149" dur="420" fill="hold"/>
                                        <p:tgtEl>
                                          <p:spTgt spid="32"/>
                                        </p:tgtEl>
                                        <p:attrNameLst>
                                          <p:attrName>ppt_y</p:attrName>
                                        </p:attrNameLst>
                                      </p:cBhvr>
                                      <p:tavLst>
                                        <p:tav tm="0">
                                          <p:val>
                                            <p:strVal val="#ppt_y+0.035"/>
                                          </p:val>
                                        </p:tav>
                                        <p:tav tm="100000">
                                          <p:val>
                                            <p:strVal val="#ppt_y"/>
                                          </p:val>
                                        </p:tav>
                                      </p:tavLst>
                                    </p:anim>
                                    <p:set>
                                      <p:cBhvr>
                                        <p:cTn id="150" dur="1" fill="hold">
                                          <p:stCondLst>
                                            <p:cond delay="0"/>
                                          </p:stCondLst>
                                        </p:cTn>
                                        <p:tgtEl>
                                          <p:spTgt spid="54"/>
                                        </p:tgtEl>
                                        <p:attrNameLst>
                                          <p:attrName>style.visibility</p:attrName>
                                        </p:attrNameLst>
                                      </p:cBhvr>
                                      <p:to>
                                        <p:strVal val="visible"/>
                                      </p:to>
                                    </p:set>
                                    <p:animEffect transition="in" filter="fade">
                                      <p:cBhvr>
                                        <p:cTn id="151" dur="420"/>
                                        <p:tgtEl>
                                          <p:spTgt spid="54"/>
                                        </p:tgtEl>
                                      </p:cBhvr>
                                    </p:animEffect>
                                    <p:anim calcmode="lin" valueType="num">
                                      <p:cBhvr additive="base">
                                        <p:cTn id="152" dur="420" fill="hold"/>
                                        <p:tgtEl>
                                          <p:spTgt spid="54"/>
                                        </p:tgtEl>
                                        <p:attrNameLst>
                                          <p:attrName>ppt_y</p:attrName>
                                        </p:attrNameLst>
                                      </p:cBhvr>
                                      <p:tavLst>
                                        <p:tav tm="0">
                                          <p:val>
                                            <p:strVal val="#ppt_y+0.035"/>
                                          </p:val>
                                        </p:tav>
                                        <p:tav tm="100000">
                                          <p:val>
                                            <p:strVal val="#ppt_y"/>
                                          </p:val>
                                        </p:tav>
                                      </p:tavLst>
                                    </p:anim>
                                    <p:set>
                                      <p:cBhvr>
                                        <p:cTn id="153" dur="1" fill="hold">
                                          <p:stCondLst>
                                            <p:cond delay="0"/>
                                          </p:stCondLst>
                                        </p:cTn>
                                        <p:tgtEl>
                                          <p:spTgt spid="55"/>
                                        </p:tgtEl>
                                        <p:attrNameLst>
                                          <p:attrName>style.visibility</p:attrName>
                                        </p:attrNameLst>
                                      </p:cBhvr>
                                      <p:to>
                                        <p:strVal val="visible"/>
                                      </p:to>
                                    </p:set>
                                    <p:animEffect transition="in" filter="fade">
                                      <p:cBhvr>
                                        <p:cTn id="154" dur="420"/>
                                        <p:tgtEl>
                                          <p:spTgt spid="55"/>
                                        </p:tgtEl>
                                      </p:cBhvr>
                                    </p:animEffect>
                                    <p:anim calcmode="lin" valueType="num">
                                      <p:cBhvr additive="base">
                                        <p:cTn id="155" dur="420" fill="hold"/>
                                        <p:tgtEl>
                                          <p:spTgt spid="55"/>
                                        </p:tgtEl>
                                        <p:attrNameLst>
                                          <p:attrName>ppt_y</p:attrName>
                                        </p:attrNameLst>
                                      </p:cBhvr>
                                      <p:tavLst>
                                        <p:tav tm="0">
                                          <p:val>
                                            <p:strVal val="#ppt_y+0.035"/>
                                          </p:val>
                                        </p:tav>
                                        <p:tav tm="100000">
                                          <p:val>
                                            <p:strVal val="#ppt_y"/>
                                          </p:val>
                                        </p:tav>
                                      </p:tavLst>
                                    </p:anim>
                                    <p:set>
                                      <p:cBhvr>
                                        <p:cTn id="156" dur="1" fill="hold">
                                          <p:stCondLst>
                                            <p:cond delay="0"/>
                                          </p:stCondLst>
                                        </p:cTn>
                                        <p:tgtEl>
                                          <p:spTgt spid="48"/>
                                        </p:tgtEl>
                                        <p:attrNameLst>
                                          <p:attrName>style.visibility</p:attrName>
                                        </p:attrNameLst>
                                      </p:cBhvr>
                                      <p:to>
                                        <p:strVal val="visible"/>
                                      </p:to>
                                    </p:set>
                                    <p:animEffect transition="in" filter="fade">
                                      <p:cBhvr>
                                        <p:cTn id="157" dur="420"/>
                                        <p:tgtEl>
                                          <p:spTgt spid="48"/>
                                        </p:tgtEl>
                                      </p:cBhvr>
                                    </p:animEffect>
                                    <p:anim calcmode="lin" valueType="num">
                                      <p:cBhvr additive="base">
                                        <p:cTn id="158" dur="420" fill="hold"/>
                                        <p:tgtEl>
                                          <p:spTgt spid="48"/>
                                        </p:tgtEl>
                                        <p:attrNameLst>
                                          <p:attrName>ppt_y</p:attrName>
                                        </p:attrNameLst>
                                      </p:cBhvr>
                                      <p:tavLst>
                                        <p:tav tm="0">
                                          <p:val>
                                            <p:strVal val="#ppt_y+0.035"/>
                                          </p:val>
                                        </p:tav>
                                        <p:tav tm="100000">
                                          <p:val>
                                            <p:strVal val="#ppt_y"/>
                                          </p:val>
                                        </p:tav>
                                      </p:tavLst>
                                    </p:anim>
                                    <p:set>
                                      <p:cBhvr>
                                        <p:cTn id="159" dur="1" fill="hold">
                                          <p:stCondLst>
                                            <p:cond delay="0"/>
                                          </p:stCondLst>
                                        </p:cTn>
                                        <p:tgtEl>
                                          <p:spTgt spid="49"/>
                                        </p:tgtEl>
                                        <p:attrNameLst>
                                          <p:attrName>style.visibility</p:attrName>
                                        </p:attrNameLst>
                                      </p:cBhvr>
                                      <p:to>
                                        <p:strVal val="visible"/>
                                      </p:to>
                                    </p:set>
                                    <p:animEffect transition="in" filter="fade">
                                      <p:cBhvr>
                                        <p:cTn id="160" dur="420"/>
                                        <p:tgtEl>
                                          <p:spTgt spid="49"/>
                                        </p:tgtEl>
                                      </p:cBhvr>
                                    </p:animEffect>
                                    <p:anim calcmode="lin" valueType="num">
                                      <p:cBhvr additive="base">
                                        <p:cTn id="161" dur="420" fill="hold"/>
                                        <p:tgtEl>
                                          <p:spTgt spid="49"/>
                                        </p:tgtEl>
                                        <p:attrNameLst>
                                          <p:attrName>ppt_y</p:attrName>
                                        </p:attrNameLst>
                                      </p:cBhvr>
                                      <p:tavLst>
                                        <p:tav tm="0">
                                          <p:val>
                                            <p:strVal val="#ppt_y+0.035"/>
                                          </p:val>
                                        </p:tav>
                                        <p:tav tm="100000">
                                          <p:val>
                                            <p:strVal val="#ppt_y"/>
                                          </p:val>
                                        </p:tav>
                                      </p:tavLst>
                                    </p:anim>
                                    <p:set>
                                      <p:cBhvr>
                                        <p:cTn id="162" dur="1" fill="hold">
                                          <p:stCondLst>
                                            <p:cond delay="0"/>
                                          </p:stCondLst>
                                        </p:cTn>
                                        <p:tgtEl>
                                          <p:spTgt spid="50"/>
                                        </p:tgtEl>
                                        <p:attrNameLst>
                                          <p:attrName>style.visibility</p:attrName>
                                        </p:attrNameLst>
                                      </p:cBhvr>
                                      <p:to>
                                        <p:strVal val="visible"/>
                                      </p:to>
                                    </p:set>
                                    <p:animEffect transition="in" filter="fade">
                                      <p:cBhvr>
                                        <p:cTn id="163" dur="420"/>
                                        <p:tgtEl>
                                          <p:spTgt spid="50"/>
                                        </p:tgtEl>
                                      </p:cBhvr>
                                    </p:animEffect>
                                    <p:anim calcmode="lin" valueType="num">
                                      <p:cBhvr additive="base">
                                        <p:cTn id="164" dur="420" fill="hold"/>
                                        <p:tgtEl>
                                          <p:spTgt spid="50"/>
                                        </p:tgtEl>
                                        <p:attrNameLst>
                                          <p:attrName>ppt_y</p:attrName>
                                        </p:attrNameLst>
                                      </p:cBhvr>
                                      <p:tavLst>
                                        <p:tav tm="0">
                                          <p:val>
                                            <p:strVal val="#ppt_y+0.035"/>
                                          </p:val>
                                        </p:tav>
                                        <p:tav tm="100000">
                                          <p:val>
                                            <p:strVal val="#ppt_y"/>
                                          </p:val>
                                        </p:tav>
                                      </p:tavLst>
                                    </p:anim>
                                    <p:set>
                                      <p:cBhvr>
                                        <p:cTn id="165" dur="1" fill="hold">
                                          <p:stCondLst>
                                            <p:cond delay="0"/>
                                          </p:stCondLst>
                                        </p:cTn>
                                        <p:tgtEl>
                                          <p:spTgt spid="51"/>
                                        </p:tgtEl>
                                        <p:attrNameLst>
                                          <p:attrName>style.visibility</p:attrName>
                                        </p:attrNameLst>
                                      </p:cBhvr>
                                      <p:to>
                                        <p:strVal val="visible"/>
                                      </p:to>
                                    </p:set>
                                    <p:animEffect transition="in" filter="fade">
                                      <p:cBhvr>
                                        <p:cTn id="166" dur="420"/>
                                        <p:tgtEl>
                                          <p:spTgt spid="51"/>
                                        </p:tgtEl>
                                      </p:cBhvr>
                                    </p:animEffect>
                                    <p:anim calcmode="lin" valueType="num">
                                      <p:cBhvr additive="base">
                                        <p:cTn id="167" dur="420" fill="hold"/>
                                        <p:tgtEl>
                                          <p:spTgt spid="51"/>
                                        </p:tgtEl>
                                        <p:attrNameLst>
                                          <p:attrName>ppt_y</p:attrName>
                                        </p:attrNameLst>
                                      </p:cBhvr>
                                      <p:tavLst>
                                        <p:tav tm="0">
                                          <p:val>
                                            <p:strVal val="#ppt_y+0.035"/>
                                          </p:val>
                                        </p:tav>
                                        <p:tav tm="100000">
                                          <p:val>
                                            <p:strVal val="#ppt_y"/>
                                          </p:val>
                                        </p:tav>
                                      </p:tavLst>
                                    </p:anim>
                                    <p:set>
                                      <p:cBhvr>
                                        <p:cTn id="168" dur="1" fill="hold">
                                          <p:stCondLst>
                                            <p:cond delay="0"/>
                                          </p:stCondLst>
                                        </p:cTn>
                                        <p:tgtEl>
                                          <p:spTgt spid="52"/>
                                        </p:tgtEl>
                                        <p:attrNameLst>
                                          <p:attrName>style.visibility</p:attrName>
                                        </p:attrNameLst>
                                      </p:cBhvr>
                                      <p:to>
                                        <p:strVal val="visible"/>
                                      </p:to>
                                    </p:set>
                                    <p:animEffect transition="in" filter="fade">
                                      <p:cBhvr>
                                        <p:cTn id="169" dur="420"/>
                                        <p:tgtEl>
                                          <p:spTgt spid="52"/>
                                        </p:tgtEl>
                                      </p:cBhvr>
                                    </p:animEffect>
                                    <p:anim calcmode="lin" valueType="num">
                                      <p:cBhvr additive="base">
                                        <p:cTn id="170" dur="420" fill="hold"/>
                                        <p:tgtEl>
                                          <p:spTgt spid="52"/>
                                        </p:tgtEl>
                                        <p:attrNameLst>
                                          <p:attrName>ppt_y</p:attrName>
                                        </p:attrNameLst>
                                      </p:cBhvr>
                                      <p:tavLst>
                                        <p:tav tm="0">
                                          <p:val>
                                            <p:strVal val="#ppt_y+0.035"/>
                                          </p:val>
                                        </p:tav>
                                        <p:tav tm="100000">
                                          <p:val>
                                            <p:strVal val="#ppt_y"/>
                                          </p:val>
                                        </p:tav>
                                      </p:tavLst>
                                    </p:anim>
                                    <p:set>
                                      <p:cBhvr>
                                        <p:cTn id="171" dur="1" fill="hold">
                                          <p:stCondLst>
                                            <p:cond delay="0"/>
                                          </p:stCondLst>
                                        </p:cTn>
                                        <p:tgtEl>
                                          <p:spTgt spid="53"/>
                                        </p:tgtEl>
                                        <p:attrNameLst>
                                          <p:attrName>style.visibility</p:attrName>
                                        </p:attrNameLst>
                                      </p:cBhvr>
                                      <p:to>
                                        <p:strVal val="visible"/>
                                      </p:to>
                                    </p:set>
                                    <p:animEffect transition="in" filter="fade">
                                      <p:cBhvr>
                                        <p:cTn id="172" dur="420"/>
                                        <p:tgtEl>
                                          <p:spTgt spid="53"/>
                                        </p:tgtEl>
                                      </p:cBhvr>
                                    </p:animEffect>
                                    <p:anim calcmode="lin" valueType="num">
                                      <p:cBhvr additive="base">
                                        <p:cTn id="173" dur="420" fill="hold"/>
                                        <p:tgtEl>
                                          <p:spTgt spid="53"/>
                                        </p:tgtEl>
                                        <p:attrNameLst>
                                          <p:attrName>ppt_y</p:attrName>
                                        </p:attrNameLst>
                                      </p:cBhvr>
                                      <p:tavLst>
                                        <p:tav tm="0">
                                          <p:val>
                                            <p:strVal val="#ppt_y+0.035"/>
                                          </p:val>
                                        </p:tav>
                                        <p:tav tm="100000">
                                          <p:val>
                                            <p:strVal val="#ppt_y"/>
                                          </p:val>
                                        </p:tav>
                                      </p:tavLst>
                                    </p:anim>
                                    <p:set>
                                      <p:cBhvr>
                                        <p:cTn id="174" dur="1" fill="hold">
                                          <p:stCondLst>
                                            <p:cond delay="0"/>
                                          </p:stCondLst>
                                        </p:cTn>
                                        <p:tgtEl>
                                          <p:spTgt spid="70"/>
                                        </p:tgtEl>
                                        <p:attrNameLst>
                                          <p:attrName>style.visibility</p:attrName>
                                        </p:attrNameLst>
                                      </p:cBhvr>
                                      <p:to>
                                        <p:strVal val="visible"/>
                                      </p:to>
                                    </p:set>
                                    <p:animEffect transition="in" filter="fade">
                                      <p:cBhvr>
                                        <p:cTn id="175" dur="420"/>
                                        <p:tgtEl>
                                          <p:spTgt spid="70"/>
                                        </p:tgtEl>
                                      </p:cBhvr>
                                    </p:animEffect>
                                    <p:anim calcmode="lin" valueType="num">
                                      <p:cBhvr additive="base">
                                        <p:cTn id="176" dur="420" fill="hold"/>
                                        <p:tgtEl>
                                          <p:spTgt spid="70"/>
                                        </p:tgtEl>
                                        <p:attrNameLst>
                                          <p:attrName>ppt_y</p:attrName>
                                        </p:attrNameLst>
                                      </p:cBhvr>
                                      <p:tavLst>
                                        <p:tav tm="0">
                                          <p:val>
                                            <p:strVal val="#ppt_y+0.035"/>
                                          </p:val>
                                        </p:tav>
                                        <p:tav tm="100000">
                                          <p:val>
                                            <p:strVal val="#ppt_y"/>
                                          </p:val>
                                        </p:tav>
                                      </p:tavLst>
                                    </p:anim>
                                  </p:childTnLst>
                                </p:cTn>
                              </p:par>
                            </p:childTnLst>
                          </p:cTn>
                        </p:par>
                      </p:childTnLst>
                    </p:cTn>
                  </p:par>
                  <p:par>
                    <p:cTn id="177" fill="hold">
                      <p:stCondLst>
                        <p:cond delay="indefinite"/>
                      </p:stCondLst>
                      <p:childTnLst>
                        <p:par>
                          <p:cTn id="178" fill="hold">
                            <p:stCondLst>
                              <p:cond delay="0"/>
                            </p:stCondLst>
                            <p:childTnLst>
                              <p:par>
                                <p:cTn id="179" presetID="10" presetClass="entr" presetSubtype="0" fill="hold" grpId="0" nodeType="clickEffect">
                                  <p:stCondLst>
                                    <p:cond delay="0"/>
                                  </p:stCondLst>
                                  <p:childTnLst>
                                    <p:set>
                                      <p:cBhvr>
                                        <p:cTn id="180" dur="1" fill="hold">
                                          <p:stCondLst>
                                            <p:cond delay="0"/>
                                          </p:stCondLst>
                                        </p:cTn>
                                        <p:tgtEl>
                                          <p:spTgt spid="61"/>
                                        </p:tgtEl>
                                        <p:attrNameLst>
                                          <p:attrName>style.visibility</p:attrName>
                                        </p:attrNameLst>
                                      </p:cBhvr>
                                      <p:to>
                                        <p:strVal val="visible"/>
                                      </p:to>
                                    </p:set>
                                    <p:animEffect transition="in" filter="fade">
                                      <p:cBhvr>
                                        <p:cTn id="181" dur="420"/>
                                        <p:tgtEl>
                                          <p:spTgt spid="61"/>
                                        </p:tgtEl>
                                      </p:cBhvr>
                                    </p:animEffect>
                                    <p:anim calcmode="lin" valueType="num">
                                      <p:cBhvr additive="base">
                                        <p:cTn id="182" dur="420" fill="hold"/>
                                        <p:tgtEl>
                                          <p:spTgt spid="61"/>
                                        </p:tgtEl>
                                        <p:attrNameLst>
                                          <p:attrName>ppt_y</p:attrName>
                                        </p:attrNameLst>
                                      </p:cBhvr>
                                      <p:tavLst>
                                        <p:tav tm="0">
                                          <p:val>
                                            <p:strVal val="#ppt_y+0.035"/>
                                          </p:val>
                                        </p:tav>
                                        <p:tav tm="100000">
                                          <p:val>
                                            <p:strVal val="#ppt_y"/>
                                          </p:val>
                                        </p:tav>
                                      </p:tavLst>
                                    </p:anim>
                                    <p:set>
                                      <p:cBhvr>
                                        <p:cTn id="183" dur="1" fill="hold">
                                          <p:stCondLst>
                                            <p:cond delay="0"/>
                                          </p:stCondLst>
                                        </p:cTn>
                                        <p:tgtEl>
                                          <p:spTgt spid="62"/>
                                        </p:tgtEl>
                                        <p:attrNameLst>
                                          <p:attrName>style.visibility</p:attrName>
                                        </p:attrNameLst>
                                      </p:cBhvr>
                                      <p:to>
                                        <p:strVal val="visible"/>
                                      </p:to>
                                    </p:set>
                                    <p:animEffect transition="in" filter="fade">
                                      <p:cBhvr>
                                        <p:cTn id="184" dur="420"/>
                                        <p:tgtEl>
                                          <p:spTgt spid="62"/>
                                        </p:tgtEl>
                                      </p:cBhvr>
                                    </p:animEffect>
                                    <p:anim calcmode="lin" valueType="num">
                                      <p:cBhvr additive="base">
                                        <p:cTn id="185" dur="420" fill="hold"/>
                                        <p:tgtEl>
                                          <p:spTgt spid="62"/>
                                        </p:tgtEl>
                                        <p:attrNameLst>
                                          <p:attrName>ppt_y</p:attrName>
                                        </p:attrNameLst>
                                      </p:cBhvr>
                                      <p:tavLst>
                                        <p:tav tm="0">
                                          <p:val>
                                            <p:strVal val="#ppt_y+0.035"/>
                                          </p:val>
                                        </p:tav>
                                        <p:tav tm="100000">
                                          <p:val>
                                            <p:strVal val="#ppt_y"/>
                                          </p:val>
                                        </p:tav>
                                      </p:tavLst>
                                    </p:anim>
                                    <p:set>
                                      <p:cBhvr>
                                        <p:cTn id="186" dur="1" fill="hold">
                                          <p:stCondLst>
                                            <p:cond delay="0"/>
                                          </p:stCondLst>
                                        </p:cTn>
                                        <p:tgtEl>
                                          <p:spTgt spid="56"/>
                                        </p:tgtEl>
                                        <p:attrNameLst>
                                          <p:attrName>style.visibility</p:attrName>
                                        </p:attrNameLst>
                                      </p:cBhvr>
                                      <p:to>
                                        <p:strVal val="visible"/>
                                      </p:to>
                                    </p:set>
                                    <p:animEffect transition="in" filter="fade">
                                      <p:cBhvr>
                                        <p:cTn id="187" dur="420"/>
                                        <p:tgtEl>
                                          <p:spTgt spid="56"/>
                                        </p:tgtEl>
                                      </p:cBhvr>
                                    </p:animEffect>
                                    <p:anim calcmode="lin" valueType="num">
                                      <p:cBhvr additive="base">
                                        <p:cTn id="188" dur="420" fill="hold"/>
                                        <p:tgtEl>
                                          <p:spTgt spid="56"/>
                                        </p:tgtEl>
                                        <p:attrNameLst>
                                          <p:attrName>ppt_y</p:attrName>
                                        </p:attrNameLst>
                                      </p:cBhvr>
                                      <p:tavLst>
                                        <p:tav tm="0">
                                          <p:val>
                                            <p:strVal val="#ppt_y+0.035"/>
                                          </p:val>
                                        </p:tav>
                                        <p:tav tm="100000">
                                          <p:val>
                                            <p:strVal val="#ppt_y"/>
                                          </p:val>
                                        </p:tav>
                                      </p:tavLst>
                                    </p:anim>
                                    <p:set>
                                      <p:cBhvr>
                                        <p:cTn id="189" dur="1" fill="hold">
                                          <p:stCondLst>
                                            <p:cond delay="0"/>
                                          </p:stCondLst>
                                        </p:cTn>
                                        <p:tgtEl>
                                          <p:spTgt spid="57"/>
                                        </p:tgtEl>
                                        <p:attrNameLst>
                                          <p:attrName>style.visibility</p:attrName>
                                        </p:attrNameLst>
                                      </p:cBhvr>
                                      <p:to>
                                        <p:strVal val="visible"/>
                                      </p:to>
                                    </p:set>
                                    <p:animEffect transition="in" filter="fade">
                                      <p:cBhvr>
                                        <p:cTn id="190" dur="420"/>
                                        <p:tgtEl>
                                          <p:spTgt spid="57"/>
                                        </p:tgtEl>
                                      </p:cBhvr>
                                    </p:animEffect>
                                    <p:anim calcmode="lin" valueType="num">
                                      <p:cBhvr additive="base">
                                        <p:cTn id="191" dur="420" fill="hold"/>
                                        <p:tgtEl>
                                          <p:spTgt spid="57"/>
                                        </p:tgtEl>
                                        <p:attrNameLst>
                                          <p:attrName>ppt_y</p:attrName>
                                        </p:attrNameLst>
                                      </p:cBhvr>
                                      <p:tavLst>
                                        <p:tav tm="0">
                                          <p:val>
                                            <p:strVal val="#ppt_y+0.035"/>
                                          </p:val>
                                        </p:tav>
                                        <p:tav tm="100000">
                                          <p:val>
                                            <p:strVal val="#ppt_y"/>
                                          </p:val>
                                        </p:tav>
                                      </p:tavLst>
                                    </p:anim>
                                    <p:set>
                                      <p:cBhvr>
                                        <p:cTn id="192" dur="1" fill="hold">
                                          <p:stCondLst>
                                            <p:cond delay="0"/>
                                          </p:stCondLst>
                                        </p:cTn>
                                        <p:tgtEl>
                                          <p:spTgt spid="58"/>
                                        </p:tgtEl>
                                        <p:attrNameLst>
                                          <p:attrName>style.visibility</p:attrName>
                                        </p:attrNameLst>
                                      </p:cBhvr>
                                      <p:to>
                                        <p:strVal val="visible"/>
                                      </p:to>
                                    </p:set>
                                    <p:animEffect transition="in" filter="fade">
                                      <p:cBhvr>
                                        <p:cTn id="193" dur="420"/>
                                        <p:tgtEl>
                                          <p:spTgt spid="58"/>
                                        </p:tgtEl>
                                      </p:cBhvr>
                                    </p:animEffect>
                                    <p:anim calcmode="lin" valueType="num">
                                      <p:cBhvr additive="base">
                                        <p:cTn id="194" dur="420" fill="hold"/>
                                        <p:tgtEl>
                                          <p:spTgt spid="58"/>
                                        </p:tgtEl>
                                        <p:attrNameLst>
                                          <p:attrName>ppt_y</p:attrName>
                                        </p:attrNameLst>
                                      </p:cBhvr>
                                      <p:tavLst>
                                        <p:tav tm="0">
                                          <p:val>
                                            <p:strVal val="#ppt_y+0.035"/>
                                          </p:val>
                                        </p:tav>
                                        <p:tav tm="100000">
                                          <p:val>
                                            <p:strVal val="#ppt_y"/>
                                          </p:val>
                                        </p:tav>
                                      </p:tavLst>
                                    </p:anim>
                                    <p:set>
                                      <p:cBhvr>
                                        <p:cTn id="195" dur="1" fill="hold">
                                          <p:stCondLst>
                                            <p:cond delay="0"/>
                                          </p:stCondLst>
                                        </p:cTn>
                                        <p:tgtEl>
                                          <p:spTgt spid="59"/>
                                        </p:tgtEl>
                                        <p:attrNameLst>
                                          <p:attrName>style.visibility</p:attrName>
                                        </p:attrNameLst>
                                      </p:cBhvr>
                                      <p:to>
                                        <p:strVal val="visible"/>
                                      </p:to>
                                    </p:set>
                                    <p:animEffect transition="in" filter="fade">
                                      <p:cBhvr>
                                        <p:cTn id="196" dur="420"/>
                                        <p:tgtEl>
                                          <p:spTgt spid="59"/>
                                        </p:tgtEl>
                                      </p:cBhvr>
                                    </p:animEffect>
                                    <p:anim calcmode="lin" valueType="num">
                                      <p:cBhvr additive="base">
                                        <p:cTn id="197" dur="420" fill="hold"/>
                                        <p:tgtEl>
                                          <p:spTgt spid="59"/>
                                        </p:tgtEl>
                                        <p:attrNameLst>
                                          <p:attrName>ppt_y</p:attrName>
                                        </p:attrNameLst>
                                      </p:cBhvr>
                                      <p:tavLst>
                                        <p:tav tm="0">
                                          <p:val>
                                            <p:strVal val="#ppt_y+0.035"/>
                                          </p:val>
                                        </p:tav>
                                        <p:tav tm="100000">
                                          <p:val>
                                            <p:strVal val="#ppt_y"/>
                                          </p:val>
                                        </p:tav>
                                      </p:tavLst>
                                    </p:anim>
                                    <p:set>
                                      <p:cBhvr>
                                        <p:cTn id="198" dur="1" fill="hold">
                                          <p:stCondLst>
                                            <p:cond delay="0"/>
                                          </p:stCondLst>
                                        </p:cTn>
                                        <p:tgtEl>
                                          <p:spTgt spid="60"/>
                                        </p:tgtEl>
                                        <p:attrNameLst>
                                          <p:attrName>style.visibility</p:attrName>
                                        </p:attrNameLst>
                                      </p:cBhvr>
                                      <p:to>
                                        <p:strVal val="visible"/>
                                      </p:to>
                                    </p:set>
                                    <p:animEffect transition="in" filter="fade">
                                      <p:cBhvr>
                                        <p:cTn id="199" dur="420"/>
                                        <p:tgtEl>
                                          <p:spTgt spid="60"/>
                                        </p:tgtEl>
                                      </p:cBhvr>
                                    </p:animEffect>
                                    <p:anim calcmode="lin" valueType="num">
                                      <p:cBhvr additive="base">
                                        <p:cTn id="200" dur="420" fill="hold"/>
                                        <p:tgtEl>
                                          <p:spTgt spid="60"/>
                                        </p:tgtEl>
                                        <p:attrNameLst>
                                          <p:attrName>ppt_y</p:attrName>
                                        </p:attrNameLst>
                                      </p:cBhvr>
                                      <p:tavLst>
                                        <p:tav tm="0">
                                          <p:val>
                                            <p:strVal val="#ppt_y+0.035"/>
                                          </p:val>
                                        </p:tav>
                                        <p:tav tm="100000">
                                          <p:val>
                                            <p:strVal val="#ppt_y"/>
                                          </p:val>
                                        </p:tav>
                                      </p:tavLst>
                                    </p:anim>
                                  </p:childTnLst>
                                </p:cTn>
                              </p:par>
                            </p:childTnLst>
                          </p:cTn>
                        </p:par>
                      </p:childTnLst>
                    </p:cTn>
                  </p:par>
                  <p:par>
                    <p:cTn id="201" fill="hold">
                      <p:stCondLst>
                        <p:cond delay="indefinite"/>
                      </p:stCondLst>
                      <p:childTnLst>
                        <p:par>
                          <p:cTn id="202" fill="hold">
                            <p:stCondLst>
                              <p:cond delay="0"/>
                            </p:stCondLst>
                            <p:childTnLst>
                              <p:par>
                                <p:cTn id="203" presetID="10" presetClass="entr" presetSubtype="0" fill="hold" grpId="0" nodeType="clickEffect">
                                  <p:stCondLst>
                                    <p:cond delay="0"/>
                                  </p:stCondLst>
                                  <p:childTnLst>
                                    <p:set>
                                      <p:cBhvr>
                                        <p:cTn id="204" dur="1" fill="hold">
                                          <p:stCondLst>
                                            <p:cond delay="0"/>
                                          </p:stCondLst>
                                        </p:cTn>
                                        <p:tgtEl>
                                          <p:spTgt spid="25"/>
                                        </p:tgtEl>
                                        <p:attrNameLst>
                                          <p:attrName>style.visibility</p:attrName>
                                        </p:attrNameLst>
                                      </p:cBhvr>
                                      <p:to>
                                        <p:strVal val="visible"/>
                                      </p:to>
                                    </p:set>
                                    <p:animEffect transition="in" filter="fade">
                                      <p:cBhvr>
                                        <p:cTn id="205" dur="420"/>
                                        <p:tgtEl>
                                          <p:spTgt spid="25"/>
                                        </p:tgtEl>
                                      </p:cBhvr>
                                    </p:animEffect>
                                    <p:anim calcmode="lin" valueType="num">
                                      <p:cBhvr additive="base">
                                        <p:cTn id="206" dur="420" fill="hold"/>
                                        <p:tgtEl>
                                          <p:spTgt spid="25"/>
                                        </p:tgtEl>
                                        <p:attrNameLst>
                                          <p:attrName>ppt_y</p:attrName>
                                        </p:attrNameLst>
                                      </p:cBhvr>
                                      <p:tavLst>
                                        <p:tav tm="0">
                                          <p:val>
                                            <p:strVal val="#ppt_y+0.035"/>
                                          </p:val>
                                        </p:tav>
                                        <p:tav tm="100000">
                                          <p:val>
                                            <p:strVal val="#ppt_y"/>
                                          </p:val>
                                        </p:tav>
                                      </p:tavLst>
                                    </p:anim>
                                    <p:set>
                                      <p:cBhvr>
                                        <p:cTn id="207" dur="1" fill="hold">
                                          <p:stCondLst>
                                            <p:cond delay="0"/>
                                          </p:stCondLst>
                                        </p:cTn>
                                        <p:tgtEl>
                                          <p:spTgt spid="71"/>
                                        </p:tgtEl>
                                        <p:attrNameLst>
                                          <p:attrName>style.visibility</p:attrName>
                                        </p:attrNameLst>
                                      </p:cBhvr>
                                      <p:to>
                                        <p:strVal val="visible"/>
                                      </p:to>
                                    </p:set>
                                    <p:animEffect transition="in" filter="fade">
                                      <p:cBhvr>
                                        <p:cTn id="208" dur="420"/>
                                        <p:tgtEl>
                                          <p:spTgt spid="71"/>
                                        </p:tgtEl>
                                      </p:cBhvr>
                                    </p:animEffect>
                                    <p:anim calcmode="lin" valueType="num">
                                      <p:cBhvr additive="base">
                                        <p:cTn id="209" dur="420" fill="hold"/>
                                        <p:tgtEl>
                                          <p:spTgt spid="71"/>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animBg="1"/>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p:bldP spid="61" grpId="0" animBg="1"/>
      <p:bldP spid="62" grpId="0"/>
      <p:bldP spid="63" grpId="0"/>
      <p:bldP spid="64" grpId="0"/>
      <p:bldP spid="65" grpId="0"/>
      <p:bldP spid="66" grpId="0"/>
      <p:bldP spid="67" grpId="0"/>
      <p:bldP spid="68" grpId="0"/>
      <p:bldP spid="69" grpId="0"/>
      <p:bldP spid="70" grpId="0"/>
      <p:bldP spid="71" grpId="0"/>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05</a:t>
            </a:r>
            <a:r>
              <a:rPr lang="en-US" sz="1150" b="1" kern="0" spc="160" dirty="0">
                <a:solidFill>
                  <a:srgbClr val="6E7781"/>
                </a:solidFill>
                <a:latin typeface="Calibri" pitchFamily="34" charset="0"/>
                <a:ea typeface="Calibri" pitchFamily="34" charset="-122"/>
                <a:cs typeface="Calibri" pitchFamily="34" charset="-120"/>
              </a:rPr>
              <a:t>   HOW TO RUN IT  ·  WAY 2 OF 3</a:t>
            </a:r>
            <a:endParaRPr lang="en-US" sz="1150" dirty="0"/>
          </a:p>
        </p:txBody>
      </p:sp>
      <p:sp>
        <p:nvSpPr>
          <p:cNvPr id="3" name="Shape 1"/>
          <p:cNvSpPr/>
          <p:nvPr/>
        </p:nvSpPr>
        <p:spPr>
          <a:xfrm>
            <a:off x="10351008" y="393192"/>
            <a:ext cx="1271016" cy="292608"/>
          </a:xfrm>
          <a:prstGeom prst="roundRect">
            <a:avLst>
              <a:gd name="adj" fmla="val 59375"/>
            </a:avLst>
          </a:prstGeom>
          <a:solidFill>
            <a:srgbClr val="C2410C"/>
          </a:solidFill>
          <a:ln/>
        </p:spPr>
      </p:sp>
      <p:sp>
        <p:nvSpPr>
          <p:cNvPr id="4" name="Text 2"/>
          <p:cNvSpPr/>
          <p:nvPr/>
        </p:nvSpPr>
        <p:spPr>
          <a:xfrm>
            <a:off x="10351008" y="393192"/>
            <a:ext cx="1271016" cy="292608"/>
          </a:xfrm>
          <a:prstGeom prst="rect">
            <a:avLst/>
          </a:prstGeom>
          <a:noFill/>
          <a:ln/>
        </p:spPr>
        <p:txBody>
          <a:bodyPr wrap="square" lIns="0" tIns="0" rIns="0" bIns="0" rtlCol="0" anchor="ctr"/>
          <a:lstStyle/>
          <a:p>
            <a:pPr marL="0" indent="0" algn="ctr">
              <a:buNone/>
            </a:pPr>
            <a:r>
              <a:rPr lang="en-US" sz="950" b="1" kern="0" spc="120" dirty="0">
                <a:solidFill>
                  <a:srgbClr val="FFFFFF"/>
                </a:solidFill>
                <a:latin typeface="Calibri" pitchFamily="34" charset="0"/>
                <a:ea typeface="Calibri" pitchFamily="34" charset="-122"/>
                <a:cs typeface="Calibri" pitchFamily="34" charset="-120"/>
              </a:rPr>
              <a:t>DESKTOP APP</a:t>
            </a:r>
            <a:endParaRPr lang="en-US" sz="950" dirty="0"/>
          </a:p>
        </p:txBody>
      </p:sp>
      <p:sp>
        <p:nvSpPr>
          <p:cNvPr id="5" name="Text 3"/>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The Claude Code desktop app</a:t>
            </a:r>
            <a:endParaRPr lang="en-US" sz="3200" dirty="0"/>
          </a:p>
        </p:txBody>
      </p:sp>
      <p:sp>
        <p:nvSpPr>
          <p:cNvPr id="6" name="Text 4"/>
          <p:cNvSpPr/>
          <p:nvPr/>
        </p:nvSpPr>
        <p:spPr>
          <a:xfrm>
            <a:off x="566928" y="1389888"/>
            <a:ext cx="11055096" cy="566928"/>
          </a:xfrm>
          <a:prstGeom prst="rect">
            <a:avLst/>
          </a:prstGeom>
          <a:noFill/>
          <a:ln/>
        </p:spPr>
        <p:txBody>
          <a:bodyPr wrap="square" lIns="0" tIns="0" rIns="0" bIns="0" rtlCol="0" anchor="t"/>
          <a:lstStyle/>
          <a:p>
            <a:pPr marL="0" indent="0">
              <a:lnSpc>
                <a:spcPts val="1850"/>
              </a:lnSpc>
              <a:buNone/>
            </a:pPr>
            <a:r>
              <a:rPr lang="en-US" sz="1350" dirty="0">
                <a:solidFill>
                  <a:srgbClr val="2B3138"/>
                </a:solidFill>
                <a:latin typeface="Calibri" pitchFamily="34" charset="0"/>
                <a:ea typeface="Calibri" pitchFamily="34" charset="-122"/>
                <a:cs typeface="Calibri" pitchFamily="34" charset="-120"/>
              </a:rPr>
              <a:t>Way 2 from "Three ways to run an agent" — the same engine as the CLI, with a window instead of a terminal. It is the way that lets you hand the agent a stop condition it is obliged to satisfy before it can finish.</a:t>
            </a:r>
            <a:endParaRPr lang="en-US" sz="1350" dirty="0"/>
          </a:p>
        </p:txBody>
      </p:sp>
      <p:sp>
        <p:nvSpPr>
          <p:cNvPr id="7" name="Shape 5"/>
          <p:cNvSpPr/>
          <p:nvPr/>
        </p:nvSpPr>
        <p:spPr>
          <a:xfrm>
            <a:off x="566928" y="2212848"/>
            <a:ext cx="5760720" cy="4023360"/>
          </a:xfrm>
          <a:prstGeom prst="roundRect">
            <a:avLst>
              <a:gd name="adj" fmla="val 682"/>
            </a:avLst>
          </a:prstGeom>
          <a:solidFill>
            <a:srgbClr val="FFFFFF"/>
          </a:solidFill>
          <a:ln w="12700">
            <a:solidFill>
              <a:srgbClr val="D8DEE4"/>
            </a:solidFill>
            <a:prstDash val="solid"/>
          </a:ln>
          <a:effectLst>
            <a:outerShdw blurRad="177800" dist="38100" dir="5400000" algn="bl" rotWithShape="0">
              <a:srgbClr val="8C959F">
                <a:alpha val="16000"/>
              </a:srgbClr>
            </a:outerShdw>
          </a:effectLst>
        </p:spPr>
      </p:sp>
      <p:sp>
        <p:nvSpPr>
          <p:cNvPr id="8" name="Shape 6"/>
          <p:cNvSpPr/>
          <p:nvPr/>
        </p:nvSpPr>
        <p:spPr>
          <a:xfrm>
            <a:off x="576072" y="2231136"/>
            <a:ext cx="5742432" cy="347472"/>
          </a:xfrm>
          <a:prstGeom prst="rect">
            <a:avLst/>
          </a:prstGeom>
          <a:solidFill>
            <a:srgbClr val="F6F8FA"/>
          </a:solidFill>
          <a:ln/>
        </p:spPr>
      </p:sp>
      <p:sp>
        <p:nvSpPr>
          <p:cNvPr id="9" name="Shape 7"/>
          <p:cNvSpPr/>
          <p:nvPr/>
        </p:nvSpPr>
        <p:spPr>
          <a:xfrm>
            <a:off x="566928" y="2578608"/>
            <a:ext cx="5760720" cy="0"/>
          </a:xfrm>
          <a:prstGeom prst="line">
            <a:avLst/>
          </a:prstGeom>
          <a:noFill/>
          <a:ln w="12700">
            <a:solidFill>
              <a:srgbClr val="D8DEE4"/>
            </a:solidFill>
            <a:prstDash val="solid"/>
          </a:ln>
        </p:spPr>
      </p:sp>
      <p:sp>
        <p:nvSpPr>
          <p:cNvPr id="10" name="Shape 8"/>
          <p:cNvSpPr/>
          <p:nvPr/>
        </p:nvSpPr>
        <p:spPr>
          <a:xfrm>
            <a:off x="749808" y="2345436"/>
            <a:ext cx="100584" cy="100584"/>
          </a:xfrm>
          <a:prstGeom prst="ellipse">
            <a:avLst/>
          </a:prstGeom>
          <a:solidFill>
            <a:srgbClr val="E5534B"/>
          </a:solidFill>
          <a:ln/>
        </p:spPr>
      </p:sp>
      <p:sp>
        <p:nvSpPr>
          <p:cNvPr id="11" name="Shape 9"/>
          <p:cNvSpPr/>
          <p:nvPr/>
        </p:nvSpPr>
        <p:spPr>
          <a:xfrm>
            <a:off x="886968" y="2345436"/>
            <a:ext cx="100584" cy="100584"/>
          </a:xfrm>
          <a:prstGeom prst="ellipse">
            <a:avLst/>
          </a:prstGeom>
          <a:solidFill>
            <a:srgbClr val="C69026"/>
          </a:solidFill>
          <a:ln/>
        </p:spPr>
      </p:sp>
      <p:sp>
        <p:nvSpPr>
          <p:cNvPr id="12" name="Shape 10"/>
          <p:cNvSpPr/>
          <p:nvPr/>
        </p:nvSpPr>
        <p:spPr>
          <a:xfrm>
            <a:off x="1024128" y="2345436"/>
            <a:ext cx="100584" cy="100584"/>
          </a:xfrm>
          <a:prstGeom prst="ellipse">
            <a:avLst/>
          </a:prstGeom>
          <a:solidFill>
            <a:srgbClr val="3FB950"/>
          </a:solidFill>
          <a:ln/>
        </p:spPr>
      </p:sp>
      <p:sp>
        <p:nvSpPr>
          <p:cNvPr id="13" name="Shape 11"/>
          <p:cNvSpPr/>
          <p:nvPr/>
        </p:nvSpPr>
        <p:spPr>
          <a:xfrm>
            <a:off x="2615184" y="2286000"/>
            <a:ext cx="566928" cy="237744"/>
          </a:xfrm>
          <a:prstGeom prst="roundRect">
            <a:avLst>
              <a:gd name="adj" fmla="val 45455"/>
            </a:avLst>
          </a:prstGeom>
          <a:solidFill>
            <a:srgbClr val="FFFFFF"/>
          </a:solidFill>
          <a:ln w="9525">
            <a:solidFill>
              <a:srgbClr val="D8DEE4"/>
            </a:solidFill>
            <a:prstDash val="solid"/>
          </a:ln>
        </p:spPr>
      </p:sp>
      <p:sp>
        <p:nvSpPr>
          <p:cNvPr id="14" name="Text 12"/>
          <p:cNvSpPr/>
          <p:nvPr/>
        </p:nvSpPr>
        <p:spPr>
          <a:xfrm>
            <a:off x="2615184" y="2286000"/>
            <a:ext cx="566928" cy="237744"/>
          </a:xfrm>
          <a:prstGeom prst="rect">
            <a:avLst/>
          </a:prstGeom>
          <a:noFill/>
          <a:ln/>
        </p:spPr>
        <p:txBody>
          <a:bodyPr wrap="square" lIns="0" tIns="0" rIns="0" bIns="0" rtlCol="0" anchor="ctr"/>
          <a:lstStyle/>
          <a:p>
            <a:pPr marL="0" indent="0" algn="ctr">
              <a:buNone/>
            </a:pPr>
            <a:r>
              <a:rPr lang="en-US" sz="750" dirty="0">
                <a:solidFill>
                  <a:srgbClr val="6E7781"/>
                </a:solidFill>
                <a:latin typeface="Calibri" pitchFamily="34" charset="0"/>
                <a:ea typeface="Calibri" pitchFamily="34" charset="-122"/>
                <a:cs typeface="Calibri" pitchFamily="34" charset="-120"/>
              </a:rPr>
              <a:t>Chat</a:t>
            </a:r>
            <a:endParaRPr lang="en-US" sz="750" dirty="0"/>
          </a:p>
        </p:txBody>
      </p:sp>
      <p:sp>
        <p:nvSpPr>
          <p:cNvPr id="15" name="Shape 13"/>
          <p:cNvSpPr/>
          <p:nvPr/>
        </p:nvSpPr>
        <p:spPr>
          <a:xfrm>
            <a:off x="3236976" y="2286000"/>
            <a:ext cx="658368" cy="237744"/>
          </a:xfrm>
          <a:prstGeom prst="roundRect">
            <a:avLst>
              <a:gd name="adj" fmla="val 45455"/>
            </a:avLst>
          </a:prstGeom>
          <a:solidFill>
            <a:srgbClr val="FFFFFF"/>
          </a:solidFill>
          <a:ln w="9525">
            <a:solidFill>
              <a:srgbClr val="D8DEE4"/>
            </a:solidFill>
            <a:prstDash val="solid"/>
          </a:ln>
        </p:spPr>
      </p:sp>
      <p:sp>
        <p:nvSpPr>
          <p:cNvPr id="16" name="Text 14"/>
          <p:cNvSpPr/>
          <p:nvPr/>
        </p:nvSpPr>
        <p:spPr>
          <a:xfrm>
            <a:off x="3236976" y="2286000"/>
            <a:ext cx="658368" cy="237744"/>
          </a:xfrm>
          <a:prstGeom prst="rect">
            <a:avLst/>
          </a:prstGeom>
          <a:noFill/>
          <a:ln/>
        </p:spPr>
        <p:txBody>
          <a:bodyPr wrap="square" lIns="0" tIns="0" rIns="0" bIns="0" rtlCol="0" anchor="ctr"/>
          <a:lstStyle/>
          <a:p>
            <a:pPr marL="0" indent="0" algn="ctr">
              <a:buNone/>
            </a:pPr>
            <a:r>
              <a:rPr lang="en-US" sz="750" dirty="0">
                <a:solidFill>
                  <a:srgbClr val="6E7781"/>
                </a:solidFill>
                <a:latin typeface="Calibri" pitchFamily="34" charset="0"/>
                <a:ea typeface="Calibri" pitchFamily="34" charset="-122"/>
                <a:cs typeface="Calibri" pitchFamily="34" charset="-120"/>
              </a:rPr>
              <a:t>Cowork</a:t>
            </a:r>
            <a:endParaRPr lang="en-US" sz="750" dirty="0"/>
          </a:p>
        </p:txBody>
      </p:sp>
      <p:sp>
        <p:nvSpPr>
          <p:cNvPr id="17" name="Shape 15"/>
          <p:cNvSpPr/>
          <p:nvPr/>
        </p:nvSpPr>
        <p:spPr>
          <a:xfrm>
            <a:off x="3950208" y="2286000"/>
            <a:ext cx="566928" cy="237744"/>
          </a:xfrm>
          <a:prstGeom prst="roundRect">
            <a:avLst>
              <a:gd name="adj" fmla="val 45455"/>
            </a:avLst>
          </a:prstGeom>
          <a:solidFill>
            <a:srgbClr val="C2410C"/>
          </a:solidFill>
          <a:ln/>
        </p:spPr>
      </p:sp>
      <p:sp>
        <p:nvSpPr>
          <p:cNvPr id="18" name="Text 16"/>
          <p:cNvSpPr/>
          <p:nvPr/>
        </p:nvSpPr>
        <p:spPr>
          <a:xfrm>
            <a:off x="3950208" y="2286000"/>
            <a:ext cx="566928" cy="237744"/>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Code</a:t>
            </a:r>
            <a:endParaRPr lang="en-US" sz="750" dirty="0"/>
          </a:p>
        </p:txBody>
      </p:sp>
      <p:sp>
        <p:nvSpPr>
          <p:cNvPr id="19" name="Shape 17"/>
          <p:cNvSpPr/>
          <p:nvPr/>
        </p:nvSpPr>
        <p:spPr>
          <a:xfrm>
            <a:off x="576072" y="2587752"/>
            <a:ext cx="1389888" cy="3639312"/>
          </a:xfrm>
          <a:prstGeom prst="rect">
            <a:avLst/>
          </a:prstGeom>
          <a:solidFill>
            <a:srgbClr val="F6F8FA"/>
          </a:solidFill>
          <a:ln/>
        </p:spPr>
      </p:sp>
      <p:sp>
        <p:nvSpPr>
          <p:cNvPr id="20" name="Shape 18"/>
          <p:cNvSpPr/>
          <p:nvPr/>
        </p:nvSpPr>
        <p:spPr>
          <a:xfrm>
            <a:off x="1965960" y="2587752"/>
            <a:ext cx="0" cy="3639312"/>
          </a:xfrm>
          <a:prstGeom prst="line">
            <a:avLst/>
          </a:prstGeom>
          <a:noFill/>
          <a:ln w="12700">
            <a:solidFill>
              <a:srgbClr val="D8DEE4"/>
            </a:solidFill>
            <a:prstDash val="solid"/>
          </a:ln>
        </p:spPr>
      </p:sp>
      <p:sp>
        <p:nvSpPr>
          <p:cNvPr id="21" name="Text 19"/>
          <p:cNvSpPr/>
          <p:nvPr/>
        </p:nvSpPr>
        <p:spPr>
          <a:xfrm>
            <a:off x="713232" y="2670048"/>
            <a:ext cx="1097280" cy="182880"/>
          </a:xfrm>
          <a:prstGeom prst="rect">
            <a:avLst/>
          </a:prstGeom>
          <a:noFill/>
          <a:ln/>
        </p:spPr>
        <p:txBody>
          <a:bodyPr wrap="square" lIns="0" tIns="0" rIns="0" bIns="0" rtlCol="0" anchor="ctr"/>
          <a:lstStyle/>
          <a:p>
            <a:pPr marL="0" indent="0">
              <a:buNone/>
            </a:pPr>
            <a:r>
              <a:rPr lang="en-US" sz="700" b="1" kern="0" spc="120" dirty="0">
                <a:solidFill>
                  <a:srgbClr val="6E7781"/>
                </a:solidFill>
                <a:latin typeface="Calibri" pitchFamily="34" charset="0"/>
                <a:ea typeface="Calibri" pitchFamily="34" charset="-122"/>
                <a:cs typeface="Calibri" pitchFamily="34" charset="-120"/>
              </a:rPr>
              <a:t>SESSIONS</a:t>
            </a:r>
            <a:endParaRPr lang="en-US" sz="700" dirty="0"/>
          </a:p>
        </p:txBody>
      </p:sp>
      <p:sp>
        <p:nvSpPr>
          <p:cNvPr id="22" name="Shape 20"/>
          <p:cNvSpPr/>
          <p:nvPr/>
        </p:nvSpPr>
        <p:spPr>
          <a:xfrm>
            <a:off x="676656" y="2926080"/>
            <a:ext cx="1170432" cy="310896"/>
          </a:xfrm>
          <a:prstGeom prst="roundRect">
            <a:avLst>
              <a:gd name="adj" fmla="val 11765"/>
            </a:avLst>
          </a:prstGeom>
          <a:solidFill>
            <a:srgbClr val="FDF2EC"/>
          </a:solidFill>
          <a:ln w="9525">
            <a:solidFill>
              <a:srgbClr val="C2410C"/>
            </a:solidFill>
            <a:prstDash val="solid"/>
          </a:ln>
        </p:spPr>
      </p:sp>
      <p:sp>
        <p:nvSpPr>
          <p:cNvPr id="23" name="Text 21"/>
          <p:cNvSpPr/>
          <p:nvPr/>
        </p:nvSpPr>
        <p:spPr>
          <a:xfrm>
            <a:off x="768096" y="2926080"/>
            <a:ext cx="1060704" cy="310896"/>
          </a:xfrm>
          <a:prstGeom prst="rect">
            <a:avLst/>
          </a:prstGeom>
          <a:noFill/>
          <a:ln/>
        </p:spPr>
        <p:txBody>
          <a:bodyPr wrap="square" lIns="0" tIns="0" rIns="0" bIns="0" rtlCol="0" anchor="ctr"/>
          <a:lstStyle/>
          <a:p>
            <a:pPr marL="0" indent="0">
              <a:buNone/>
            </a:pPr>
            <a:r>
              <a:rPr lang="en-US" sz="750" b="1" dirty="0">
                <a:solidFill>
                  <a:srgbClr val="C2410C"/>
                </a:solidFill>
                <a:latin typeface="Calibri" pitchFamily="34" charset="0"/>
                <a:ea typeface="Calibri" pitchFamily="34" charset="-122"/>
                <a:cs typeface="Calibri" pitchFamily="34" charset="-120"/>
              </a:rPr>
              <a:t>orders-grid</a:t>
            </a:r>
            <a:endParaRPr lang="en-US" sz="750" dirty="0"/>
          </a:p>
        </p:txBody>
      </p:sp>
      <p:sp>
        <p:nvSpPr>
          <p:cNvPr id="24" name="Text 22"/>
          <p:cNvSpPr/>
          <p:nvPr/>
        </p:nvSpPr>
        <p:spPr>
          <a:xfrm>
            <a:off x="768096" y="3291840"/>
            <a:ext cx="1060704" cy="310896"/>
          </a:xfrm>
          <a:prstGeom prst="rect">
            <a:avLst/>
          </a:prstGeom>
          <a:noFill/>
          <a:ln/>
        </p:spPr>
        <p:txBody>
          <a:bodyPr wrap="square" lIns="0" tIns="0" rIns="0" bIns="0" rtlCol="0" anchor="ctr"/>
          <a:lstStyle/>
          <a:p>
            <a:pPr marL="0" indent="0">
              <a:buNone/>
            </a:pPr>
            <a:r>
              <a:rPr lang="en-US" sz="750" dirty="0">
                <a:solidFill>
                  <a:srgbClr val="2B3138"/>
                </a:solidFill>
                <a:latin typeface="Calibri" pitchFamily="34" charset="0"/>
                <a:ea typeface="Calibri" pitchFamily="34" charset="-122"/>
                <a:cs typeface="Calibri" pitchFamily="34" charset="-120"/>
              </a:rPr>
              <a:t>catalog-angular</a:t>
            </a:r>
            <a:endParaRPr lang="en-US" sz="750" dirty="0"/>
          </a:p>
        </p:txBody>
      </p:sp>
      <p:sp>
        <p:nvSpPr>
          <p:cNvPr id="25" name="Text 23"/>
          <p:cNvSpPr/>
          <p:nvPr/>
        </p:nvSpPr>
        <p:spPr>
          <a:xfrm>
            <a:off x="768096" y="3657600"/>
            <a:ext cx="1060704" cy="310896"/>
          </a:xfrm>
          <a:prstGeom prst="rect">
            <a:avLst/>
          </a:prstGeom>
          <a:noFill/>
          <a:ln/>
        </p:spPr>
        <p:txBody>
          <a:bodyPr wrap="square" lIns="0" tIns="0" rIns="0" bIns="0" rtlCol="0" anchor="ctr"/>
          <a:lstStyle/>
          <a:p>
            <a:pPr marL="0" indent="0">
              <a:buNone/>
            </a:pPr>
            <a:r>
              <a:rPr lang="en-US" sz="750" dirty="0">
                <a:solidFill>
                  <a:srgbClr val="2B3138"/>
                </a:solidFill>
                <a:latin typeface="Calibri" pitchFamily="34" charset="0"/>
                <a:ea typeface="Calibri" pitchFamily="34" charset="-122"/>
                <a:cs typeface="Calibri" pitchFamily="34" charset="-120"/>
              </a:rPr>
              <a:t>weather-api</a:t>
            </a:r>
            <a:endParaRPr lang="en-US" sz="750" dirty="0"/>
          </a:p>
        </p:txBody>
      </p:sp>
      <p:sp>
        <p:nvSpPr>
          <p:cNvPr id="26" name="Shape 24"/>
          <p:cNvSpPr/>
          <p:nvPr/>
        </p:nvSpPr>
        <p:spPr>
          <a:xfrm>
            <a:off x="2121408" y="2724912"/>
            <a:ext cx="658368" cy="256032"/>
          </a:xfrm>
          <a:prstGeom prst="roundRect">
            <a:avLst>
              <a:gd name="adj" fmla="val 45455"/>
            </a:avLst>
          </a:prstGeom>
          <a:solidFill>
            <a:srgbClr val="EAF2FD"/>
          </a:solidFill>
          <a:ln w="9525">
            <a:solidFill>
              <a:srgbClr val="0969DA"/>
            </a:solidFill>
            <a:prstDash val="solid"/>
          </a:ln>
        </p:spPr>
      </p:sp>
      <p:sp>
        <p:nvSpPr>
          <p:cNvPr id="27" name="Text 25"/>
          <p:cNvSpPr/>
          <p:nvPr/>
        </p:nvSpPr>
        <p:spPr>
          <a:xfrm>
            <a:off x="2121408" y="2724912"/>
            <a:ext cx="658368" cy="256032"/>
          </a:xfrm>
          <a:prstGeom prst="rect">
            <a:avLst/>
          </a:prstGeom>
          <a:noFill/>
          <a:ln/>
        </p:spPr>
        <p:txBody>
          <a:bodyPr wrap="square" lIns="0" tIns="0" rIns="0" bIns="0" rtlCol="0" anchor="ctr"/>
          <a:lstStyle/>
          <a:p>
            <a:pPr marL="0" indent="0" algn="ctr">
              <a:buNone/>
            </a:pPr>
            <a:r>
              <a:rPr lang="en-US" sz="750" b="1" dirty="0">
                <a:solidFill>
                  <a:srgbClr val="0969DA"/>
                </a:solidFill>
                <a:latin typeface="Calibri" pitchFamily="34" charset="0"/>
                <a:ea typeface="Calibri" pitchFamily="34" charset="-122"/>
                <a:cs typeface="Calibri" pitchFamily="34" charset="-120"/>
              </a:rPr>
              <a:t>Local  ▾</a:t>
            </a:r>
            <a:endParaRPr lang="en-US" sz="750" dirty="0"/>
          </a:p>
        </p:txBody>
      </p:sp>
      <p:sp>
        <p:nvSpPr>
          <p:cNvPr id="28" name="Shape 26"/>
          <p:cNvSpPr/>
          <p:nvPr/>
        </p:nvSpPr>
        <p:spPr>
          <a:xfrm>
            <a:off x="2852928" y="2724912"/>
            <a:ext cx="1243584" cy="256032"/>
          </a:xfrm>
          <a:prstGeom prst="roundRect">
            <a:avLst>
              <a:gd name="adj" fmla="val 45455"/>
            </a:avLst>
          </a:prstGeom>
          <a:solidFill>
            <a:srgbClr val="FFFFFF"/>
          </a:solidFill>
          <a:ln w="9525">
            <a:solidFill>
              <a:srgbClr val="D8DEE4"/>
            </a:solidFill>
            <a:prstDash val="solid"/>
          </a:ln>
        </p:spPr>
      </p:sp>
      <p:sp>
        <p:nvSpPr>
          <p:cNvPr id="29" name="Text 27"/>
          <p:cNvSpPr/>
          <p:nvPr/>
        </p:nvSpPr>
        <p:spPr>
          <a:xfrm>
            <a:off x="2852928" y="2724912"/>
            <a:ext cx="1243584" cy="256032"/>
          </a:xfrm>
          <a:prstGeom prst="rect">
            <a:avLst/>
          </a:prstGeom>
          <a:noFill/>
          <a:ln/>
        </p:spPr>
        <p:txBody>
          <a:bodyPr wrap="square" lIns="0" tIns="0" rIns="0" bIns="0" rtlCol="0" anchor="ctr"/>
          <a:lstStyle/>
          <a:p>
            <a:pPr marL="0" indent="0" algn="ctr">
              <a:buNone/>
            </a:pPr>
            <a:r>
              <a:rPr lang="en-US" sz="750" b="1" dirty="0">
                <a:solidFill>
                  <a:srgbClr val="2B3138"/>
                </a:solidFill>
                <a:latin typeface="Calibri" pitchFamily="34" charset="0"/>
                <a:ea typeface="Calibri" pitchFamily="34" charset="-122"/>
                <a:cs typeface="Calibri" pitchFamily="34" charset="-120"/>
              </a:rPr>
              <a:t>📁  orders-grid</a:t>
            </a:r>
            <a:endParaRPr lang="en-US" sz="750" dirty="0"/>
          </a:p>
        </p:txBody>
      </p:sp>
      <p:sp>
        <p:nvSpPr>
          <p:cNvPr id="30" name="Shape 28"/>
          <p:cNvSpPr/>
          <p:nvPr/>
        </p:nvSpPr>
        <p:spPr>
          <a:xfrm>
            <a:off x="4169664" y="2724912"/>
            <a:ext cx="713232" cy="256032"/>
          </a:xfrm>
          <a:prstGeom prst="roundRect">
            <a:avLst>
              <a:gd name="adj" fmla="val 45455"/>
            </a:avLst>
          </a:prstGeom>
          <a:solidFill>
            <a:srgbClr val="FFFFFF"/>
          </a:solidFill>
          <a:ln w="9525">
            <a:solidFill>
              <a:srgbClr val="D8DEE4"/>
            </a:solidFill>
            <a:prstDash val="solid"/>
          </a:ln>
        </p:spPr>
      </p:sp>
      <p:sp>
        <p:nvSpPr>
          <p:cNvPr id="31" name="Text 29"/>
          <p:cNvSpPr/>
          <p:nvPr/>
        </p:nvSpPr>
        <p:spPr>
          <a:xfrm>
            <a:off x="4169664" y="2724912"/>
            <a:ext cx="713232" cy="256032"/>
          </a:xfrm>
          <a:prstGeom prst="rect">
            <a:avLst/>
          </a:prstGeom>
          <a:noFill/>
          <a:ln/>
        </p:spPr>
        <p:txBody>
          <a:bodyPr wrap="square" lIns="0" tIns="0" rIns="0" bIns="0" rtlCol="0" anchor="ctr"/>
          <a:lstStyle/>
          <a:p>
            <a:pPr marL="0" indent="0" algn="ctr">
              <a:buNone/>
            </a:pPr>
            <a:r>
              <a:rPr lang="en-US" sz="750" b="1" dirty="0">
                <a:solidFill>
                  <a:srgbClr val="2B3138"/>
                </a:solidFill>
                <a:latin typeface="Calibri" pitchFamily="34" charset="0"/>
                <a:ea typeface="Calibri" pitchFamily="34" charset="-122"/>
                <a:cs typeface="Calibri" pitchFamily="34" charset="-120"/>
              </a:rPr>
              <a:t>Opus  ▾</a:t>
            </a:r>
            <a:endParaRPr lang="en-US" sz="750" dirty="0"/>
          </a:p>
        </p:txBody>
      </p:sp>
      <p:sp>
        <p:nvSpPr>
          <p:cNvPr id="32" name="Shape 30"/>
          <p:cNvSpPr/>
          <p:nvPr/>
        </p:nvSpPr>
        <p:spPr>
          <a:xfrm>
            <a:off x="2011680" y="2450592"/>
            <a:ext cx="274320" cy="274320"/>
          </a:xfrm>
          <a:prstGeom prst="ellipse">
            <a:avLst/>
          </a:prstGeom>
          <a:solidFill>
            <a:srgbClr val="C2410C"/>
          </a:solidFill>
          <a:ln w="19050">
            <a:solidFill>
              <a:srgbClr val="FFFFFF"/>
            </a:solidFill>
            <a:prstDash val="solid"/>
          </a:ln>
        </p:spPr>
      </p:sp>
      <p:sp>
        <p:nvSpPr>
          <p:cNvPr id="33" name="Text 31"/>
          <p:cNvSpPr/>
          <p:nvPr/>
        </p:nvSpPr>
        <p:spPr>
          <a:xfrm>
            <a:off x="2011680" y="245059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4" name="Shape 32"/>
          <p:cNvSpPr/>
          <p:nvPr/>
        </p:nvSpPr>
        <p:spPr>
          <a:xfrm>
            <a:off x="2121408" y="3182112"/>
            <a:ext cx="2377440" cy="59436"/>
          </a:xfrm>
          <a:prstGeom prst="roundRect">
            <a:avLst>
              <a:gd name="adj" fmla="val 46154"/>
            </a:avLst>
          </a:prstGeom>
          <a:solidFill>
            <a:srgbClr val="C9D1D9"/>
          </a:solidFill>
          <a:ln/>
        </p:spPr>
      </p:sp>
      <p:sp>
        <p:nvSpPr>
          <p:cNvPr id="35" name="Shape 33"/>
          <p:cNvSpPr/>
          <p:nvPr/>
        </p:nvSpPr>
        <p:spPr>
          <a:xfrm>
            <a:off x="2121408" y="3319272"/>
            <a:ext cx="3017520" cy="59436"/>
          </a:xfrm>
          <a:prstGeom prst="roundRect">
            <a:avLst>
              <a:gd name="adj" fmla="val 46154"/>
            </a:avLst>
          </a:prstGeom>
          <a:solidFill>
            <a:srgbClr val="C9D1D9"/>
          </a:solidFill>
          <a:ln/>
        </p:spPr>
      </p:sp>
      <p:sp>
        <p:nvSpPr>
          <p:cNvPr id="36" name="Text 34"/>
          <p:cNvSpPr/>
          <p:nvPr/>
        </p:nvSpPr>
        <p:spPr>
          <a:xfrm>
            <a:off x="2121408" y="3493008"/>
            <a:ext cx="3931920" cy="201168"/>
          </a:xfrm>
          <a:prstGeom prst="rect">
            <a:avLst/>
          </a:prstGeom>
          <a:noFill/>
          <a:ln/>
        </p:spPr>
        <p:txBody>
          <a:bodyPr wrap="square" lIns="0" tIns="0" rIns="0" bIns="0" rtlCol="0" anchor="ctr"/>
          <a:lstStyle/>
          <a:p>
            <a:pPr marL="0" indent="0">
              <a:buNone/>
            </a:pPr>
            <a:r>
              <a:rPr lang="en-US" sz="650" dirty="0">
                <a:solidFill>
                  <a:srgbClr val="1A7F37"/>
                </a:solidFill>
                <a:latin typeface="Courier New" pitchFamily="34" charset="0"/>
                <a:ea typeface="Courier New" pitchFamily="34" charset="-122"/>
                <a:cs typeface="Courier New" pitchFamily="34" charset="-120"/>
              </a:rPr>
              <a:t>Skill  react-devextreme-grid  loaded   ·   14 files written</a:t>
            </a:r>
            <a:endParaRPr lang="en-US" sz="650" dirty="0"/>
          </a:p>
        </p:txBody>
      </p:sp>
      <p:sp>
        <p:nvSpPr>
          <p:cNvPr id="37" name="Shape 35"/>
          <p:cNvSpPr/>
          <p:nvPr/>
        </p:nvSpPr>
        <p:spPr>
          <a:xfrm>
            <a:off x="2121408" y="3767328"/>
            <a:ext cx="2651760" cy="59436"/>
          </a:xfrm>
          <a:prstGeom prst="roundRect">
            <a:avLst>
              <a:gd name="adj" fmla="val 46154"/>
            </a:avLst>
          </a:prstGeom>
          <a:solidFill>
            <a:srgbClr val="C9D1D9"/>
          </a:solidFill>
          <a:ln/>
        </p:spPr>
      </p:sp>
      <p:sp>
        <p:nvSpPr>
          <p:cNvPr id="38" name="Shape 36"/>
          <p:cNvSpPr/>
          <p:nvPr/>
        </p:nvSpPr>
        <p:spPr>
          <a:xfrm>
            <a:off x="2121408" y="4059936"/>
            <a:ext cx="4041648" cy="841248"/>
          </a:xfrm>
          <a:prstGeom prst="roundRect">
            <a:avLst>
              <a:gd name="adj" fmla="val 5435"/>
            </a:avLst>
          </a:prstGeom>
          <a:solidFill>
            <a:srgbClr val="FFFFFF"/>
          </a:solidFill>
          <a:ln w="15875">
            <a:solidFill>
              <a:srgbClr val="C2410C"/>
            </a:solidFill>
            <a:prstDash val="solid"/>
          </a:ln>
        </p:spPr>
      </p:sp>
      <p:sp>
        <p:nvSpPr>
          <p:cNvPr id="39" name="Text 37"/>
          <p:cNvSpPr/>
          <p:nvPr/>
        </p:nvSpPr>
        <p:spPr>
          <a:xfrm>
            <a:off x="2231136" y="4169664"/>
            <a:ext cx="3822192" cy="658368"/>
          </a:xfrm>
          <a:prstGeom prst="rect">
            <a:avLst/>
          </a:prstGeom>
          <a:noFill/>
          <a:ln/>
        </p:spPr>
        <p:txBody>
          <a:bodyPr wrap="square" lIns="0" tIns="0" rIns="0" bIns="0" rtlCol="0" anchor="t"/>
          <a:lstStyle/>
          <a:p>
            <a:pPr marL="0" indent="0">
              <a:lnSpc>
                <a:spcPts val="1000"/>
              </a:lnSpc>
              <a:buNone/>
            </a:pPr>
            <a:r>
              <a:rPr lang="en-US" sz="700" b="1" dirty="0">
                <a:solidFill>
                  <a:srgbClr val="C2410C"/>
                </a:solidFill>
                <a:latin typeface="Courier New" pitchFamily="34" charset="0"/>
                <a:ea typeface="Courier New" pitchFamily="34" charset="-122"/>
                <a:cs typeface="Courier New" pitchFamily="34" charset="-120"/>
              </a:rPr>
              <a:t>/goal </a:t>
            </a:r>
            <a:r>
              <a:rPr lang="en-US" sz="700" dirty="0">
                <a:solidFill>
                  <a:srgbClr val="2B3138"/>
                </a:solidFill>
                <a:latin typeface="Courier New" pitchFamily="34" charset="0"/>
                <a:ea typeface="Courier New" pitchFamily="34" charset="-122"/>
                <a:cs typeface="Courier New" pitchFamily="34" charset="-120"/>
              </a:rPr>
              <a:t>npm run typecheck, npm run lint and npm test all exit 0,</a:t>
            </a:r>
            <a:endParaRPr lang="en-US" sz="700" dirty="0"/>
          </a:p>
          <a:p>
            <a:pPr marL="0" indent="0">
              <a:lnSpc>
                <a:spcPts val="1000"/>
              </a:lnSpc>
              <a:buNone/>
            </a:pPr>
            <a:r>
              <a:rPr lang="en-US" sz="700" dirty="0">
                <a:solidFill>
                  <a:srgbClr val="2B3138"/>
                </a:solidFill>
                <a:latin typeface="Courier New" pitchFamily="34" charset="0"/>
                <a:ea typeface="Courier New" pitchFamily="34" charset="-122"/>
                <a:cs typeface="Courier New" pitchFamily="34" charset="-120"/>
              </a:rPr>
              <a:t>and check:clean reports no findings.</a:t>
            </a:r>
            <a:endParaRPr lang="en-US" sz="700" dirty="0"/>
          </a:p>
        </p:txBody>
      </p:sp>
      <p:sp>
        <p:nvSpPr>
          <p:cNvPr id="40" name="Shape 38"/>
          <p:cNvSpPr/>
          <p:nvPr/>
        </p:nvSpPr>
        <p:spPr>
          <a:xfrm>
            <a:off x="2011680" y="3950208"/>
            <a:ext cx="274320" cy="274320"/>
          </a:xfrm>
          <a:prstGeom prst="ellipse">
            <a:avLst/>
          </a:prstGeom>
          <a:solidFill>
            <a:srgbClr val="C2410C"/>
          </a:solidFill>
          <a:ln w="19050">
            <a:solidFill>
              <a:srgbClr val="FFFFFF"/>
            </a:solidFill>
            <a:prstDash val="solid"/>
          </a:ln>
        </p:spPr>
      </p:sp>
      <p:sp>
        <p:nvSpPr>
          <p:cNvPr id="41" name="Text 39"/>
          <p:cNvSpPr/>
          <p:nvPr/>
        </p:nvSpPr>
        <p:spPr>
          <a:xfrm>
            <a:off x="2011680" y="395020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2" name="Shape 40"/>
          <p:cNvSpPr/>
          <p:nvPr/>
        </p:nvSpPr>
        <p:spPr>
          <a:xfrm>
            <a:off x="2121408" y="5047488"/>
            <a:ext cx="4041648" cy="365760"/>
          </a:xfrm>
          <a:prstGeom prst="roundRect">
            <a:avLst>
              <a:gd name="adj" fmla="val 10000"/>
            </a:avLst>
          </a:prstGeom>
          <a:solidFill>
            <a:srgbClr val="F6F8FA"/>
          </a:solidFill>
          <a:ln w="9525">
            <a:solidFill>
              <a:srgbClr val="D8DEE4"/>
            </a:solidFill>
            <a:prstDash val="solid"/>
          </a:ln>
        </p:spPr>
      </p:sp>
      <p:sp>
        <p:nvSpPr>
          <p:cNvPr id="43" name="Text 41"/>
          <p:cNvSpPr/>
          <p:nvPr/>
        </p:nvSpPr>
        <p:spPr>
          <a:xfrm>
            <a:off x="2249424" y="5047488"/>
            <a:ext cx="2194560" cy="365760"/>
          </a:xfrm>
          <a:prstGeom prst="rect">
            <a:avLst/>
          </a:prstGeom>
          <a:noFill/>
          <a:ln/>
        </p:spPr>
        <p:txBody>
          <a:bodyPr wrap="square" lIns="0" tIns="0" rIns="0" bIns="0" rtlCol="0" anchor="ctr"/>
          <a:lstStyle/>
          <a:p>
            <a:pPr marL="0" indent="0">
              <a:buNone/>
            </a:pPr>
            <a:r>
              <a:rPr lang="en-US" sz="700" b="1" dirty="0">
                <a:solidFill>
                  <a:srgbClr val="1A7F37"/>
                </a:solidFill>
                <a:latin typeface="Courier New" pitchFamily="34" charset="0"/>
                <a:ea typeface="Courier New" pitchFamily="34" charset="-122"/>
                <a:cs typeface="Courier New" pitchFamily="34" charset="-120"/>
              </a:rPr>
              <a:t>+128 </a:t>
            </a:r>
            <a:r>
              <a:rPr lang="en-US" sz="700" b="1" dirty="0">
                <a:solidFill>
                  <a:srgbClr val="B42318"/>
                </a:solidFill>
                <a:latin typeface="Courier New" pitchFamily="34" charset="0"/>
                <a:ea typeface="Courier New" pitchFamily="34" charset="-122"/>
                <a:cs typeface="Courier New" pitchFamily="34" charset="-120"/>
              </a:rPr>
              <a:t>−0  </a:t>
            </a:r>
            <a:r>
              <a:rPr lang="en-US" sz="700" dirty="0">
                <a:solidFill>
                  <a:srgbClr val="2B3138"/>
                </a:solidFill>
                <a:latin typeface="Courier New" pitchFamily="34" charset="0"/>
                <a:ea typeface="Courier New" pitchFamily="34" charset="-122"/>
                <a:cs typeface="Courier New" pitchFamily="34" charset="-120"/>
              </a:rPr>
              <a:t>src/api/ordersStore.ts</a:t>
            </a:r>
            <a:endParaRPr lang="en-US" sz="700" dirty="0"/>
          </a:p>
        </p:txBody>
      </p:sp>
      <p:sp>
        <p:nvSpPr>
          <p:cNvPr id="44" name="Shape 42"/>
          <p:cNvSpPr/>
          <p:nvPr/>
        </p:nvSpPr>
        <p:spPr>
          <a:xfrm>
            <a:off x="4773168" y="5111496"/>
            <a:ext cx="621792" cy="237744"/>
          </a:xfrm>
          <a:prstGeom prst="roundRect">
            <a:avLst>
              <a:gd name="adj" fmla="val 45455"/>
            </a:avLst>
          </a:prstGeom>
          <a:solidFill>
            <a:srgbClr val="1A7F37"/>
          </a:solidFill>
          <a:ln/>
        </p:spPr>
      </p:sp>
      <p:sp>
        <p:nvSpPr>
          <p:cNvPr id="45" name="Text 43"/>
          <p:cNvSpPr/>
          <p:nvPr/>
        </p:nvSpPr>
        <p:spPr>
          <a:xfrm>
            <a:off x="4773168" y="5111496"/>
            <a:ext cx="621792" cy="237744"/>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Accept</a:t>
            </a:r>
            <a:endParaRPr lang="en-US" sz="750" dirty="0"/>
          </a:p>
        </p:txBody>
      </p:sp>
      <p:sp>
        <p:nvSpPr>
          <p:cNvPr id="46" name="Shape 44"/>
          <p:cNvSpPr/>
          <p:nvPr/>
        </p:nvSpPr>
        <p:spPr>
          <a:xfrm>
            <a:off x="5468112" y="5111496"/>
            <a:ext cx="603504" cy="237744"/>
          </a:xfrm>
          <a:prstGeom prst="roundRect">
            <a:avLst>
              <a:gd name="adj" fmla="val 45455"/>
            </a:avLst>
          </a:prstGeom>
          <a:solidFill>
            <a:srgbClr val="FFFFFF"/>
          </a:solidFill>
          <a:ln w="9525">
            <a:solidFill>
              <a:srgbClr val="D8DEE4"/>
            </a:solidFill>
            <a:prstDash val="solid"/>
          </a:ln>
        </p:spPr>
      </p:sp>
      <p:sp>
        <p:nvSpPr>
          <p:cNvPr id="47" name="Text 45"/>
          <p:cNvSpPr/>
          <p:nvPr/>
        </p:nvSpPr>
        <p:spPr>
          <a:xfrm>
            <a:off x="5468112" y="5111496"/>
            <a:ext cx="603504" cy="237744"/>
          </a:xfrm>
          <a:prstGeom prst="rect">
            <a:avLst/>
          </a:prstGeom>
          <a:noFill/>
          <a:ln/>
        </p:spPr>
        <p:txBody>
          <a:bodyPr wrap="square" lIns="0" tIns="0" rIns="0" bIns="0" rtlCol="0" anchor="ctr"/>
          <a:lstStyle/>
          <a:p>
            <a:pPr marL="0" indent="0" algn="ctr">
              <a:buNone/>
            </a:pPr>
            <a:r>
              <a:rPr lang="en-US" sz="750" b="1" dirty="0">
                <a:solidFill>
                  <a:srgbClr val="2B3138"/>
                </a:solidFill>
                <a:latin typeface="Calibri" pitchFamily="34" charset="0"/>
                <a:ea typeface="Calibri" pitchFamily="34" charset="-122"/>
                <a:cs typeface="Calibri" pitchFamily="34" charset="-120"/>
              </a:rPr>
              <a:t>Reject</a:t>
            </a:r>
            <a:endParaRPr lang="en-US" sz="750" dirty="0"/>
          </a:p>
        </p:txBody>
      </p:sp>
      <p:sp>
        <p:nvSpPr>
          <p:cNvPr id="48" name="Shape 46"/>
          <p:cNvSpPr/>
          <p:nvPr/>
        </p:nvSpPr>
        <p:spPr>
          <a:xfrm>
            <a:off x="2011680" y="4937760"/>
            <a:ext cx="274320" cy="274320"/>
          </a:xfrm>
          <a:prstGeom prst="ellipse">
            <a:avLst/>
          </a:prstGeom>
          <a:solidFill>
            <a:srgbClr val="C2410C"/>
          </a:solidFill>
          <a:ln w="19050">
            <a:solidFill>
              <a:srgbClr val="FFFFFF"/>
            </a:solidFill>
            <a:prstDash val="solid"/>
          </a:ln>
        </p:spPr>
      </p:sp>
      <p:sp>
        <p:nvSpPr>
          <p:cNvPr id="49" name="Text 47"/>
          <p:cNvSpPr/>
          <p:nvPr/>
        </p:nvSpPr>
        <p:spPr>
          <a:xfrm>
            <a:off x="2011680" y="493776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50" name="Text 48"/>
          <p:cNvSpPr/>
          <p:nvPr/>
        </p:nvSpPr>
        <p:spPr>
          <a:xfrm>
            <a:off x="2121408" y="5559552"/>
            <a:ext cx="914400" cy="219456"/>
          </a:xfrm>
          <a:prstGeom prst="rect">
            <a:avLst/>
          </a:prstGeom>
          <a:noFill/>
          <a:ln/>
        </p:spPr>
        <p:txBody>
          <a:bodyPr wrap="square" lIns="0" tIns="0" rIns="0" bIns="0" rtlCol="0" anchor="ctr"/>
          <a:lstStyle/>
          <a:p>
            <a:pPr marL="0" indent="0">
              <a:buNone/>
            </a:pPr>
            <a:r>
              <a:rPr lang="en-US" sz="700" dirty="0">
                <a:solidFill>
                  <a:srgbClr val="6E7781"/>
                </a:solidFill>
                <a:latin typeface="Calibri" pitchFamily="34" charset="0"/>
                <a:ea typeface="Calibri" pitchFamily="34" charset="-122"/>
                <a:cs typeface="Calibri" pitchFamily="34" charset="-120"/>
              </a:rPr>
              <a:t>Manual  ▾</a:t>
            </a:r>
            <a:endParaRPr lang="en-US" sz="700" dirty="0"/>
          </a:p>
        </p:txBody>
      </p:sp>
      <p:sp>
        <p:nvSpPr>
          <p:cNvPr id="51" name="Shape 49"/>
          <p:cNvSpPr/>
          <p:nvPr/>
        </p:nvSpPr>
        <p:spPr>
          <a:xfrm>
            <a:off x="6547104" y="2212848"/>
            <a:ext cx="5074920" cy="1920240"/>
          </a:xfrm>
          <a:prstGeom prst="roundRect">
            <a:avLst>
              <a:gd name="adj" fmla="val 2857"/>
            </a:avLst>
          </a:prstGeom>
          <a:solidFill>
            <a:srgbClr val="F6F8FA"/>
          </a:solidFill>
          <a:ln w="9525">
            <a:solidFill>
              <a:srgbClr val="D8DEE4"/>
            </a:solidFill>
            <a:prstDash val="solid"/>
          </a:ln>
          <a:effectLst>
            <a:outerShdw blurRad="177800" dist="38100" dir="5400000" algn="bl" rotWithShape="0">
              <a:srgbClr val="8C959F">
                <a:alpha val="16000"/>
              </a:srgbClr>
            </a:outerShdw>
          </a:effectLst>
        </p:spPr>
      </p:sp>
      <p:sp>
        <p:nvSpPr>
          <p:cNvPr id="52" name="Text 50"/>
          <p:cNvSpPr/>
          <p:nvPr/>
        </p:nvSpPr>
        <p:spPr>
          <a:xfrm>
            <a:off x="6803136" y="2350008"/>
            <a:ext cx="4562856" cy="292608"/>
          </a:xfrm>
          <a:prstGeom prst="rect">
            <a:avLst/>
          </a:prstGeom>
          <a:noFill/>
          <a:ln/>
        </p:spPr>
        <p:txBody>
          <a:bodyPr wrap="square" lIns="0" tIns="0" rIns="0" bIns="0" rtlCol="0" anchor="ctr"/>
          <a:lstStyle/>
          <a:p>
            <a:pPr marL="0" indent="0">
              <a:buNone/>
            </a:pPr>
            <a:r>
              <a:rPr lang="en-US" sz="1550" b="1" dirty="0">
                <a:solidFill>
                  <a:srgbClr val="15181D"/>
                </a:solidFill>
                <a:latin typeface="Cambria" pitchFamily="34" charset="0"/>
                <a:ea typeface="Cambria" pitchFamily="34" charset="-122"/>
                <a:cs typeface="Cambria" pitchFamily="34" charset="-120"/>
              </a:rPr>
              <a:t>Preconditions</a:t>
            </a:r>
            <a:endParaRPr lang="en-US" sz="1550" dirty="0"/>
          </a:p>
        </p:txBody>
      </p:sp>
      <p:sp>
        <p:nvSpPr>
          <p:cNvPr id="53" name="Text 51"/>
          <p:cNvSpPr/>
          <p:nvPr/>
        </p:nvSpPr>
        <p:spPr>
          <a:xfrm>
            <a:off x="6803136" y="2642616"/>
            <a:ext cx="4562856" cy="201168"/>
          </a:xfrm>
          <a:prstGeom prst="rect">
            <a:avLst/>
          </a:prstGeom>
          <a:noFill/>
          <a:ln/>
        </p:spPr>
        <p:txBody>
          <a:bodyPr wrap="square" lIns="0" tIns="0" rIns="0" bIns="0" rtlCol="0" anchor="ctr"/>
          <a:lstStyle/>
          <a:p>
            <a:pPr marL="0" indent="0">
              <a:buNone/>
            </a:pPr>
            <a:r>
              <a:rPr lang="en-US" sz="950" dirty="0">
                <a:solidFill>
                  <a:srgbClr val="6E7781"/>
                </a:solidFill>
                <a:latin typeface="Calibri" pitchFamily="34" charset="0"/>
                <a:ea typeface="Calibri" pitchFamily="34" charset="-122"/>
                <a:cs typeface="Calibri" pitchFamily="34" charset="-120"/>
              </a:rPr>
              <a:t>what the repo needs before you start</a:t>
            </a:r>
            <a:endParaRPr lang="en-US" sz="950" dirty="0"/>
          </a:p>
        </p:txBody>
      </p:sp>
      <p:sp>
        <p:nvSpPr>
          <p:cNvPr id="54" name="Text 52"/>
          <p:cNvSpPr/>
          <p:nvPr/>
        </p:nvSpPr>
        <p:spPr>
          <a:xfrm>
            <a:off x="6803136" y="2907792"/>
            <a:ext cx="4562856" cy="1097280"/>
          </a:xfrm>
          <a:prstGeom prst="rect">
            <a:avLst/>
          </a:prstGeom>
          <a:noFill/>
          <a:ln/>
        </p:spPr>
        <p:txBody>
          <a:bodyPr wrap="square" lIns="0" tIns="0" rIns="0" bIns="0" rtlCol="0" anchor="t"/>
          <a:lstStyle/>
          <a:p>
            <a:pPr marL="177800" indent="-177800">
              <a:lnSpc>
                <a:spcPts val="1320"/>
              </a:lnSpc>
              <a:spcAft>
                <a:spcPts val="700"/>
              </a:spcAft>
              <a:buSzPct val="100000"/>
              <a:buChar char="•"/>
            </a:pPr>
            <a:r>
              <a:rPr lang="en-US" sz="1000" b="1" dirty="0">
                <a:solidFill>
                  <a:srgbClr val="15181D"/>
                </a:solidFill>
                <a:latin typeface="Calibri" pitchFamily="34" charset="0"/>
                <a:ea typeface="Calibri" pitchFamily="34" charset="-122"/>
                <a:cs typeface="Calibri" pitchFamily="34" charset="-120"/>
              </a:rPr>
              <a:t>A paid plan. </a:t>
            </a:r>
            <a:r>
              <a:rPr lang="en-US" sz="1000" dirty="0">
                <a:solidFill>
                  <a:srgbClr val="2B3138"/>
                </a:solidFill>
                <a:latin typeface="Calibri" pitchFamily="34" charset="0"/>
                <a:ea typeface="Calibri" pitchFamily="34" charset="-122"/>
                <a:cs typeface="Calibri" pitchFamily="34" charset="-120"/>
              </a:rPr>
              <a:t>Claude Code ships inside the app — no Node, no CLI install.</a:t>
            </a:r>
            <a:endParaRPr lang="en-US" sz="1000" dirty="0"/>
          </a:p>
          <a:p>
            <a:pPr marL="177800" indent="-177800">
              <a:lnSpc>
                <a:spcPts val="1320"/>
              </a:lnSpc>
              <a:spcAft>
                <a:spcPts val="700"/>
              </a:spcAft>
              <a:buSzPct val="100000"/>
              <a:buChar char="•"/>
            </a:pPr>
            <a:r>
              <a:rPr lang="en-US" sz="1000" b="1" dirty="0">
                <a:solidFill>
                  <a:srgbClr val="15181D"/>
                </a:solidFill>
                <a:latin typeface="Calibri" pitchFamily="34" charset="0"/>
                <a:ea typeface="Calibri" pitchFamily="34" charset="-122"/>
                <a:cs typeface="Calibri" pitchFamily="34" charset="-120"/>
              </a:rPr>
              <a:t>Git installed. </a:t>
            </a:r>
            <a:r>
              <a:rPr lang="en-US" sz="1000" dirty="0">
                <a:solidFill>
                  <a:srgbClr val="2B3138"/>
                </a:solidFill>
                <a:latin typeface="Calibri" pitchFamily="34" charset="0"/>
                <a:ea typeface="Calibri" pitchFamily="34" charset="-122"/>
                <a:cs typeface="Calibri" pitchFamily="34" charset="-120"/>
              </a:rPr>
              <a:t>On Windows a local session will not start without it.</a:t>
            </a:r>
            <a:endParaRPr lang="en-US" sz="1000" dirty="0"/>
          </a:p>
          <a:p>
            <a:pPr marL="177800" indent="-177800">
              <a:lnSpc>
                <a:spcPts val="1320"/>
              </a:lnSpc>
              <a:spcAft>
                <a:spcPts val="700"/>
              </a:spcAft>
              <a:buSzPct val="100000"/>
              <a:buChar char="•"/>
            </a:pPr>
            <a:r>
              <a:rPr lang="en-US" sz="1000" b="1" dirty="0">
                <a:solidFill>
                  <a:srgbClr val="15181D"/>
                </a:solidFill>
                <a:latin typeface="Calibri" pitchFamily="34" charset="0"/>
                <a:ea typeface="Calibri" pitchFamily="34" charset="-122"/>
                <a:cs typeface="Calibri" pitchFamily="34" charset="-120"/>
              </a:rPr>
              <a:t>The starter repo (sample/) </a:t>
            </a:r>
            <a:r>
              <a:rPr lang="en-US" sz="1000" dirty="0">
                <a:solidFill>
                  <a:srgbClr val="2B3138"/>
                </a:solidFill>
                <a:latin typeface="Calibri" pitchFamily="34" charset="0"/>
                <a:ea typeface="Calibri" pitchFamily="34" charset="-122"/>
                <a:cs typeface="Calibri" pitchFamily="34" charset="-120"/>
              </a:rPr>
              <a:t>— skills, prompts and gates already in place.</a:t>
            </a:r>
            <a:endParaRPr lang="en-US" sz="1000" dirty="0"/>
          </a:p>
          <a:p>
            <a:pPr marL="177800" indent="-177800">
              <a:lnSpc>
                <a:spcPts val="1320"/>
              </a:lnSpc>
              <a:spcAft>
                <a:spcPts val="700"/>
              </a:spcAft>
              <a:buSzPct val="100000"/>
              <a:buChar char="•"/>
            </a:pPr>
            <a:r>
              <a:rPr lang="en-US" sz="1000" b="1" dirty="0">
                <a:solidFill>
                  <a:srgbClr val="15181D"/>
                </a:solidFill>
                <a:latin typeface="Calibri" pitchFamily="34" charset="0"/>
                <a:ea typeface="Calibri" pitchFamily="34" charset="-122"/>
                <a:cs typeface="Calibri" pitchFamily="34" charset="-120"/>
              </a:rPr>
              <a:t>A definition of done you can write as a command that exits 0. </a:t>
            </a:r>
            <a:endParaRPr lang="en-US" sz="1000" dirty="0"/>
          </a:p>
        </p:txBody>
      </p:sp>
      <p:sp>
        <p:nvSpPr>
          <p:cNvPr id="55" name="Shape 53"/>
          <p:cNvSpPr/>
          <p:nvPr/>
        </p:nvSpPr>
        <p:spPr>
          <a:xfrm>
            <a:off x="6547104" y="4352544"/>
            <a:ext cx="5074920" cy="1883664"/>
          </a:xfrm>
          <a:prstGeom prst="roundRect">
            <a:avLst>
              <a:gd name="adj" fmla="val 2913"/>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56" name="Text 54"/>
          <p:cNvSpPr/>
          <p:nvPr/>
        </p:nvSpPr>
        <p:spPr>
          <a:xfrm>
            <a:off x="6803136" y="4489704"/>
            <a:ext cx="4562856" cy="292608"/>
          </a:xfrm>
          <a:prstGeom prst="rect">
            <a:avLst/>
          </a:prstGeom>
          <a:noFill/>
          <a:ln/>
        </p:spPr>
        <p:txBody>
          <a:bodyPr wrap="square" lIns="0" tIns="0" rIns="0" bIns="0" rtlCol="0" anchor="ctr"/>
          <a:lstStyle/>
          <a:p>
            <a:pPr marL="0" indent="0">
              <a:buNone/>
            </a:pPr>
            <a:r>
              <a:rPr lang="en-US" sz="1550" b="1" dirty="0">
                <a:solidFill>
                  <a:srgbClr val="C2410C"/>
                </a:solidFill>
                <a:latin typeface="Cambria" pitchFamily="34" charset="0"/>
                <a:ea typeface="Cambria" pitchFamily="34" charset="-122"/>
                <a:cs typeface="Cambria" pitchFamily="34" charset="-120"/>
              </a:rPr>
              <a:t>Run one iteration</a:t>
            </a:r>
            <a:endParaRPr lang="en-US" sz="1550" dirty="0"/>
          </a:p>
        </p:txBody>
      </p:sp>
      <p:sp>
        <p:nvSpPr>
          <p:cNvPr id="57" name="Text 55"/>
          <p:cNvSpPr/>
          <p:nvPr/>
        </p:nvSpPr>
        <p:spPr>
          <a:xfrm>
            <a:off x="6803136" y="4782312"/>
            <a:ext cx="4562856" cy="201168"/>
          </a:xfrm>
          <a:prstGeom prst="rect">
            <a:avLst/>
          </a:prstGeom>
          <a:noFill/>
          <a:ln/>
        </p:spPr>
        <p:txBody>
          <a:bodyPr wrap="square" lIns="0" tIns="0" rIns="0" bIns="0" rtlCol="0" anchor="ctr"/>
          <a:lstStyle/>
          <a:p>
            <a:pPr marL="0" indent="0">
              <a:buNone/>
            </a:pPr>
            <a:r>
              <a:rPr lang="en-US" sz="950" dirty="0">
                <a:solidFill>
                  <a:srgbClr val="6E7781"/>
                </a:solidFill>
                <a:latin typeface="Calibri" pitchFamily="34" charset="0"/>
                <a:ea typeface="Calibri" pitchFamily="34" charset="-122"/>
                <a:cs typeface="Calibri" pitchFamily="34" charset="-120"/>
              </a:rPr>
              <a:t>the numbers match the picture</a:t>
            </a:r>
            <a:endParaRPr lang="en-US" sz="950" dirty="0"/>
          </a:p>
        </p:txBody>
      </p:sp>
      <p:sp>
        <p:nvSpPr>
          <p:cNvPr id="58" name="Text 56"/>
          <p:cNvSpPr/>
          <p:nvPr/>
        </p:nvSpPr>
        <p:spPr>
          <a:xfrm>
            <a:off x="6803136" y="5047488"/>
            <a:ext cx="4562856" cy="1060704"/>
          </a:xfrm>
          <a:prstGeom prst="rect">
            <a:avLst/>
          </a:prstGeom>
          <a:noFill/>
          <a:ln/>
        </p:spPr>
        <p:txBody>
          <a:bodyPr wrap="square" lIns="0" tIns="0" rIns="0" bIns="0" rtlCol="0" anchor="t"/>
          <a:lstStyle/>
          <a:p>
            <a:pPr marL="0" indent="0">
              <a:lnSpc>
                <a:spcPts val="1300"/>
              </a:lnSpc>
              <a:spcAft>
                <a:spcPts val="600"/>
              </a:spcAft>
              <a:buNone/>
            </a:pPr>
            <a:r>
              <a:rPr lang="en-US" sz="1000" b="1" dirty="0">
                <a:solidFill>
                  <a:srgbClr val="C2410C"/>
                </a:solidFill>
                <a:latin typeface="Calibri" pitchFamily="34" charset="0"/>
                <a:ea typeface="Calibri" pitchFamily="34" charset="-122"/>
                <a:cs typeface="Calibri" pitchFamily="34" charset="-120"/>
              </a:rPr>
              <a:t>1.  </a:t>
            </a:r>
            <a:r>
              <a:rPr lang="en-US" sz="1000" dirty="0">
                <a:solidFill>
                  <a:srgbClr val="2B3138"/>
                </a:solidFill>
                <a:latin typeface="Calibri" pitchFamily="34" charset="0"/>
                <a:ea typeface="Calibri" pitchFamily="34" charset="-122"/>
                <a:cs typeface="Calibri" pitchFamily="34" charset="-120"/>
              </a:rPr>
              <a:t>Code tab → Local → Select folder. Each session gets its own git worktree.</a:t>
            </a:r>
            <a:endParaRPr lang="en-US" sz="1000" dirty="0"/>
          </a:p>
          <a:p>
            <a:pPr marL="0" indent="0">
              <a:lnSpc>
                <a:spcPts val="1300"/>
              </a:lnSpc>
              <a:spcAft>
                <a:spcPts val="600"/>
              </a:spcAft>
              <a:buNone/>
            </a:pPr>
            <a:r>
              <a:rPr lang="en-US" sz="1000" b="1" dirty="0">
                <a:solidFill>
                  <a:srgbClr val="C2410C"/>
                </a:solidFill>
                <a:latin typeface="Calibri" pitchFamily="34" charset="0"/>
                <a:ea typeface="Calibri" pitchFamily="34" charset="-122"/>
                <a:cs typeface="Calibri" pitchFamily="34" charset="-120"/>
              </a:rPr>
              <a:t>2.  </a:t>
            </a:r>
            <a:r>
              <a:rPr lang="en-US" sz="1000" dirty="0">
                <a:solidFill>
                  <a:srgbClr val="2B3138"/>
                </a:solidFill>
                <a:latin typeface="Calibri" pitchFamily="34" charset="0"/>
                <a:ea typeface="Calibri" pitchFamily="34" charset="-122"/>
                <a:cs typeface="Calibri" pitchFamily="34" charset="-120"/>
              </a:rPr>
              <a:t>Write the prompt, then set the stop condition with /goal.</a:t>
            </a:r>
            <a:endParaRPr lang="en-US" sz="1000" dirty="0"/>
          </a:p>
          <a:p>
            <a:pPr marL="0" indent="0">
              <a:lnSpc>
                <a:spcPts val="1300"/>
              </a:lnSpc>
              <a:spcAft>
                <a:spcPts val="600"/>
              </a:spcAft>
              <a:buNone/>
            </a:pPr>
            <a:r>
              <a:rPr lang="en-US" sz="1000" b="1" dirty="0">
                <a:solidFill>
                  <a:srgbClr val="C2410C"/>
                </a:solidFill>
                <a:latin typeface="Calibri" pitchFamily="34" charset="0"/>
                <a:ea typeface="Calibri" pitchFamily="34" charset="-122"/>
                <a:cs typeface="Calibri" pitchFamily="34" charset="-120"/>
              </a:rPr>
              <a:t>3.  </a:t>
            </a:r>
            <a:r>
              <a:rPr lang="en-US" sz="1000" dirty="0">
                <a:solidFill>
                  <a:srgbClr val="2B3138"/>
                </a:solidFill>
                <a:latin typeface="Calibri" pitchFamily="34" charset="0"/>
                <a:ea typeface="Calibri" pitchFamily="34" charset="-122"/>
                <a:cs typeface="Calibri" pitchFamily="34" charset="-120"/>
              </a:rPr>
              <a:t>Review the diff and Accept or Reject per file. Manual is the default mode.</a:t>
            </a:r>
            <a:endParaRPr lang="en-US" sz="1000" dirty="0"/>
          </a:p>
          <a:p>
            <a:pPr marL="0" indent="0">
              <a:lnSpc>
                <a:spcPts val="1300"/>
              </a:lnSpc>
              <a:spcAft>
                <a:spcPts val="600"/>
              </a:spcAft>
              <a:buNone/>
            </a:pPr>
            <a:r>
              <a:rPr lang="en-US" sz="1000" b="1" dirty="0">
                <a:solidFill>
                  <a:srgbClr val="C2410C"/>
                </a:solidFill>
                <a:latin typeface="Calibri" pitchFamily="34" charset="0"/>
                <a:ea typeface="Calibri" pitchFamily="34" charset="-122"/>
                <a:cs typeface="Calibri" pitchFamily="34" charset="-120"/>
              </a:rPr>
              <a:t>4.  </a:t>
            </a:r>
            <a:r>
              <a:rPr lang="en-US" sz="1000" dirty="0">
                <a:solidFill>
                  <a:srgbClr val="2B3138"/>
                </a:solidFill>
                <a:latin typeface="Calibri" pitchFamily="34" charset="0"/>
                <a:ea typeface="Calibri" pitchFamily="34" charset="-122"/>
                <a:cs typeface="Calibri" pitchFamily="34" charset="-120"/>
              </a:rPr>
              <a:t>Put every correction into SKILL.md, never into a follow-up prompt.</a:t>
            </a:r>
            <a:endParaRPr lang="en-US" sz="1000" dirty="0"/>
          </a:p>
        </p:txBody>
      </p:sp>
      <p:sp>
        <p:nvSpPr>
          <p:cNvPr id="59" name="Text 57"/>
          <p:cNvSpPr/>
          <p:nvPr/>
        </p:nvSpPr>
        <p:spPr>
          <a:xfrm>
            <a:off x="566928" y="6437376"/>
            <a:ext cx="10552176" cy="237744"/>
          </a:xfrm>
          <a:prstGeom prst="rect">
            <a:avLst/>
          </a:prstGeom>
          <a:noFill/>
          <a:ln/>
        </p:spPr>
        <p:txBody>
          <a:bodyPr wrap="square" lIns="0" tIns="0" rIns="0" bIns="0" rtlCol="0" anchor="ctr"/>
          <a:lstStyle/>
          <a:p>
            <a:pPr marL="0" indent="0">
              <a:buNone/>
            </a:pPr>
            <a:r>
              <a:rPr lang="en-US" sz="850" b="1" dirty="0">
                <a:solidFill>
                  <a:srgbClr val="6E7781"/>
                </a:solidFill>
                <a:latin typeface="Calibri" pitchFamily="34" charset="0"/>
                <a:ea typeface="Calibri" pitchFamily="34" charset="-122"/>
                <a:cs typeface="Calibri" pitchFamily="34" charset="-120"/>
              </a:rPr>
              <a:t>Sources   </a:t>
            </a:r>
            <a:r>
              <a:rPr lang="en-US" sz="850" dirty="0">
                <a:solidFill>
                  <a:srgbClr val="6E7781"/>
                </a:solidFill>
                <a:latin typeface="Calibri" pitchFamily="34" charset="0"/>
                <a:ea typeface="Calibri" pitchFamily="34" charset="-122"/>
                <a:cs typeface="Calibri" pitchFamily="34" charset="-120"/>
              </a:rPr>
              <a:t>code.claude.com/docs/en/desktop-quickstart · code.claude.com/docs/en/desktop · code.claude.com/docs/en/skills · code.claude.com/docs/en/goal</a:t>
            </a:r>
            <a:endParaRPr lang="en-US" sz="850" dirty="0"/>
          </a:p>
        </p:txBody>
      </p:sp>
      <p:sp>
        <p:nvSpPr>
          <p:cNvPr id="60"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anim calcmode="lin" valueType="num">
                                      <p:cBhvr additive="base">
                                        <p:cTn id="8" dur="420" fill="hold"/>
                                        <p:tgtEl>
                                          <p:spTgt spid="7"/>
                                        </p:tgtEl>
                                        <p:attrNameLst>
                                          <p:attrName>ppt_y</p:attrName>
                                        </p:attrNameLst>
                                      </p:cBhvr>
                                      <p:tavLst>
                                        <p:tav tm="0">
                                          <p:val>
                                            <p:strVal val="#ppt_y+0.035"/>
                                          </p:val>
                                        </p:tav>
                                        <p:tav tm="100000">
                                          <p:val>
                                            <p:strVal val="#ppt_y"/>
                                          </p:val>
                                        </p:tav>
                                      </p:tavLst>
                                    </p:anim>
                                    <p:set>
                                      <p:cBhvr>
                                        <p:cTn id="9" dur="1" fill="hold">
                                          <p:stCondLst>
                                            <p:cond delay="0"/>
                                          </p:stCondLst>
                                        </p:cTn>
                                        <p:tgtEl>
                                          <p:spTgt spid="51"/>
                                        </p:tgtEl>
                                        <p:attrNameLst>
                                          <p:attrName>style.visibility</p:attrName>
                                        </p:attrNameLst>
                                      </p:cBhvr>
                                      <p:to>
                                        <p:strVal val="visible"/>
                                      </p:to>
                                    </p:set>
                                    <p:animEffect transition="in" filter="fade">
                                      <p:cBhvr>
                                        <p:cTn id="10" dur="420"/>
                                        <p:tgtEl>
                                          <p:spTgt spid="51"/>
                                        </p:tgtEl>
                                      </p:cBhvr>
                                    </p:animEffect>
                                    <p:anim calcmode="lin" valueType="num">
                                      <p:cBhvr additive="base">
                                        <p:cTn id="11" dur="420" fill="hold"/>
                                        <p:tgtEl>
                                          <p:spTgt spid="51"/>
                                        </p:tgtEl>
                                        <p:attrNameLst>
                                          <p:attrName>ppt_y</p:attrName>
                                        </p:attrNameLst>
                                      </p:cBhvr>
                                      <p:tavLst>
                                        <p:tav tm="0">
                                          <p:val>
                                            <p:strVal val="#ppt_y+0.035"/>
                                          </p:val>
                                        </p:tav>
                                        <p:tav tm="100000">
                                          <p:val>
                                            <p:strVal val="#ppt_y"/>
                                          </p:val>
                                        </p:tav>
                                      </p:tavLst>
                                    </p:anim>
                                    <p:set>
                                      <p:cBhvr>
                                        <p:cTn id="12" dur="1" fill="hold">
                                          <p:stCondLst>
                                            <p:cond delay="0"/>
                                          </p:stCondLst>
                                        </p:cTn>
                                        <p:tgtEl>
                                          <p:spTgt spid="8"/>
                                        </p:tgtEl>
                                        <p:attrNameLst>
                                          <p:attrName>style.visibility</p:attrName>
                                        </p:attrNameLst>
                                      </p:cBhvr>
                                      <p:to>
                                        <p:strVal val="visible"/>
                                      </p:to>
                                    </p:set>
                                    <p:animEffect transition="in" filter="fade">
                                      <p:cBhvr>
                                        <p:cTn id="13" dur="420"/>
                                        <p:tgtEl>
                                          <p:spTgt spid="8"/>
                                        </p:tgtEl>
                                      </p:cBhvr>
                                    </p:animEffect>
                                    <p:anim calcmode="lin" valueType="num">
                                      <p:cBhvr additive="base">
                                        <p:cTn id="14" dur="420" fill="hold"/>
                                        <p:tgtEl>
                                          <p:spTgt spid="8"/>
                                        </p:tgtEl>
                                        <p:attrNameLst>
                                          <p:attrName>ppt_y</p:attrName>
                                        </p:attrNameLst>
                                      </p:cBhvr>
                                      <p:tavLst>
                                        <p:tav tm="0">
                                          <p:val>
                                            <p:strVal val="#ppt_y+0.035"/>
                                          </p:val>
                                        </p:tav>
                                        <p:tav tm="100000">
                                          <p:val>
                                            <p:strVal val="#ppt_y"/>
                                          </p:val>
                                        </p:tav>
                                      </p:tavLst>
                                    </p:anim>
                                    <p:set>
                                      <p:cBhvr>
                                        <p:cTn id="15" dur="1" fill="hold">
                                          <p:stCondLst>
                                            <p:cond delay="0"/>
                                          </p:stCondLst>
                                        </p:cTn>
                                        <p:tgtEl>
                                          <p:spTgt spid="13"/>
                                        </p:tgtEl>
                                        <p:attrNameLst>
                                          <p:attrName>style.visibility</p:attrName>
                                        </p:attrNameLst>
                                      </p:cBhvr>
                                      <p:to>
                                        <p:strVal val="visible"/>
                                      </p:to>
                                    </p:set>
                                    <p:animEffect transition="in" filter="fade">
                                      <p:cBhvr>
                                        <p:cTn id="16" dur="420"/>
                                        <p:tgtEl>
                                          <p:spTgt spid="13"/>
                                        </p:tgtEl>
                                      </p:cBhvr>
                                    </p:animEffect>
                                    <p:anim calcmode="lin" valueType="num">
                                      <p:cBhvr additive="base">
                                        <p:cTn id="17" dur="420" fill="hold"/>
                                        <p:tgtEl>
                                          <p:spTgt spid="13"/>
                                        </p:tgtEl>
                                        <p:attrNameLst>
                                          <p:attrName>ppt_y</p:attrName>
                                        </p:attrNameLst>
                                      </p:cBhvr>
                                      <p:tavLst>
                                        <p:tav tm="0">
                                          <p:val>
                                            <p:strVal val="#ppt_y+0.035"/>
                                          </p:val>
                                        </p:tav>
                                        <p:tav tm="100000">
                                          <p:val>
                                            <p:strVal val="#ppt_y"/>
                                          </p:val>
                                        </p:tav>
                                      </p:tavLst>
                                    </p:anim>
                                    <p:set>
                                      <p:cBhvr>
                                        <p:cTn id="18" dur="1" fill="hold">
                                          <p:stCondLst>
                                            <p:cond delay="0"/>
                                          </p:stCondLst>
                                        </p:cTn>
                                        <p:tgtEl>
                                          <p:spTgt spid="14"/>
                                        </p:tgtEl>
                                        <p:attrNameLst>
                                          <p:attrName>style.visibility</p:attrName>
                                        </p:attrNameLst>
                                      </p:cBhvr>
                                      <p:to>
                                        <p:strVal val="visible"/>
                                      </p:to>
                                    </p:set>
                                    <p:animEffect transition="in" filter="fade">
                                      <p:cBhvr>
                                        <p:cTn id="19" dur="420"/>
                                        <p:tgtEl>
                                          <p:spTgt spid="14"/>
                                        </p:tgtEl>
                                      </p:cBhvr>
                                    </p:animEffect>
                                    <p:anim calcmode="lin" valueType="num">
                                      <p:cBhvr additive="base">
                                        <p:cTn id="20" dur="420" fill="hold"/>
                                        <p:tgtEl>
                                          <p:spTgt spid="14"/>
                                        </p:tgtEl>
                                        <p:attrNameLst>
                                          <p:attrName>ppt_y</p:attrName>
                                        </p:attrNameLst>
                                      </p:cBhvr>
                                      <p:tavLst>
                                        <p:tav tm="0">
                                          <p:val>
                                            <p:strVal val="#ppt_y+0.035"/>
                                          </p:val>
                                        </p:tav>
                                        <p:tav tm="100000">
                                          <p:val>
                                            <p:strVal val="#ppt_y"/>
                                          </p:val>
                                        </p:tav>
                                      </p:tavLst>
                                    </p:anim>
                                    <p:set>
                                      <p:cBhvr>
                                        <p:cTn id="21" dur="1" fill="hold">
                                          <p:stCondLst>
                                            <p:cond delay="0"/>
                                          </p:stCondLst>
                                        </p:cTn>
                                        <p:tgtEl>
                                          <p:spTgt spid="15"/>
                                        </p:tgtEl>
                                        <p:attrNameLst>
                                          <p:attrName>style.visibility</p:attrName>
                                        </p:attrNameLst>
                                      </p:cBhvr>
                                      <p:to>
                                        <p:strVal val="visible"/>
                                      </p:to>
                                    </p:set>
                                    <p:animEffect transition="in" filter="fade">
                                      <p:cBhvr>
                                        <p:cTn id="22" dur="420"/>
                                        <p:tgtEl>
                                          <p:spTgt spid="15"/>
                                        </p:tgtEl>
                                      </p:cBhvr>
                                    </p:animEffect>
                                    <p:anim calcmode="lin" valueType="num">
                                      <p:cBhvr additive="base">
                                        <p:cTn id="23" dur="420" fill="hold"/>
                                        <p:tgtEl>
                                          <p:spTgt spid="15"/>
                                        </p:tgtEl>
                                        <p:attrNameLst>
                                          <p:attrName>ppt_y</p:attrName>
                                        </p:attrNameLst>
                                      </p:cBhvr>
                                      <p:tavLst>
                                        <p:tav tm="0">
                                          <p:val>
                                            <p:strVal val="#ppt_y+0.035"/>
                                          </p:val>
                                        </p:tav>
                                        <p:tav tm="100000">
                                          <p:val>
                                            <p:strVal val="#ppt_y"/>
                                          </p:val>
                                        </p:tav>
                                      </p:tavLst>
                                    </p:anim>
                                    <p:set>
                                      <p:cBhvr>
                                        <p:cTn id="24" dur="1" fill="hold">
                                          <p:stCondLst>
                                            <p:cond delay="0"/>
                                          </p:stCondLst>
                                        </p:cTn>
                                        <p:tgtEl>
                                          <p:spTgt spid="16"/>
                                        </p:tgtEl>
                                        <p:attrNameLst>
                                          <p:attrName>style.visibility</p:attrName>
                                        </p:attrNameLst>
                                      </p:cBhvr>
                                      <p:to>
                                        <p:strVal val="visible"/>
                                      </p:to>
                                    </p:set>
                                    <p:animEffect transition="in" filter="fade">
                                      <p:cBhvr>
                                        <p:cTn id="25" dur="420"/>
                                        <p:tgtEl>
                                          <p:spTgt spid="16"/>
                                        </p:tgtEl>
                                      </p:cBhvr>
                                    </p:animEffect>
                                    <p:anim calcmode="lin" valueType="num">
                                      <p:cBhvr additive="base">
                                        <p:cTn id="26" dur="420" fill="hold"/>
                                        <p:tgtEl>
                                          <p:spTgt spid="16"/>
                                        </p:tgtEl>
                                        <p:attrNameLst>
                                          <p:attrName>ppt_y</p:attrName>
                                        </p:attrNameLst>
                                      </p:cBhvr>
                                      <p:tavLst>
                                        <p:tav tm="0">
                                          <p:val>
                                            <p:strVal val="#ppt_y+0.035"/>
                                          </p:val>
                                        </p:tav>
                                        <p:tav tm="100000">
                                          <p:val>
                                            <p:strVal val="#ppt_y"/>
                                          </p:val>
                                        </p:tav>
                                      </p:tavLst>
                                    </p:anim>
                                    <p:set>
                                      <p:cBhvr>
                                        <p:cTn id="27"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 calcmode="lin" valueType="num">
                                      <p:cBhvr additive="base">
                                        <p:cTn id="29" dur="420" fill="hold"/>
                                        <p:tgtEl>
                                          <p:spTgt spid="17"/>
                                        </p:tgtEl>
                                        <p:attrNameLst>
                                          <p:attrName>ppt_y</p:attrName>
                                        </p:attrNameLst>
                                      </p:cBhvr>
                                      <p:tavLst>
                                        <p:tav tm="0">
                                          <p:val>
                                            <p:strVal val="#ppt_y+0.035"/>
                                          </p:val>
                                        </p:tav>
                                        <p:tav tm="100000">
                                          <p:val>
                                            <p:strVal val="#ppt_y"/>
                                          </p:val>
                                        </p:tav>
                                      </p:tavLst>
                                    </p:anim>
                                    <p:set>
                                      <p:cBhvr>
                                        <p:cTn id="30"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2" dur="420" fill="hold"/>
                                        <p:tgtEl>
                                          <p:spTgt spid="18"/>
                                        </p:tgtEl>
                                        <p:attrNameLst>
                                          <p:attrName>ppt_y</p:attrName>
                                        </p:attrNameLst>
                                      </p:cBhvr>
                                      <p:tavLst>
                                        <p:tav tm="0">
                                          <p:val>
                                            <p:strVal val="#ppt_y+0.035"/>
                                          </p:val>
                                        </p:tav>
                                        <p:tav tm="100000">
                                          <p:val>
                                            <p:strVal val="#ppt_y"/>
                                          </p:val>
                                        </p:tav>
                                      </p:tavLst>
                                    </p:anim>
                                    <p:set>
                                      <p:cBhvr>
                                        <p:cTn id="33" dur="1" fill="hold">
                                          <p:stCondLst>
                                            <p:cond delay="0"/>
                                          </p:stCondLst>
                                        </p:cTn>
                                        <p:tgtEl>
                                          <p:spTgt spid="10"/>
                                        </p:tgtEl>
                                        <p:attrNameLst>
                                          <p:attrName>style.visibility</p:attrName>
                                        </p:attrNameLst>
                                      </p:cBhvr>
                                      <p:to>
                                        <p:strVal val="visible"/>
                                      </p:to>
                                    </p:set>
                                    <p:animEffect transition="in" filter="fade">
                                      <p:cBhvr>
                                        <p:cTn id="34" dur="420"/>
                                        <p:tgtEl>
                                          <p:spTgt spid="10"/>
                                        </p:tgtEl>
                                      </p:cBhvr>
                                    </p:animEffect>
                                    <p:anim calcmode="lin" valueType="num">
                                      <p:cBhvr additive="base">
                                        <p:cTn id="35" dur="420" fill="hold"/>
                                        <p:tgtEl>
                                          <p:spTgt spid="10"/>
                                        </p:tgtEl>
                                        <p:attrNameLst>
                                          <p:attrName>ppt_y</p:attrName>
                                        </p:attrNameLst>
                                      </p:cBhvr>
                                      <p:tavLst>
                                        <p:tav tm="0">
                                          <p:val>
                                            <p:strVal val="#ppt_y+0.035"/>
                                          </p:val>
                                        </p:tav>
                                        <p:tav tm="100000">
                                          <p:val>
                                            <p:strVal val="#ppt_y"/>
                                          </p:val>
                                        </p:tav>
                                      </p:tavLst>
                                    </p:anim>
                                    <p:set>
                                      <p:cBhvr>
                                        <p:cTn id="36" dur="1" fill="hold">
                                          <p:stCondLst>
                                            <p:cond delay="0"/>
                                          </p:stCondLst>
                                        </p:cTn>
                                        <p:tgtEl>
                                          <p:spTgt spid="11"/>
                                        </p:tgtEl>
                                        <p:attrNameLst>
                                          <p:attrName>style.visibility</p:attrName>
                                        </p:attrNameLst>
                                      </p:cBhvr>
                                      <p:to>
                                        <p:strVal val="visible"/>
                                      </p:to>
                                    </p:set>
                                    <p:animEffect transition="in" filter="fade">
                                      <p:cBhvr>
                                        <p:cTn id="37" dur="420"/>
                                        <p:tgtEl>
                                          <p:spTgt spid="11"/>
                                        </p:tgtEl>
                                      </p:cBhvr>
                                    </p:animEffect>
                                    <p:anim calcmode="lin" valueType="num">
                                      <p:cBhvr additive="base">
                                        <p:cTn id="38" dur="420" fill="hold"/>
                                        <p:tgtEl>
                                          <p:spTgt spid="11"/>
                                        </p:tgtEl>
                                        <p:attrNameLst>
                                          <p:attrName>ppt_y</p:attrName>
                                        </p:attrNameLst>
                                      </p:cBhvr>
                                      <p:tavLst>
                                        <p:tav tm="0">
                                          <p:val>
                                            <p:strVal val="#ppt_y+0.035"/>
                                          </p:val>
                                        </p:tav>
                                        <p:tav tm="100000">
                                          <p:val>
                                            <p:strVal val="#ppt_y"/>
                                          </p:val>
                                        </p:tav>
                                      </p:tavLst>
                                    </p:anim>
                                    <p:set>
                                      <p:cBhvr>
                                        <p:cTn id="39" dur="1" fill="hold">
                                          <p:stCondLst>
                                            <p:cond delay="0"/>
                                          </p:stCondLst>
                                        </p:cTn>
                                        <p:tgtEl>
                                          <p:spTgt spid="12"/>
                                        </p:tgtEl>
                                        <p:attrNameLst>
                                          <p:attrName>style.visibility</p:attrName>
                                        </p:attrNameLst>
                                      </p:cBhvr>
                                      <p:to>
                                        <p:strVal val="visible"/>
                                      </p:to>
                                    </p:set>
                                    <p:animEffect transition="in" filter="fade">
                                      <p:cBhvr>
                                        <p:cTn id="40" dur="420"/>
                                        <p:tgtEl>
                                          <p:spTgt spid="12"/>
                                        </p:tgtEl>
                                      </p:cBhvr>
                                    </p:animEffect>
                                    <p:anim calcmode="lin" valueType="num">
                                      <p:cBhvr additive="base">
                                        <p:cTn id="41" dur="420" fill="hold"/>
                                        <p:tgtEl>
                                          <p:spTgt spid="12"/>
                                        </p:tgtEl>
                                        <p:attrNameLst>
                                          <p:attrName>ppt_y</p:attrName>
                                        </p:attrNameLst>
                                      </p:cBhvr>
                                      <p:tavLst>
                                        <p:tav tm="0">
                                          <p:val>
                                            <p:strVal val="#ppt_y+0.035"/>
                                          </p:val>
                                        </p:tav>
                                        <p:tav tm="100000">
                                          <p:val>
                                            <p:strVal val="#ppt_y"/>
                                          </p:val>
                                        </p:tav>
                                      </p:tavLst>
                                    </p:anim>
                                    <p:set>
                                      <p:cBhvr>
                                        <p:cTn id="42" dur="1" fill="hold">
                                          <p:stCondLst>
                                            <p:cond delay="0"/>
                                          </p:stCondLst>
                                        </p:cTn>
                                        <p:tgtEl>
                                          <p:spTgt spid="52"/>
                                        </p:tgtEl>
                                        <p:attrNameLst>
                                          <p:attrName>style.visibility</p:attrName>
                                        </p:attrNameLst>
                                      </p:cBhvr>
                                      <p:to>
                                        <p:strVal val="visible"/>
                                      </p:to>
                                    </p:set>
                                    <p:animEffect transition="in" filter="fade">
                                      <p:cBhvr>
                                        <p:cTn id="43" dur="420"/>
                                        <p:tgtEl>
                                          <p:spTgt spid="52"/>
                                        </p:tgtEl>
                                      </p:cBhvr>
                                    </p:animEffect>
                                    <p:anim calcmode="lin" valueType="num">
                                      <p:cBhvr additive="base">
                                        <p:cTn id="44" dur="420" fill="hold"/>
                                        <p:tgtEl>
                                          <p:spTgt spid="52"/>
                                        </p:tgtEl>
                                        <p:attrNameLst>
                                          <p:attrName>ppt_y</p:attrName>
                                        </p:attrNameLst>
                                      </p:cBhvr>
                                      <p:tavLst>
                                        <p:tav tm="0">
                                          <p:val>
                                            <p:strVal val="#ppt_y+0.035"/>
                                          </p:val>
                                        </p:tav>
                                        <p:tav tm="100000">
                                          <p:val>
                                            <p:strVal val="#ppt_y"/>
                                          </p:val>
                                        </p:tav>
                                      </p:tavLst>
                                    </p:anim>
                                    <p:set>
                                      <p:cBhvr>
                                        <p:cTn id="45" dur="1" fill="hold">
                                          <p:stCondLst>
                                            <p:cond delay="0"/>
                                          </p:stCondLst>
                                        </p:cTn>
                                        <p:tgtEl>
                                          <p:spTgt spid="32"/>
                                        </p:tgtEl>
                                        <p:attrNameLst>
                                          <p:attrName>style.visibility</p:attrName>
                                        </p:attrNameLst>
                                      </p:cBhvr>
                                      <p:to>
                                        <p:strVal val="visible"/>
                                      </p:to>
                                    </p:set>
                                    <p:animEffect transition="in" filter="fade">
                                      <p:cBhvr>
                                        <p:cTn id="46" dur="420"/>
                                        <p:tgtEl>
                                          <p:spTgt spid="32"/>
                                        </p:tgtEl>
                                      </p:cBhvr>
                                    </p:animEffect>
                                    <p:anim calcmode="lin" valueType="num">
                                      <p:cBhvr additive="base">
                                        <p:cTn id="47" dur="420" fill="hold"/>
                                        <p:tgtEl>
                                          <p:spTgt spid="32"/>
                                        </p:tgtEl>
                                        <p:attrNameLst>
                                          <p:attrName>ppt_y</p:attrName>
                                        </p:attrNameLst>
                                      </p:cBhvr>
                                      <p:tavLst>
                                        <p:tav tm="0">
                                          <p:val>
                                            <p:strVal val="#ppt_y+0.035"/>
                                          </p:val>
                                        </p:tav>
                                        <p:tav tm="100000">
                                          <p:val>
                                            <p:strVal val="#ppt_y"/>
                                          </p:val>
                                        </p:tav>
                                      </p:tavLst>
                                    </p:anim>
                                    <p:set>
                                      <p:cBhvr>
                                        <p:cTn id="48" dur="1" fill="hold">
                                          <p:stCondLst>
                                            <p:cond delay="0"/>
                                          </p:stCondLst>
                                        </p:cTn>
                                        <p:tgtEl>
                                          <p:spTgt spid="33"/>
                                        </p:tgtEl>
                                        <p:attrNameLst>
                                          <p:attrName>style.visibility</p:attrName>
                                        </p:attrNameLst>
                                      </p:cBhvr>
                                      <p:to>
                                        <p:strVal val="visible"/>
                                      </p:to>
                                    </p:set>
                                    <p:animEffect transition="in" filter="fade">
                                      <p:cBhvr>
                                        <p:cTn id="49" dur="420"/>
                                        <p:tgtEl>
                                          <p:spTgt spid="33"/>
                                        </p:tgtEl>
                                      </p:cBhvr>
                                    </p:animEffect>
                                    <p:anim calcmode="lin" valueType="num">
                                      <p:cBhvr additive="base">
                                        <p:cTn id="50" dur="420" fill="hold"/>
                                        <p:tgtEl>
                                          <p:spTgt spid="33"/>
                                        </p:tgtEl>
                                        <p:attrNameLst>
                                          <p:attrName>ppt_y</p:attrName>
                                        </p:attrNameLst>
                                      </p:cBhvr>
                                      <p:tavLst>
                                        <p:tav tm="0">
                                          <p:val>
                                            <p:strVal val="#ppt_y+0.035"/>
                                          </p:val>
                                        </p:tav>
                                        <p:tav tm="100000">
                                          <p:val>
                                            <p:strVal val="#ppt_y"/>
                                          </p:val>
                                        </p:tav>
                                      </p:tavLst>
                                    </p:anim>
                                    <p:set>
                                      <p:cBhvr>
                                        <p:cTn id="51" dur="1" fill="hold">
                                          <p:stCondLst>
                                            <p:cond delay="0"/>
                                          </p:stCondLst>
                                        </p:cTn>
                                        <p:tgtEl>
                                          <p:spTgt spid="9"/>
                                        </p:tgtEl>
                                        <p:attrNameLst>
                                          <p:attrName>style.visibility</p:attrName>
                                        </p:attrNameLst>
                                      </p:cBhvr>
                                      <p:to>
                                        <p:strVal val="visible"/>
                                      </p:to>
                                    </p:set>
                                    <p:animEffect transition="in" filter="fade">
                                      <p:cBhvr>
                                        <p:cTn id="52" dur="420"/>
                                        <p:tgtEl>
                                          <p:spTgt spid="9"/>
                                        </p:tgtEl>
                                      </p:cBhvr>
                                    </p:animEffect>
                                    <p:anim calcmode="lin" valueType="num">
                                      <p:cBhvr additive="base">
                                        <p:cTn id="53" dur="420" fill="hold"/>
                                        <p:tgtEl>
                                          <p:spTgt spid="9"/>
                                        </p:tgtEl>
                                        <p:attrNameLst>
                                          <p:attrName>ppt_y</p:attrName>
                                        </p:attrNameLst>
                                      </p:cBhvr>
                                      <p:tavLst>
                                        <p:tav tm="0">
                                          <p:val>
                                            <p:strVal val="#ppt_y+0.035"/>
                                          </p:val>
                                        </p:tav>
                                        <p:tav tm="100000">
                                          <p:val>
                                            <p:strVal val="#ppt_y"/>
                                          </p:val>
                                        </p:tav>
                                      </p:tavLst>
                                    </p:anim>
                                    <p:set>
                                      <p:cBhvr>
                                        <p:cTn id="54" dur="1" fill="hold">
                                          <p:stCondLst>
                                            <p:cond delay="0"/>
                                          </p:stCondLst>
                                        </p:cTn>
                                        <p:tgtEl>
                                          <p:spTgt spid="19"/>
                                        </p:tgtEl>
                                        <p:attrNameLst>
                                          <p:attrName>style.visibility</p:attrName>
                                        </p:attrNameLst>
                                      </p:cBhvr>
                                      <p:to>
                                        <p:strVal val="visible"/>
                                      </p:to>
                                    </p:set>
                                    <p:animEffect transition="in" filter="fade">
                                      <p:cBhvr>
                                        <p:cTn id="55" dur="420"/>
                                        <p:tgtEl>
                                          <p:spTgt spid="19"/>
                                        </p:tgtEl>
                                      </p:cBhvr>
                                    </p:animEffect>
                                    <p:anim calcmode="lin" valueType="num">
                                      <p:cBhvr additive="base">
                                        <p:cTn id="56" dur="420" fill="hold"/>
                                        <p:tgtEl>
                                          <p:spTgt spid="19"/>
                                        </p:tgtEl>
                                        <p:attrNameLst>
                                          <p:attrName>ppt_y</p:attrName>
                                        </p:attrNameLst>
                                      </p:cBhvr>
                                      <p:tavLst>
                                        <p:tav tm="0">
                                          <p:val>
                                            <p:strVal val="#ppt_y+0.035"/>
                                          </p:val>
                                        </p:tav>
                                        <p:tav tm="100000">
                                          <p:val>
                                            <p:strVal val="#ppt_y"/>
                                          </p:val>
                                        </p:tav>
                                      </p:tavLst>
                                    </p:anim>
                                    <p:set>
                                      <p:cBhvr>
                                        <p:cTn id="57" dur="1" fill="hold">
                                          <p:stCondLst>
                                            <p:cond delay="0"/>
                                          </p:stCondLst>
                                        </p:cTn>
                                        <p:tgtEl>
                                          <p:spTgt spid="20"/>
                                        </p:tgtEl>
                                        <p:attrNameLst>
                                          <p:attrName>style.visibility</p:attrName>
                                        </p:attrNameLst>
                                      </p:cBhvr>
                                      <p:to>
                                        <p:strVal val="visible"/>
                                      </p:to>
                                    </p:set>
                                    <p:animEffect transition="in" filter="fade">
                                      <p:cBhvr>
                                        <p:cTn id="58" dur="420"/>
                                        <p:tgtEl>
                                          <p:spTgt spid="20"/>
                                        </p:tgtEl>
                                      </p:cBhvr>
                                    </p:animEffect>
                                    <p:anim calcmode="lin" valueType="num">
                                      <p:cBhvr additive="base">
                                        <p:cTn id="59" dur="420" fill="hold"/>
                                        <p:tgtEl>
                                          <p:spTgt spid="20"/>
                                        </p:tgtEl>
                                        <p:attrNameLst>
                                          <p:attrName>ppt_y</p:attrName>
                                        </p:attrNameLst>
                                      </p:cBhvr>
                                      <p:tavLst>
                                        <p:tav tm="0">
                                          <p:val>
                                            <p:strVal val="#ppt_y+0.035"/>
                                          </p:val>
                                        </p:tav>
                                        <p:tav tm="100000">
                                          <p:val>
                                            <p:strVal val="#ppt_y"/>
                                          </p:val>
                                        </p:tav>
                                      </p:tavLst>
                                    </p:anim>
                                    <p:set>
                                      <p:cBhvr>
                                        <p:cTn id="60" dur="1" fill="hold">
                                          <p:stCondLst>
                                            <p:cond delay="0"/>
                                          </p:stCondLst>
                                        </p:cTn>
                                        <p:tgtEl>
                                          <p:spTgt spid="53"/>
                                        </p:tgtEl>
                                        <p:attrNameLst>
                                          <p:attrName>style.visibility</p:attrName>
                                        </p:attrNameLst>
                                      </p:cBhvr>
                                      <p:to>
                                        <p:strVal val="visible"/>
                                      </p:to>
                                    </p:set>
                                    <p:animEffect transition="in" filter="fade">
                                      <p:cBhvr>
                                        <p:cTn id="61" dur="420"/>
                                        <p:tgtEl>
                                          <p:spTgt spid="53"/>
                                        </p:tgtEl>
                                      </p:cBhvr>
                                    </p:animEffect>
                                    <p:anim calcmode="lin" valueType="num">
                                      <p:cBhvr additive="base">
                                        <p:cTn id="62" dur="420" fill="hold"/>
                                        <p:tgtEl>
                                          <p:spTgt spid="53"/>
                                        </p:tgtEl>
                                        <p:attrNameLst>
                                          <p:attrName>ppt_y</p:attrName>
                                        </p:attrNameLst>
                                      </p:cBhvr>
                                      <p:tavLst>
                                        <p:tav tm="0">
                                          <p:val>
                                            <p:strVal val="#ppt_y+0.035"/>
                                          </p:val>
                                        </p:tav>
                                        <p:tav tm="100000">
                                          <p:val>
                                            <p:strVal val="#ppt_y"/>
                                          </p:val>
                                        </p:tav>
                                      </p:tavLst>
                                    </p:anim>
                                    <p:set>
                                      <p:cBhvr>
                                        <p:cTn id="63" dur="1" fill="hold">
                                          <p:stCondLst>
                                            <p:cond delay="0"/>
                                          </p:stCondLst>
                                        </p:cTn>
                                        <p:tgtEl>
                                          <p:spTgt spid="21"/>
                                        </p:tgtEl>
                                        <p:attrNameLst>
                                          <p:attrName>style.visibility</p:attrName>
                                        </p:attrNameLst>
                                      </p:cBhvr>
                                      <p:to>
                                        <p:strVal val="visible"/>
                                      </p:to>
                                    </p:set>
                                    <p:animEffect transition="in" filter="fade">
                                      <p:cBhvr>
                                        <p:cTn id="64" dur="420"/>
                                        <p:tgtEl>
                                          <p:spTgt spid="21"/>
                                        </p:tgtEl>
                                      </p:cBhvr>
                                    </p:animEffect>
                                    <p:anim calcmode="lin" valueType="num">
                                      <p:cBhvr additive="base">
                                        <p:cTn id="65" dur="420" fill="hold"/>
                                        <p:tgtEl>
                                          <p:spTgt spid="21"/>
                                        </p:tgtEl>
                                        <p:attrNameLst>
                                          <p:attrName>ppt_y</p:attrName>
                                        </p:attrNameLst>
                                      </p:cBhvr>
                                      <p:tavLst>
                                        <p:tav tm="0">
                                          <p:val>
                                            <p:strVal val="#ppt_y+0.035"/>
                                          </p:val>
                                        </p:tav>
                                        <p:tav tm="100000">
                                          <p:val>
                                            <p:strVal val="#ppt_y"/>
                                          </p:val>
                                        </p:tav>
                                      </p:tavLst>
                                    </p:anim>
                                    <p:set>
                                      <p:cBhvr>
                                        <p:cTn id="66"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8" dur="420" fill="hold"/>
                                        <p:tgtEl>
                                          <p:spTgt spid="26"/>
                                        </p:tgtEl>
                                        <p:attrNameLst>
                                          <p:attrName>ppt_y</p:attrName>
                                        </p:attrNameLst>
                                      </p:cBhvr>
                                      <p:tavLst>
                                        <p:tav tm="0">
                                          <p:val>
                                            <p:strVal val="#ppt_y+0.035"/>
                                          </p:val>
                                        </p:tav>
                                        <p:tav tm="100000">
                                          <p:val>
                                            <p:strVal val="#ppt_y"/>
                                          </p:val>
                                        </p:tav>
                                      </p:tavLst>
                                    </p:anim>
                                    <p:set>
                                      <p:cBhvr>
                                        <p:cTn id="69" dur="1" fill="hold">
                                          <p:stCondLst>
                                            <p:cond delay="0"/>
                                          </p:stCondLst>
                                        </p:cTn>
                                        <p:tgtEl>
                                          <p:spTgt spid="27"/>
                                        </p:tgtEl>
                                        <p:attrNameLst>
                                          <p:attrName>style.visibility</p:attrName>
                                        </p:attrNameLst>
                                      </p:cBhvr>
                                      <p:to>
                                        <p:strVal val="visible"/>
                                      </p:to>
                                    </p:set>
                                    <p:animEffect transition="in" filter="fade">
                                      <p:cBhvr>
                                        <p:cTn id="70" dur="420"/>
                                        <p:tgtEl>
                                          <p:spTgt spid="27"/>
                                        </p:tgtEl>
                                      </p:cBhvr>
                                    </p:animEffect>
                                    <p:anim calcmode="lin" valueType="num">
                                      <p:cBhvr additive="base">
                                        <p:cTn id="71" dur="420" fill="hold"/>
                                        <p:tgtEl>
                                          <p:spTgt spid="27"/>
                                        </p:tgtEl>
                                        <p:attrNameLst>
                                          <p:attrName>ppt_y</p:attrName>
                                        </p:attrNameLst>
                                      </p:cBhvr>
                                      <p:tavLst>
                                        <p:tav tm="0">
                                          <p:val>
                                            <p:strVal val="#ppt_y+0.035"/>
                                          </p:val>
                                        </p:tav>
                                        <p:tav tm="100000">
                                          <p:val>
                                            <p:strVal val="#ppt_y"/>
                                          </p:val>
                                        </p:tav>
                                      </p:tavLst>
                                    </p:anim>
                                    <p:set>
                                      <p:cBhvr>
                                        <p:cTn id="72" dur="1" fill="hold">
                                          <p:stCondLst>
                                            <p:cond delay="0"/>
                                          </p:stCondLst>
                                        </p:cTn>
                                        <p:tgtEl>
                                          <p:spTgt spid="28"/>
                                        </p:tgtEl>
                                        <p:attrNameLst>
                                          <p:attrName>style.visibility</p:attrName>
                                        </p:attrNameLst>
                                      </p:cBhvr>
                                      <p:to>
                                        <p:strVal val="visible"/>
                                      </p:to>
                                    </p:set>
                                    <p:animEffect transition="in" filter="fade">
                                      <p:cBhvr>
                                        <p:cTn id="73" dur="420"/>
                                        <p:tgtEl>
                                          <p:spTgt spid="28"/>
                                        </p:tgtEl>
                                      </p:cBhvr>
                                    </p:animEffect>
                                    <p:anim calcmode="lin" valueType="num">
                                      <p:cBhvr additive="base">
                                        <p:cTn id="74" dur="420" fill="hold"/>
                                        <p:tgtEl>
                                          <p:spTgt spid="28"/>
                                        </p:tgtEl>
                                        <p:attrNameLst>
                                          <p:attrName>ppt_y</p:attrName>
                                        </p:attrNameLst>
                                      </p:cBhvr>
                                      <p:tavLst>
                                        <p:tav tm="0">
                                          <p:val>
                                            <p:strVal val="#ppt_y+0.035"/>
                                          </p:val>
                                        </p:tav>
                                        <p:tav tm="100000">
                                          <p:val>
                                            <p:strVal val="#ppt_y"/>
                                          </p:val>
                                        </p:tav>
                                      </p:tavLst>
                                    </p:anim>
                                    <p:set>
                                      <p:cBhvr>
                                        <p:cTn id="75" dur="1" fill="hold">
                                          <p:stCondLst>
                                            <p:cond delay="0"/>
                                          </p:stCondLst>
                                        </p:cTn>
                                        <p:tgtEl>
                                          <p:spTgt spid="29"/>
                                        </p:tgtEl>
                                        <p:attrNameLst>
                                          <p:attrName>style.visibility</p:attrName>
                                        </p:attrNameLst>
                                      </p:cBhvr>
                                      <p:to>
                                        <p:strVal val="visible"/>
                                      </p:to>
                                    </p:set>
                                    <p:animEffect transition="in" filter="fade">
                                      <p:cBhvr>
                                        <p:cTn id="76" dur="420"/>
                                        <p:tgtEl>
                                          <p:spTgt spid="29"/>
                                        </p:tgtEl>
                                      </p:cBhvr>
                                    </p:animEffect>
                                    <p:anim calcmode="lin" valueType="num">
                                      <p:cBhvr additive="base">
                                        <p:cTn id="77" dur="420" fill="hold"/>
                                        <p:tgtEl>
                                          <p:spTgt spid="29"/>
                                        </p:tgtEl>
                                        <p:attrNameLst>
                                          <p:attrName>ppt_y</p:attrName>
                                        </p:attrNameLst>
                                      </p:cBhvr>
                                      <p:tavLst>
                                        <p:tav tm="0">
                                          <p:val>
                                            <p:strVal val="#ppt_y+0.035"/>
                                          </p:val>
                                        </p:tav>
                                        <p:tav tm="100000">
                                          <p:val>
                                            <p:strVal val="#ppt_y"/>
                                          </p:val>
                                        </p:tav>
                                      </p:tavLst>
                                    </p:anim>
                                    <p:set>
                                      <p:cBhvr>
                                        <p:cTn id="78" dur="1" fill="hold">
                                          <p:stCondLst>
                                            <p:cond delay="0"/>
                                          </p:stCondLst>
                                        </p:cTn>
                                        <p:tgtEl>
                                          <p:spTgt spid="30"/>
                                        </p:tgtEl>
                                        <p:attrNameLst>
                                          <p:attrName>style.visibility</p:attrName>
                                        </p:attrNameLst>
                                      </p:cBhvr>
                                      <p:to>
                                        <p:strVal val="visible"/>
                                      </p:to>
                                    </p:set>
                                    <p:animEffect transition="in" filter="fade">
                                      <p:cBhvr>
                                        <p:cTn id="79" dur="420"/>
                                        <p:tgtEl>
                                          <p:spTgt spid="30"/>
                                        </p:tgtEl>
                                      </p:cBhvr>
                                    </p:animEffect>
                                    <p:anim calcmode="lin" valueType="num">
                                      <p:cBhvr additive="base">
                                        <p:cTn id="80" dur="420" fill="hold"/>
                                        <p:tgtEl>
                                          <p:spTgt spid="30"/>
                                        </p:tgtEl>
                                        <p:attrNameLst>
                                          <p:attrName>ppt_y</p:attrName>
                                        </p:attrNameLst>
                                      </p:cBhvr>
                                      <p:tavLst>
                                        <p:tav tm="0">
                                          <p:val>
                                            <p:strVal val="#ppt_y+0.035"/>
                                          </p:val>
                                        </p:tav>
                                        <p:tav tm="100000">
                                          <p:val>
                                            <p:strVal val="#ppt_y"/>
                                          </p:val>
                                        </p:tav>
                                      </p:tavLst>
                                    </p:anim>
                                    <p:set>
                                      <p:cBhvr>
                                        <p:cTn id="81" dur="1" fill="hold">
                                          <p:stCondLst>
                                            <p:cond delay="0"/>
                                          </p:stCondLst>
                                        </p:cTn>
                                        <p:tgtEl>
                                          <p:spTgt spid="31"/>
                                        </p:tgtEl>
                                        <p:attrNameLst>
                                          <p:attrName>style.visibility</p:attrName>
                                        </p:attrNameLst>
                                      </p:cBhvr>
                                      <p:to>
                                        <p:strVal val="visible"/>
                                      </p:to>
                                    </p:set>
                                    <p:animEffect transition="in" filter="fade">
                                      <p:cBhvr>
                                        <p:cTn id="82" dur="420"/>
                                        <p:tgtEl>
                                          <p:spTgt spid="31"/>
                                        </p:tgtEl>
                                      </p:cBhvr>
                                    </p:animEffect>
                                    <p:anim calcmode="lin" valueType="num">
                                      <p:cBhvr additive="base">
                                        <p:cTn id="83" dur="420" fill="hold"/>
                                        <p:tgtEl>
                                          <p:spTgt spid="31"/>
                                        </p:tgtEl>
                                        <p:attrNameLst>
                                          <p:attrName>ppt_y</p:attrName>
                                        </p:attrNameLst>
                                      </p:cBhvr>
                                      <p:tavLst>
                                        <p:tav tm="0">
                                          <p:val>
                                            <p:strVal val="#ppt_y+0.035"/>
                                          </p:val>
                                        </p:tav>
                                        <p:tav tm="100000">
                                          <p:val>
                                            <p:strVal val="#ppt_y"/>
                                          </p:val>
                                        </p:tav>
                                      </p:tavLst>
                                    </p:anim>
                                    <p:set>
                                      <p:cBhvr>
                                        <p:cTn id="84" dur="1" fill="hold">
                                          <p:stCondLst>
                                            <p:cond delay="0"/>
                                          </p:stCondLst>
                                        </p:cTn>
                                        <p:tgtEl>
                                          <p:spTgt spid="54"/>
                                        </p:tgtEl>
                                        <p:attrNameLst>
                                          <p:attrName>style.visibility</p:attrName>
                                        </p:attrNameLst>
                                      </p:cBhvr>
                                      <p:to>
                                        <p:strVal val="visible"/>
                                      </p:to>
                                    </p:set>
                                    <p:animEffect transition="in" filter="fade">
                                      <p:cBhvr>
                                        <p:cTn id="85" dur="420"/>
                                        <p:tgtEl>
                                          <p:spTgt spid="54"/>
                                        </p:tgtEl>
                                      </p:cBhvr>
                                    </p:animEffect>
                                    <p:anim calcmode="lin" valueType="num">
                                      <p:cBhvr additive="base">
                                        <p:cTn id="86" dur="420" fill="hold"/>
                                        <p:tgtEl>
                                          <p:spTgt spid="54"/>
                                        </p:tgtEl>
                                        <p:attrNameLst>
                                          <p:attrName>ppt_y</p:attrName>
                                        </p:attrNameLst>
                                      </p:cBhvr>
                                      <p:tavLst>
                                        <p:tav tm="0">
                                          <p:val>
                                            <p:strVal val="#ppt_y+0.035"/>
                                          </p:val>
                                        </p:tav>
                                        <p:tav tm="100000">
                                          <p:val>
                                            <p:strVal val="#ppt_y"/>
                                          </p:val>
                                        </p:tav>
                                      </p:tavLst>
                                    </p:anim>
                                    <p:set>
                                      <p:cBhvr>
                                        <p:cTn id="87" dur="1" fill="hold">
                                          <p:stCondLst>
                                            <p:cond delay="0"/>
                                          </p:stCondLst>
                                        </p:cTn>
                                        <p:tgtEl>
                                          <p:spTgt spid="22"/>
                                        </p:tgtEl>
                                        <p:attrNameLst>
                                          <p:attrName>style.visibility</p:attrName>
                                        </p:attrNameLst>
                                      </p:cBhvr>
                                      <p:to>
                                        <p:strVal val="visible"/>
                                      </p:to>
                                    </p:set>
                                    <p:animEffect transition="in" filter="fade">
                                      <p:cBhvr>
                                        <p:cTn id="88" dur="420"/>
                                        <p:tgtEl>
                                          <p:spTgt spid="22"/>
                                        </p:tgtEl>
                                      </p:cBhvr>
                                    </p:animEffect>
                                    <p:anim calcmode="lin" valueType="num">
                                      <p:cBhvr additive="base">
                                        <p:cTn id="89" dur="420" fill="hold"/>
                                        <p:tgtEl>
                                          <p:spTgt spid="22"/>
                                        </p:tgtEl>
                                        <p:attrNameLst>
                                          <p:attrName>ppt_y</p:attrName>
                                        </p:attrNameLst>
                                      </p:cBhvr>
                                      <p:tavLst>
                                        <p:tav tm="0">
                                          <p:val>
                                            <p:strVal val="#ppt_y+0.035"/>
                                          </p:val>
                                        </p:tav>
                                        <p:tav tm="100000">
                                          <p:val>
                                            <p:strVal val="#ppt_y"/>
                                          </p:val>
                                        </p:tav>
                                      </p:tavLst>
                                    </p:anim>
                                    <p:set>
                                      <p:cBhvr>
                                        <p:cTn id="90" dur="1" fill="hold">
                                          <p:stCondLst>
                                            <p:cond delay="0"/>
                                          </p:stCondLst>
                                        </p:cTn>
                                        <p:tgtEl>
                                          <p:spTgt spid="23"/>
                                        </p:tgtEl>
                                        <p:attrNameLst>
                                          <p:attrName>style.visibility</p:attrName>
                                        </p:attrNameLst>
                                      </p:cBhvr>
                                      <p:to>
                                        <p:strVal val="visible"/>
                                      </p:to>
                                    </p:set>
                                    <p:animEffect transition="in" filter="fade">
                                      <p:cBhvr>
                                        <p:cTn id="91" dur="420"/>
                                        <p:tgtEl>
                                          <p:spTgt spid="23"/>
                                        </p:tgtEl>
                                      </p:cBhvr>
                                    </p:animEffect>
                                    <p:anim calcmode="lin" valueType="num">
                                      <p:cBhvr additive="base">
                                        <p:cTn id="92" dur="420" fill="hold"/>
                                        <p:tgtEl>
                                          <p:spTgt spid="23"/>
                                        </p:tgtEl>
                                        <p:attrNameLst>
                                          <p:attrName>ppt_y</p:attrName>
                                        </p:attrNameLst>
                                      </p:cBhvr>
                                      <p:tavLst>
                                        <p:tav tm="0">
                                          <p:val>
                                            <p:strVal val="#ppt_y+0.035"/>
                                          </p:val>
                                        </p:tav>
                                        <p:tav tm="100000">
                                          <p:val>
                                            <p:strVal val="#ppt_y"/>
                                          </p:val>
                                        </p:tav>
                                      </p:tavLst>
                                    </p:anim>
                                    <p:set>
                                      <p:cBhvr>
                                        <p:cTn id="93" dur="1" fill="hold">
                                          <p:stCondLst>
                                            <p:cond delay="0"/>
                                          </p:stCondLst>
                                        </p:cTn>
                                        <p:tgtEl>
                                          <p:spTgt spid="34"/>
                                        </p:tgtEl>
                                        <p:attrNameLst>
                                          <p:attrName>style.visibility</p:attrName>
                                        </p:attrNameLst>
                                      </p:cBhvr>
                                      <p:to>
                                        <p:strVal val="visible"/>
                                      </p:to>
                                    </p:set>
                                    <p:animEffect transition="in" filter="fade">
                                      <p:cBhvr>
                                        <p:cTn id="94" dur="420"/>
                                        <p:tgtEl>
                                          <p:spTgt spid="34"/>
                                        </p:tgtEl>
                                      </p:cBhvr>
                                    </p:animEffect>
                                    <p:anim calcmode="lin" valueType="num">
                                      <p:cBhvr additive="base">
                                        <p:cTn id="95" dur="420" fill="hold"/>
                                        <p:tgtEl>
                                          <p:spTgt spid="34"/>
                                        </p:tgtEl>
                                        <p:attrNameLst>
                                          <p:attrName>ppt_y</p:attrName>
                                        </p:attrNameLst>
                                      </p:cBhvr>
                                      <p:tavLst>
                                        <p:tav tm="0">
                                          <p:val>
                                            <p:strVal val="#ppt_y+0.035"/>
                                          </p:val>
                                        </p:tav>
                                        <p:tav tm="100000">
                                          <p:val>
                                            <p:strVal val="#ppt_y"/>
                                          </p:val>
                                        </p:tav>
                                      </p:tavLst>
                                    </p:anim>
                                    <p:set>
                                      <p:cBhvr>
                                        <p:cTn id="96" dur="1" fill="hold">
                                          <p:stCondLst>
                                            <p:cond delay="0"/>
                                          </p:stCondLst>
                                        </p:cTn>
                                        <p:tgtEl>
                                          <p:spTgt spid="24"/>
                                        </p:tgtEl>
                                        <p:attrNameLst>
                                          <p:attrName>style.visibility</p:attrName>
                                        </p:attrNameLst>
                                      </p:cBhvr>
                                      <p:to>
                                        <p:strVal val="visible"/>
                                      </p:to>
                                    </p:set>
                                    <p:animEffect transition="in" filter="fade">
                                      <p:cBhvr>
                                        <p:cTn id="97" dur="420"/>
                                        <p:tgtEl>
                                          <p:spTgt spid="24"/>
                                        </p:tgtEl>
                                      </p:cBhvr>
                                    </p:animEffect>
                                    <p:anim calcmode="lin" valueType="num">
                                      <p:cBhvr additive="base">
                                        <p:cTn id="98" dur="420" fill="hold"/>
                                        <p:tgtEl>
                                          <p:spTgt spid="24"/>
                                        </p:tgtEl>
                                        <p:attrNameLst>
                                          <p:attrName>ppt_y</p:attrName>
                                        </p:attrNameLst>
                                      </p:cBhvr>
                                      <p:tavLst>
                                        <p:tav tm="0">
                                          <p:val>
                                            <p:strVal val="#ppt_y+0.035"/>
                                          </p:val>
                                        </p:tav>
                                        <p:tav tm="100000">
                                          <p:val>
                                            <p:strVal val="#ppt_y"/>
                                          </p:val>
                                        </p:tav>
                                      </p:tavLst>
                                    </p:anim>
                                    <p:set>
                                      <p:cBhvr>
                                        <p:cTn id="99" dur="1" fill="hold">
                                          <p:stCondLst>
                                            <p:cond delay="0"/>
                                          </p:stCondLst>
                                        </p:cTn>
                                        <p:tgtEl>
                                          <p:spTgt spid="35"/>
                                        </p:tgtEl>
                                        <p:attrNameLst>
                                          <p:attrName>style.visibility</p:attrName>
                                        </p:attrNameLst>
                                      </p:cBhvr>
                                      <p:to>
                                        <p:strVal val="visible"/>
                                      </p:to>
                                    </p:set>
                                    <p:animEffect transition="in" filter="fade">
                                      <p:cBhvr>
                                        <p:cTn id="100" dur="420"/>
                                        <p:tgtEl>
                                          <p:spTgt spid="35"/>
                                        </p:tgtEl>
                                      </p:cBhvr>
                                    </p:animEffect>
                                    <p:anim calcmode="lin" valueType="num">
                                      <p:cBhvr additive="base">
                                        <p:cTn id="101" dur="420" fill="hold"/>
                                        <p:tgtEl>
                                          <p:spTgt spid="35"/>
                                        </p:tgtEl>
                                        <p:attrNameLst>
                                          <p:attrName>ppt_y</p:attrName>
                                        </p:attrNameLst>
                                      </p:cBhvr>
                                      <p:tavLst>
                                        <p:tav tm="0">
                                          <p:val>
                                            <p:strVal val="#ppt_y+0.035"/>
                                          </p:val>
                                        </p:tav>
                                        <p:tav tm="100000">
                                          <p:val>
                                            <p:strVal val="#ppt_y"/>
                                          </p:val>
                                        </p:tav>
                                      </p:tavLst>
                                    </p:anim>
                                    <p:set>
                                      <p:cBhvr>
                                        <p:cTn id="102" dur="1" fill="hold">
                                          <p:stCondLst>
                                            <p:cond delay="0"/>
                                          </p:stCondLst>
                                        </p:cTn>
                                        <p:tgtEl>
                                          <p:spTgt spid="36"/>
                                        </p:tgtEl>
                                        <p:attrNameLst>
                                          <p:attrName>style.visibility</p:attrName>
                                        </p:attrNameLst>
                                      </p:cBhvr>
                                      <p:to>
                                        <p:strVal val="visible"/>
                                      </p:to>
                                    </p:set>
                                    <p:animEffect transition="in" filter="fade">
                                      <p:cBhvr>
                                        <p:cTn id="103" dur="420"/>
                                        <p:tgtEl>
                                          <p:spTgt spid="36"/>
                                        </p:tgtEl>
                                      </p:cBhvr>
                                    </p:animEffect>
                                    <p:anim calcmode="lin" valueType="num">
                                      <p:cBhvr additive="base">
                                        <p:cTn id="104" dur="420" fill="hold"/>
                                        <p:tgtEl>
                                          <p:spTgt spid="36"/>
                                        </p:tgtEl>
                                        <p:attrNameLst>
                                          <p:attrName>ppt_y</p:attrName>
                                        </p:attrNameLst>
                                      </p:cBhvr>
                                      <p:tavLst>
                                        <p:tav tm="0">
                                          <p:val>
                                            <p:strVal val="#ppt_y+0.035"/>
                                          </p:val>
                                        </p:tav>
                                        <p:tav tm="100000">
                                          <p:val>
                                            <p:strVal val="#ppt_y"/>
                                          </p:val>
                                        </p:tav>
                                      </p:tavLst>
                                    </p:anim>
                                    <p:set>
                                      <p:cBhvr>
                                        <p:cTn id="105" dur="1" fill="hold">
                                          <p:stCondLst>
                                            <p:cond delay="0"/>
                                          </p:stCondLst>
                                        </p:cTn>
                                        <p:tgtEl>
                                          <p:spTgt spid="25"/>
                                        </p:tgtEl>
                                        <p:attrNameLst>
                                          <p:attrName>style.visibility</p:attrName>
                                        </p:attrNameLst>
                                      </p:cBhvr>
                                      <p:to>
                                        <p:strVal val="visible"/>
                                      </p:to>
                                    </p:set>
                                    <p:animEffect transition="in" filter="fade">
                                      <p:cBhvr>
                                        <p:cTn id="106" dur="420"/>
                                        <p:tgtEl>
                                          <p:spTgt spid="25"/>
                                        </p:tgtEl>
                                      </p:cBhvr>
                                    </p:animEffect>
                                    <p:anim calcmode="lin" valueType="num">
                                      <p:cBhvr additive="base">
                                        <p:cTn id="107" dur="420" fill="hold"/>
                                        <p:tgtEl>
                                          <p:spTgt spid="25"/>
                                        </p:tgtEl>
                                        <p:attrNameLst>
                                          <p:attrName>ppt_y</p:attrName>
                                        </p:attrNameLst>
                                      </p:cBhvr>
                                      <p:tavLst>
                                        <p:tav tm="0">
                                          <p:val>
                                            <p:strVal val="#ppt_y+0.035"/>
                                          </p:val>
                                        </p:tav>
                                        <p:tav tm="100000">
                                          <p:val>
                                            <p:strVal val="#ppt_y"/>
                                          </p:val>
                                        </p:tav>
                                      </p:tavLst>
                                    </p:anim>
                                    <p:set>
                                      <p:cBhvr>
                                        <p:cTn id="108" dur="1" fill="hold">
                                          <p:stCondLst>
                                            <p:cond delay="0"/>
                                          </p:stCondLst>
                                        </p:cTn>
                                        <p:tgtEl>
                                          <p:spTgt spid="37"/>
                                        </p:tgtEl>
                                        <p:attrNameLst>
                                          <p:attrName>style.visibility</p:attrName>
                                        </p:attrNameLst>
                                      </p:cBhvr>
                                      <p:to>
                                        <p:strVal val="visible"/>
                                      </p:to>
                                    </p:set>
                                    <p:animEffect transition="in" filter="fade">
                                      <p:cBhvr>
                                        <p:cTn id="109" dur="420"/>
                                        <p:tgtEl>
                                          <p:spTgt spid="37"/>
                                        </p:tgtEl>
                                      </p:cBhvr>
                                    </p:animEffect>
                                    <p:anim calcmode="lin" valueType="num">
                                      <p:cBhvr additive="base">
                                        <p:cTn id="110" dur="420" fill="hold"/>
                                        <p:tgtEl>
                                          <p:spTgt spid="37"/>
                                        </p:tgtEl>
                                        <p:attrNameLst>
                                          <p:attrName>ppt_y</p:attrName>
                                        </p:attrNameLst>
                                      </p:cBhvr>
                                      <p:tavLst>
                                        <p:tav tm="0">
                                          <p:val>
                                            <p:strVal val="#ppt_y+0.035"/>
                                          </p:val>
                                        </p:tav>
                                        <p:tav tm="100000">
                                          <p:val>
                                            <p:strVal val="#ppt_y"/>
                                          </p:val>
                                        </p:tav>
                                      </p:tavLst>
                                    </p:anim>
                                    <p:set>
                                      <p:cBhvr>
                                        <p:cTn id="111" dur="1" fill="hold">
                                          <p:stCondLst>
                                            <p:cond delay="0"/>
                                          </p:stCondLst>
                                        </p:cTn>
                                        <p:tgtEl>
                                          <p:spTgt spid="40"/>
                                        </p:tgtEl>
                                        <p:attrNameLst>
                                          <p:attrName>style.visibility</p:attrName>
                                        </p:attrNameLst>
                                      </p:cBhvr>
                                      <p:to>
                                        <p:strVal val="visible"/>
                                      </p:to>
                                    </p:set>
                                    <p:animEffect transition="in" filter="fade">
                                      <p:cBhvr>
                                        <p:cTn id="112" dur="420"/>
                                        <p:tgtEl>
                                          <p:spTgt spid="40"/>
                                        </p:tgtEl>
                                      </p:cBhvr>
                                    </p:animEffect>
                                    <p:anim calcmode="lin" valueType="num">
                                      <p:cBhvr additive="base">
                                        <p:cTn id="113" dur="420" fill="hold"/>
                                        <p:tgtEl>
                                          <p:spTgt spid="40"/>
                                        </p:tgtEl>
                                        <p:attrNameLst>
                                          <p:attrName>ppt_y</p:attrName>
                                        </p:attrNameLst>
                                      </p:cBhvr>
                                      <p:tavLst>
                                        <p:tav tm="0">
                                          <p:val>
                                            <p:strVal val="#ppt_y+0.035"/>
                                          </p:val>
                                        </p:tav>
                                        <p:tav tm="100000">
                                          <p:val>
                                            <p:strVal val="#ppt_y"/>
                                          </p:val>
                                        </p:tav>
                                      </p:tavLst>
                                    </p:anim>
                                    <p:set>
                                      <p:cBhvr>
                                        <p:cTn id="114" dur="1" fill="hold">
                                          <p:stCondLst>
                                            <p:cond delay="0"/>
                                          </p:stCondLst>
                                        </p:cTn>
                                        <p:tgtEl>
                                          <p:spTgt spid="41"/>
                                        </p:tgtEl>
                                        <p:attrNameLst>
                                          <p:attrName>style.visibility</p:attrName>
                                        </p:attrNameLst>
                                      </p:cBhvr>
                                      <p:to>
                                        <p:strVal val="visible"/>
                                      </p:to>
                                    </p:set>
                                    <p:animEffect transition="in" filter="fade">
                                      <p:cBhvr>
                                        <p:cTn id="115" dur="420"/>
                                        <p:tgtEl>
                                          <p:spTgt spid="41"/>
                                        </p:tgtEl>
                                      </p:cBhvr>
                                    </p:animEffect>
                                    <p:anim calcmode="lin" valueType="num">
                                      <p:cBhvr additive="base">
                                        <p:cTn id="116" dur="420" fill="hold"/>
                                        <p:tgtEl>
                                          <p:spTgt spid="41"/>
                                        </p:tgtEl>
                                        <p:attrNameLst>
                                          <p:attrName>ppt_y</p:attrName>
                                        </p:attrNameLst>
                                      </p:cBhvr>
                                      <p:tavLst>
                                        <p:tav tm="0">
                                          <p:val>
                                            <p:strVal val="#ppt_y+0.035"/>
                                          </p:val>
                                        </p:tav>
                                        <p:tav tm="100000">
                                          <p:val>
                                            <p:strVal val="#ppt_y"/>
                                          </p:val>
                                        </p:tav>
                                      </p:tavLst>
                                    </p:anim>
                                    <p:set>
                                      <p:cBhvr>
                                        <p:cTn id="117" dur="1" fill="hold">
                                          <p:stCondLst>
                                            <p:cond delay="0"/>
                                          </p:stCondLst>
                                        </p:cTn>
                                        <p:tgtEl>
                                          <p:spTgt spid="38"/>
                                        </p:tgtEl>
                                        <p:attrNameLst>
                                          <p:attrName>style.visibility</p:attrName>
                                        </p:attrNameLst>
                                      </p:cBhvr>
                                      <p:to>
                                        <p:strVal val="visible"/>
                                      </p:to>
                                    </p:set>
                                    <p:animEffect transition="in" filter="fade">
                                      <p:cBhvr>
                                        <p:cTn id="118" dur="420"/>
                                        <p:tgtEl>
                                          <p:spTgt spid="38"/>
                                        </p:tgtEl>
                                      </p:cBhvr>
                                    </p:animEffect>
                                    <p:anim calcmode="lin" valueType="num">
                                      <p:cBhvr additive="base">
                                        <p:cTn id="119" dur="420" fill="hold"/>
                                        <p:tgtEl>
                                          <p:spTgt spid="38"/>
                                        </p:tgtEl>
                                        <p:attrNameLst>
                                          <p:attrName>ppt_y</p:attrName>
                                        </p:attrNameLst>
                                      </p:cBhvr>
                                      <p:tavLst>
                                        <p:tav tm="0">
                                          <p:val>
                                            <p:strVal val="#ppt_y+0.035"/>
                                          </p:val>
                                        </p:tav>
                                        <p:tav tm="100000">
                                          <p:val>
                                            <p:strVal val="#ppt_y"/>
                                          </p:val>
                                        </p:tav>
                                      </p:tavLst>
                                    </p:anim>
                                    <p:set>
                                      <p:cBhvr>
                                        <p:cTn id="120" dur="1" fill="hold">
                                          <p:stCondLst>
                                            <p:cond delay="0"/>
                                          </p:stCondLst>
                                        </p:cTn>
                                        <p:tgtEl>
                                          <p:spTgt spid="39"/>
                                        </p:tgtEl>
                                        <p:attrNameLst>
                                          <p:attrName>style.visibility</p:attrName>
                                        </p:attrNameLst>
                                      </p:cBhvr>
                                      <p:to>
                                        <p:strVal val="visible"/>
                                      </p:to>
                                    </p:set>
                                    <p:animEffect transition="in" filter="fade">
                                      <p:cBhvr>
                                        <p:cTn id="121" dur="420"/>
                                        <p:tgtEl>
                                          <p:spTgt spid="39"/>
                                        </p:tgtEl>
                                      </p:cBhvr>
                                    </p:animEffect>
                                    <p:anim calcmode="lin" valueType="num">
                                      <p:cBhvr additive="base">
                                        <p:cTn id="122" dur="420" fill="hold"/>
                                        <p:tgtEl>
                                          <p:spTgt spid="39"/>
                                        </p:tgtEl>
                                        <p:attrNameLst>
                                          <p:attrName>ppt_y</p:attrName>
                                        </p:attrNameLst>
                                      </p:cBhvr>
                                      <p:tavLst>
                                        <p:tav tm="0">
                                          <p:val>
                                            <p:strVal val="#ppt_y+0.035"/>
                                          </p:val>
                                        </p:tav>
                                        <p:tav tm="100000">
                                          <p:val>
                                            <p:strVal val="#ppt_y"/>
                                          </p:val>
                                        </p:tav>
                                      </p:tavLst>
                                    </p:anim>
                                    <p:set>
                                      <p:cBhvr>
                                        <p:cTn id="123" dur="1" fill="hold">
                                          <p:stCondLst>
                                            <p:cond delay="0"/>
                                          </p:stCondLst>
                                        </p:cTn>
                                        <p:tgtEl>
                                          <p:spTgt spid="55"/>
                                        </p:tgtEl>
                                        <p:attrNameLst>
                                          <p:attrName>style.visibility</p:attrName>
                                        </p:attrNameLst>
                                      </p:cBhvr>
                                      <p:to>
                                        <p:strVal val="visible"/>
                                      </p:to>
                                    </p:set>
                                    <p:animEffect transition="in" filter="fade">
                                      <p:cBhvr>
                                        <p:cTn id="124" dur="420"/>
                                        <p:tgtEl>
                                          <p:spTgt spid="55"/>
                                        </p:tgtEl>
                                      </p:cBhvr>
                                    </p:animEffect>
                                    <p:anim calcmode="lin" valueType="num">
                                      <p:cBhvr additive="base">
                                        <p:cTn id="125" dur="420" fill="hold"/>
                                        <p:tgtEl>
                                          <p:spTgt spid="55"/>
                                        </p:tgtEl>
                                        <p:attrNameLst>
                                          <p:attrName>ppt_y</p:attrName>
                                        </p:attrNameLst>
                                      </p:cBhvr>
                                      <p:tavLst>
                                        <p:tav tm="0">
                                          <p:val>
                                            <p:strVal val="#ppt_y+0.035"/>
                                          </p:val>
                                        </p:tav>
                                        <p:tav tm="100000">
                                          <p:val>
                                            <p:strVal val="#ppt_y"/>
                                          </p:val>
                                        </p:tav>
                                      </p:tavLst>
                                    </p:anim>
                                    <p:set>
                                      <p:cBhvr>
                                        <p:cTn id="126" dur="1" fill="hold">
                                          <p:stCondLst>
                                            <p:cond delay="0"/>
                                          </p:stCondLst>
                                        </p:cTn>
                                        <p:tgtEl>
                                          <p:spTgt spid="56"/>
                                        </p:tgtEl>
                                        <p:attrNameLst>
                                          <p:attrName>style.visibility</p:attrName>
                                        </p:attrNameLst>
                                      </p:cBhvr>
                                      <p:to>
                                        <p:strVal val="visible"/>
                                      </p:to>
                                    </p:set>
                                    <p:animEffect transition="in" filter="fade">
                                      <p:cBhvr>
                                        <p:cTn id="127" dur="420"/>
                                        <p:tgtEl>
                                          <p:spTgt spid="56"/>
                                        </p:tgtEl>
                                      </p:cBhvr>
                                    </p:animEffect>
                                    <p:anim calcmode="lin" valueType="num">
                                      <p:cBhvr additive="base">
                                        <p:cTn id="128" dur="420" fill="hold"/>
                                        <p:tgtEl>
                                          <p:spTgt spid="56"/>
                                        </p:tgtEl>
                                        <p:attrNameLst>
                                          <p:attrName>ppt_y</p:attrName>
                                        </p:attrNameLst>
                                      </p:cBhvr>
                                      <p:tavLst>
                                        <p:tav tm="0">
                                          <p:val>
                                            <p:strVal val="#ppt_y+0.035"/>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57"/>
                                        </p:tgtEl>
                                        <p:attrNameLst>
                                          <p:attrName>style.visibility</p:attrName>
                                        </p:attrNameLst>
                                      </p:cBhvr>
                                      <p:to>
                                        <p:strVal val="visible"/>
                                      </p:to>
                                    </p:set>
                                    <p:animEffect transition="in" filter="fade">
                                      <p:cBhvr>
                                        <p:cTn id="133" dur="420"/>
                                        <p:tgtEl>
                                          <p:spTgt spid="57"/>
                                        </p:tgtEl>
                                      </p:cBhvr>
                                    </p:animEffect>
                                    <p:anim calcmode="lin" valueType="num">
                                      <p:cBhvr additive="base">
                                        <p:cTn id="134" dur="420" fill="hold"/>
                                        <p:tgtEl>
                                          <p:spTgt spid="57"/>
                                        </p:tgtEl>
                                        <p:attrNameLst>
                                          <p:attrName>ppt_y</p:attrName>
                                        </p:attrNameLst>
                                      </p:cBhvr>
                                      <p:tavLst>
                                        <p:tav tm="0">
                                          <p:val>
                                            <p:strVal val="#ppt_y+0.035"/>
                                          </p:val>
                                        </p:tav>
                                        <p:tav tm="100000">
                                          <p:val>
                                            <p:strVal val="#ppt_y"/>
                                          </p:val>
                                        </p:tav>
                                      </p:tavLst>
                                    </p:anim>
                                    <p:set>
                                      <p:cBhvr>
                                        <p:cTn id="135" dur="1" fill="hold">
                                          <p:stCondLst>
                                            <p:cond delay="0"/>
                                          </p:stCondLst>
                                        </p:cTn>
                                        <p:tgtEl>
                                          <p:spTgt spid="48"/>
                                        </p:tgtEl>
                                        <p:attrNameLst>
                                          <p:attrName>style.visibility</p:attrName>
                                        </p:attrNameLst>
                                      </p:cBhvr>
                                      <p:to>
                                        <p:strVal val="visible"/>
                                      </p:to>
                                    </p:set>
                                    <p:animEffect transition="in" filter="fade">
                                      <p:cBhvr>
                                        <p:cTn id="136" dur="420"/>
                                        <p:tgtEl>
                                          <p:spTgt spid="48"/>
                                        </p:tgtEl>
                                      </p:cBhvr>
                                    </p:animEffect>
                                    <p:anim calcmode="lin" valueType="num">
                                      <p:cBhvr additive="base">
                                        <p:cTn id="137" dur="420" fill="hold"/>
                                        <p:tgtEl>
                                          <p:spTgt spid="48"/>
                                        </p:tgtEl>
                                        <p:attrNameLst>
                                          <p:attrName>ppt_y</p:attrName>
                                        </p:attrNameLst>
                                      </p:cBhvr>
                                      <p:tavLst>
                                        <p:tav tm="0">
                                          <p:val>
                                            <p:strVal val="#ppt_y+0.035"/>
                                          </p:val>
                                        </p:tav>
                                        <p:tav tm="100000">
                                          <p:val>
                                            <p:strVal val="#ppt_y"/>
                                          </p:val>
                                        </p:tav>
                                      </p:tavLst>
                                    </p:anim>
                                    <p:set>
                                      <p:cBhvr>
                                        <p:cTn id="138" dur="1" fill="hold">
                                          <p:stCondLst>
                                            <p:cond delay="0"/>
                                          </p:stCondLst>
                                        </p:cTn>
                                        <p:tgtEl>
                                          <p:spTgt spid="49"/>
                                        </p:tgtEl>
                                        <p:attrNameLst>
                                          <p:attrName>style.visibility</p:attrName>
                                        </p:attrNameLst>
                                      </p:cBhvr>
                                      <p:to>
                                        <p:strVal val="visible"/>
                                      </p:to>
                                    </p:set>
                                    <p:animEffect transition="in" filter="fade">
                                      <p:cBhvr>
                                        <p:cTn id="139" dur="420"/>
                                        <p:tgtEl>
                                          <p:spTgt spid="49"/>
                                        </p:tgtEl>
                                      </p:cBhvr>
                                    </p:animEffect>
                                    <p:anim calcmode="lin" valueType="num">
                                      <p:cBhvr additive="base">
                                        <p:cTn id="140" dur="420" fill="hold"/>
                                        <p:tgtEl>
                                          <p:spTgt spid="49"/>
                                        </p:tgtEl>
                                        <p:attrNameLst>
                                          <p:attrName>ppt_y</p:attrName>
                                        </p:attrNameLst>
                                      </p:cBhvr>
                                      <p:tavLst>
                                        <p:tav tm="0">
                                          <p:val>
                                            <p:strVal val="#ppt_y+0.035"/>
                                          </p:val>
                                        </p:tav>
                                        <p:tav tm="100000">
                                          <p:val>
                                            <p:strVal val="#ppt_y"/>
                                          </p:val>
                                        </p:tav>
                                      </p:tavLst>
                                    </p:anim>
                                    <p:set>
                                      <p:cBhvr>
                                        <p:cTn id="141" dur="1" fill="hold">
                                          <p:stCondLst>
                                            <p:cond delay="0"/>
                                          </p:stCondLst>
                                        </p:cTn>
                                        <p:tgtEl>
                                          <p:spTgt spid="42"/>
                                        </p:tgtEl>
                                        <p:attrNameLst>
                                          <p:attrName>style.visibility</p:attrName>
                                        </p:attrNameLst>
                                      </p:cBhvr>
                                      <p:to>
                                        <p:strVal val="visible"/>
                                      </p:to>
                                    </p:set>
                                    <p:animEffect transition="in" filter="fade">
                                      <p:cBhvr>
                                        <p:cTn id="142" dur="420"/>
                                        <p:tgtEl>
                                          <p:spTgt spid="42"/>
                                        </p:tgtEl>
                                      </p:cBhvr>
                                    </p:animEffect>
                                    <p:anim calcmode="lin" valueType="num">
                                      <p:cBhvr additive="base">
                                        <p:cTn id="143" dur="420" fill="hold"/>
                                        <p:tgtEl>
                                          <p:spTgt spid="42"/>
                                        </p:tgtEl>
                                        <p:attrNameLst>
                                          <p:attrName>ppt_y</p:attrName>
                                        </p:attrNameLst>
                                      </p:cBhvr>
                                      <p:tavLst>
                                        <p:tav tm="0">
                                          <p:val>
                                            <p:strVal val="#ppt_y+0.035"/>
                                          </p:val>
                                        </p:tav>
                                        <p:tav tm="100000">
                                          <p:val>
                                            <p:strVal val="#ppt_y"/>
                                          </p:val>
                                        </p:tav>
                                      </p:tavLst>
                                    </p:anim>
                                    <p:set>
                                      <p:cBhvr>
                                        <p:cTn id="144" dur="1" fill="hold">
                                          <p:stCondLst>
                                            <p:cond delay="0"/>
                                          </p:stCondLst>
                                        </p:cTn>
                                        <p:tgtEl>
                                          <p:spTgt spid="43"/>
                                        </p:tgtEl>
                                        <p:attrNameLst>
                                          <p:attrName>style.visibility</p:attrName>
                                        </p:attrNameLst>
                                      </p:cBhvr>
                                      <p:to>
                                        <p:strVal val="visible"/>
                                      </p:to>
                                    </p:set>
                                    <p:animEffect transition="in" filter="fade">
                                      <p:cBhvr>
                                        <p:cTn id="145" dur="420"/>
                                        <p:tgtEl>
                                          <p:spTgt spid="43"/>
                                        </p:tgtEl>
                                      </p:cBhvr>
                                    </p:animEffect>
                                    <p:anim calcmode="lin" valueType="num">
                                      <p:cBhvr additive="base">
                                        <p:cTn id="146" dur="420" fill="hold"/>
                                        <p:tgtEl>
                                          <p:spTgt spid="43"/>
                                        </p:tgtEl>
                                        <p:attrNameLst>
                                          <p:attrName>ppt_y</p:attrName>
                                        </p:attrNameLst>
                                      </p:cBhvr>
                                      <p:tavLst>
                                        <p:tav tm="0">
                                          <p:val>
                                            <p:strVal val="#ppt_y+0.035"/>
                                          </p:val>
                                        </p:tav>
                                        <p:tav tm="100000">
                                          <p:val>
                                            <p:strVal val="#ppt_y"/>
                                          </p:val>
                                        </p:tav>
                                      </p:tavLst>
                                    </p:anim>
                                    <p:set>
                                      <p:cBhvr>
                                        <p:cTn id="147" dur="1" fill="hold">
                                          <p:stCondLst>
                                            <p:cond delay="0"/>
                                          </p:stCondLst>
                                        </p:cTn>
                                        <p:tgtEl>
                                          <p:spTgt spid="58"/>
                                        </p:tgtEl>
                                        <p:attrNameLst>
                                          <p:attrName>style.visibility</p:attrName>
                                        </p:attrNameLst>
                                      </p:cBhvr>
                                      <p:to>
                                        <p:strVal val="visible"/>
                                      </p:to>
                                    </p:set>
                                    <p:animEffect transition="in" filter="fade">
                                      <p:cBhvr>
                                        <p:cTn id="148" dur="420"/>
                                        <p:tgtEl>
                                          <p:spTgt spid="58"/>
                                        </p:tgtEl>
                                      </p:cBhvr>
                                    </p:animEffect>
                                    <p:anim calcmode="lin" valueType="num">
                                      <p:cBhvr additive="base">
                                        <p:cTn id="149" dur="420" fill="hold"/>
                                        <p:tgtEl>
                                          <p:spTgt spid="58"/>
                                        </p:tgtEl>
                                        <p:attrNameLst>
                                          <p:attrName>ppt_y</p:attrName>
                                        </p:attrNameLst>
                                      </p:cBhvr>
                                      <p:tavLst>
                                        <p:tav tm="0">
                                          <p:val>
                                            <p:strVal val="#ppt_y+0.035"/>
                                          </p:val>
                                        </p:tav>
                                        <p:tav tm="100000">
                                          <p:val>
                                            <p:strVal val="#ppt_y"/>
                                          </p:val>
                                        </p:tav>
                                      </p:tavLst>
                                    </p:anim>
                                    <p:set>
                                      <p:cBhvr>
                                        <p:cTn id="150" dur="1" fill="hold">
                                          <p:stCondLst>
                                            <p:cond delay="0"/>
                                          </p:stCondLst>
                                        </p:cTn>
                                        <p:tgtEl>
                                          <p:spTgt spid="44"/>
                                        </p:tgtEl>
                                        <p:attrNameLst>
                                          <p:attrName>style.visibility</p:attrName>
                                        </p:attrNameLst>
                                      </p:cBhvr>
                                      <p:to>
                                        <p:strVal val="visible"/>
                                      </p:to>
                                    </p:set>
                                    <p:animEffect transition="in" filter="fade">
                                      <p:cBhvr>
                                        <p:cTn id="151" dur="420"/>
                                        <p:tgtEl>
                                          <p:spTgt spid="44"/>
                                        </p:tgtEl>
                                      </p:cBhvr>
                                    </p:animEffect>
                                    <p:anim calcmode="lin" valueType="num">
                                      <p:cBhvr additive="base">
                                        <p:cTn id="152" dur="420" fill="hold"/>
                                        <p:tgtEl>
                                          <p:spTgt spid="44"/>
                                        </p:tgtEl>
                                        <p:attrNameLst>
                                          <p:attrName>ppt_y</p:attrName>
                                        </p:attrNameLst>
                                      </p:cBhvr>
                                      <p:tavLst>
                                        <p:tav tm="0">
                                          <p:val>
                                            <p:strVal val="#ppt_y+0.035"/>
                                          </p:val>
                                        </p:tav>
                                        <p:tav tm="100000">
                                          <p:val>
                                            <p:strVal val="#ppt_y"/>
                                          </p:val>
                                        </p:tav>
                                      </p:tavLst>
                                    </p:anim>
                                    <p:set>
                                      <p:cBhvr>
                                        <p:cTn id="153" dur="1" fill="hold">
                                          <p:stCondLst>
                                            <p:cond delay="0"/>
                                          </p:stCondLst>
                                        </p:cTn>
                                        <p:tgtEl>
                                          <p:spTgt spid="45"/>
                                        </p:tgtEl>
                                        <p:attrNameLst>
                                          <p:attrName>style.visibility</p:attrName>
                                        </p:attrNameLst>
                                      </p:cBhvr>
                                      <p:to>
                                        <p:strVal val="visible"/>
                                      </p:to>
                                    </p:set>
                                    <p:animEffect transition="in" filter="fade">
                                      <p:cBhvr>
                                        <p:cTn id="154" dur="420"/>
                                        <p:tgtEl>
                                          <p:spTgt spid="45"/>
                                        </p:tgtEl>
                                      </p:cBhvr>
                                    </p:animEffect>
                                    <p:anim calcmode="lin" valueType="num">
                                      <p:cBhvr additive="base">
                                        <p:cTn id="155" dur="420" fill="hold"/>
                                        <p:tgtEl>
                                          <p:spTgt spid="45"/>
                                        </p:tgtEl>
                                        <p:attrNameLst>
                                          <p:attrName>ppt_y</p:attrName>
                                        </p:attrNameLst>
                                      </p:cBhvr>
                                      <p:tavLst>
                                        <p:tav tm="0">
                                          <p:val>
                                            <p:strVal val="#ppt_y+0.035"/>
                                          </p:val>
                                        </p:tav>
                                        <p:tav tm="100000">
                                          <p:val>
                                            <p:strVal val="#ppt_y"/>
                                          </p:val>
                                        </p:tav>
                                      </p:tavLst>
                                    </p:anim>
                                    <p:set>
                                      <p:cBhvr>
                                        <p:cTn id="156" dur="1" fill="hold">
                                          <p:stCondLst>
                                            <p:cond delay="0"/>
                                          </p:stCondLst>
                                        </p:cTn>
                                        <p:tgtEl>
                                          <p:spTgt spid="46"/>
                                        </p:tgtEl>
                                        <p:attrNameLst>
                                          <p:attrName>style.visibility</p:attrName>
                                        </p:attrNameLst>
                                      </p:cBhvr>
                                      <p:to>
                                        <p:strVal val="visible"/>
                                      </p:to>
                                    </p:set>
                                    <p:animEffect transition="in" filter="fade">
                                      <p:cBhvr>
                                        <p:cTn id="157" dur="420"/>
                                        <p:tgtEl>
                                          <p:spTgt spid="46"/>
                                        </p:tgtEl>
                                      </p:cBhvr>
                                    </p:animEffect>
                                    <p:anim calcmode="lin" valueType="num">
                                      <p:cBhvr additive="base">
                                        <p:cTn id="158" dur="420" fill="hold"/>
                                        <p:tgtEl>
                                          <p:spTgt spid="46"/>
                                        </p:tgtEl>
                                        <p:attrNameLst>
                                          <p:attrName>ppt_y</p:attrName>
                                        </p:attrNameLst>
                                      </p:cBhvr>
                                      <p:tavLst>
                                        <p:tav tm="0">
                                          <p:val>
                                            <p:strVal val="#ppt_y+0.035"/>
                                          </p:val>
                                        </p:tav>
                                        <p:tav tm="100000">
                                          <p:val>
                                            <p:strVal val="#ppt_y"/>
                                          </p:val>
                                        </p:tav>
                                      </p:tavLst>
                                    </p:anim>
                                    <p:set>
                                      <p:cBhvr>
                                        <p:cTn id="159" dur="1" fill="hold">
                                          <p:stCondLst>
                                            <p:cond delay="0"/>
                                          </p:stCondLst>
                                        </p:cTn>
                                        <p:tgtEl>
                                          <p:spTgt spid="47"/>
                                        </p:tgtEl>
                                        <p:attrNameLst>
                                          <p:attrName>style.visibility</p:attrName>
                                        </p:attrNameLst>
                                      </p:cBhvr>
                                      <p:to>
                                        <p:strVal val="visible"/>
                                      </p:to>
                                    </p:set>
                                    <p:animEffect transition="in" filter="fade">
                                      <p:cBhvr>
                                        <p:cTn id="160" dur="420"/>
                                        <p:tgtEl>
                                          <p:spTgt spid="47"/>
                                        </p:tgtEl>
                                      </p:cBhvr>
                                    </p:animEffect>
                                    <p:anim calcmode="lin" valueType="num">
                                      <p:cBhvr additive="base">
                                        <p:cTn id="161" dur="420" fill="hold"/>
                                        <p:tgtEl>
                                          <p:spTgt spid="47"/>
                                        </p:tgtEl>
                                        <p:attrNameLst>
                                          <p:attrName>ppt_y</p:attrName>
                                        </p:attrNameLst>
                                      </p:cBhvr>
                                      <p:tavLst>
                                        <p:tav tm="0">
                                          <p:val>
                                            <p:strVal val="#ppt_y+0.035"/>
                                          </p:val>
                                        </p:tav>
                                        <p:tav tm="100000">
                                          <p:val>
                                            <p:strVal val="#ppt_y"/>
                                          </p:val>
                                        </p:tav>
                                      </p:tavLst>
                                    </p:anim>
                                  </p:childTnLst>
                                </p:cTn>
                              </p:par>
                            </p:childTnLst>
                          </p:cTn>
                        </p:par>
                      </p:childTnLst>
                    </p:cTn>
                  </p:par>
                  <p:par>
                    <p:cTn id="162" fill="hold">
                      <p:stCondLst>
                        <p:cond delay="indefinite"/>
                      </p:stCondLst>
                      <p:childTnLst>
                        <p:par>
                          <p:cTn id="163" fill="hold">
                            <p:stCondLst>
                              <p:cond delay="0"/>
                            </p:stCondLst>
                            <p:childTnLst>
                              <p:par>
                                <p:cTn id="164" presetID="10" presetClass="entr" presetSubtype="0" fill="hold" grpId="0" nodeType="clickEffect">
                                  <p:stCondLst>
                                    <p:cond delay="0"/>
                                  </p:stCondLst>
                                  <p:childTnLst>
                                    <p:set>
                                      <p:cBhvr>
                                        <p:cTn id="165" dur="1" fill="hold">
                                          <p:stCondLst>
                                            <p:cond delay="0"/>
                                          </p:stCondLst>
                                        </p:cTn>
                                        <p:tgtEl>
                                          <p:spTgt spid="50"/>
                                        </p:tgtEl>
                                        <p:attrNameLst>
                                          <p:attrName>style.visibility</p:attrName>
                                        </p:attrNameLst>
                                      </p:cBhvr>
                                      <p:to>
                                        <p:strVal val="visible"/>
                                      </p:to>
                                    </p:set>
                                    <p:animEffect transition="in" filter="fade">
                                      <p:cBhvr>
                                        <p:cTn id="166" dur="420"/>
                                        <p:tgtEl>
                                          <p:spTgt spid="50"/>
                                        </p:tgtEl>
                                      </p:cBhvr>
                                    </p:animEffect>
                                    <p:anim calcmode="lin" valueType="num">
                                      <p:cBhvr additive="base">
                                        <p:cTn id="167" dur="420" fill="hold"/>
                                        <p:tgtEl>
                                          <p:spTgt spid="50"/>
                                        </p:tgtEl>
                                        <p:attrNameLst>
                                          <p:attrName>ppt_y</p:attrName>
                                        </p:attrNameLst>
                                      </p:cBhvr>
                                      <p:tavLst>
                                        <p:tav tm="0">
                                          <p:val>
                                            <p:strVal val="#ppt_y+0.035"/>
                                          </p:val>
                                        </p:tav>
                                        <p:tav tm="100000">
                                          <p:val>
                                            <p:strVal val="#ppt_y"/>
                                          </p:val>
                                        </p:tav>
                                      </p:tavLst>
                                    </p:anim>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grpId="0" nodeType="clickEffect">
                                  <p:stCondLst>
                                    <p:cond delay="0"/>
                                  </p:stCondLst>
                                  <p:childTnLst>
                                    <p:set>
                                      <p:cBhvr>
                                        <p:cTn id="171" dur="1" fill="hold">
                                          <p:stCondLst>
                                            <p:cond delay="0"/>
                                          </p:stCondLst>
                                        </p:cTn>
                                        <p:tgtEl>
                                          <p:spTgt spid="25"/>
                                        </p:tgtEl>
                                        <p:attrNameLst>
                                          <p:attrName>style.visibility</p:attrName>
                                        </p:attrNameLst>
                                      </p:cBhvr>
                                      <p:to>
                                        <p:strVal val="visible"/>
                                      </p:to>
                                    </p:set>
                                    <p:animEffect transition="in" filter="fade">
                                      <p:cBhvr>
                                        <p:cTn id="172" dur="420"/>
                                        <p:tgtEl>
                                          <p:spTgt spid="25"/>
                                        </p:tgtEl>
                                      </p:cBhvr>
                                    </p:animEffect>
                                    <p:anim calcmode="lin" valueType="num">
                                      <p:cBhvr additive="base">
                                        <p:cTn id="173" dur="420" fill="hold"/>
                                        <p:tgtEl>
                                          <p:spTgt spid="25"/>
                                        </p:tgtEl>
                                        <p:attrNameLst>
                                          <p:attrName>ppt_y</p:attrName>
                                        </p:attrNameLst>
                                      </p:cBhvr>
                                      <p:tavLst>
                                        <p:tav tm="0">
                                          <p:val>
                                            <p:strVal val="#ppt_y+0.035"/>
                                          </p:val>
                                        </p:tav>
                                        <p:tav tm="100000">
                                          <p:val>
                                            <p:strVal val="#ppt_y"/>
                                          </p:val>
                                        </p:tav>
                                      </p:tavLst>
                                    </p:anim>
                                    <p:set>
                                      <p:cBhvr>
                                        <p:cTn id="174" dur="1" fill="hold">
                                          <p:stCondLst>
                                            <p:cond delay="0"/>
                                          </p:stCondLst>
                                        </p:cTn>
                                        <p:tgtEl>
                                          <p:spTgt spid="59"/>
                                        </p:tgtEl>
                                        <p:attrNameLst>
                                          <p:attrName>style.visibility</p:attrName>
                                        </p:attrNameLst>
                                      </p:cBhvr>
                                      <p:to>
                                        <p:strVal val="visible"/>
                                      </p:to>
                                    </p:set>
                                    <p:animEffect transition="in" filter="fade">
                                      <p:cBhvr>
                                        <p:cTn id="175" dur="420"/>
                                        <p:tgtEl>
                                          <p:spTgt spid="59"/>
                                        </p:tgtEl>
                                      </p:cBhvr>
                                    </p:animEffect>
                                    <p:anim calcmode="lin" valueType="num">
                                      <p:cBhvr additive="base">
                                        <p:cTn id="176" dur="420" fill="hold"/>
                                        <p:tgtEl>
                                          <p:spTgt spid="59"/>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animBg="1"/>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animBg="1"/>
      <p:bldP spid="51" grpId="0"/>
      <p:bldP spid="52" grpId="0"/>
      <p:bldP spid="53" grpId="0"/>
      <p:bldP spid="54" grpId="0"/>
      <p:bldP spid="55" grpId="0"/>
      <p:bldP spid="56" grpId="0"/>
      <p:bldP spid="57" grpId="0" animBg="1"/>
      <p:bldP spid="58" grpId="0"/>
      <p:bldP spid="59" grpId="0"/>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05</a:t>
            </a:r>
            <a:r>
              <a:rPr lang="en-US" sz="1150" b="1" kern="0" spc="160" dirty="0">
                <a:solidFill>
                  <a:srgbClr val="6E7781"/>
                </a:solidFill>
                <a:latin typeface="Calibri" pitchFamily="34" charset="0"/>
                <a:ea typeface="Calibri" pitchFamily="34" charset="-122"/>
                <a:cs typeface="Calibri" pitchFamily="34" charset="-120"/>
              </a:rPr>
              <a:t>   HOW TO RUN IT  ·  WAY 3 OF 3</a:t>
            </a:r>
            <a:endParaRPr lang="en-US" sz="1150" dirty="0"/>
          </a:p>
        </p:txBody>
      </p:sp>
      <p:sp>
        <p:nvSpPr>
          <p:cNvPr id="3" name="Shape 1"/>
          <p:cNvSpPr/>
          <p:nvPr/>
        </p:nvSpPr>
        <p:spPr>
          <a:xfrm>
            <a:off x="10351008" y="393192"/>
            <a:ext cx="1271016" cy="292608"/>
          </a:xfrm>
          <a:prstGeom prst="roundRect">
            <a:avLst>
              <a:gd name="adj" fmla="val 59375"/>
            </a:avLst>
          </a:prstGeom>
          <a:solidFill>
            <a:srgbClr val="0969DA"/>
          </a:solidFill>
          <a:ln/>
        </p:spPr>
      </p:sp>
      <p:sp>
        <p:nvSpPr>
          <p:cNvPr id="4" name="Text 2"/>
          <p:cNvSpPr/>
          <p:nvPr/>
        </p:nvSpPr>
        <p:spPr>
          <a:xfrm>
            <a:off x="10351008" y="393192"/>
            <a:ext cx="1271016" cy="292608"/>
          </a:xfrm>
          <a:prstGeom prst="rect">
            <a:avLst/>
          </a:prstGeom>
          <a:noFill/>
          <a:ln/>
        </p:spPr>
        <p:txBody>
          <a:bodyPr wrap="square" lIns="0" tIns="0" rIns="0" bIns="0" rtlCol="0" anchor="ctr"/>
          <a:lstStyle/>
          <a:p>
            <a:pPr marL="0" indent="0" algn="ctr">
              <a:buNone/>
            </a:pPr>
            <a:r>
              <a:rPr lang="en-US" sz="950" b="1" kern="0" spc="120" dirty="0">
                <a:solidFill>
                  <a:srgbClr val="FFFFFF"/>
                </a:solidFill>
                <a:latin typeface="Calibri" pitchFamily="34" charset="0"/>
                <a:ea typeface="Calibri" pitchFamily="34" charset="-122"/>
                <a:cs typeface="Calibri" pitchFamily="34" charset="-120"/>
              </a:rPr>
              <a:t>GITHUB</a:t>
            </a:r>
            <a:endParaRPr lang="en-US" sz="950" dirty="0"/>
          </a:p>
        </p:txBody>
      </p:sp>
      <p:sp>
        <p:nvSpPr>
          <p:cNvPr id="5" name="Text 3"/>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The cloud agent, from a GitHub issue</a:t>
            </a:r>
            <a:endParaRPr lang="en-US" sz="3200" dirty="0"/>
          </a:p>
        </p:txBody>
      </p:sp>
      <p:sp>
        <p:nvSpPr>
          <p:cNvPr id="6" name="Text 4"/>
          <p:cNvSpPr/>
          <p:nvPr/>
        </p:nvSpPr>
        <p:spPr>
          <a:xfrm>
            <a:off x="566928" y="1389888"/>
            <a:ext cx="11055096" cy="566928"/>
          </a:xfrm>
          <a:prstGeom prst="rect">
            <a:avLst/>
          </a:prstGeom>
          <a:noFill/>
          <a:ln/>
        </p:spPr>
        <p:txBody>
          <a:bodyPr wrap="square" lIns="0" tIns="0" rIns="0" bIns="0" rtlCol="0" anchor="t"/>
          <a:lstStyle/>
          <a:p>
            <a:pPr marL="0" indent="0">
              <a:lnSpc>
                <a:spcPts val="1850"/>
              </a:lnSpc>
              <a:buNone/>
            </a:pPr>
            <a:r>
              <a:rPr lang="en-US" sz="1350" dirty="0">
                <a:solidFill>
                  <a:srgbClr val="2B3138"/>
                </a:solidFill>
                <a:latin typeface="Calibri" pitchFamily="34" charset="0"/>
                <a:ea typeface="Calibri" pitchFamily="34" charset="-122"/>
                <a:cs typeface="Calibri" pitchFamily="34" charset="-120"/>
              </a:rPr>
              <a:t>Way 3 from "Three ways to run an agent": you assign the work and walk away. It runs in an ephemeral firewalled sandbox and comes back as a draft pull request it is not allowed to merge.</a:t>
            </a:r>
            <a:endParaRPr lang="en-US" sz="1350" dirty="0"/>
          </a:p>
        </p:txBody>
      </p:sp>
      <p:sp>
        <p:nvSpPr>
          <p:cNvPr id="7" name="Shape 5"/>
          <p:cNvSpPr/>
          <p:nvPr/>
        </p:nvSpPr>
        <p:spPr>
          <a:xfrm>
            <a:off x="566928" y="2212848"/>
            <a:ext cx="5760720" cy="4023360"/>
          </a:xfrm>
          <a:prstGeom prst="roundRect">
            <a:avLst>
              <a:gd name="adj" fmla="val 682"/>
            </a:avLst>
          </a:prstGeom>
          <a:solidFill>
            <a:srgbClr val="FFFFFF"/>
          </a:solidFill>
          <a:ln w="12700">
            <a:solidFill>
              <a:srgbClr val="D8DEE4"/>
            </a:solidFill>
            <a:prstDash val="solid"/>
          </a:ln>
          <a:effectLst>
            <a:outerShdw blurRad="177800" dist="38100" dir="5400000" algn="bl" rotWithShape="0">
              <a:srgbClr val="8C959F">
                <a:alpha val="16000"/>
              </a:srgbClr>
            </a:outerShdw>
          </a:effectLst>
        </p:spPr>
      </p:sp>
      <p:sp>
        <p:nvSpPr>
          <p:cNvPr id="8" name="Shape 6"/>
          <p:cNvSpPr/>
          <p:nvPr/>
        </p:nvSpPr>
        <p:spPr>
          <a:xfrm>
            <a:off x="576072" y="2231136"/>
            <a:ext cx="5742432" cy="347472"/>
          </a:xfrm>
          <a:prstGeom prst="rect">
            <a:avLst/>
          </a:prstGeom>
          <a:solidFill>
            <a:srgbClr val="F6F8FA"/>
          </a:solidFill>
          <a:ln/>
        </p:spPr>
      </p:sp>
      <p:sp>
        <p:nvSpPr>
          <p:cNvPr id="9" name="Shape 7"/>
          <p:cNvSpPr/>
          <p:nvPr/>
        </p:nvSpPr>
        <p:spPr>
          <a:xfrm>
            <a:off x="566928" y="2578608"/>
            <a:ext cx="5760720" cy="0"/>
          </a:xfrm>
          <a:prstGeom prst="line">
            <a:avLst/>
          </a:prstGeom>
          <a:noFill/>
          <a:ln w="12700">
            <a:solidFill>
              <a:srgbClr val="D8DEE4"/>
            </a:solidFill>
            <a:prstDash val="solid"/>
          </a:ln>
        </p:spPr>
      </p:sp>
      <p:sp>
        <p:nvSpPr>
          <p:cNvPr id="10" name="Shape 8"/>
          <p:cNvSpPr/>
          <p:nvPr/>
        </p:nvSpPr>
        <p:spPr>
          <a:xfrm>
            <a:off x="749808" y="2345436"/>
            <a:ext cx="100584" cy="100584"/>
          </a:xfrm>
          <a:prstGeom prst="ellipse">
            <a:avLst/>
          </a:prstGeom>
          <a:solidFill>
            <a:srgbClr val="E5534B"/>
          </a:solidFill>
          <a:ln/>
        </p:spPr>
      </p:sp>
      <p:sp>
        <p:nvSpPr>
          <p:cNvPr id="11" name="Shape 9"/>
          <p:cNvSpPr/>
          <p:nvPr/>
        </p:nvSpPr>
        <p:spPr>
          <a:xfrm>
            <a:off x="886968" y="2345436"/>
            <a:ext cx="100584" cy="100584"/>
          </a:xfrm>
          <a:prstGeom prst="ellipse">
            <a:avLst/>
          </a:prstGeom>
          <a:solidFill>
            <a:srgbClr val="C69026"/>
          </a:solidFill>
          <a:ln/>
        </p:spPr>
      </p:sp>
      <p:sp>
        <p:nvSpPr>
          <p:cNvPr id="12" name="Shape 10"/>
          <p:cNvSpPr/>
          <p:nvPr/>
        </p:nvSpPr>
        <p:spPr>
          <a:xfrm>
            <a:off x="1024128" y="2345436"/>
            <a:ext cx="100584" cy="100584"/>
          </a:xfrm>
          <a:prstGeom prst="ellipse">
            <a:avLst/>
          </a:prstGeom>
          <a:solidFill>
            <a:srgbClr val="3FB950"/>
          </a:solidFill>
          <a:ln/>
        </p:spPr>
      </p:sp>
      <p:sp>
        <p:nvSpPr>
          <p:cNvPr id="13" name="Shape 11"/>
          <p:cNvSpPr/>
          <p:nvPr/>
        </p:nvSpPr>
        <p:spPr>
          <a:xfrm>
            <a:off x="1225296" y="2295144"/>
            <a:ext cx="3108960" cy="219456"/>
          </a:xfrm>
          <a:prstGeom prst="roundRect">
            <a:avLst>
              <a:gd name="adj" fmla="val 50000"/>
            </a:avLst>
          </a:prstGeom>
          <a:solidFill>
            <a:srgbClr val="FFFFFF"/>
          </a:solidFill>
          <a:ln w="9525">
            <a:solidFill>
              <a:srgbClr val="D8DEE4"/>
            </a:solidFill>
            <a:prstDash val="solid"/>
          </a:ln>
        </p:spPr>
      </p:sp>
      <p:sp>
        <p:nvSpPr>
          <p:cNvPr id="14" name="Text 12"/>
          <p:cNvSpPr/>
          <p:nvPr/>
        </p:nvSpPr>
        <p:spPr>
          <a:xfrm>
            <a:off x="1353312" y="2295144"/>
            <a:ext cx="2926080" cy="219456"/>
          </a:xfrm>
          <a:prstGeom prst="rect">
            <a:avLst/>
          </a:prstGeom>
          <a:noFill/>
          <a:ln/>
        </p:spPr>
        <p:txBody>
          <a:bodyPr wrap="square" lIns="0" tIns="0" rIns="0" bIns="0" rtlCol="0" anchor="ctr"/>
          <a:lstStyle/>
          <a:p>
            <a:pPr marL="0" indent="0">
              <a:buNone/>
            </a:pPr>
            <a:r>
              <a:rPr lang="en-US" sz="650" dirty="0">
                <a:solidFill>
                  <a:srgbClr val="6E7781"/>
                </a:solidFill>
                <a:latin typeface="Courier New" pitchFamily="34" charset="0"/>
                <a:ea typeface="Courier New" pitchFamily="34" charset="-122"/>
                <a:cs typeface="Courier New" pitchFamily="34" charset="-120"/>
              </a:rPr>
              <a:t>github.com/acme/orders-grid/issues/128</a:t>
            </a:r>
            <a:endParaRPr lang="en-US" sz="650" dirty="0"/>
          </a:p>
        </p:txBody>
      </p:sp>
      <p:sp>
        <p:nvSpPr>
          <p:cNvPr id="15" name="Text 13"/>
          <p:cNvSpPr/>
          <p:nvPr/>
        </p:nvSpPr>
        <p:spPr>
          <a:xfrm>
            <a:off x="768096" y="2706624"/>
            <a:ext cx="3383280" cy="237744"/>
          </a:xfrm>
          <a:prstGeom prst="rect">
            <a:avLst/>
          </a:prstGeom>
          <a:noFill/>
          <a:ln/>
        </p:spPr>
        <p:txBody>
          <a:bodyPr wrap="square" lIns="0" tIns="0" rIns="0" bIns="0" rtlCol="0" anchor="ctr"/>
          <a:lstStyle/>
          <a:p>
            <a:pPr marL="0" indent="0">
              <a:buNone/>
            </a:pPr>
            <a:r>
              <a:rPr lang="en-US" sz="1000" b="1" dirty="0">
                <a:solidFill>
                  <a:srgbClr val="15181D"/>
                </a:solidFill>
                <a:latin typeface="Calibri" pitchFamily="34" charset="0"/>
                <a:ea typeface="Calibri" pitchFamily="34" charset="-122"/>
                <a:cs typeface="Calibri" pitchFamily="34" charset="-120"/>
              </a:rPr>
              <a:t>Orders screen: server-side paging and export</a:t>
            </a:r>
            <a:endParaRPr lang="en-US" sz="1000" dirty="0"/>
          </a:p>
        </p:txBody>
      </p:sp>
      <p:sp>
        <p:nvSpPr>
          <p:cNvPr id="16" name="Shape 14"/>
          <p:cNvSpPr/>
          <p:nvPr/>
        </p:nvSpPr>
        <p:spPr>
          <a:xfrm>
            <a:off x="768096" y="2999232"/>
            <a:ext cx="457200" cy="201168"/>
          </a:xfrm>
          <a:prstGeom prst="roundRect">
            <a:avLst>
              <a:gd name="adj" fmla="val 45455"/>
            </a:avLst>
          </a:prstGeom>
          <a:solidFill>
            <a:srgbClr val="EAF6ED"/>
          </a:solidFill>
          <a:ln w="9525">
            <a:solidFill>
              <a:srgbClr val="1A7F37"/>
            </a:solidFill>
            <a:prstDash val="solid"/>
          </a:ln>
        </p:spPr>
      </p:sp>
      <p:sp>
        <p:nvSpPr>
          <p:cNvPr id="17" name="Text 15"/>
          <p:cNvSpPr/>
          <p:nvPr/>
        </p:nvSpPr>
        <p:spPr>
          <a:xfrm>
            <a:off x="768096" y="2999232"/>
            <a:ext cx="457200" cy="201168"/>
          </a:xfrm>
          <a:prstGeom prst="rect">
            <a:avLst/>
          </a:prstGeom>
          <a:noFill/>
          <a:ln/>
        </p:spPr>
        <p:txBody>
          <a:bodyPr wrap="square" lIns="0" tIns="0" rIns="0" bIns="0" rtlCol="0" anchor="ctr"/>
          <a:lstStyle/>
          <a:p>
            <a:pPr marL="0" indent="0" algn="ctr">
              <a:buNone/>
            </a:pPr>
            <a:r>
              <a:rPr lang="en-US" sz="650" b="1" dirty="0">
                <a:solidFill>
                  <a:srgbClr val="1A7F37"/>
                </a:solidFill>
                <a:latin typeface="Calibri" pitchFamily="34" charset="0"/>
                <a:ea typeface="Calibri" pitchFamily="34" charset="-122"/>
                <a:cs typeface="Calibri" pitchFamily="34" charset="-120"/>
              </a:rPr>
              <a:t>Open</a:t>
            </a:r>
            <a:endParaRPr lang="en-US" sz="650" dirty="0"/>
          </a:p>
        </p:txBody>
      </p:sp>
      <p:sp>
        <p:nvSpPr>
          <p:cNvPr id="18" name="Text 16"/>
          <p:cNvSpPr/>
          <p:nvPr/>
        </p:nvSpPr>
        <p:spPr>
          <a:xfrm>
            <a:off x="1298448" y="2999232"/>
            <a:ext cx="1645920" cy="201168"/>
          </a:xfrm>
          <a:prstGeom prst="rect">
            <a:avLst/>
          </a:prstGeom>
          <a:noFill/>
          <a:ln/>
        </p:spPr>
        <p:txBody>
          <a:bodyPr wrap="square" lIns="0" tIns="0" rIns="0" bIns="0" rtlCol="0" anchor="ctr"/>
          <a:lstStyle/>
          <a:p>
            <a:pPr marL="0" indent="0">
              <a:buNone/>
            </a:pPr>
            <a:r>
              <a:rPr lang="en-US" sz="650" dirty="0">
                <a:solidFill>
                  <a:srgbClr val="6E7781"/>
                </a:solidFill>
                <a:latin typeface="Calibri" pitchFamily="34" charset="0"/>
                <a:ea typeface="Calibri" pitchFamily="34" charset="-122"/>
                <a:cs typeface="Calibri" pitchFamily="34" charset="-120"/>
              </a:rPr>
              <a:t>#128 opened by ivan</a:t>
            </a:r>
            <a:endParaRPr lang="en-US" sz="650" dirty="0"/>
          </a:p>
        </p:txBody>
      </p:sp>
      <p:sp>
        <p:nvSpPr>
          <p:cNvPr id="19" name="Shape 17"/>
          <p:cNvSpPr/>
          <p:nvPr/>
        </p:nvSpPr>
        <p:spPr>
          <a:xfrm>
            <a:off x="768096" y="3346704"/>
            <a:ext cx="3017520" cy="59436"/>
          </a:xfrm>
          <a:prstGeom prst="roundRect">
            <a:avLst>
              <a:gd name="adj" fmla="val 46154"/>
            </a:avLst>
          </a:prstGeom>
          <a:solidFill>
            <a:srgbClr val="C9D1D9"/>
          </a:solidFill>
          <a:ln/>
        </p:spPr>
      </p:sp>
      <p:sp>
        <p:nvSpPr>
          <p:cNvPr id="20" name="Shape 18"/>
          <p:cNvSpPr/>
          <p:nvPr/>
        </p:nvSpPr>
        <p:spPr>
          <a:xfrm>
            <a:off x="768096" y="3502152"/>
            <a:ext cx="2788920" cy="59436"/>
          </a:xfrm>
          <a:prstGeom prst="roundRect">
            <a:avLst>
              <a:gd name="adj" fmla="val 46154"/>
            </a:avLst>
          </a:prstGeom>
          <a:solidFill>
            <a:srgbClr val="C9D1D9"/>
          </a:solidFill>
          <a:ln/>
        </p:spPr>
      </p:sp>
      <p:sp>
        <p:nvSpPr>
          <p:cNvPr id="21" name="Shape 19"/>
          <p:cNvSpPr/>
          <p:nvPr/>
        </p:nvSpPr>
        <p:spPr>
          <a:xfrm>
            <a:off x="768096" y="3657600"/>
            <a:ext cx="2377440" cy="59436"/>
          </a:xfrm>
          <a:prstGeom prst="roundRect">
            <a:avLst>
              <a:gd name="adj" fmla="val 46154"/>
            </a:avLst>
          </a:prstGeom>
          <a:solidFill>
            <a:srgbClr val="C9D1D9"/>
          </a:solidFill>
          <a:ln/>
        </p:spPr>
      </p:sp>
      <p:sp>
        <p:nvSpPr>
          <p:cNvPr id="22" name="Shape 20"/>
          <p:cNvSpPr/>
          <p:nvPr/>
        </p:nvSpPr>
        <p:spPr>
          <a:xfrm>
            <a:off x="768096" y="3813048"/>
            <a:ext cx="2926080" cy="59436"/>
          </a:xfrm>
          <a:prstGeom prst="roundRect">
            <a:avLst>
              <a:gd name="adj" fmla="val 46154"/>
            </a:avLst>
          </a:prstGeom>
          <a:solidFill>
            <a:srgbClr val="C9D1D9"/>
          </a:solidFill>
          <a:ln/>
        </p:spPr>
      </p:sp>
      <p:sp>
        <p:nvSpPr>
          <p:cNvPr id="23" name="Shape 21"/>
          <p:cNvSpPr/>
          <p:nvPr/>
        </p:nvSpPr>
        <p:spPr>
          <a:xfrm>
            <a:off x="768096" y="3968496"/>
            <a:ext cx="1737360" cy="59436"/>
          </a:xfrm>
          <a:prstGeom prst="roundRect">
            <a:avLst>
              <a:gd name="adj" fmla="val 46154"/>
            </a:avLst>
          </a:prstGeom>
          <a:solidFill>
            <a:srgbClr val="C9D1D9"/>
          </a:solidFill>
          <a:ln/>
        </p:spPr>
      </p:sp>
      <p:sp>
        <p:nvSpPr>
          <p:cNvPr id="24" name="Shape 22"/>
          <p:cNvSpPr/>
          <p:nvPr/>
        </p:nvSpPr>
        <p:spPr>
          <a:xfrm>
            <a:off x="4370832" y="2670048"/>
            <a:ext cx="0" cy="1463040"/>
          </a:xfrm>
          <a:prstGeom prst="line">
            <a:avLst/>
          </a:prstGeom>
          <a:noFill/>
          <a:ln w="12700">
            <a:solidFill>
              <a:srgbClr val="D8DEE4"/>
            </a:solidFill>
            <a:prstDash val="solid"/>
          </a:ln>
        </p:spPr>
      </p:sp>
      <p:sp>
        <p:nvSpPr>
          <p:cNvPr id="25" name="Text 23"/>
          <p:cNvSpPr/>
          <p:nvPr/>
        </p:nvSpPr>
        <p:spPr>
          <a:xfrm>
            <a:off x="4517136" y="2706624"/>
            <a:ext cx="1280160" cy="182880"/>
          </a:xfrm>
          <a:prstGeom prst="rect">
            <a:avLst/>
          </a:prstGeom>
          <a:noFill/>
          <a:ln/>
        </p:spPr>
        <p:txBody>
          <a:bodyPr wrap="square" lIns="0" tIns="0" rIns="0" bIns="0" rtlCol="0" anchor="ctr"/>
          <a:lstStyle/>
          <a:p>
            <a:pPr marL="0" indent="0">
              <a:buNone/>
            </a:pPr>
            <a:r>
              <a:rPr lang="en-US" sz="700" b="1" kern="0" spc="110" dirty="0">
                <a:solidFill>
                  <a:srgbClr val="6E7781"/>
                </a:solidFill>
                <a:latin typeface="Calibri" pitchFamily="34" charset="0"/>
                <a:ea typeface="Calibri" pitchFamily="34" charset="-122"/>
                <a:cs typeface="Calibri" pitchFamily="34" charset="-120"/>
              </a:rPr>
              <a:t>ASSIGNEES</a:t>
            </a:r>
            <a:endParaRPr lang="en-US" sz="700" dirty="0"/>
          </a:p>
        </p:txBody>
      </p:sp>
      <p:sp>
        <p:nvSpPr>
          <p:cNvPr id="26" name="Shape 24"/>
          <p:cNvSpPr/>
          <p:nvPr/>
        </p:nvSpPr>
        <p:spPr>
          <a:xfrm>
            <a:off x="4517136" y="2962656"/>
            <a:ext cx="1591056" cy="329184"/>
          </a:xfrm>
          <a:prstGeom prst="roundRect">
            <a:avLst>
              <a:gd name="adj" fmla="val 13889"/>
            </a:avLst>
          </a:prstGeom>
          <a:solidFill>
            <a:srgbClr val="EAF2FD"/>
          </a:solidFill>
          <a:ln w="15875">
            <a:solidFill>
              <a:srgbClr val="0969DA"/>
            </a:solidFill>
            <a:prstDash val="solid"/>
          </a:ln>
        </p:spPr>
      </p:sp>
      <p:sp>
        <p:nvSpPr>
          <p:cNvPr id="27" name="Shape 25"/>
          <p:cNvSpPr/>
          <p:nvPr/>
        </p:nvSpPr>
        <p:spPr>
          <a:xfrm>
            <a:off x="4608576" y="3026664"/>
            <a:ext cx="201168" cy="201168"/>
          </a:xfrm>
          <a:prstGeom prst="ellipse">
            <a:avLst/>
          </a:prstGeom>
          <a:solidFill>
            <a:srgbClr val="0969DA"/>
          </a:solidFill>
          <a:ln/>
        </p:spPr>
      </p:sp>
      <p:sp>
        <p:nvSpPr>
          <p:cNvPr id="28" name="Text 26"/>
          <p:cNvSpPr/>
          <p:nvPr/>
        </p:nvSpPr>
        <p:spPr>
          <a:xfrm>
            <a:off x="4882896" y="2962656"/>
            <a:ext cx="1097280" cy="329184"/>
          </a:xfrm>
          <a:prstGeom prst="rect">
            <a:avLst/>
          </a:prstGeom>
          <a:noFill/>
          <a:ln/>
        </p:spPr>
        <p:txBody>
          <a:bodyPr wrap="square" lIns="0" tIns="0" rIns="0" bIns="0" rtlCol="0" anchor="ctr"/>
          <a:lstStyle/>
          <a:p>
            <a:pPr marL="0" indent="0">
              <a:buNone/>
            </a:pPr>
            <a:r>
              <a:rPr lang="en-US" sz="800" b="1" dirty="0">
                <a:solidFill>
                  <a:srgbClr val="0969DA"/>
                </a:solidFill>
                <a:latin typeface="Calibri" pitchFamily="34" charset="0"/>
                <a:ea typeface="Calibri" pitchFamily="34" charset="-122"/>
                <a:cs typeface="Calibri" pitchFamily="34" charset="-120"/>
              </a:rPr>
              <a:t>Copilot</a:t>
            </a:r>
            <a:endParaRPr lang="en-US" sz="800" dirty="0"/>
          </a:p>
        </p:txBody>
      </p:sp>
      <p:sp>
        <p:nvSpPr>
          <p:cNvPr id="29" name="Shape 27"/>
          <p:cNvSpPr/>
          <p:nvPr/>
        </p:nvSpPr>
        <p:spPr>
          <a:xfrm>
            <a:off x="4389120" y="2834640"/>
            <a:ext cx="274320" cy="274320"/>
          </a:xfrm>
          <a:prstGeom prst="ellipse">
            <a:avLst/>
          </a:prstGeom>
          <a:solidFill>
            <a:srgbClr val="C2410C"/>
          </a:solidFill>
          <a:ln w="19050">
            <a:solidFill>
              <a:srgbClr val="FFFFFF"/>
            </a:solidFill>
            <a:prstDash val="solid"/>
          </a:ln>
        </p:spPr>
      </p:sp>
      <p:sp>
        <p:nvSpPr>
          <p:cNvPr id="30" name="Text 28"/>
          <p:cNvSpPr/>
          <p:nvPr/>
        </p:nvSpPr>
        <p:spPr>
          <a:xfrm>
            <a:off x="4389120" y="28346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1" name="Shape 29"/>
          <p:cNvSpPr/>
          <p:nvPr/>
        </p:nvSpPr>
        <p:spPr>
          <a:xfrm>
            <a:off x="2029968" y="4169664"/>
            <a:ext cx="3749040" cy="1060704"/>
          </a:xfrm>
          <a:prstGeom prst="roundRect">
            <a:avLst>
              <a:gd name="adj" fmla="val 4310"/>
            </a:avLst>
          </a:prstGeom>
          <a:solidFill>
            <a:srgbClr val="FFFFFF"/>
          </a:solidFill>
          <a:ln w="15875">
            <a:solidFill>
              <a:srgbClr val="0969DA"/>
            </a:solidFill>
            <a:prstDash val="solid"/>
          </a:ln>
          <a:effectLst>
            <a:outerShdw blurRad="177800" dist="38100" dir="5400000" algn="bl" rotWithShape="0">
              <a:srgbClr val="8C959F">
                <a:alpha val="16000"/>
              </a:srgbClr>
            </a:outerShdw>
          </a:effectLst>
        </p:spPr>
      </p:sp>
      <p:sp>
        <p:nvSpPr>
          <p:cNvPr id="32" name="Text 30"/>
          <p:cNvSpPr/>
          <p:nvPr/>
        </p:nvSpPr>
        <p:spPr>
          <a:xfrm>
            <a:off x="2176272" y="4242816"/>
            <a:ext cx="1828800" cy="219456"/>
          </a:xfrm>
          <a:prstGeom prst="rect">
            <a:avLst/>
          </a:prstGeom>
          <a:noFill/>
          <a:ln/>
        </p:spPr>
        <p:txBody>
          <a:bodyPr wrap="square" lIns="0" tIns="0" rIns="0" bIns="0" rtlCol="0" anchor="ctr"/>
          <a:lstStyle/>
          <a:p>
            <a:pPr marL="0" indent="0">
              <a:buNone/>
            </a:pPr>
            <a:r>
              <a:rPr lang="en-US" sz="850" b="1" dirty="0">
                <a:solidFill>
                  <a:srgbClr val="15181D"/>
                </a:solidFill>
                <a:latin typeface="Calibri" pitchFamily="34" charset="0"/>
                <a:ea typeface="Calibri" pitchFamily="34" charset="-122"/>
                <a:cs typeface="Calibri" pitchFamily="34" charset="-120"/>
              </a:rPr>
              <a:t>Start a session</a:t>
            </a:r>
            <a:endParaRPr lang="en-US" sz="850" dirty="0"/>
          </a:p>
        </p:txBody>
      </p:sp>
      <p:sp>
        <p:nvSpPr>
          <p:cNvPr id="33" name="Text 31"/>
          <p:cNvSpPr/>
          <p:nvPr/>
        </p:nvSpPr>
        <p:spPr>
          <a:xfrm>
            <a:off x="2176272" y="4462272"/>
            <a:ext cx="1463040" cy="182880"/>
          </a:xfrm>
          <a:prstGeom prst="rect">
            <a:avLst/>
          </a:prstGeom>
          <a:noFill/>
          <a:ln/>
        </p:spPr>
        <p:txBody>
          <a:bodyPr wrap="square" lIns="0" tIns="0" rIns="0" bIns="0" rtlCol="0" anchor="ctr"/>
          <a:lstStyle/>
          <a:p>
            <a:pPr marL="0" indent="0">
              <a:buNone/>
            </a:pPr>
            <a:r>
              <a:rPr lang="en-US" sz="650" dirty="0">
                <a:solidFill>
                  <a:srgbClr val="6E7781"/>
                </a:solidFill>
                <a:latin typeface="Calibri" pitchFamily="34" charset="0"/>
                <a:ea typeface="Calibri" pitchFamily="34" charset="-122"/>
                <a:cs typeface="Calibri" pitchFamily="34" charset="-120"/>
              </a:rPr>
              <a:t>Optional prompt</a:t>
            </a:r>
            <a:endParaRPr lang="en-US" sz="650" dirty="0"/>
          </a:p>
        </p:txBody>
      </p:sp>
      <p:sp>
        <p:nvSpPr>
          <p:cNvPr id="34" name="Shape 32"/>
          <p:cNvSpPr/>
          <p:nvPr/>
        </p:nvSpPr>
        <p:spPr>
          <a:xfrm>
            <a:off x="2176272" y="4645152"/>
            <a:ext cx="3456432" cy="310896"/>
          </a:xfrm>
          <a:prstGeom prst="roundRect">
            <a:avLst>
              <a:gd name="adj" fmla="val 11765"/>
            </a:avLst>
          </a:prstGeom>
          <a:solidFill>
            <a:srgbClr val="F6F8FA"/>
          </a:solidFill>
          <a:ln w="9525">
            <a:solidFill>
              <a:srgbClr val="D8DEE4"/>
            </a:solidFill>
            <a:prstDash val="solid"/>
          </a:ln>
        </p:spPr>
      </p:sp>
      <p:sp>
        <p:nvSpPr>
          <p:cNvPr id="35" name="Text 33"/>
          <p:cNvSpPr/>
          <p:nvPr/>
        </p:nvSpPr>
        <p:spPr>
          <a:xfrm>
            <a:off x="2267712" y="4645152"/>
            <a:ext cx="3291840" cy="310896"/>
          </a:xfrm>
          <a:prstGeom prst="rect">
            <a:avLst/>
          </a:prstGeom>
          <a:noFill/>
          <a:ln/>
        </p:spPr>
        <p:txBody>
          <a:bodyPr wrap="square" lIns="0" tIns="0" rIns="0" bIns="0" rtlCol="0" anchor="ctr"/>
          <a:lstStyle/>
          <a:p>
            <a:pPr marL="0" indent="0">
              <a:buNone/>
            </a:pPr>
            <a:r>
              <a:rPr lang="en-US" sz="650" dirty="0">
                <a:solidFill>
                  <a:srgbClr val="2B3138"/>
                </a:solidFill>
                <a:latin typeface="Courier New" pitchFamily="34" charset="0"/>
                <a:ea typeface="Courier New" pitchFamily="34" charset="-122"/>
                <a:cs typeface="Courier New" pitchFamily="34" charset="-120"/>
              </a:rPr>
              <a:t>Follow .github/skills/react-devextreme-grid/SKILL.md.</a:t>
            </a:r>
            <a:endParaRPr lang="en-US" sz="650" dirty="0"/>
          </a:p>
        </p:txBody>
      </p:sp>
      <p:sp>
        <p:nvSpPr>
          <p:cNvPr id="36" name="Shape 34"/>
          <p:cNvSpPr/>
          <p:nvPr/>
        </p:nvSpPr>
        <p:spPr>
          <a:xfrm>
            <a:off x="5010912" y="4992624"/>
            <a:ext cx="621792" cy="201168"/>
          </a:xfrm>
          <a:prstGeom prst="roundRect">
            <a:avLst>
              <a:gd name="adj" fmla="val 45455"/>
            </a:avLst>
          </a:prstGeom>
          <a:solidFill>
            <a:srgbClr val="0969DA"/>
          </a:solidFill>
          <a:ln/>
        </p:spPr>
      </p:sp>
      <p:sp>
        <p:nvSpPr>
          <p:cNvPr id="37" name="Text 35"/>
          <p:cNvSpPr/>
          <p:nvPr/>
        </p:nvSpPr>
        <p:spPr>
          <a:xfrm>
            <a:off x="5010912" y="4992624"/>
            <a:ext cx="621792"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Start</a:t>
            </a:r>
            <a:endParaRPr lang="en-US" sz="700" dirty="0"/>
          </a:p>
        </p:txBody>
      </p:sp>
      <p:sp>
        <p:nvSpPr>
          <p:cNvPr id="38" name="Shape 36"/>
          <p:cNvSpPr/>
          <p:nvPr/>
        </p:nvSpPr>
        <p:spPr>
          <a:xfrm>
            <a:off x="1901952" y="4041648"/>
            <a:ext cx="274320" cy="274320"/>
          </a:xfrm>
          <a:prstGeom prst="ellipse">
            <a:avLst/>
          </a:prstGeom>
          <a:solidFill>
            <a:srgbClr val="C2410C"/>
          </a:solidFill>
          <a:ln w="19050">
            <a:solidFill>
              <a:srgbClr val="FFFFFF"/>
            </a:solidFill>
            <a:prstDash val="solid"/>
          </a:ln>
        </p:spPr>
      </p:sp>
      <p:sp>
        <p:nvSpPr>
          <p:cNvPr id="39" name="Text 37"/>
          <p:cNvSpPr/>
          <p:nvPr/>
        </p:nvSpPr>
        <p:spPr>
          <a:xfrm>
            <a:off x="1901952" y="404164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0" name="Shape 38"/>
          <p:cNvSpPr/>
          <p:nvPr/>
        </p:nvSpPr>
        <p:spPr>
          <a:xfrm>
            <a:off x="768096" y="5413248"/>
            <a:ext cx="5358384" cy="566928"/>
          </a:xfrm>
          <a:prstGeom prst="roundRect">
            <a:avLst>
              <a:gd name="adj" fmla="val 6452"/>
            </a:avLst>
          </a:prstGeom>
          <a:solidFill>
            <a:srgbClr val="F6F8FA"/>
          </a:solidFill>
          <a:ln w="9525">
            <a:solidFill>
              <a:srgbClr val="D8DEE4"/>
            </a:solidFill>
            <a:prstDash val="solid"/>
          </a:ln>
        </p:spPr>
      </p:sp>
      <p:sp>
        <p:nvSpPr>
          <p:cNvPr id="41" name="Shape 39"/>
          <p:cNvSpPr/>
          <p:nvPr/>
        </p:nvSpPr>
        <p:spPr>
          <a:xfrm>
            <a:off x="914400" y="5614416"/>
            <a:ext cx="164592" cy="164592"/>
          </a:xfrm>
          <a:prstGeom prst="ellipse">
            <a:avLst/>
          </a:prstGeom>
          <a:solidFill>
            <a:srgbClr val="8B949E"/>
          </a:solidFill>
          <a:ln/>
        </p:spPr>
      </p:sp>
      <p:sp>
        <p:nvSpPr>
          <p:cNvPr id="42" name="Text 40"/>
          <p:cNvSpPr/>
          <p:nvPr/>
        </p:nvSpPr>
        <p:spPr>
          <a:xfrm>
            <a:off x="1170432" y="5413248"/>
            <a:ext cx="3840480" cy="566928"/>
          </a:xfrm>
          <a:prstGeom prst="rect">
            <a:avLst/>
          </a:prstGeom>
          <a:noFill/>
          <a:ln/>
        </p:spPr>
        <p:txBody>
          <a:bodyPr wrap="square" lIns="0" tIns="0" rIns="0" bIns="0" rtlCol="0" anchor="ctr"/>
          <a:lstStyle/>
          <a:p>
            <a:pPr marL="0" indent="0">
              <a:buNone/>
            </a:pPr>
            <a:r>
              <a:rPr lang="en-US" sz="750" b="1" dirty="0">
                <a:solidFill>
                  <a:srgbClr val="6E7781"/>
                </a:solidFill>
                <a:latin typeface="Calibri" pitchFamily="34" charset="0"/>
                <a:ea typeface="Calibri" pitchFamily="34" charset="-122"/>
                <a:cs typeface="Calibri" pitchFamily="34" charset="-120"/>
              </a:rPr>
              <a:t>Draft</a:t>
            </a:r>
            <a:r>
              <a:rPr lang="en-US" sz="750" dirty="0">
                <a:solidFill>
                  <a:srgbClr val="2B3138"/>
                </a:solidFill>
                <a:latin typeface="Calibri" pitchFamily="34" charset="0"/>
                <a:ea typeface="Calibri" pitchFamily="34" charset="-122"/>
                <a:cs typeface="Calibri" pitchFamily="34" charset="-120"/>
              </a:rPr>
              <a:t>   Orders screen: server-side paging  #129   ·   </a:t>
            </a:r>
            <a:r>
              <a:rPr lang="en-US" sz="750" i="1" dirty="0">
                <a:solidFill>
                  <a:srgbClr val="6E7781"/>
                </a:solidFill>
                <a:latin typeface="Calibri" pitchFamily="34" charset="0"/>
                <a:ea typeface="Calibri" pitchFamily="34" charset="-122"/>
                <a:cs typeface="Calibri" pitchFamily="34" charset="-120"/>
              </a:rPr>
              <a:t>Copilot is working…</a:t>
            </a:r>
            <a:endParaRPr lang="en-US" sz="750" dirty="0"/>
          </a:p>
        </p:txBody>
      </p:sp>
      <p:sp>
        <p:nvSpPr>
          <p:cNvPr id="43" name="Shape 41"/>
          <p:cNvSpPr/>
          <p:nvPr/>
        </p:nvSpPr>
        <p:spPr>
          <a:xfrm>
            <a:off x="5084064" y="5577840"/>
            <a:ext cx="932688" cy="237744"/>
          </a:xfrm>
          <a:prstGeom prst="roundRect">
            <a:avLst>
              <a:gd name="adj" fmla="val 45455"/>
            </a:avLst>
          </a:prstGeom>
          <a:solidFill>
            <a:srgbClr val="FFFFFF"/>
          </a:solidFill>
          <a:ln w="9525">
            <a:solidFill>
              <a:srgbClr val="D8DEE4"/>
            </a:solidFill>
            <a:prstDash val="solid"/>
          </a:ln>
        </p:spPr>
      </p:sp>
      <p:sp>
        <p:nvSpPr>
          <p:cNvPr id="44" name="Text 42"/>
          <p:cNvSpPr/>
          <p:nvPr/>
        </p:nvSpPr>
        <p:spPr>
          <a:xfrm>
            <a:off x="5084064" y="5577840"/>
            <a:ext cx="932688" cy="237744"/>
          </a:xfrm>
          <a:prstGeom prst="rect">
            <a:avLst/>
          </a:prstGeom>
          <a:noFill/>
          <a:ln/>
        </p:spPr>
        <p:txBody>
          <a:bodyPr wrap="square" lIns="0" tIns="0" rIns="0" bIns="0" rtlCol="0" anchor="ctr"/>
          <a:lstStyle/>
          <a:p>
            <a:pPr marL="0" indent="0" algn="ctr">
              <a:buNone/>
            </a:pPr>
            <a:r>
              <a:rPr lang="en-US" sz="700" b="1" dirty="0">
                <a:solidFill>
                  <a:srgbClr val="2B3138"/>
                </a:solidFill>
                <a:latin typeface="Calibri" pitchFamily="34" charset="0"/>
                <a:ea typeface="Calibri" pitchFamily="34" charset="-122"/>
                <a:cs typeface="Calibri" pitchFamily="34" charset="-120"/>
              </a:rPr>
              <a:t>View session</a:t>
            </a:r>
            <a:endParaRPr lang="en-US" sz="700" dirty="0"/>
          </a:p>
        </p:txBody>
      </p:sp>
      <p:sp>
        <p:nvSpPr>
          <p:cNvPr id="45" name="Shape 43"/>
          <p:cNvSpPr/>
          <p:nvPr/>
        </p:nvSpPr>
        <p:spPr>
          <a:xfrm>
            <a:off x="640080" y="5285232"/>
            <a:ext cx="274320" cy="274320"/>
          </a:xfrm>
          <a:prstGeom prst="ellipse">
            <a:avLst/>
          </a:prstGeom>
          <a:solidFill>
            <a:srgbClr val="C2410C"/>
          </a:solidFill>
          <a:ln w="19050">
            <a:solidFill>
              <a:srgbClr val="FFFFFF"/>
            </a:solidFill>
            <a:prstDash val="solid"/>
          </a:ln>
        </p:spPr>
      </p:sp>
      <p:sp>
        <p:nvSpPr>
          <p:cNvPr id="46" name="Text 44"/>
          <p:cNvSpPr/>
          <p:nvPr/>
        </p:nvSpPr>
        <p:spPr>
          <a:xfrm>
            <a:off x="640080" y="528523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7" name="Shape 45"/>
          <p:cNvSpPr/>
          <p:nvPr/>
        </p:nvSpPr>
        <p:spPr>
          <a:xfrm>
            <a:off x="6547104" y="2212848"/>
            <a:ext cx="5074920" cy="1920240"/>
          </a:xfrm>
          <a:prstGeom prst="roundRect">
            <a:avLst>
              <a:gd name="adj" fmla="val 2857"/>
            </a:avLst>
          </a:prstGeom>
          <a:solidFill>
            <a:srgbClr val="F6F8FA"/>
          </a:solidFill>
          <a:ln w="9525">
            <a:solidFill>
              <a:srgbClr val="D8DEE4"/>
            </a:solidFill>
            <a:prstDash val="solid"/>
          </a:ln>
          <a:effectLst>
            <a:outerShdw blurRad="177800" dist="38100" dir="5400000" algn="bl" rotWithShape="0">
              <a:srgbClr val="8C959F">
                <a:alpha val="16000"/>
              </a:srgbClr>
            </a:outerShdw>
          </a:effectLst>
        </p:spPr>
      </p:sp>
      <p:sp>
        <p:nvSpPr>
          <p:cNvPr id="48" name="Text 46"/>
          <p:cNvSpPr/>
          <p:nvPr/>
        </p:nvSpPr>
        <p:spPr>
          <a:xfrm>
            <a:off x="6803136" y="2350008"/>
            <a:ext cx="4562856" cy="292608"/>
          </a:xfrm>
          <a:prstGeom prst="rect">
            <a:avLst/>
          </a:prstGeom>
          <a:noFill/>
          <a:ln/>
        </p:spPr>
        <p:txBody>
          <a:bodyPr wrap="square" lIns="0" tIns="0" rIns="0" bIns="0" rtlCol="0" anchor="ctr"/>
          <a:lstStyle/>
          <a:p>
            <a:pPr marL="0" indent="0">
              <a:buNone/>
            </a:pPr>
            <a:r>
              <a:rPr lang="en-US" sz="1550" b="1" dirty="0">
                <a:solidFill>
                  <a:srgbClr val="15181D"/>
                </a:solidFill>
                <a:latin typeface="Cambria" pitchFamily="34" charset="0"/>
                <a:ea typeface="Cambria" pitchFamily="34" charset="-122"/>
                <a:cs typeface="Cambria" pitchFamily="34" charset="-120"/>
              </a:rPr>
              <a:t>Preconditions</a:t>
            </a:r>
            <a:endParaRPr lang="en-US" sz="1550" dirty="0"/>
          </a:p>
        </p:txBody>
      </p:sp>
      <p:sp>
        <p:nvSpPr>
          <p:cNvPr id="49" name="Text 47"/>
          <p:cNvSpPr/>
          <p:nvPr/>
        </p:nvSpPr>
        <p:spPr>
          <a:xfrm>
            <a:off x="6803136" y="2642616"/>
            <a:ext cx="4562856" cy="201168"/>
          </a:xfrm>
          <a:prstGeom prst="rect">
            <a:avLst/>
          </a:prstGeom>
          <a:noFill/>
          <a:ln/>
        </p:spPr>
        <p:txBody>
          <a:bodyPr wrap="square" lIns="0" tIns="0" rIns="0" bIns="0" rtlCol="0" anchor="ctr"/>
          <a:lstStyle/>
          <a:p>
            <a:pPr marL="0" indent="0">
              <a:buNone/>
            </a:pPr>
            <a:r>
              <a:rPr lang="en-US" sz="950" dirty="0">
                <a:solidFill>
                  <a:srgbClr val="6E7781"/>
                </a:solidFill>
                <a:latin typeface="Calibri" pitchFamily="34" charset="0"/>
                <a:ea typeface="Calibri" pitchFamily="34" charset="-122"/>
                <a:cs typeface="Calibri" pitchFamily="34" charset="-120"/>
              </a:rPr>
              <a:t>what the repo needs before you start</a:t>
            </a:r>
            <a:endParaRPr lang="en-US" sz="950" dirty="0"/>
          </a:p>
        </p:txBody>
      </p:sp>
      <p:sp>
        <p:nvSpPr>
          <p:cNvPr id="50" name="Text 48"/>
          <p:cNvSpPr/>
          <p:nvPr/>
        </p:nvSpPr>
        <p:spPr>
          <a:xfrm>
            <a:off x="6803136" y="2907792"/>
            <a:ext cx="4562856" cy="1097280"/>
          </a:xfrm>
          <a:prstGeom prst="rect">
            <a:avLst/>
          </a:prstGeom>
          <a:noFill/>
          <a:ln/>
        </p:spPr>
        <p:txBody>
          <a:bodyPr wrap="square" lIns="0" tIns="0" rIns="0" bIns="0" rtlCol="0" anchor="t"/>
          <a:lstStyle/>
          <a:p>
            <a:pPr marL="177800" indent="-177800">
              <a:lnSpc>
                <a:spcPts val="1320"/>
              </a:lnSpc>
              <a:spcAft>
                <a:spcPts val="700"/>
              </a:spcAft>
              <a:buSzPct val="100000"/>
              <a:buChar char="•"/>
            </a:pPr>
            <a:r>
              <a:rPr lang="en-US" sz="1000" b="1" dirty="0">
                <a:solidFill>
                  <a:srgbClr val="15181D"/>
                </a:solidFill>
                <a:latin typeface="Calibri" pitchFamily="34" charset="0"/>
                <a:ea typeface="Calibri" pitchFamily="34" charset="-122"/>
                <a:cs typeface="Calibri" pitchFamily="34" charset="-120"/>
              </a:rPr>
              <a:t>The starter repo (sample/) pushed to GitHub. </a:t>
            </a:r>
            <a:r>
              <a:rPr lang="en-US" sz="1000" dirty="0">
                <a:solidFill>
                  <a:srgbClr val="2B3138"/>
                </a:solidFill>
                <a:latin typeface="Calibri" pitchFamily="34" charset="0"/>
                <a:ea typeface="Calibri" pitchFamily="34" charset="-122"/>
                <a:cs typeface="Calibri" pitchFamily="34" charset="-120"/>
              </a:rPr>
              <a:t>Azure Repos cannot reach the cloud agent.</a:t>
            </a:r>
            <a:endParaRPr lang="en-US" sz="1000" dirty="0"/>
          </a:p>
          <a:p>
            <a:pPr marL="177800" indent="-177800">
              <a:lnSpc>
                <a:spcPts val="1320"/>
              </a:lnSpc>
              <a:spcAft>
                <a:spcPts val="700"/>
              </a:spcAft>
              <a:buSzPct val="100000"/>
              <a:buChar char="•"/>
            </a:pPr>
            <a:r>
              <a:rPr lang="en-US" sz="1000" b="1" dirty="0">
                <a:solidFill>
                  <a:srgbClr val="15181D"/>
                </a:solidFill>
                <a:latin typeface="Calibri" pitchFamily="34" charset="0"/>
                <a:ea typeface="Calibri" pitchFamily="34" charset="-122"/>
                <a:cs typeface="Calibri" pitchFamily="34" charset="-120"/>
              </a:rPr>
              <a:t>.github/skills/&lt;name&gt;/SKILL.md committed </a:t>
            </a:r>
            <a:r>
              <a:rPr lang="en-US" sz="1000" dirty="0">
                <a:solidFill>
                  <a:srgbClr val="2B3138"/>
                </a:solidFill>
                <a:latin typeface="Calibri" pitchFamily="34" charset="0"/>
                <a:ea typeface="Calibri" pitchFamily="34" charset="-122"/>
                <a:cs typeface="Calibri" pitchFamily="34" charset="-120"/>
              </a:rPr>
              <a:t>— the sandbox sees only what is in git.</a:t>
            </a:r>
            <a:endParaRPr lang="en-US" sz="1000" dirty="0"/>
          </a:p>
          <a:p>
            <a:pPr marL="177800" indent="-177800">
              <a:lnSpc>
                <a:spcPts val="1320"/>
              </a:lnSpc>
              <a:spcAft>
                <a:spcPts val="700"/>
              </a:spcAft>
              <a:buSzPct val="100000"/>
              <a:buChar char="•"/>
            </a:pPr>
            <a:r>
              <a:rPr lang="en-US" sz="1000" b="1" dirty="0">
                <a:solidFill>
                  <a:srgbClr val="15181D"/>
                </a:solidFill>
                <a:latin typeface="Calibri" pitchFamily="34" charset="0"/>
                <a:ea typeface="Calibri" pitchFamily="34" charset="-122"/>
                <a:cs typeface="Calibri" pitchFamily="34" charset="-120"/>
              </a:rPr>
              <a:t>A paid Copilot plan, </a:t>
            </a:r>
            <a:r>
              <a:rPr lang="en-US" sz="1000" dirty="0">
                <a:solidFill>
                  <a:srgbClr val="2B3138"/>
                </a:solidFill>
                <a:latin typeface="Calibri" pitchFamily="34" charset="0"/>
                <a:ea typeface="Calibri" pitchFamily="34" charset="-122"/>
                <a:cs typeface="Calibri" pitchFamily="34" charset="-120"/>
              </a:rPr>
              <a:t>and the agent not disabled for the repo.</a:t>
            </a:r>
            <a:endParaRPr lang="en-US" sz="1000" dirty="0"/>
          </a:p>
          <a:p>
            <a:pPr marL="177800" indent="-177800">
              <a:lnSpc>
                <a:spcPts val="1320"/>
              </a:lnSpc>
              <a:spcAft>
                <a:spcPts val="700"/>
              </a:spcAft>
              <a:buSzPct val="100000"/>
              <a:buChar char="•"/>
            </a:pPr>
            <a:r>
              <a:rPr lang="en-US" sz="1000" b="1" dirty="0">
                <a:solidFill>
                  <a:srgbClr val="15181D"/>
                </a:solidFill>
                <a:latin typeface="Calibri" pitchFamily="34" charset="0"/>
                <a:ea typeface="Calibri" pitchFamily="34" charset="-122"/>
                <a:cs typeface="Calibri" pitchFamily="34" charset="-120"/>
              </a:rPr>
              <a:t>copilot-instructions.md and the MCP config behind CODEOWNERS. </a:t>
            </a:r>
            <a:endParaRPr lang="en-US" sz="1000" dirty="0"/>
          </a:p>
        </p:txBody>
      </p:sp>
      <p:sp>
        <p:nvSpPr>
          <p:cNvPr id="51" name="Shape 49"/>
          <p:cNvSpPr/>
          <p:nvPr/>
        </p:nvSpPr>
        <p:spPr>
          <a:xfrm>
            <a:off x="6547104" y="4352544"/>
            <a:ext cx="5074920" cy="1883664"/>
          </a:xfrm>
          <a:prstGeom prst="roundRect">
            <a:avLst>
              <a:gd name="adj" fmla="val 2913"/>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52" name="Text 50"/>
          <p:cNvSpPr/>
          <p:nvPr/>
        </p:nvSpPr>
        <p:spPr>
          <a:xfrm>
            <a:off x="6803136" y="4489704"/>
            <a:ext cx="4562856" cy="292608"/>
          </a:xfrm>
          <a:prstGeom prst="rect">
            <a:avLst/>
          </a:prstGeom>
          <a:noFill/>
          <a:ln/>
        </p:spPr>
        <p:txBody>
          <a:bodyPr wrap="square" lIns="0" tIns="0" rIns="0" bIns="0" rtlCol="0" anchor="ctr"/>
          <a:lstStyle/>
          <a:p>
            <a:pPr marL="0" indent="0">
              <a:buNone/>
            </a:pPr>
            <a:r>
              <a:rPr lang="en-US" sz="1550" b="1" dirty="0">
                <a:solidFill>
                  <a:srgbClr val="0969DA"/>
                </a:solidFill>
                <a:latin typeface="Cambria" pitchFamily="34" charset="0"/>
                <a:ea typeface="Cambria" pitchFamily="34" charset="-122"/>
                <a:cs typeface="Cambria" pitchFamily="34" charset="-120"/>
              </a:rPr>
              <a:t>Run one iteration</a:t>
            </a:r>
            <a:endParaRPr lang="en-US" sz="1550" dirty="0"/>
          </a:p>
        </p:txBody>
      </p:sp>
      <p:sp>
        <p:nvSpPr>
          <p:cNvPr id="53" name="Text 51"/>
          <p:cNvSpPr/>
          <p:nvPr/>
        </p:nvSpPr>
        <p:spPr>
          <a:xfrm>
            <a:off x="6803136" y="4782312"/>
            <a:ext cx="4562856" cy="201168"/>
          </a:xfrm>
          <a:prstGeom prst="rect">
            <a:avLst/>
          </a:prstGeom>
          <a:noFill/>
          <a:ln/>
        </p:spPr>
        <p:txBody>
          <a:bodyPr wrap="square" lIns="0" tIns="0" rIns="0" bIns="0" rtlCol="0" anchor="ctr"/>
          <a:lstStyle/>
          <a:p>
            <a:pPr marL="0" indent="0">
              <a:buNone/>
            </a:pPr>
            <a:r>
              <a:rPr lang="en-US" sz="950" dirty="0">
                <a:solidFill>
                  <a:srgbClr val="6E7781"/>
                </a:solidFill>
                <a:latin typeface="Calibri" pitchFamily="34" charset="0"/>
                <a:ea typeface="Calibri" pitchFamily="34" charset="-122"/>
                <a:cs typeface="Calibri" pitchFamily="34" charset="-120"/>
              </a:rPr>
              <a:t>the numbers match the picture</a:t>
            </a:r>
            <a:endParaRPr lang="en-US" sz="950" dirty="0"/>
          </a:p>
        </p:txBody>
      </p:sp>
      <p:sp>
        <p:nvSpPr>
          <p:cNvPr id="54" name="Text 52"/>
          <p:cNvSpPr/>
          <p:nvPr/>
        </p:nvSpPr>
        <p:spPr>
          <a:xfrm>
            <a:off x="6803136" y="5047488"/>
            <a:ext cx="4562856" cy="1060704"/>
          </a:xfrm>
          <a:prstGeom prst="rect">
            <a:avLst/>
          </a:prstGeom>
          <a:noFill/>
          <a:ln/>
        </p:spPr>
        <p:txBody>
          <a:bodyPr wrap="square" lIns="0" tIns="0" rIns="0" bIns="0" rtlCol="0" anchor="t"/>
          <a:lstStyle/>
          <a:p>
            <a:pPr marL="0" indent="0">
              <a:lnSpc>
                <a:spcPts val="1300"/>
              </a:lnSpc>
              <a:spcAft>
                <a:spcPts val="600"/>
              </a:spcAft>
              <a:buNone/>
            </a:pPr>
            <a:r>
              <a:rPr lang="en-US" sz="1000" b="1" dirty="0">
                <a:solidFill>
                  <a:srgbClr val="0969DA"/>
                </a:solidFill>
                <a:latin typeface="Calibri" pitchFamily="34" charset="0"/>
                <a:ea typeface="Calibri" pitchFamily="34" charset="-122"/>
                <a:cs typeface="Calibri" pitchFamily="34" charset="-120"/>
              </a:rPr>
              <a:t>1.  </a:t>
            </a:r>
            <a:r>
              <a:rPr lang="en-US" sz="1000" dirty="0">
                <a:solidFill>
                  <a:srgbClr val="2B3138"/>
                </a:solidFill>
                <a:latin typeface="Calibri" pitchFamily="34" charset="0"/>
                <a:ea typeface="Calibri" pitchFamily="34" charset="-122"/>
                <a:cs typeface="Calibri" pitchFamily="34" charset="-120"/>
              </a:rPr>
              <a:t>Open the issue and assign Copilot in the Assignees sidebar.</a:t>
            </a:r>
            <a:endParaRPr lang="en-US" sz="1000" dirty="0"/>
          </a:p>
          <a:p>
            <a:pPr marL="0" indent="0">
              <a:lnSpc>
                <a:spcPts val="1300"/>
              </a:lnSpc>
              <a:spcAft>
                <a:spcPts val="600"/>
              </a:spcAft>
              <a:buNone/>
            </a:pPr>
            <a:r>
              <a:rPr lang="en-US" sz="1000" b="1" dirty="0">
                <a:solidFill>
                  <a:srgbClr val="0969DA"/>
                </a:solidFill>
                <a:latin typeface="Calibri" pitchFamily="34" charset="0"/>
                <a:ea typeface="Calibri" pitchFamily="34" charset="-122"/>
                <a:cs typeface="Calibri" pitchFamily="34" charset="-120"/>
              </a:rPr>
              <a:t>2.  </a:t>
            </a:r>
            <a:r>
              <a:rPr lang="en-US" sz="1000" dirty="0">
                <a:solidFill>
                  <a:srgbClr val="2B3138"/>
                </a:solidFill>
                <a:latin typeface="Calibri" pitchFamily="34" charset="0"/>
                <a:ea typeface="Calibri" pitchFamily="34" charset="-122"/>
                <a:cs typeface="Calibri" pitchFamily="34" charset="-120"/>
              </a:rPr>
              <a:t>Fill in Optional prompt, point it at the skill, then start the session.</a:t>
            </a:r>
            <a:endParaRPr lang="en-US" sz="1000" dirty="0"/>
          </a:p>
          <a:p>
            <a:pPr marL="0" indent="0">
              <a:lnSpc>
                <a:spcPts val="1300"/>
              </a:lnSpc>
              <a:spcAft>
                <a:spcPts val="600"/>
              </a:spcAft>
              <a:buNone/>
            </a:pPr>
            <a:r>
              <a:rPr lang="en-US" sz="1000" b="1" dirty="0">
                <a:solidFill>
                  <a:srgbClr val="0969DA"/>
                </a:solidFill>
                <a:latin typeface="Calibri" pitchFamily="34" charset="0"/>
                <a:ea typeface="Calibri" pitchFamily="34" charset="-122"/>
                <a:cs typeface="Calibri" pitchFamily="34" charset="-120"/>
              </a:rPr>
              <a:t>3.  </a:t>
            </a:r>
            <a:r>
              <a:rPr lang="en-US" sz="1000" dirty="0">
                <a:solidFill>
                  <a:srgbClr val="2B3138"/>
                </a:solidFill>
                <a:latin typeface="Calibri" pitchFamily="34" charset="0"/>
                <a:ea typeface="Calibri" pitchFamily="34" charset="-122"/>
                <a:cs typeface="Calibri" pitchFamily="34" charset="-120"/>
              </a:rPr>
              <a:t>Wait. It opens a draft PR. Editing the issue now reaches nothing.</a:t>
            </a:r>
            <a:endParaRPr lang="en-US" sz="1000" dirty="0"/>
          </a:p>
          <a:p>
            <a:pPr marL="0" indent="0">
              <a:lnSpc>
                <a:spcPts val="1300"/>
              </a:lnSpc>
              <a:spcAft>
                <a:spcPts val="600"/>
              </a:spcAft>
              <a:buNone/>
            </a:pPr>
            <a:r>
              <a:rPr lang="en-US" sz="1000" b="1" dirty="0">
                <a:solidFill>
                  <a:srgbClr val="0969DA"/>
                </a:solidFill>
                <a:latin typeface="Calibri" pitchFamily="34" charset="0"/>
                <a:ea typeface="Calibri" pitchFamily="34" charset="-122"/>
                <a:cs typeface="Calibri" pitchFamily="34" charset="-120"/>
              </a:rPr>
              <a:t>4.  </a:t>
            </a:r>
            <a:r>
              <a:rPr lang="en-US" sz="1000" dirty="0">
                <a:solidFill>
                  <a:srgbClr val="2B3138"/>
                </a:solidFill>
                <a:latin typeface="Calibri" pitchFamily="34" charset="0"/>
                <a:ea typeface="Calibri" pitchFamily="34" charset="-122"/>
                <a:cs typeface="Calibri" pitchFamily="34" charset="-120"/>
              </a:rPr>
              <a:t>Steer with @copilot in a PR comment; you review and merge, never the bot.</a:t>
            </a:r>
            <a:endParaRPr lang="en-US" sz="1000" dirty="0"/>
          </a:p>
        </p:txBody>
      </p:sp>
      <p:sp>
        <p:nvSpPr>
          <p:cNvPr id="55" name="Text 53"/>
          <p:cNvSpPr/>
          <p:nvPr/>
        </p:nvSpPr>
        <p:spPr>
          <a:xfrm>
            <a:off x="566928" y="6437376"/>
            <a:ext cx="10552176" cy="237744"/>
          </a:xfrm>
          <a:prstGeom prst="rect">
            <a:avLst/>
          </a:prstGeom>
          <a:noFill/>
          <a:ln/>
        </p:spPr>
        <p:txBody>
          <a:bodyPr wrap="square" lIns="0" tIns="0" rIns="0" bIns="0" rtlCol="0" anchor="ctr"/>
          <a:lstStyle/>
          <a:p>
            <a:pPr marL="0" indent="0">
              <a:buNone/>
            </a:pPr>
            <a:r>
              <a:rPr lang="en-US" sz="850" b="1" dirty="0">
                <a:solidFill>
                  <a:srgbClr val="6E7781"/>
                </a:solidFill>
                <a:latin typeface="Calibri" pitchFamily="34" charset="0"/>
                <a:ea typeface="Calibri" pitchFamily="34" charset="-122"/>
                <a:cs typeface="Calibri" pitchFamily="34" charset="-120"/>
              </a:rPr>
              <a:t>Sources   </a:t>
            </a:r>
            <a:r>
              <a:rPr lang="en-US" sz="850" dirty="0">
                <a:solidFill>
                  <a:srgbClr val="6E7781"/>
                </a:solidFill>
                <a:latin typeface="Calibri" pitchFamily="34" charset="0"/>
                <a:ea typeface="Calibri" pitchFamily="34" charset="-122"/>
                <a:cs typeface="Calibri" pitchFamily="34" charset="-120"/>
              </a:rPr>
              <a:t>docs.github.com/en/copilot/how-tos/use-copilot-agents/cloud-agent/use-cloud-agent-on-github · docs.github.com/en/copilot/concepts/agents/coding-agent/risks-and-mitigations</a:t>
            </a:r>
            <a:endParaRPr lang="en-US" sz="850" dirty="0"/>
          </a:p>
        </p:txBody>
      </p:sp>
      <p:sp>
        <p:nvSpPr>
          <p:cNvPr id="56"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anim calcmode="lin" valueType="num">
                                      <p:cBhvr additive="base">
                                        <p:cTn id="8" dur="420" fill="hold"/>
                                        <p:tgtEl>
                                          <p:spTgt spid="7"/>
                                        </p:tgtEl>
                                        <p:attrNameLst>
                                          <p:attrName>ppt_y</p:attrName>
                                        </p:attrNameLst>
                                      </p:cBhvr>
                                      <p:tavLst>
                                        <p:tav tm="0">
                                          <p:val>
                                            <p:strVal val="#ppt_y+0.035"/>
                                          </p:val>
                                        </p:tav>
                                        <p:tav tm="100000">
                                          <p:val>
                                            <p:strVal val="#ppt_y"/>
                                          </p:val>
                                        </p:tav>
                                      </p:tavLst>
                                    </p:anim>
                                    <p:set>
                                      <p:cBhvr>
                                        <p:cTn id="9" dur="1" fill="hold">
                                          <p:stCondLst>
                                            <p:cond delay="0"/>
                                          </p:stCondLst>
                                        </p:cTn>
                                        <p:tgtEl>
                                          <p:spTgt spid="47"/>
                                        </p:tgtEl>
                                        <p:attrNameLst>
                                          <p:attrName>style.visibility</p:attrName>
                                        </p:attrNameLst>
                                      </p:cBhvr>
                                      <p:to>
                                        <p:strVal val="visible"/>
                                      </p:to>
                                    </p:set>
                                    <p:animEffect transition="in" filter="fade">
                                      <p:cBhvr>
                                        <p:cTn id="10" dur="420"/>
                                        <p:tgtEl>
                                          <p:spTgt spid="47"/>
                                        </p:tgtEl>
                                      </p:cBhvr>
                                    </p:animEffect>
                                    <p:anim calcmode="lin" valueType="num">
                                      <p:cBhvr additive="base">
                                        <p:cTn id="11" dur="420" fill="hold"/>
                                        <p:tgtEl>
                                          <p:spTgt spid="47"/>
                                        </p:tgtEl>
                                        <p:attrNameLst>
                                          <p:attrName>ppt_y</p:attrName>
                                        </p:attrNameLst>
                                      </p:cBhvr>
                                      <p:tavLst>
                                        <p:tav tm="0">
                                          <p:val>
                                            <p:strVal val="#ppt_y+0.035"/>
                                          </p:val>
                                        </p:tav>
                                        <p:tav tm="100000">
                                          <p:val>
                                            <p:strVal val="#ppt_y"/>
                                          </p:val>
                                        </p:tav>
                                      </p:tavLst>
                                    </p:anim>
                                    <p:set>
                                      <p:cBhvr>
                                        <p:cTn id="12" dur="1" fill="hold">
                                          <p:stCondLst>
                                            <p:cond delay="0"/>
                                          </p:stCondLst>
                                        </p:cTn>
                                        <p:tgtEl>
                                          <p:spTgt spid="8"/>
                                        </p:tgtEl>
                                        <p:attrNameLst>
                                          <p:attrName>style.visibility</p:attrName>
                                        </p:attrNameLst>
                                      </p:cBhvr>
                                      <p:to>
                                        <p:strVal val="visible"/>
                                      </p:to>
                                    </p:set>
                                    <p:animEffect transition="in" filter="fade">
                                      <p:cBhvr>
                                        <p:cTn id="13" dur="420"/>
                                        <p:tgtEl>
                                          <p:spTgt spid="8"/>
                                        </p:tgtEl>
                                      </p:cBhvr>
                                    </p:animEffect>
                                    <p:anim calcmode="lin" valueType="num">
                                      <p:cBhvr additive="base">
                                        <p:cTn id="14" dur="420" fill="hold"/>
                                        <p:tgtEl>
                                          <p:spTgt spid="8"/>
                                        </p:tgtEl>
                                        <p:attrNameLst>
                                          <p:attrName>ppt_y</p:attrName>
                                        </p:attrNameLst>
                                      </p:cBhvr>
                                      <p:tavLst>
                                        <p:tav tm="0">
                                          <p:val>
                                            <p:strVal val="#ppt_y+0.035"/>
                                          </p:val>
                                        </p:tav>
                                        <p:tav tm="100000">
                                          <p:val>
                                            <p:strVal val="#ppt_y"/>
                                          </p:val>
                                        </p:tav>
                                      </p:tavLst>
                                    </p:anim>
                                    <p:set>
                                      <p:cBhvr>
                                        <p:cTn id="15" dur="1" fill="hold">
                                          <p:stCondLst>
                                            <p:cond delay="0"/>
                                          </p:stCondLst>
                                        </p:cTn>
                                        <p:tgtEl>
                                          <p:spTgt spid="13"/>
                                        </p:tgtEl>
                                        <p:attrNameLst>
                                          <p:attrName>style.visibility</p:attrName>
                                        </p:attrNameLst>
                                      </p:cBhvr>
                                      <p:to>
                                        <p:strVal val="visible"/>
                                      </p:to>
                                    </p:set>
                                    <p:animEffect transition="in" filter="fade">
                                      <p:cBhvr>
                                        <p:cTn id="16" dur="420"/>
                                        <p:tgtEl>
                                          <p:spTgt spid="13"/>
                                        </p:tgtEl>
                                      </p:cBhvr>
                                    </p:animEffect>
                                    <p:anim calcmode="lin" valueType="num">
                                      <p:cBhvr additive="base">
                                        <p:cTn id="17" dur="420" fill="hold"/>
                                        <p:tgtEl>
                                          <p:spTgt spid="13"/>
                                        </p:tgtEl>
                                        <p:attrNameLst>
                                          <p:attrName>ppt_y</p:attrName>
                                        </p:attrNameLst>
                                      </p:cBhvr>
                                      <p:tavLst>
                                        <p:tav tm="0">
                                          <p:val>
                                            <p:strVal val="#ppt_y+0.035"/>
                                          </p:val>
                                        </p:tav>
                                        <p:tav tm="100000">
                                          <p:val>
                                            <p:strVal val="#ppt_y"/>
                                          </p:val>
                                        </p:tav>
                                      </p:tavLst>
                                    </p:anim>
                                    <p:set>
                                      <p:cBhvr>
                                        <p:cTn id="18" dur="1" fill="hold">
                                          <p:stCondLst>
                                            <p:cond delay="0"/>
                                          </p:stCondLst>
                                        </p:cTn>
                                        <p:tgtEl>
                                          <p:spTgt spid="14"/>
                                        </p:tgtEl>
                                        <p:attrNameLst>
                                          <p:attrName>style.visibility</p:attrName>
                                        </p:attrNameLst>
                                      </p:cBhvr>
                                      <p:to>
                                        <p:strVal val="visible"/>
                                      </p:to>
                                    </p:set>
                                    <p:animEffect transition="in" filter="fade">
                                      <p:cBhvr>
                                        <p:cTn id="19" dur="420"/>
                                        <p:tgtEl>
                                          <p:spTgt spid="14"/>
                                        </p:tgtEl>
                                      </p:cBhvr>
                                    </p:animEffect>
                                    <p:anim calcmode="lin" valueType="num">
                                      <p:cBhvr additive="base">
                                        <p:cTn id="20" dur="420" fill="hold"/>
                                        <p:tgtEl>
                                          <p:spTgt spid="14"/>
                                        </p:tgtEl>
                                        <p:attrNameLst>
                                          <p:attrName>ppt_y</p:attrName>
                                        </p:attrNameLst>
                                      </p:cBhvr>
                                      <p:tavLst>
                                        <p:tav tm="0">
                                          <p:val>
                                            <p:strVal val="#ppt_y+0.035"/>
                                          </p:val>
                                        </p:tav>
                                        <p:tav tm="100000">
                                          <p:val>
                                            <p:strVal val="#ppt_y"/>
                                          </p:val>
                                        </p:tav>
                                      </p:tavLst>
                                    </p:anim>
                                    <p:set>
                                      <p:cBhvr>
                                        <p:cTn id="21" dur="1" fill="hold">
                                          <p:stCondLst>
                                            <p:cond delay="0"/>
                                          </p:stCondLst>
                                        </p:cTn>
                                        <p:tgtEl>
                                          <p:spTgt spid="10"/>
                                        </p:tgtEl>
                                        <p:attrNameLst>
                                          <p:attrName>style.visibility</p:attrName>
                                        </p:attrNameLst>
                                      </p:cBhvr>
                                      <p:to>
                                        <p:strVal val="visible"/>
                                      </p:to>
                                    </p:set>
                                    <p:animEffect transition="in" filter="fade">
                                      <p:cBhvr>
                                        <p:cTn id="22" dur="420"/>
                                        <p:tgtEl>
                                          <p:spTgt spid="10"/>
                                        </p:tgtEl>
                                      </p:cBhvr>
                                    </p:animEffect>
                                    <p:anim calcmode="lin" valueType="num">
                                      <p:cBhvr additive="base">
                                        <p:cTn id="23" dur="420" fill="hold"/>
                                        <p:tgtEl>
                                          <p:spTgt spid="10"/>
                                        </p:tgtEl>
                                        <p:attrNameLst>
                                          <p:attrName>ppt_y</p:attrName>
                                        </p:attrNameLst>
                                      </p:cBhvr>
                                      <p:tavLst>
                                        <p:tav tm="0">
                                          <p:val>
                                            <p:strVal val="#ppt_y+0.035"/>
                                          </p:val>
                                        </p:tav>
                                        <p:tav tm="100000">
                                          <p:val>
                                            <p:strVal val="#ppt_y"/>
                                          </p:val>
                                        </p:tav>
                                      </p:tavLst>
                                    </p:anim>
                                    <p:set>
                                      <p:cBhvr>
                                        <p:cTn id="24" dur="1" fill="hold">
                                          <p:stCondLst>
                                            <p:cond delay="0"/>
                                          </p:stCondLst>
                                        </p:cTn>
                                        <p:tgtEl>
                                          <p:spTgt spid="11"/>
                                        </p:tgtEl>
                                        <p:attrNameLst>
                                          <p:attrName>style.visibility</p:attrName>
                                        </p:attrNameLst>
                                      </p:cBhvr>
                                      <p:to>
                                        <p:strVal val="visible"/>
                                      </p:to>
                                    </p:set>
                                    <p:animEffect transition="in" filter="fade">
                                      <p:cBhvr>
                                        <p:cTn id="25" dur="420"/>
                                        <p:tgtEl>
                                          <p:spTgt spid="11"/>
                                        </p:tgtEl>
                                      </p:cBhvr>
                                    </p:animEffect>
                                    <p:anim calcmode="lin" valueType="num">
                                      <p:cBhvr additive="base">
                                        <p:cTn id="26" dur="420" fill="hold"/>
                                        <p:tgtEl>
                                          <p:spTgt spid="11"/>
                                        </p:tgtEl>
                                        <p:attrNameLst>
                                          <p:attrName>ppt_y</p:attrName>
                                        </p:attrNameLst>
                                      </p:cBhvr>
                                      <p:tavLst>
                                        <p:tav tm="0">
                                          <p:val>
                                            <p:strVal val="#ppt_y+0.035"/>
                                          </p:val>
                                        </p:tav>
                                        <p:tav tm="100000">
                                          <p:val>
                                            <p:strVal val="#ppt_y"/>
                                          </p:val>
                                        </p:tav>
                                      </p:tavLst>
                                    </p:anim>
                                    <p:set>
                                      <p:cBhvr>
                                        <p:cTn id="27" dur="1" fill="hold">
                                          <p:stCondLst>
                                            <p:cond delay="0"/>
                                          </p:stCondLst>
                                        </p:cTn>
                                        <p:tgtEl>
                                          <p:spTgt spid="12"/>
                                        </p:tgtEl>
                                        <p:attrNameLst>
                                          <p:attrName>style.visibility</p:attrName>
                                        </p:attrNameLst>
                                      </p:cBhvr>
                                      <p:to>
                                        <p:strVal val="visible"/>
                                      </p:to>
                                    </p:set>
                                    <p:animEffect transition="in" filter="fade">
                                      <p:cBhvr>
                                        <p:cTn id="28" dur="420"/>
                                        <p:tgtEl>
                                          <p:spTgt spid="12"/>
                                        </p:tgtEl>
                                      </p:cBhvr>
                                    </p:animEffect>
                                    <p:anim calcmode="lin" valueType="num">
                                      <p:cBhvr additive="base">
                                        <p:cTn id="29" dur="420" fill="hold"/>
                                        <p:tgtEl>
                                          <p:spTgt spid="12"/>
                                        </p:tgtEl>
                                        <p:attrNameLst>
                                          <p:attrName>ppt_y</p:attrName>
                                        </p:attrNameLst>
                                      </p:cBhvr>
                                      <p:tavLst>
                                        <p:tav tm="0">
                                          <p:val>
                                            <p:strVal val="#ppt_y+0.035"/>
                                          </p:val>
                                        </p:tav>
                                        <p:tav tm="100000">
                                          <p:val>
                                            <p:strVal val="#ppt_y"/>
                                          </p:val>
                                        </p:tav>
                                      </p:tavLst>
                                    </p:anim>
                                    <p:set>
                                      <p:cBhvr>
                                        <p:cTn id="30" dur="1" fill="hold">
                                          <p:stCondLst>
                                            <p:cond delay="0"/>
                                          </p:stCondLst>
                                        </p:cTn>
                                        <p:tgtEl>
                                          <p:spTgt spid="48"/>
                                        </p:tgtEl>
                                        <p:attrNameLst>
                                          <p:attrName>style.visibility</p:attrName>
                                        </p:attrNameLst>
                                      </p:cBhvr>
                                      <p:to>
                                        <p:strVal val="visible"/>
                                      </p:to>
                                    </p:set>
                                    <p:animEffect transition="in" filter="fade">
                                      <p:cBhvr>
                                        <p:cTn id="31" dur="420"/>
                                        <p:tgtEl>
                                          <p:spTgt spid="48"/>
                                        </p:tgtEl>
                                      </p:cBhvr>
                                    </p:animEffect>
                                    <p:anim calcmode="lin" valueType="num">
                                      <p:cBhvr additive="base">
                                        <p:cTn id="32" dur="420" fill="hold"/>
                                        <p:tgtEl>
                                          <p:spTgt spid="48"/>
                                        </p:tgtEl>
                                        <p:attrNameLst>
                                          <p:attrName>ppt_y</p:attrName>
                                        </p:attrNameLst>
                                      </p:cBhvr>
                                      <p:tavLst>
                                        <p:tav tm="0">
                                          <p:val>
                                            <p:strVal val="#ppt_y+0.035"/>
                                          </p:val>
                                        </p:tav>
                                        <p:tav tm="100000">
                                          <p:val>
                                            <p:strVal val="#ppt_y"/>
                                          </p:val>
                                        </p:tav>
                                      </p:tavLst>
                                    </p:anim>
                                    <p:set>
                                      <p:cBhvr>
                                        <p:cTn id="33" dur="1" fill="hold">
                                          <p:stCondLst>
                                            <p:cond delay="0"/>
                                          </p:stCondLst>
                                        </p:cTn>
                                        <p:tgtEl>
                                          <p:spTgt spid="9"/>
                                        </p:tgtEl>
                                        <p:attrNameLst>
                                          <p:attrName>style.visibility</p:attrName>
                                        </p:attrNameLst>
                                      </p:cBhvr>
                                      <p:to>
                                        <p:strVal val="visible"/>
                                      </p:to>
                                    </p:set>
                                    <p:animEffect transition="in" filter="fade">
                                      <p:cBhvr>
                                        <p:cTn id="34" dur="420"/>
                                        <p:tgtEl>
                                          <p:spTgt spid="9"/>
                                        </p:tgtEl>
                                      </p:cBhvr>
                                    </p:animEffect>
                                    <p:anim calcmode="lin" valueType="num">
                                      <p:cBhvr additive="base">
                                        <p:cTn id="35" dur="420" fill="hold"/>
                                        <p:tgtEl>
                                          <p:spTgt spid="9"/>
                                        </p:tgtEl>
                                        <p:attrNameLst>
                                          <p:attrName>ppt_y</p:attrName>
                                        </p:attrNameLst>
                                      </p:cBhvr>
                                      <p:tavLst>
                                        <p:tav tm="0">
                                          <p:val>
                                            <p:strVal val="#ppt_y+0.035"/>
                                          </p:val>
                                        </p:tav>
                                        <p:tav tm="100000">
                                          <p:val>
                                            <p:strVal val="#ppt_y"/>
                                          </p:val>
                                        </p:tav>
                                      </p:tavLst>
                                    </p:anim>
                                    <p:set>
                                      <p:cBhvr>
                                        <p:cTn id="36" dur="1" fill="hold">
                                          <p:stCondLst>
                                            <p:cond delay="0"/>
                                          </p:stCondLst>
                                        </p:cTn>
                                        <p:tgtEl>
                                          <p:spTgt spid="49"/>
                                        </p:tgtEl>
                                        <p:attrNameLst>
                                          <p:attrName>style.visibility</p:attrName>
                                        </p:attrNameLst>
                                      </p:cBhvr>
                                      <p:to>
                                        <p:strVal val="visible"/>
                                      </p:to>
                                    </p:set>
                                    <p:animEffect transition="in" filter="fade">
                                      <p:cBhvr>
                                        <p:cTn id="37" dur="420"/>
                                        <p:tgtEl>
                                          <p:spTgt spid="49"/>
                                        </p:tgtEl>
                                      </p:cBhvr>
                                    </p:animEffect>
                                    <p:anim calcmode="lin" valueType="num">
                                      <p:cBhvr additive="base">
                                        <p:cTn id="38" dur="420" fill="hold"/>
                                        <p:tgtEl>
                                          <p:spTgt spid="49"/>
                                        </p:tgtEl>
                                        <p:attrNameLst>
                                          <p:attrName>ppt_y</p:attrName>
                                        </p:attrNameLst>
                                      </p:cBhvr>
                                      <p:tavLst>
                                        <p:tav tm="0">
                                          <p:val>
                                            <p:strVal val="#ppt_y+0.035"/>
                                          </p:val>
                                        </p:tav>
                                        <p:tav tm="100000">
                                          <p:val>
                                            <p:strVal val="#ppt_y"/>
                                          </p:val>
                                        </p:tav>
                                      </p:tavLst>
                                    </p:anim>
                                    <p:set>
                                      <p:cBhvr>
                                        <p:cTn id="39" dur="1" fill="hold">
                                          <p:stCondLst>
                                            <p:cond delay="0"/>
                                          </p:stCondLst>
                                        </p:cTn>
                                        <p:tgtEl>
                                          <p:spTgt spid="24"/>
                                        </p:tgtEl>
                                        <p:attrNameLst>
                                          <p:attrName>style.visibility</p:attrName>
                                        </p:attrNameLst>
                                      </p:cBhvr>
                                      <p:to>
                                        <p:strVal val="visible"/>
                                      </p:to>
                                    </p:set>
                                    <p:animEffect transition="in" filter="fade">
                                      <p:cBhvr>
                                        <p:cTn id="40" dur="420"/>
                                        <p:tgtEl>
                                          <p:spTgt spid="24"/>
                                        </p:tgtEl>
                                      </p:cBhvr>
                                    </p:animEffect>
                                    <p:anim calcmode="lin" valueType="num">
                                      <p:cBhvr additive="base">
                                        <p:cTn id="41" dur="420" fill="hold"/>
                                        <p:tgtEl>
                                          <p:spTgt spid="24"/>
                                        </p:tgtEl>
                                        <p:attrNameLst>
                                          <p:attrName>ppt_y</p:attrName>
                                        </p:attrNameLst>
                                      </p:cBhvr>
                                      <p:tavLst>
                                        <p:tav tm="0">
                                          <p:val>
                                            <p:strVal val="#ppt_y+0.035"/>
                                          </p:val>
                                        </p:tav>
                                        <p:tav tm="100000">
                                          <p:val>
                                            <p:strVal val="#ppt_y"/>
                                          </p:val>
                                        </p:tav>
                                      </p:tavLst>
                                    </p:anim>
                                    <p:set>
                                      <p:cBhvr>
                                        <p:cTn id="42" dur="1" fill="hold">
                                          <p:stCondLst>
                                            <p:cond delay="0"/>
                                          </p:stCondLst>
                                        </p:cTn>
                                        <p:tgtEl>
                                          <p:spTgt spid="15"/>
                                        </p:tgtEl>
                                        <p:attrNameLst>
                                          <p:attrName>style.visibility</p:attrName>
                                        </p:attrNameLst>
                                      </p:cBhvr>
                                      <p:to>
                                        <p:strVal val="visible"/>
                                      </p:to>
                                    </p:set>
                                    <p:animEffect transition="in" filter="fade">
                                      <p:cBhvr>
                                        <p:cTn id="43" dur="420"/>
                                        <p:tgtEl>
                                          <p:spTgt spid="15"/>
                                        </p:tgtEl>
                                      </p:cBhvr>
                                    </p:animEffect>
                                    <p:anim calcmode="lin" valueType="num">
                                      <p:cBhvr additive="base">
                                        <p:cTn id="44" dur="420" fill="hold"/>
                                        <p:tgtEl>
                                          <p:spTgt spid="15"/>
                                        </p:tgtEl>
                                        <p:attrNameLst>
                                          <p:attrName>ppt_y</p:attrName>
                                        </p:attrNameLst>
                                      </p:cBhvr>
                                      <p:tavLst>
                                        <p:tav tm="0">
                                          <p:val>
                                            <p:strVal val="#ppt_y+0.035"/>
                                          </p:val>
                                        </p:tav>
                                        <p:tav tm="100000">
                                          <p:val>
                                            <p:strVal val="#ppt_y"/>
                                          </p:val>
                                        </p:tav>
                                      </p:tavLst>
                                    </p:anim>
                                    <p:set>
                                      <p:cBhvr>
                                        <p:cTn id="45" dur="1" fill="hold">
                                          <p:stCondLst>
                                            <p:cond delay="0"/>
                                          </p:stCondLst>
                                        </p:cTn>
                                        <p:tgtEl>
                                          <p:spTgt spid="25"/>
                                        </p:tgtEl>
                                        <p:attrNameLst>
                                          <p:attrName>style.visibility</p:attrName>
                                        </p:attrNameLst>
                                      </p:cBhvr>
                                      <p:to>
                                        <p:strVal val="visible"/>
                                      </p:to>
                                    </p:set>
                                    <p:animEffect transition="in" filter="fade">
                                      <p:cBhvr>
                                        <p:cTn id="46" dur="420"/>
                                        <p:tgtEl>
                                          <p:spTgt spid="25"/>
                                        </p:tgtEl>
                                      </p:cBhvr>
                                    </p:animEffect>
                                    <p:anim calcmode="lin" valueType="num">
                                      <p:cBhvr additive="base">
                                        <p:cTn id="47" dur="420" fill="hold"/>
                                        <p:tgtEl>
                                          <p:spTgt spid="25"/>
                                        </p:tgtEl>
                                        <p:attrNameLst>
                                          <p:attrName>ppt_y</p:attrName>
                                        </p:attrNameLst>
                                      </p:cBhvr>
                                      <p:tavLst>
                                        <p:tav tm="0">
                                          <p:val>
                                            <p:strVal val="#ppt_y+0.035"/>
                                          </p:val>
                                        </p:tav>
                                        <p:tav tm="100000">
                                          <p:val>
                                            <p:strVal val="#ppt_y"/>
                                          </p:val>
                                        </p:tav>
                                      </p:tavLst>
                                    </p:anim>
                                    <p:set>
                                      <p:cBhvr>
                                        <p:cTn id="48" dur="1" fill="hold">
                                          <p:stCondLst>
                                            <p:cond delay="0"/>
                                          </p:stCondLst>
                                        </p:cTn>
                                        <p:tgtEl>
                                          <p:spTgt spid="29"/>
                                        </p:tgtEl>
                                        <p:attrNameLst>
                                          <p:attrName>style.visibility</p:attrName>
                                        </p:attrNameLst>
                                      </p:cBhvr>
                                      <p:to>
                                        <p:strVal val="visible"/>
                                      </p:to>
                                    </p:set>
                                    <p:animEffect transition="in" filter="fade">
                                      <p:cBhvr>
                                        <p:cTn id="49" dur="420"/>
                                        <p:tgtEl>
                                          <p:spTgt spid="29"/>
                                        </p:tgtEl>
                                      </p:cBhvr>
                                    </p:animEffect>
                                    <p:anim calcmode="lin" valueType="num">
                                      <p:cBhvr additive="base">
                                        <p:cTn id="50" dur="420" fill="hold"/>
                                        <p:tgtEl>
                                          <p:spTgt spid="29"/>
                                        </p:tgtEl>
                                        <p:attrNameLst>
                                          <p:attrName>ppt_y</p:attrName>
                                        </p:attrNameLst>
                                      </p:cBhvr>
                                      <p:tavLst>
                                        <p:tav tm="0">
                                          <p:val>
                                            <p:strVal val="#ppt_y+0.035"/>
                                          </p:val>
                                        </p:tav>
                                        <p:tav tm="100000">
                                          <p:val>
                                            <p:strVal val="#ppt_y"/>
                                          </p:val>
                                        </p:tav>
                                      </p:tavLst>
                                    </p:anim>
                                    <p:set>
                                      <p:cBhvr>
                                        <p:cTn id="51" dur="1" fill="hold">
                                          <p:stCondLst>
                                            <p:cond delay="0"/>
                                          </p:stCondLst>
                                        </p:cTn>
                                        <p:tgtEl>
                                          <p:spTgt spid="30"/>
                                        </p:tgtEl>
                                        <p:attrNameLst>
                                          <p:attrName>style.visibility</p:attrName>
                                        </p:attrNameLst>
                                      </p:cBhvr>
                                      <p:to>
                                        <p:strVal val="visible"/>
                                      </p:to>
                                    </p:set>
                                    <p:animEffect transition="in" filter="fade">
                                      <p:cBhvr>
                                        <p:cTn id="52" dur="420"/>
                                        <p:tgtEl>
                                          <p:spTgt spid="30"/>
                                        </p:tgtEl>
                                      </p:cBhvr>
                                    </p:animEffect>
                                    <p:anim calcmode="lin" valueType="num">
                                      <p:cBhvr additive="base">
                                        <p:cTn id="53" dur="420" fill="hold"/>
                                        <p:tgtEl>
                                          <p:spTgt spid="30"/>
                                        </p:tgtEl>
                                        <p:attrNameLst>
                                          <p:attrName>ppt_y</p:attrName>
                                        </p:attrNameLst>
                                      </p:cBhvr>
                                      <p:tavLst>
                                        <p:tav tm="0">
                                          <p:val>
                                            <p:strVal val="#ppt_y+0.035"/>
                                          </p:val>
                                        </p:tav>
                                        <p:tav tm="100000">
                                          <p:val>
                                            <p:strVal val="#ppt_y"/>
                                          </p:val>
                                        </p:tav>
                                      </p:tavLst>
                                    </p:anim>
                                    <p:set>
                                      <p:cBhvr>
                                        <p:cTn id="54" dur="1" fill="hold">
                                          <p:stCondLst>
                                            <p:cond delay="0"/>
                                          </p:stCondLst>
                                        </p:cTn>
                                        <p:tgtEl>
                                          <p:spTgt spid="50"/>
                                        </p:tgtEl>
                                        <p:attrNameLst>
                                          <p:attrName>style.visibility</p:attrName>
                                        </p:attrNameLst>
                                      </p:cBhvr>
                                      <p:to>
                                        <p:strVal val="visible"/>
                                      </p:to>
                                    </p:set>
                                    <p:animEffect transition="in" filter="fade">
                                      <p:cBhvr>
                                        <p:cTn id="55" dur="420"/>
                                        <p:tgtEl>
                                          <p:spTgt spid="50"/>
                                        </p:tgtEl>
                                      </p:cBhvr>
                                    </p:animEffect>
                                    <p:anim calcmode="lin" valueType="num">
                                      <p:cBhvr additive="base">
                                        <p:cTn id="56" dur="420" fill="hold"/>
                                        <p:tgtEl>
                                          <p:spTgt spid="50"/>
                                        </p:tgtEl>
                                        <p:attrNameLst>
                                          <p:attrName>ppt_y</p:attrName>
                                        </p:attrNameLst>
                                      </p:cBhvr>
                                      <p:tavLst>
                                        <p:tav tm="0">
                                          <p:val>
                                            <p:strVal val="#ppt_y+0.035"/>
                                          </p:val>
                                        </p:tav>
                                        <p:tav tm="100000">
                                          <p:val>
                                            <p:strVal val="#ppt_y"/>
                                          </p:val>
                                        </p:tav>
                                      </p:tavLst>
                                    </p:anim>
                                    <p:set>
                                      <p:cBhvr>
                                        <p:cTn id="57" dur="1" fill="hold">
                                          <p:stCondLst>
                                            <p:cond delay="0"/>
                                          </p:stCondLst>
                                        </p:cTn>
                                        <p:tgtEl>
                                          <p:spTgt spid="26"/>
                                        </p:tgtEl>
                                        <p:attrNameLst>
                                          <p:attrName>style.visibility</p:attrName>
                                        </p:attrNameLst>
                                      </p:cBhvr>
                                      <p:to>
                                        <p:strVal val="visible"/>
                                      </p:to>
                                    </p:set>
                                    <p:animEffect transition="in" filter="fade">
                                      <p:cBhvr>
                                        <p:cTn id="58" dur="420"/>
                                        <p:tgtEl>
                                          <p:spTgt spid="26"/>
                                        </p:tgtEl>
                                      </p:cBhvr>
                                    </p:animEffect>
                                    <p:anim calcmode="lin" valueType="num">
                                      <p:cBhvr additive="base">
                                        <p:cTn id="59" dur="420" fill="hold"/>
                                        <p:tgtEl>
                                          <p:spTgt spid="26"/>
                                        </p:tgtEl>
                                        <p:attrNameLst>
                                          <p:attrName>ppt_y</p:attrName>
                                        </p:attrNameLst>
                                      </p:cBhvr>
                                      <p:tavLst>
                                        <p:tav tm="0">
                                          <p:val>
                                            <p:strVal val="#ppt_y+0.035"/>
                                          </p:val>
                                        </p:tav>
                                        <p:tav tm="100000">
                                          <p:val>
                                            <p:strVal val="#ppt_y"/>
                                          </p:val>
                                        </p:tav>
                                      </p:tavLst>
                                    </p:anim>
                                    <p:set>
                                      <p:cBhvr>
                                        <p:cTn id="60" dur="1" fill="hold">
                                          <p:stCondLst>
                                            <p:cond delay="0"/>
                                          </p:stCondLst>
                                        </p:cTn>
                                        <p:tgtEl>
                                          <p:spTgt spid="28"/>
                                        </p:tgtEl>
                                        <p:attrNameLst>
                                          <p:attrName>style.visibility</p:attrName>
                                        </p:attrNameLst>
                                      </p:cBhvr>
                                      <p:to>
                                        <p:strVal val="visible"/>
                                      </p:to>
                                    </p:set>
                                    <p:animEffect transition="in" filter="fade">
                                      <p:cBhvr>
                                        <p:cTn id="61" dur="420"/>
                                        <p:tgtEl>
                                          <p:spTgt spid="28"/>
                                        </p:tgtEl>
                                      </p:cBhvr>
                                    </p:animEffect>
                                    <p:anim calcmode="lin" valueType="num">
                                      <p:cBhvr additive="base">
                                        <p:cTn id="62" dur="420" fill="hold"/>
                                        <p:tgtEl>
                                          <p:spTgt spid="28"/>
                                        </p:tgtEl>
                                        <p:attrNameLst>
                                          <p:attrName>ppt_y</p:attrName>
                                        </p:attrNameLst>
                                      </p:cBhvr>
                                      <p:tavLst>
                                        <p:tav tm="0">
                                          <p:val>
                                            <p:strVal val="#ppt_y+0.035"/>
                                          </p:val>
                                        </p:tav>
                                        <p:tav tm="100000">
                                          <p:val>
                                            <p:strVal val="#ppt_y"/>
                                          </p:val>
                                        </p:tav>
                                      </p:tavLst>
                                    </p:anim>
                                    <p:set>
                                      <p:cBhvr>
                                        <p:cTn id="63" dur="1" fill="hold">
                                          <p:stCondLst>
                                            <p:cond delay="0"/>
                                          </p:stCondLst>
                                        </p:cTn>
                                        <p:tgtEl>
                                          <p:spTgt spid="16"/>
                                        </p:tgtEl>
                                        <p:attrNameLst>
                                          <p:attrName>style.visibility</p:attrName>
                                        </p:attrNameLst>
                                      </p:cBhvr>
                                      <p:to>
                                        <p:strVal val="visible"/>
                                      </p:to>
                                    </p:set>
                                    <p:animEffect transition="in" filter="fade">
                                      <p:cBhvr>
                                        <p:cTn id="64" dur="420"/>
                                        <p:tgtEl>
                                          <p:spTgt spid="16"/>
                                        </p:tgtEl>
                                      </p:cBhvr>
                                    </p:animEffect>
                                    <p:anim calcmode="lin" valueType="num">
                                      <p:cBhvr additive="base">
                                        <p:cTn id="65" dur="420" fill="hold"/>
                                        <p:tgtEl>
                                          <p:spTgt spid="16"/>
                                        </p:tgtEl>
                                        <p:attrNameLst>
                                          <p:attrName>ppt_y</p:attrName>
                                        </p:attrNameLst>
                                      </p:cBhvr>
                                      <p:tavLst>
                                        <p:tav tm="0">
                                          <p:val>
                                            <p:strVal val="#ppt_y+0.035"/>
                                          </p:val>
                                        </p:tav>
                                        <p:tav tm="100000">
                                          <p:val>
                                            <p:strVal val="#ppt_y"/>
                                          </p:val>
                                        </p:tav>
                                      </p:tavLst>
                                    </p:anim>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35"/>
                                          </p:val>
                                        </p:tav>
                                        <p:tav tm="100000">
                                          <p:val>
                                            <p:strVal val="#ppt_y"/>
                                          </p:val>
                                        </p:tav>
                                      </p:tavLst>
                                    </p:anim>
                                    <p:set>
                                      <p:cBhvr>
                                        <p:cTn id="69" dur="1" fill="hold">
                                          <p:stCondLst>
                                            <p:cond delay="0"/>
                                          </p:stCondLst>
                                        </p:cTn>
                                        <p:tgtEl>
                                          <p:spTgt spid="18"/>
                                        </p:tgtEl>
                                        <p:attrNameLst>
                                          <p:attrName>style.visibility</p:attrName>
                                        </p:attrNameLst>
                                      </p:cBhvr>
                                      <p:to>
                                        <p:strVal val="visible"/>
                                      </p:to>
                                    </p:set>
                                    <p:animEffect transition="in" filter="fade">
                                      <p:cBhvr>
                                        <p:cTn id="70" dur="420"/>
                                        <p:tgtEl>
                                          <p:spTgt spid="18"/>
                                        </p:tgtEl>
                                      </p:cBhvr>
                                    </p:animEffect>
                                    <p:anim calcmode="lin" valueType="num">
                                      <p:cBhvr additive="base">
                                        <p:cTn id="71" dur="420" fill="hold"/>
                                        <p:tgtEl>
                                          <p:spTgt spid="18"/>
                                        </p:tgtEl>
                                        <p:attrNameLst>
                                          <p:attrName>ppt_y</p:attrName>
                                        </p:attrNameLst>
                                      </p:cBhvr>
                                      <p:tavLst>
                                        <p:tav tm="0">
                                          <p:val>
                                            <p:strVal val="#ppt_y+0.035"/>
                                          </p:val>
                                        </p:tav>
                                        <p:tav tm="100000">
                                          <p:val>
                                            <p:strVal val="#ppt_y"/>
                                          </p:val>
                                        </p:tav>
                                      </p:tavLst>
                                    </p:anim>
                                    <p:set>
                                      <p:cBhvr>
                                        <p:cTn id="72"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4" dur="420" fill="hold"/>
                                        <p:tgtEl>
                                          <p:spTgt spid="27"/>
                                        </p:tgtEl>
                                        <p:attrNameLst>
                                          <p:attrName>ppt_y</p:attrName>
                                        </p:attrNameLst>
                                      </p:cBhvr>
                                      <p:tavLst>
                                        <p:tav tm="0">
                                          <p:val>
                                            <p:strVal val="#ppt_y+0.035"/>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420"/>
                                        <p:tgtEl>
                                          <p:spTgt spid="19"/>
                                        </p:tgtEl>
                                      </p:cBhvr>
                                    </p:animEffect>
                                    <p:anim calcmode="lin" valueType="num">
                                      <p:cBhvr additive="base">
                                        <p:cTn id="80" dur="420" fill="hold"/>
                                        <p:tgtEl>
                                          <p:spTgt spid="19"/>
                                        </p:tgtEl>
                                        <p:attrNameLst>
                                          <p:attrName>ppt_y</p:attrName>
                                        </p:attrNameLst>
                                      </p:cBhvr>
                                      <p:tavLst>
                                        <p:tav tm="0">
                                          <p:val>
                                            <p:strVal val="#ppt_y+0.035"/>
                                          </p:val>
                                        </p:tav>
                                        <p:tav tm="100000">
                                          <p:val>
                                            <p:strVal val="#ppt_y"/>
                                          </p:val>
                                        </p:tav>
                                      </p:tavLst>
                                    </p:anim>
                                    <p:set>
                                      <p:cBhvr>
                                        <p:cTn id="81" dur="1" fill="hold">
                                          <p:stCondLst>
                                            <p:cond delay="0"/>
                                          </p:stCondLst>
                                        </p:cTn>
                                        <p:tgtEl>
                                          <p:spTgt spid="20"/>
                                        </p:tgtEl>
                                        <p:attrNameLst>
                                          <p:attrName>style.visibility</p:attrName>
                                        </p:attrNameLst>
                                      </p:cBhvr>
                                      <p:to>
                                        <p:strVal val="visible"/>
                                      </p:to>
                                    </p:set>
                                    <p:animEffect transition="in" filter="fade">
                                      <p:cBhvr>
                                        <p:cTn id="82" dur="420"/>
                                        <p:tgtEl>
                                          <p:spTgt spid="20"/>
                                        </p:tgtEl>
                                      </p:cBhvr>
                                    </p:animEffect>
                                    <p:anim calcmode="lin" valueType="num">
                                      <p:cBhvr additive="base">
                                        <p:cTn id="83" dur="420" fill="hold"/>
                                        <p:tgtEl>
                                          <p:spTgt spid="20"/>
                                        </p:tgtEl>
                                        <p:attrNameLst>
                                          <p:attrName>ppt_y</p:attrName>
                                        </p:attrNameLst>
                                      </p:cBhvr>
                                      <p:tavLst>
                                        <p:tav tm="0">
                                          <p:val>
                                            <p:strVal val="#ppt_y+0.035"/>
                                          </p:val>
                                        </p:tav>
                                        <p:tav tm="100000">
                                          <p:val>
                                            <p:strVal val="#ppt_y"/>
                                          </p:val>
                                        </p:tav>
                                      </p:tavLst>
                                    </p:anim>
                                    <p:set>
                                      <p:cBhvr>
                                        <p:cTn id="84" dur="1" fill="hold">
                                          <p:stCondLst>
                                            <p:cond delay="0"/>
                                          </p:stCondLst>
                                        </p:cTn>
                                        <p:tgtEl>
                                          <p:spTgt spid="21"/>
                                        </p:tgtEl>
                                        <p:attrNameLst>
                                          <p:attrName>style.visibility</p:attrName>
                                        </p:attrNameLst>
                                      </p:cBhvr>
                                      <p:to>
                                        <p:strVal val="visible"/>
                                      </p:to>
                                    </p:set>
                                    <p:animEffect transition="in" filter="fade">
                                      <p:cBhvr>
                                        <p:cTn id="85" dur="420"/>
                                        <p:tgtEl>
                                          <p:spTgt spid="21"/>
                                        </p:tgtEl>
                                      </p:cBhvr>
                                    </p:animEffect>
                                    <p:anim calcmode="lin" valueType="num">
                                      <p:cBhvr additive="base">
                                        <p:cTn id="86" dur="420" fill="hold"/>
                                        <p:tgtEl>
                                          <p:spTgt spid="21"/>
                                        </p:tgtEl>
                                        <p:attrNameLst>
                                          <p:attrName>ppt_y</p:attrName>
                                        </p:attrNameLst>
                                      </p:cBhvr>
                                      <p:tavLst>
                                        <p:tav tm="0">
                                          <p:val>
                                            <p:strVal val="#ppt_y+0.035"/>
                                          </p:val>
                                        </p:tav>
                                        <p:tav tm="100000">
                                          <p:val>
                                            <p:strVal val="#ppt_y"/>
                                          </p:val>
                                        </p:tav>
                                      </p:tavLst>
                                    </p:anim>
                                    <p:set>
                                      <p:cBhvr>
                                        <p:cTn id="87" dur="1" fill="hold">
                                          <p:stCondLst>
                                            <p:cond delay="0"/>
                                          </p:stCondLst>
                                        </p:cTn>
                                        <p:tgtEl>
                                          <p:spTgt spid="22"/>
                                        </p:tgtEl>
                                        <p:attrNameLst>
                                          <p:attrName>style.visibility</p:attrName>
                                        </p:attrNameLst>
                                      </p:cBhvr>
                                      <p:to>
                                        <p:strVal val="visible"/>
                                      </p:to>
                                    </p:set>
                                    <p:animEffect transition="in" filter="fade">
                                      <p:cBhvr>
                                        <p:cTn id="88" dur="420"/>
                                        <p:tgtEl>
                                          <p:spTgt spid="22"/>
                                        </p:tgtEl>
                                      </p:cBhvr>
                                    </p:animEffect>
                                    <p:anim calcmode="lin" valueType="num">
                                      <p:cBhvr additive="base">
                                        <p:cTn id="89" dur="420" fill="hold"/>
                                        <p:tgtEl>
                                          <p:spTgt spid="22"/>
                                        </p:tgtEl>
                                        <p:attrNameLst>
                                          <p:attrName>ppt_y</p:attrName>
                                        </p:attrNameLst>
                                      </p:cBhvr>
                                      <p:tavLst>
                                        <p:tav tm="0">
                                          <p:val>
                                            <p:strVal val="#ppt_y+0.035"/>
                                          </p:val>
                                        </p:tav>
                                        <p:tav tm="100000">
                                          <p:val>
                                            <p:strVal val="#ppt_y"/>
                                          </p:val>
                                        </p:tav>
                                      </p:tavLst>
                                    </p:anim>
                                    <p:set>
                                      <p:cBhvr>
                                        <p:cTn id="90" dur="1" fill="hold">
                                          <p:stCondLst>
                                            <p:cond delay="0"/>
                                          </p:stCondLst>
                                        </p:cTn>
                                        <p:tgtEl>
                                          <p:spTgt spid="23"/>
                                        </p:tgtEl>
                                        <p:attrNameLst>
                                          <p:attrName>style.visibility</p:attrName>
                                        </p:attrNameLst>
                                      </p:cBhvr>
                                      <p:to>
                                        <p:strVal val="visible"/>
                                      </p:to>
                                    </p:set>
                                    <p:animEffect transition="in" filter="fade">
                                      <p:cBhvr>
                                        <p:cTn id="91" dur="420"/>
                                        <p:tgtEl>
                                          <p:spTgt spid="23"/>
                                        </p:tgtEl>
                                      </p:cBhvr>
                                    </p:animEffect>
                                    <p:anim calcmode="lin" valueType="num">
                                      <p:cBhvr additive="base">
                                        <p:cTn id="92" dur="420" fill="hold"/>
                                        <p:tgtEl>
                                          <p:spTgt spid="23"/>
                                        </p:tgtEl>
                                        <p:attrNameLst>
                                          <p:attrName>ppt_y</p:attrName>
                                        </p:attrNameLst>
                                      </p:cBhvr>
                                      <p:tavLst>
                                        <p:tav tm="0">
                                          <p:val>
                                            <p:strVal val="#ppt_y+0.035"/>
                                          </p:val>
                                        </p:tav>
                                        <p:tav tm="100000">
                                          <p:val>
                                            <p:strVal val="#ppt_y"/>
                                          </p:val>
                                        </p:tav>
                                      </p:tavLst>
                                    </p:anim>
                                    <p:set>
                                      <p:cBhvr>
                                        <p:cTn id="93" dur="1" fill="hold">
                                          <p:stCondLst>
                                            <p:cond delay="0"/>
                                          </p:stCondLst>
                                        </p:cTn>
                                        <p:tgtEl>
                                          <p:spTgt spid="38"/>
                                        </p:tgtEl>
                                        <p:attrNameLst>
                                          <p:attrName>style.visibility</p:attrName>
                                        </p:attrNameLst>
                                      </p:cBhvr>
                                      <p:to>
                                        <p:strVal val="visible"/>
                                      </p:to>
                                    </p:set>
                                    <p:animEffect transition="in" filter="fade">
                                      <p:cBhvr>
                                        <p:cTn id="94" dur="420"/>
                                        <p:tgtEl>
                                          <p:spTgt spid="38"/>
                                        </p:tgtEl>
                                      </p:cBhvr>
                                    </p:animEffect>
                                    <p:anim calcmode="lin" valueType="num">
                                      <p:cBhvr additive="base">
                                        <p:cTn id="95" dur="420" fill="hold"/>
                                        <p:tgtEl>
                                          <p:spTgt spid="38"/>
                                        </p:tgtEl>
                                        <p:attrNameLst>
                                          <p:attrName>ppt_y</p:attrName>
                                        </p:attrNameLst>
                                      </p:cBhvr>
                                      <p:tavLst>
                                        <p:tav tm="0">
                                          <p:val>
                                            <p:strVal val="#ppt_y+0.035"/>
                                          </p:val>
                                        </p:tav>
                                        <p:tav tm="100000">
                                          <p:val>
                                            <p:strVal val="#ppt_y"/>
                                          </p:val>
                                        </p:tav>
                                      </p:tavLst>
                                    </p:anim>
                                    <p:set>
                                      <p:cBhvr>
                                        <p:cTn id="96" dur="1" fill="hold">
                                          <p:stCondLst>
                                            <p:cond delay="0"/>
                                          </p:stCondLst>
                                        </p:cTn>
                                        <p:tgtEl>
                                          <p:spTgt spid="39"/>
                                        </p:tgtEl>
                                        <p:attrNameLst>
                                          <p:attrName>style.visibility</p:attrName>
                                        </p:attrNameLst>
                                      </p:cBhvr>
                                      <p:to>
                                        <p:strVal val="visible"/>
                                      </p:to>
                                    </p:set>
                                    <p:animEffect transition="in" filter="fade">
                                      <p:cBhvr>
                                        <p:cTn id="97" dur="420"/>
                                        <p:tgtEl>
                                          <p:spTgt spid="39"/>
                                        </p:tgtEl>
                                      </p:cBhvr>
                                    </p:animEffect>
                                    <p:anim calcmode="lin" valueType="num">
                                      <p:cBhvr additive="base">
                                        <p:cTn id="98" dur="420" fill="hold"/>
                                        <p:tgtEl>
                                          <p:spTgt spid="39"/>
                                        </p:tgtEl>
                                        <p:attrNameLst>
                                          <p:attrName>ppt_y</p:attrName>
                                        </p:attrNameLst>
                                      </p:cBhvr>
                                      <p:tavLst>
                                        <p:tav tm="0">
                                          <p:val>
                                            <p:strVal val="#ppt_y+0.035"/>
                                          </p:val>
                                        </p:tav>
                                        <p:tav tm="100000">
                                          <p:val>
                                            <p:strVal val="#ppt_y"/>
                                          </p:val>
                                        </p:tav>
                                      </p:tavLst>
                                    </p:anim>
                                    <p:set>
                                      <p:cBhvr>
                                        <p:cTn id="99" dur="1" fill="hold">
                                          <p:stCondLst>
                                            <p:cond delay="0"/>
                                          </p:stCondLst>
                                        </p:cTn>
                                        <p:tgtEl>
                                          <p:spTgt spid="31"/>
                                        </p:tgtEl>
                                        <p:attrNameLst>
                                          <p:attrName>style.visibility</p:attrName>
                                        </p:attrNameLst>
                                      </p:cBhvr>
                                      <p:to>
                                        <p:strVal val="visible"/>
                                      </p:to>
                                    </p:set>
                                    <p:animEffect transition="in" filter="fade">
                                      <p:cBhvr>
                                        <p:cTn id="100" dur="420"/>
                                        <p:tgtEl>
                                          <p:spTgt spid="31"/>
                                        </p:tgtEl>
                                      </p:cBhvr>
                                    </p:animEffect>
                                    <p:anim calcmode="lin" valueType="num">
                                      <p:cBhvr additive="base">
                                        <p:cTn id="101" dur="420" fill="hold"/>
                                        <p:tgtEl>
                                          <p:spTgt spid="31"/>
                                        </p:tgtEl>
                                        <p:attrNameLst>
                                          <p:attrName>ppt_y</p:attrName>
                                        </p:attrNameLst>
                                      </p:cBhvr>
                                      <p:tavLst>
                                        <p:tav tm="0">
                                          <p:val>
                                            <p:strVal val="#ppt_y+0.035"/>
                                          </p:val>
                                        </p:tav>
                                        <p:tav tm="100000">
                                          <p:val>
                                            <p:strVal val="#ppt_y"/>
                                          </p:val>
                                        </p:tav>
                                      </p:tavLst>
                                    </p:anim>
                                    <p:set>
                                      <p:cBhvr>
                                        <p:cTn id="102" dur="1" fill="hold">
                                          <p:stCondLst>
                                            <p:cond delay="0"/>
                                          </p:stCondLst>
                                        </p:cTn>
                                        <p:tgtEl>
                                          <p:spTgt spid="32"/>
                                        </p:tgtEl>
                                        <p:attrNameLst>
                                          <p:attrName>style.visibility</p:attrName>
                                        </p:attrNameLst>
                                      </p:cBhvr>
                                      <p:to>
                                        <p:strVal val="visible"/>
                                      </p:to>
                                    </p:set>
                                    <p:animEffect transition="in" filter="fade">
                                      <p:cBhvr>
                                        <p:cTn id="103" dur="420"/>
                                        <p:tgtEl>
                                          <p:spTgt spid="32"/>
                                        </p:tgtEl>
                                      </p:cBhvr>
                                    </p:animEffect>
                                    <p:anim calcmode="lin" valueType="num">
                                      <p:cBhvr additive="base">
                                        <p:cTn id="104" dur="420" fill="hold"/>
                                        <p:tgtEl>
                                          <p:spTgt spid="32"/>
                                        </p:tgtEl>
                                        <p:attrNameLst>
                                          <p:attrName>ppt_y</p:attrName>
                                        </p:attrNameLst>
                                      </p:cBhvr>
                                      <p:tavLst>
                                        <p:tav tm="0">
                                          <p:val>
                                            <p:strVal val="#ppt_y+0.035"/>
                                          </p:val>
                                        </p:tav>
                                        <p:tav tm="100000">
                                          <p:val>
                                            <p:strVal val="#ppt_y"/>
                                          </p:val>
                                        </p:tav>
                                      </p:tavLst>
                                    </p:anim>
                                    <p:set>
                                      <p:cBhvr>
                                        <p:cTn id="105" dur="1" fill="hold">
                                          <p:stCondLst>
                                            <p:cond delay="0"/>
                                          </p:stCondLst>
                                        </p:cTn>
                                        <p:tgtEl>
                                          <p:spTgt spid="51"/>
                                        </p:tgtEl>
                                        <p:attrNameLst>
                                          <p:attrName>style.visibility</p:attrName>
                                        </p:attrNameLst>
                                      </p:cBhvr>
                                      <p:to>
                                        <p:strVal val="visible"/>
                                      </p:to>
                                    </p:set>
                                    <p:animEffect transition="in" filter="fade">
                                      <p:cBhvr>
                                        <p:cTn id="106" dur="420"/>
                                        <p:tgtEl>
                                          <p:spTgt spid="51"/>
                                        </p:tgtEl>
                                      </p:cBhvr>
                                    </p:animEffect>
                                    <p:anim calcmode="lin" valueType="num">
                                      <p:cBhvr additive="base">
                                        <p:cTn id="107" dur="420" fill="hold"/>
                                        <p:tgtEl>
                                          <p:spTgt spid="51"/>
                                        </p:tgtEl>
                                        <p:attrNameLst>
                                          <p:attrName>ppt_y</p:attrName>
                                        </p:attrNameLst>
                                      </p:cBhvr>
                                      <p:tavLst>
                                        <p:tav tm="0">
                                          <p:val>
                                            <p:strVal val="#ppt_y+0.035"/>
                                          </p:val>
                                        </p:tav>
                                        <p:tav tm="100000">
                                          <p:val>
                                            <p:strVal val="#ppt_y"/>
                                          </p:val>
                                        </p:tav>
                                      </p:tavLst>
                                    </p:anim>
                                    <p:set>
                                      <p:cBhvr>
                                        <p:cTn id="108" dur="1" fill="hold">
                                          <p:stCondLst>
                                            <p:cond delay="0"/>
                                          </p:stCondLst>
                                        </p:cTn>
                                        <p:tgtEl>
                                          <p:spTgt spid="33"/>
                                        </p:tgtEl>
                                        <p:attrNameLst>
                                          <p:attrName>style.visibility</p:attrName>
                                        </p:attrNameLst>
                                      </p:cBhvr>
                                      <p:to>
                                        <p:strVal val="visible"/>
                                      </p:to>
                                    </p:set>
                                    <p:animEffect transition="in" filter="fade">
                                      <p:cBhvr>
                                        <p:cTn id="109" dur="420"/>
                                        <p:tgtEl>
                                          <p:spTgt spid="33"/>
                                        </p:tgtEl>
                                      </p:cBhvr>
                                    </p:animEffect>
                                    <p:anim calcmode="lin" valueType="num">
                                      <p:cBhvr additive="base">
                                        <p:cTn id="110" dur="420" fill="hold"/>
                                        <p:tgtEl>
                                          <p:spTgt spid="33"/>
                                        </p:tgtEl>
                                        <p:attrNameLst>
                                          <p:attrName>ppt_y</p:attrName>
                                        </p:attrNameLst>
                                      </p:cBhvr>
                                      <p:tavLst>
                                        <p:tav tm="0">
                                          <p:val>
                                            <p:strVal val="#ppt_y+0.035"/>
                                          </p:val>
                                        </p:tav>
                                        <p:tav tm="100000">
                                          <p:val>
                                            <p:strVal val="#ppt_y"/>
                                          </p:val>
                                        </p:tav>
                                      </p:tavLst>
                                    </p:anim>
                                    <p:set>
                                      <p:cBhvr>
                                        <p:cTn id="111" dur="1" fill="hold">
                                          <p:stCondLst>
                                            <p:cond delay="0"/>
                                          </p:stCondLst>
                                        </p:cTn>
                                        <p:tgtEl>
                                          <p:spTgt spid="52"/>
                                        </p:tgtEl>
                                        <p:attrNameLst>
                                          <p:attrName>style.visibility</p:attrName>
                                        </p:attrNameLst>
                                      </p:cBhvr>
                                      <p:to>
                                        <p:strVal val="visible"/>
                                      </p:to>
                                    </p:set>
                                    <p:animEffect transition="in" filter="fade">
                                      <p:cBhvr>
                                        <p:cTn id="112" dur="420"/>
                                        <p:tgtEl>
                                          <p:spTgt spid="52"/>
                                        </p:tgtEl>
                                      </p:cBhvr>
                                    </p:animEffect>
                                    <p:anim calcmode="lin" valueType="num">
                                      <p:cBhvr additive="base">
                                        <p:cTn id="113" dur="420" fill="hold"/>
                                        <p:tgtEl>
                                          <p:spTgt spid="52"/>
                                        </p:tgtEl>
                                        <p:attrNameLst>
                                          <p:attrName>ppt_y</p:attrName>
                                        </p:attrNameLst>
                                      </p:cBhvr>
                                      <p:tavLst>
                                        <p:tav tm="0">
                                          <p:val>
                                            <p:strVal val="#ppt_y+0.035"/>
                                          </p:val>
                                        </p:tav>
                                        <p:tav tm="100000">
                                          <p:val>
                                            <p:strVal val="#ppt_y"/>
                                          </p:val>
                                        </p:tav>
                                      </p:tavLst>
                                    </p:anim>
                                    <p:set>
                                      <p:cBhvr>
                                        <p:cTn id="114" dur="1" fill="hold">
                                          <p:stCondLst>
                                            <p:cond delay="0"/>
                                          </p:stCondLst>
                                        </p:cTn>
                                        <p:tgtEl>
                                          <p:spTgt spid="34"/>
                                        </p:tgtEl>
                                        <p:attrNameLst>
                                          <p:attrName>style.visibility</p:attrName>
                                        </p:attrNameLst>
                                      </p:cBhvr>
                                      <p:to>
                                        <p:strVal val="visible"/>
                                      </p:to>
                                    </p:set>
                                    <p:animEffect transition="in" filter="fade">
                                      <p:cBhvr>
                                        <p:cTn id="115" dur="420"/>
                                        <p:tgtEl>
                                          <p:spTgt spid="34"/>
                                        </p:tgtEl>
                                      </p:cBhvr>
                                    </p:animEffect>
                                    <p:anim calcmode="lin" valueType="num">
                                      <p:cBhvr additive="base">
                                        <p:cTn id="116" dur="420" fill="hold"/>
                                        <p:tgtEl>
                                          <p:spTgt spid="34"/>
                                        </p:tgtEl>
                                        <p:attrNameLst>
                                          <p:attrName>ppt_y</p:attrName>
                                        </p:attrNameLst>
                                      </p:cBhvr>
                                      <p:tavLst>
                                        <p:tav tm="0">
                                          <p:val>
                                            <p:strVal val="#ppt_y+0.035"/>
                                          </p:val>
                                        </p:tav>
                                        <p:tav tm="100000">
                                          <p:val>
                                            <p:strVal val="#ppt_y"/>
                                          </p:val>
                                        </p:tav>
                                      </p:tavLst>
                                    </p:anim>
                                    <p:set>
                                      <p:cBhvr>
                                        <p:cTn id="117" dur="1" fill="hold">
                                          <p:stCondLst>
                                            <p:cond delay="0"/>
                                          </p:stCondLst>
                                        </p:cTn>
                                        <p:tgtEl>
                                          <p:spTgt spid="35"/>
                                        </p:tgtEl>
                                        <p:attrNameLst>
                                          <p:attrName>style.visibility</p:attrName>
                                        </p:attrNameLst>
                                      </p:cBhvr>
                                      <p:to>
                                        <p:strVal val="visible"/>
                                      </p:to>
                                    </p:set>
                                    <p:animEffect transition="in" filter="fade">
                                      <p:cBhvr>
                                        <p:cTn id="118" dur="420"/>
                                        <p:tgtEl>
                                          <p:spTgt spid="35"/>
                                        </p:tgtEl>
                                      </p:cBhvr>
                                    </p:animEffect>
                                    <p:anim calcmode="lin" valueType="num">
                                      <p:cBhvr additive="base">
                                        <p:cTn id="119" dur="420" fill="hold"/>
                                        <p:tgtEl>
                                          <p:spTgt spid="35"/>
                                        </p:tgtEl>
                                        <p:attrNameLst>
                                          <p:attrName>ppt_y</p:attrName>
                                        </p:attrNameLst>
                                      </p:cBhvr>
                                      <p:tavLst>
                                        <p:tav tm="0">
                                          <p:val>
                                            <p:strVal val="#ppt_y+0.035"/>
                                          </p:val>
                                        </p:tav>
                                        <p:tav tm="100000">
                                          <p:val>
                                            <p:strVal val="#ppt_y"/>
                                          </p:val>
                                        </p:tav>
                                      </p:tavLst>
                                    </p:anim>
                                    <p:set>
                                      <p:cBhvr>
                                        <p:cTn id="120" dur="1" fill="hold">
                                          <p:stCondLst>
                                            <p:cond delay="0"/>
                                          </p:stCondLst>
                                        </p:cTn>
                                        <p:tgtEl>
                                          <p:spTgt spid="53"/>
                                        </p:tgtEl>
                                        <p:attrNameLst>
                                          <p:attrName>style.visibility</p:attrName>
                                        </p:attrNameLst>
                                      </p:cBhvr>
                                      <p:to>
                                        <p:strVal val="visible"/>
                                      </p:to>
                                    </p:set>
                                    <p:animEffect transition="in" filter="fade">
                                      <p:cBhvr>
                                        <p:cTn id="121" dur="420"/>
                                        <p:tgtEl>
                                          <p:spTgt spid="53"/>
                                        </p:tgtEl>
                                      </p:cBhvr>
                                    </p:animEffect>
                                    <p:anim calcmode="lin" valueType="num">
                                      <p:cBhvr additive="base">
                                        <p:cTn id="122" dur="420" fill="hold"/>
                                        <p:tgtEl>
                                          <p:spTgt spid="53"/>
                                        </p:tgtEl>
                                        <p:attrNameLst>
                                          <p:attrName>ppt_y</p:attrName>
                                        </p:attrNameLst>
                                      </p:cBhvr>
                                      <p:tavLst>
                                        <p:tav tm="0">
                                          <p:val>
                                            <p:strVal val="#ppt_y+0.035"/>
                                          </p:val>
                                        </p:tav>
                                        <p:tav tm="100000">
                                          <p:val>
                                            <p:strVal val="#ppt_y"/>
                                          </p:val>
                                        </p:tav>
                                      </p:tavLst>
                                    </p:anim>
                                    <p:set>
                                      <p:cBhvr>
                                        <p:cTn id="123" dur="1" fill="hold">
                                          <p:stCondLst>
                                            <p:cond delay="0"/>
                                          </p:stCondLst>
                                        </p:cTn>
                                        <p:tgtEl>
                                          <p:spTgt spid="36"/>
                                        </p:tgtEl>
                                        <p:attrNameLst>
                                          <p:attrName>style.visibility</p:attrName>
                                        </p:attrNameLst>
                                      </p:cBhvr>
                                      <p:to>
                                        <p:strVal val="visible"/>
                                      </p:to>
                                    </p:set>
                                    <p:animEffect transition="in" filter="fade">
                                      <p:cBhvr>
                                        <p:cTn id="124" dur="420"/>
                                        <p:tgtEl>
                                          <p:spTgt spid="36"/>
                                        </p:tgtEl>
                                      </p:cBhvr>
                                    </p:animEffect>
                                    <p:anim calcmode="lin" valueType="num">
                                      <p:cBhvr additive="base">
                                        <p:cTn id="125" dur="420" fill="hold"/>
                                        <p:tgtEl>
                                          <p:spTgt spid="36"/>
                                        </p:tgtEl>
                                        <p:attrNameLst>
                                          <p:attrName>ppt_y</p:attrName>
                                        </p:attrNameLst>
                                      </p:cBhvr>
                                      <p:tavLst>
                                        <p:tav tm="0">
                                          <p:val>
                                            <p:strVal val="#ppt_y+0.035"/>
                                          </p:val>
                                        </p:tav>
                                        <p:tav tm="100000">
                                          <p:val>
                                            <p:strVal val="#ppt_y"/>
                                          </p:val>
                                        </p:tav>
                                      </p:tavLst>
                                    </p:anim>
                                    <p:set>
                                      <p:cBhvr>
                                        <p:cTn id="126" dur="1" fill="hold">
                                          <p:stCondLst>
                                            <p:cond delay="0"/>
                                          </p:stCondLst>
                                        </p:cTn>
                                        <p:tgtEl>
                                          <p:spTgt spid="37"/>
                                        </p:tgtEl>
                                        <p:attrNameLst>
                                          <p:attrName>style.visibility</p:attrName>
                                        </p:attrNameLst>
                                      </p:cBhvr>
                                      <p:to>
                                        <p:strVal val="visible"/>
                                      </p:to>
                                    </p:set>
                                    <p:animEffect transition="in" filter="fade">
                                      <p:cBhvr>
                                        <p:cTn id="127" dur="420"/>
                                        <p:tgtEl>
                                          <p:spTgt spid="37"/>
                                        </p:tgtEl>
                                      </p:cBhvr>
                                    </p:animEffect>
                                    <p:anim calcmode="lin" valueType="num">
                                      <p:cBhvr additive="base">
                                        <p:cTn id="128" dur="420" fill="hold"/>
                                        <p:tgtEl>
                                          <p:spTgt spid="37"/>
                                        </p:tgtEl>
                                        <p:attrNameLst>
                                          <p:attrName>ppt_y</p:attrName>
                                        </p:attrNameLst>
                                      </p:cBhvr>
                                      <p:tavLst>
                                        <p:tav tm="0">
                                          <p:val>
                                            <p:strVal val="#ppt_y+0.035"/>
                                          </p:val>
                                        </p:tav>
                                        <p:tav tm="100000">
                                          <p:val>
                                            <p:strVal val="#ppt_y"/>
                                          </p:val>
                                        </p:tav>
                                      </p:tavLst>
                                    </p:anim>
                                    <p:set>
                                      <p:cBhvr>
                                        <p:cTn id="129" dur="1" fill="hold">
                                          <p:stCondLst>
                                            <p:cond delay="0"/>
                                          </p:stCondLst>
                                        </p:cTn>
                                        <p:tgtEl>
                                          <p:spTgt spid="54"/>
                                        </p:tgtEl>
                                        <p:attrNameLst>
                                          <p:attrName>style.visibility</p:attrName>
                                        </p:attrNameLst>
                                      </p:cBhvr>
                                      <p:to>
                                        <p:strVal val="visible"/>
                                      </p:to>
                                    </p:set>
                                    <p:animEffect transition="in" filter="fade">
                                      <p:cBhvr>
                                        <p:cTn id="130" dur="420"/>
                                        <p:tgtEl>
                                          <p:spTgt spid="54"/>
                                        </p:tgtEl>
                                      </p:cBhvr>
                                    </p:animEffect>
                                    <p:anim calcmode="lin" valueType="num">
                                      <p:cBhvr additive="base">
                                        <p:cTn id="131" dur="420" fill="hold"/>
                                        <p:tgtEl>
                                          <p:spTgt spid="54"/>
                                        </p:tgtEl>
                                        <p:attrNameLst>
                                          <p:attrName>ppt_y</p:attrName>
                                        </p:attrNameLst>
                                      </p:cBhvr>
                                      <p:tavLst>
                                        <p:tav tm="0">
                                          <p:val>
                                            <p:strVal val="#ppt_y+0.035"/>
                                          </p:val>
                                        </p:tav>
                                        <p:tav tm="100000">
                                          <p:val>
                                            <p:strVal val="#ppt_y"/>
                                          </p:val>
                                        </p:tav>
                                      </p:tavLst>
                                    </p:anim>
                                    <p:set>
                                      <p:cBhvr>
                                        <p:cTn id="132" dur="1" fill="hold">
                                          <p:stCondLst>
                                            <p:cond delay="0"/>
                                          </p:stCondLst>
                                        </p:cTn>
                                        <p:tgtEl>
                                          <p:spTgt spid="45"/>
                                        </p:tgtEl>
                                        <p:attrNameLst>
                                          <p:attrName>style.visibility</p:attrName>
                                        </p:attrNameLst>
                                      </p:cBhvr>
                                      <p:to>
                                        <p:strVal val="visible"/>
                                      </p:to>
                                    </p:set>
                                    <p:animEffect transition="in" filter="fade">
                                      <p:cBhvr>
                                        <p:cTn id="133" dur="420"/>
                                        <p:tgtEl>
                                          <p:spTgt spid="45"/>
                                        </p:tgtEl>
                                      </p:cBhvr>
                                    </p:animEffect>
                                    <p:anim calcmode="lin" valueType="num">
                                      <p:cBhvr additive="base">
                                        <p:cTn id="134" dur="420" fill="hold"/>
                                        <p:tgtEl>
                                          <p:spTgt spid="45"/>
                                        </p:tgtEl>
                                        <p:attrNameLst>
                                          <p:attrName>ppt_y</p:attrName>
                                        </p:attrNameLst>
                                      </p:cBhvr>
                                      <p:tavLst>
                                        <p:tav tm="0">
                                          <p:val>
                                            <p:strVal val="#ppt_y+0.035"/>
                                          </p:val>
                                        </p:tav>
                                        <p:tav tm="100000">
                                          <p:val>
                                            <p:strVal val="#ppt_y"/>
                                          </p:val>
                                        </p:tav>
                                      </p:tavLst>
                                    </p:anim>
                                    <p:set>
                                      <p:cBhvr>
                                        <p:cTn id="135" dur="1" fill="hold">
                                          <p:stCondLst>
                                            <p:cond delay="0"/>
                                          </p:stCondLst>
                                        </p:cTn>
                                        <p:tgtEl>
                                          <p:spTgt spid="46"/>
                                        </p:tgtEl>
                                        <p:attrNameLst>
                                          <p:attrName>style.visibility</p:attrName>
                                        </p:attrNameLst>
                                      </p:cBhvr>
                                      <p:to>
                                        <p:strVal val="visible"/>
                                      </p:to>
                                    </p:set>
                                    <p:animEffect transition="in" filter="fade">
                                      <p:cBhvr>
                                        <p:cTn id="136" dur="420"/>
                                        <p:tgtEl>
                                          <p:spTgt spid="46"/>
                                        </p:tgtEl>
                                      </p:cBhvr>
                                    </p:animEffect>
                                    <p:anim calcmode="lin" valueType="num">
                                      <p:cBhvr additive="base">
                                        <p:cTn id="137" dur="420" fill="hold"/>
                                        <p:tgtEl>
                                          <p:spTgt spid="46"/>
                                        </p:tgtEl>
                                        <p:attrNameLst>
                                          <p:attrName>ppt_y</p:attrName>
                                        </p:attrNameLst>
                                      </p:cBhvr>
                                      <p:tavLst>
                                        <p:tav tm="0">
                                          <p:val>
                                            <p:strVal val="#ppt_y+0.035"/>
                                          </p:val>
                                        </p:tav>
                                        <p:tav tm="100000">
                                          <p:val>
                                            <p:strVal val="#ppt_y"/>
                                          </p:val>
                                        </p:tav>
                                      </p:tavLst>
                                    </p:anim>
                                    <p:set>
                                      <p:cBhvr>
                                        <p:cTn id="138" dur="1" fill="hold">
                                          <p:stCondLst>
                                            <p:cond delay="0"/>
                                          </p:stCondLst>
                                        </p:cTn>
                                        <p:tgtEl>
                                          <p:spTgt spid="40"/>
                                        </p:tgtEl>
                                        <p:attrNameLst>
                                          <p:attrName>style.visibility</p:attrName>
                                        </p:attrNameLst>
                                      </p:cBhvr>
                                      <p:to>
                                        <p:strVal val="visible"/>
                                      </p:to>
                                    </p:set>
                                    <p:animEffect transition="in" filter="fade">
                                      <p:cBhvr>
                                        <p:cTn id="139" dur="420"/>
                                        <p:tgtEl>
                                          <p:spTgt spid="40"/>
                                        </p:tgtEl>
                                      </p:cBhvr>
                                    </p:animEffect>
                                    <p:anim calcmode="lin" valueType="num">
                                      <p:cBhvr additive="base">
                                        <p:cTn id="140" dur="420" fill="hold"/>
                                        <p:tgtEl>
                                          <p:spTgt spid="40"/>
                                        </p:tgtEl>
                                        <p:attrNameLst>
                                          <p:attrName>ppt_y</p:attrName>
                                        </p:attrNameLst>
                                      </p:cBhvr>
                                      <p:tavLst>
                                        <p:tav tm="0">
                                          <p:val>
                                            <p:strVal val="#ppt_y+0.035"/>
                                          </p:val>
                                        </p:tav>
                                        <p:tav tm="100000">
                                          <p:val>
                                            <p:strVal val="#ppt_y"/>
                                          </p:val>
                                        </p:tav>
                                      </p:tavLst>
                                    </p:anim>
                                    <p:set>
                                      <p:cBhvr>
                                        <p:cTn id="141" dur="1" fill="hold">
                                          <p:stCondLst>
                                            <p:cond delay="0"/>
                                          </p:stCondLst>
                                        </p:cTn>
                                        <p:tgtEl>
                                          <p:spTgt spid="42"/>
                                        </p:tgtEl>
                                        <p:attrNameLst>
                                          <p:attrName>style.visibility</p:attrName>
                                        </p:attrNameLst>
                                      </p:cBhvr>
                                      <p:to>
                                        <p:strVal val="visible"/>
                                      </p:to>
                                    </p:set>
                                    <p:animEffect transition="in" filter="fade">
                                      <p:cBhvr>
                                        <p:cTn id="142" dur="420"/>
                                        <p:tgtEl>
                                          <p:spTgt spid="42"/>
                                        </p:tgtEl>
                                      </p:cBhvr>
                                    </p:animEffect>
                                    <p:anim calcmode="lin" valueType="num">
                                      <p:cBhvr additive="base">
                                        <p:cTn id="143" dur="420" fill="hold"/>
                                        <p:tgtEl>
                                          <p:spTgt spid="42"/>
                                        </p:tgtEl>
                                        <p:attrNameLst>
                                          <p:attrName>ppt_y</p:attrName>
                                        </p:attrNameLst>
                                      </p:cBhvr>
                                      <p:tavLst>
                                        <p:tav tm="0">
                                          <p:val>
                                            <p:strVal val="#ppt_y+0.035"/>
                                          </p:val>
                                        </p:tav>
                                        <p:tav tm="100000">
                                          <p:val>
                                            <p:strVal val="#ppt_y"/>
                                          </p:val>
                                        </p:tav>
                                      </p:tavLst>
                                    </p:anim>
                                    <p:set>
                                      <p:cBhvr>
                                        <p:cTn id="144" dur="1" fill="hold">
                                          <p:stCondLst>
                                            <p:cond delay="0"/>
                                          </p:stCondLst>
                                        </p:cTn>
                                        <p:tgtEl>
                                          <p:spTgt spid="43"/>
                                        </p:tgtEl>
                                        <p:attrNameLst>
                                          <p:attrName>style.visibility</p:attrName>
                                        </p:attrNameLst>
                                      </p:cBhvr>
                                      <p:to>
                                        <p:strVal val="visible"/>
                                      </p:to>
                                    </p:set>
                                    <p:animEffect transition="in" filter="fade">
                                      <p:cBhvr>
                                        <p:cTn id="145" dur="420"/>
                                        <p:tgtEl>
                                          <p:spTgt spid="43"/>
                                        </p:tgtEl>
                                      </p:cBhvr>
                                    </p:animEffect>
                                    <p:anim calcmode="lin" valueType="num">
                                      <p:cBhvr additive="base">
                                        <p:cTn id="146" dur="420" fill="hold"/>
                                        <p:tgtEl>
                                          <p:spTgt spid="43"/>
                                        </p:tgtEl>
                                        <p:attrNameLst>
                                          <p:attrName>ppt_y</p:attrName>
                                        </p:attrNameLst>
                                      </p:cBhvr>
                                      <p:tavLst>
                                        <p:tav tm="0">
                                          <p:val>
                                            <p:strVal val="#ppt_y+0.035"/>
                                          </p:val>
                                        </p:tav>
                                        <p:tav tm="100000">
                                          <p:val>
                                            <p:strVal val="#ppt_y"/>
                                          </p:val>
                                        </p:tav>
                                      </p:tavLst>
                                    </p:anim>
                                    <p:set>
                                      <p:cBhvr>
                                        <p:cTn id="147" dur="1" fill="hold">
                                          <p:stCondLst>
                                            <p:cond delay="0"/>
                                          </p:stCondLst>
                                        </p:cTn>
                                        <p:tgtEl>
                                          <p:spTgt spid="44"/>
                                        </p:tgtEl>
                                        <p:attrNameLst>
                                          <p:attrName>style.visibility</p:attrName>
                                        </p:attrNameLst>
                                      </p:cBhvr>
                                      <p:to>
                                        <p:strVal val="visible"/>
                                      </p:to>
                                    </p:set>
                                    <p:animEffect transition="in" filter="fade">
                                      <p:cBhvr>
                                        <p:cTn id="148" dur="420"/>
                                        <p:tgtEl>
                                          <p:spTgt spid="44"/>
                                        </p:tgtEl>
                                      </p:cBhvr>
                                    </p:animEffect>
                                    <p:anim calcmode="lin" valueType="num">
                                      <p:cBhvr additive="base">
                                        <p:cTn id="149" dur="420" fill="hold"/>
                                        <p:tgtEl>
                                          <p:spTgt spid="44"/>
                                        </p:tgtEl>
                                        <p:attrNameLst>
                                          <p:attrName>ppt_y</p:attrName>
                                        </p:attrNameLst>
                                      </p:cBhvr>
                                      <p:tavLst>
                                        <p:tav tm="0">
                                          <p:val>
                                            <p:strVal val="#ppt_y+0.035"/>
                                          </p:val>
                                        </p:tav>
                                        <p:tav tm="100000">
                                          <p:val>
                                            <p:strVal val="#ppt_y"/>
                                          </p:val>
                                        </p:tav>
                                      </p:tavLst>
                                    </p:anim>
                                    <p:set>
                                      <p:cBhvr>
                                        <p:cTn id="150" dur="1" fill="hold">
                                          <p:stCondLst>
                                            <p:cond delay="0"/>
                                          </p:stCondLst>
                                        </p:cTn>
                                        <p:tgtEl>
                                          <p:spTgt spid="41"/>
                                        </p:tgtEl>
                                        <p:attrNameLst>
                                          <p:attrName>style.visibility</p:attrName>
                                        </p:attrNameLst>
                                      </p:cBhvr>
                                      <p:to>
                                        <p:strVal val="visible"/>
                                      </p:to>
                                    </p:set>
                                    <p:animEffect transition="in" filter="fade">
                                      <p:cBhvr>
                                        <p:cTn id="151" dur="420"/>
                                        <p:tgtEl>
                                          <p:spTgt spid="41"/>
                                        </p:tgtEl>
                                      </p:cBhvr>
                                    </p:animEffect>
                                    <p:anim calcmode="lin" valueType="num">
                                      <p:cBhvr additive="base">
                                        <p:cTn id="152" dur="420" fill="hold"/>
                                        <p:tgtEl>
                                          <p:spTgt spid="41"/>
                                        </p:tgtEl>
                                        <p:attrNameLst>
                                          <p:attrName>ppt_y</p:attrName>
                                        </p:attrNameLst>
                                      </p:cBhvr>
                                      <p:tavLst>
                                        <p:tav tm="0">
                                          <p:val>
                                            <p:strVal val="#ppt_y+0.035"/>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25"/>
                                        </p:tgtEl>
                                        <p:attrNameLst>
                                          <p:attrName>style.visibility</p:attrName>
                                        </p:attrNameLst>
                                      </p:cBhvr>
                                      <p:to>
                                        <p:strVal val="visible"/>
                                      </p:to>
                                    </p:set>
                                    <p:animEffect transition="in" filter="fade">
                                      <p:cBhvr>
                                        <p:cTn id="157" dur="420"/>
                                        <p:tgtEl>
                                          <p:spTgt spid="25"/>
                                        </p:tgtEl>
                                      </p:cBhvr>
                                    </p:animEffect>
                                    <p:anim calcmode="lin" valueType="num">
                                      <p:cBhvr additive="base">
                                        <p:cTn id="158" dur="420" fill="hold"/>
                                        <p:tgtEl>
                                          <p:spTgt spid="25"/>
                                        </p:tgtEl>
                                        <p:attrNameLst>
                                          <p:attrName>ppt_y</p:attrName>
                                        </p:attrNameLst>
                                      </p:cBhvr>
                                      <p:tavLst>
                                        <p:tav tm="0">
                                          <p:val>
                                            <p:strVal val="#ppt_y+0.035"/>
                                          </p:val>
                                        </p:tav>
                                        <p:tav tm="100000">
                                          <p:val>
                                            <p:strVal val="#ppt_y"/>
                                          </p:val>
                                        </p:tav>
                                      </p:tavLst>
                                    </p:anim>
                                    <p:set>
                                      <p:cBhvr>
                                        <p:cTn id="159" dur="1" fill="hold">
                                          <p:stCondLst>
                                            <p:cond delay="0"/>
                                          </p:stCondLst>
                                        </p:cTn>
                                        <p:tgtEl>
                                          <p:spTgt spid="55"/>
                                        </p:tgtEl>
                                        <p:attrNameLst>
                                          <p:attrName>style.visibility</p:attrName>
                                        </p:attrNameLst>
                                      </p:cBhvr>
                                      <p:to>
                                        <p:strVal val="visible"/>
                                      </p:to>
                                    </p:set>
                                    <p:animEffect transition="in" filter="fade">
                                      <p:cBhvr>
                                        <p:cTn id="160" dur="420"/>
                                        <p:tgtEl>
                                          <p:spTgt spid="55"/>
                                        </p:tgtEl>
                                      </p:cBhvr>
                                    </p:animEffect>
                                    <p:anim calcmode="lin" valueType="num">
                                      <p:cBhvr additive="base">
                                        <p:cTn id="161" dur="420" fill="hold"/>
                                        <p:tgtEl>
                                          <p:spTgt spid="5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p:bldP spid="13" grpId="0"/>
      <p:bldP spid="14" grpId="0"/>
      <p:bldP spid="15" grpId="0"/>
      <p:bldP spid="16" grpId="0"/>
      <p:bldP spid="17" grpId="0"/>
      <p:bldP spid="18" grpId="0"/>
      <p:bldP spid="19" grpId="0" animBg="1"/>
      <p:bldP spid="20" grpId="0"/>
      <p:bldP spid="21" grpId="0"/>
      <p:bldP spid="22" grpId="0"/>
      <p:bldP spid="23" grpId="0"/>
      <p:bldP spid="24" grpId="0"/>
      <p:bldP spid="25" grpId="0" animBg="1"/>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05</a:t>
            </a:r>
            <a:r>
              <a:rPr lang="en-US" sz="1150" b="1" kern="0" spc="160" dirty="0">
                <a:solidFill>
                  <a:srgbClr val="6E7781"/>
                </a:solidFill>
                <a:latin typeface="Calibri" pitchFamily="34" charset="0"/>
                <a:ea typeface="Calibri" pitchFamily="34" charset="-122"/>
                <a:cs typeface="Calibri" pitchFamily="34" charset="-120"/>
              </a:rPr>
              <a:t>   APP 1 OF 4   ·   REACT + DEVEXTREME</a:t>
            </a:r>
            <a:endParaRPr lang="en-US" sz="1150" dirty="0"/>
          </a:p>
        </p:txBody>
      </p:sp>
      <p:sp>
        <p:nvSpPr>
          <p:cNvPr id="3" name="Shape 1"/>
          <p:cNvSpPr/>
          <p:nvPr/>
        </p:nvSpPr>
        <p:spPr>
          <a:xfrm>
            <a:off x="10351008" y="393192"/>
            <a:ext cx="1271016" cy="292608"/>
          </a:xfrm>
          <a:prstGeom prst="roundRect">
            <a:avLst>
              <a:gd name="adj" fmla="val 59375"/>
            </a:avLst>
          </a:prstGeom>
          <a:solidFill>
            <a:srgbClr val="C2410C"/>
          </a:solidFill>
          <a:ln/>
        </p:spPr>
      </p:sp>
      <p:sp>
        <p:nvSpPr>
          <p:cNvPr id="4" name="Text 2"/>
          <p:cNvSpPr/>
          <p:nvPr/>
        </p:nvSpPr>
        <p:spPr>
          <a:xfrm>
            <a:off x="10351008" y="393192"/>
            <a:ext cx="1271016" cy="292608"/>
          </a:xfrm>
          <a:prstGeom prst="rect">
            <a:avLst/>
          </a:prstGeom>
          <a:noFill/>
          <a:ln/>
        </p:spPr>
        <p:txBody>
          <a:bodyPr wrap="square" lIns="0" tIns="0" rIns="0" bIns="0" rtlCol="0" anchor="ctr"/>
          <a:lstStyle/>
          <a:p>
            <a:pPr marL="0" indent="0" algn="ctr">
              <a:buNone/>
            </a:pPr>
            <a:r>
              <a:rPr lang="en-US" sz="950" b="1" kern="0" spc="120" dirty="0">
                <a:solidFill>
                  <a:srgbClr val="FFFFFF"/>
                </a:solidFill>
                <a:latin typeface="Calibri" pitchFamily="34" charset="0"/>
                <a:ea typeface="Calibri" pitchFamily="34" charset="-122"/>
                <a:cs typeface="Calibri" pitchFamily="34" charset="-120"/>
              </a:rPr>
              <a:t>SKILL + PROMPT</a:t>
            </a:r>
            <a:endParaRPr lang="en-US" sz="950" dirty="0"/>
          </a:p>
        </p:txBody>
      </p:sp>
      <p:sp>
        <p:nvSpPr>
          <p:cNvPr id="5" name="Text 3"/>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DevExtreme DataGrid on React + Vite</a:t>
            </a:r>
            <a:endParaRPr lang="en-US" sz="3200" dirty="0"/>
          </a:p>
        </p:txBody>
      </p:sp>
      <p:sp>
        <p:nvSpPr>
          <p:cNvPr id="6" name="Text 4"/>
          <p:cNvSpPr/>
          <p:nvPr/>
        </p:nvSpPr>
        <p:spPr>
          <a:xfrm>
            <a:off x="566928" y="1335024"/>
            <a:ext cx="11055096" cy="566928"/>
          </a:xfrm>
          <a:prstGeom prst="rect">
            <a:avLst/>
          </a:prstGeom>
          <a:noFill/>
          <a:ln/>
        </p:spPr>
        <p:txBody>
          <a:bodyPr wrap="square" lIns="0" tIns="0" rIns="0" bIns="0" rtlCol="0" anchor="t"/>
          <a:lstStyle/>
          <a:p>
            <a:pPr marL="0" indent="0">
              <a:lnSpc>
                <a:spcPts val="1850"/>
              </a:lnSpc>
              <a:buNone/>
            </a:pPr>
            <a:r>
              <a:rPr lang="en-US" sz="1200" dirty="0">
                <a:solidFill>
                  <a:srgbClr val="2B3138"/>
                </a:solidFill>
                <a:latin typeface="Calibri" pitchFamily="34" charset="0"/>
                <a:ea typeface="Calibri" pitchFamily="34" charset="-122"/>
                <a:cs typeface="Calibri" pitchFamily="34" charset="-120"/>
              </a:rPr>
              <a:t>An Orders screen: server-side paging, sorting and filtering through CustomStore, popup editing with validation, Excel export, master-detail, plus unit tests and a Playwright smoke test.</a:t>
            </a:r>
            <a:endParaRPr lang="en-US" sz="1200" dirty="0"/>
          </a:p>
        </p:txBody>
      </p:sp>
      <p:sp>
        <p:nvSpPr>
          <p:cNvPr id="7" name="Text 5"/>
          <p:cNvSpPr/>
          <p:nvPr/>
        </p:nvSpPr>
        <p:spPr>
          <a:xfrm>
            <a:off x="566928" y="1883664"/>
            <a:ext cx="11055096" cy="548640"/>
          </a:xfrm>
          <a:prstGeom prst="rect">
            <a:avLst/>
          </a:prstGeom>
          <a:noFill/>
          <a:ln/>
        </p:spPr>
        <p:txBody>
          <a:bodyPr wrap="square" lIns="0" tIns="0" rIns="0" bIns="0" rtlCol="0" anchor="t"/>
          <a:lstStyle/>
          <a:p>
            <a:pPr marL="0" indent="0">
              <a:lnSpc>
                <a:spcPts val="1500"/>
              </a:lnSpc>
              <a:buNone/>
            </a:pPr>
            <a:r>
              <a:rPr lang="en-US" sz="1100" b="1" dirty="0">
                <a:solidFill>
                  <a:srgbClr val="B42318"/>
                </a:solidFill>
                <a:latin typeface="Calibri" pitchFamily="34" charset="0"/>
                <a:ea typeface="Calibri" pitchFamily="34" charset="-122"/>
                <a:cs typeface="Calibri" pitchFamily="34" charset="-120"/>
              </a:rPr>
              <a:t>The trap this app exists to expose:  </a:t>
            </a:r>
            <a:r>
              <a:rPr lang="en-US" sz="1100" dirty="0">
                <a:solidFill>
                  <a:srgbClr val="2B3138"/>
                </a:solidFill>
                <a:latin typeface="Calibri" pitchFamily="34" charset="0"/>
                <a:ea typeface="Calibri" pitchFamily="34" charset="-122"/>
                <a:cs typeface="Calibri" pitchFamily="34" charset="-120"/>
              </a:rPr>
              <a:t>asking the React package for an event type fails with TS2614 — a mistake the agent makes every single time unless the skill forbids it. And running ESLint over the repo exits 0 on warnings, so the gate has to be --max-warnings 0 or it silently passes.</a:t>
            </a:r>
            <a:endParaRPr lang="en-US" sz="1100" dirty="0"/>
          </a:p>
        </p:txBody>
      </p:sp>
      <p:sp>
        <p:nvSpPr>
          <p:cNvPr id="8" name="Shape 6"/>
          <p:cNvSpPr/>
          <p:nvPr/>
        </p:nvSpPr>
        <p:spPr>
          <a:xfrm>
            <a:off x="566928" y="2523744"/>
            <a:ext cx="3538728" cy="3493008"/>
          </a:xfrm>
          <a:prstGeom prst="roundRect">
            <a:avLst>
              <a:gd name="adj" fmla="val 1571"/>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9" name="Text 7"/>
          <p:cNvSpPr/>
          <p:nvPr/>
        </p:nvSpPr>
        <p:spPr>
          <a:xfrm>
            <a:off x="804672" y="2688336"/>
            <a:ext cx="3063240" cy="256032"/>
          </a:xfrm>
          <a:prstGeom prst="rect">
            <a:avLst/>
          </a:prstGeom>
          <a:noFill/>
          <a:ln/>
        </p:spPr>
        <p:txBody>
          <a:bodyPr wrap="square" lIns="0" tIns="0" rIns="0" bIns="0" rtlCol="0" anchor="t"/>
          <a:lstStyle/>
          <a:p>
            <a:pPr marL="0" indent="0">
              <a:buNone/>
            </a:pPr>
            <a:r>
              <a:rPr lang="en-US" sz="1100" b="1" kern="0" spc="120" dirty="0">
                <a:solidFill>
                  <a:srgbClr val="0969DA"/>
                </a:solidFill>
                <a:latin typeface="Calibri" pitchFamily="34" charset="0"/>
                <a:ea typeface="Calibri" pitchFamily="34" charset="-122"/>
                <a:cs typeface="Calibri" pitchFamily="34" charset="-120"/>
              </a:rPr>
              <a:t>THE PROMPT</a:t>
            </a:r>
            <a:endParaRPr lang="en-US" sz="1100" dirty="0"/>
          </a:p>
        </p:txBody>
      </p:sp>
      <p:sp>
        <p:nvSpPr>
          <p:cNvPr id="10" name="Text 8"/>
          <p:cNvSpPr/>
          <p:nvPr/>
        </p:nvSpPr>
        <p:spPr>
          <a:xfrm>
            <a:off x="804672" y="2962656"/>
            <a:ext cx="3063240" cy="310896"/>
          </a:xfrm>
          <a:prstGeom prst="rect">
            <a:avLst/>
          </a:prstGeom>
          <a:noFill/>
          <a:ln/>
        </p:spPr>
        <p:txBody>
          <a:bodyPr wrap="square" lIns="0" tIns="0" rIns="0" bIns="0" rtlCol="0" anchor="t"/>
          <a:lstStyle/>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paste into the desktop app  ·  520 lines</a:t>
            </a:r>
            <a:endParaRPr lang="en-US" sz="800" dirty="0"/>
          </a:p>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prompts/react-devextreme-grid.PROMPT.md</a:t>
            </a:r>
            <a:endParaRPr lang="en-US" sz="800" dirty="0"/>
          </a:p>
        </p:txBody>
      </p:sp>
      <p:sp>
        <p:nvSpPr>
          <p:cNvPr id="11" name="Text 9"/>
          <p:cNvSpPr/>
          <p:nvPr/>
        </p:nvSpPr>
        <p:spPr>
          <a:xfrm>
            <a:off x="804672" y="3364992"/>
            <a:ext cx="3063240" cy="2450592"/>
          </a:xfrm>
          <a:prstGeom prst="rect">
            <a:avLst/>
          </a:prstGeom>
          <a:noFill/>
          <a:ln/>
        </p:spPr>
        <p:txBody>
          <a:bodyPr wrap="square" lIns="0" tIns="0" rIns="0" bIns="0" rtlCol="0" anchor="t"/>
          <a:lstStyle/>
          <a:p>
            <a:pPr marL="0" indent="0">
              <a:lnSpc>
                <a:spcPts val="1400"/>
              </a:lnSpc>
              <a:spcAft>
                <a:spcPts val="700"/>
              </a:spcAft>
              <a:buNone/>
            </a:pPr>
            <a:r>
              <a:rPr lang="en-US" sz="1050" b="1" dirty="0">
                <a:solidFill>
                  <a:srgbClr val="15181D"/>
                </a:solidFill>
                <a:latin typeface="Calibri" pitchFamily="34" charset="0"/>
                <a:ea typeface="Calibri" pitchFamily="34" charset="-122"/>
                <a:cs typeface="Calibri" pitchFamily="34" charset="-120"/>
              </a:rPr>
              <a:t>"Build an Orders screen: a production React SPA whose main view is a DevExtreme DataGrid."</a:t>
            </a:r>
            <a:endParaRPr lang="en-US" sz="1050" dirty="0"/>
          </a:p>
          <a:p>
            <a:pPr marL="0" indent="0">
              <a:lnSpc>
                <a:spcPts val="1400"/>
              </a:lnSpc>
              <a:spcAft>
                <a:spcPts val="700"/>
              </a:spcAft>
              <a:buNone/>
            </a:pPr>
            <a:r>
              <a:rPr lang="en-US" sz="1050" dirty="0">
                <a:solidFill>
                  <a:srgbClr val="2B3138"/>
                </a:solidFill>
                <a:latin typeface="Calibri" pitchFamily="34" charset="0"/>
                <a:ea typeface="Calibri" pitchFamily="34" charset="-122"/>
                <a:cs typeface="Calibri" pitchFamily="34" charset="-120"/>
              </a:rPr>
              <a:t>Sections, in this order: Licence — read before you start · Context · Scaffold · Requirements · Acceptance criteria · Out of scope.</a:t>
            </a:r>
            <a:endParaRPr lang="en-US" sz="1050" dirty="0"/>
          </a:p>
          <a:p>
            <a:pPr marL="0" indent="0">
              <a:lnSpc>
                <a:spcPts val="1400"/>
              </a:lnSpc>
              <a:spcAft>
                <a:spcPts val="700"/>
              </a:spcAft>
              <a:buNone/>
            </a:pPr>
            <a:r>
              <a:rPr lang="en-US" sz="1050" dirty="0">
                <a:solidFill>
                  <a:srgbClr val="2B3138"/>
                </a:solidFill>
                <a:latin typeface="Calibri" pitchFamily="34" charset="0"/>
                <a:ea typeface="Calibri" pitchFamily="34" charset="-122"/>
                <a:cs typeface="Calibri" pitchFamily="34" charset="-120"/>
              </a:rPr>
              <a:t>Out of scope is explicit and it matters: no auth, no routing beyond one screen, no second grid. Without it the agent keeps going.</a:t>
            </a:r>
            <a:endParaRPr lang="en-US" sz="1050" dirty="0"/>
          </a:p>
        </p:txBody>
      </p:sp>
      <p:sp>
        <p:nvSpPr>
          <p:cNvPr id="12" name="Shape 10"/>
          <p:cNvSpPr/>
          <p:nvPr/>
        </p:nvSpPr>
        <p:spPr>
          <a:xfrm>
            <a:off x="4325112" y="2523744"/>
            <a:ext cx="3538728" cy="3493008"/>
          </a:xfrm>
          <a:prstGeom prst="roundRect">
            <a:avLst>
              <a:gd name="adj" fmla="val 1571"/>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13" name="Text 11"/>
          <p:cNvSpPr/>
          <p:nvPr/>
        </p:nvSpPr>
        <p:spPr>
          <a:xfrm>
            <a:off x="4562856" y="2688336"/>
            <a:ext cx="3063240" cy="256032"/>
          </a:xfrm>
          <a:prstGeom prst="rect">
            <a:avLst/>
          </a:prstGeom>
          <a:noFill/>
          <a:ln/>
        </p:spPr>
        <p:txBody>
          <a:bodyPr wrap="square" lIns="0" tIns="0" rIns="0" bIns="0" rtlCol="0" anchor="t"/>
          <a:lstStyle/>
          <a:p>
            <a:pPr marL="0" indent="0">
              <a:buNone/>
            </a:pPr>
            <a:r>
              <a:rPr lang="en-US" sz="1100" b="1" kern="0" spc="120" dirty="0">
                <a:solidFill>
                  <a:srgbClr val="C2410C"/>
                </a:solidFill>
                <a:latin typeface="Calibri" pitchFamily="34" charset="0"/>
                <a:ea typeface="Calibri" pitchFamily="34" charset="-122"/>
                <a:cs typeface="Calibri" pitchFamily="34" charset="-120"/>
              </a:rPr>
              <a:t>THE SKILL</a:t>
            </a:r>
            <a:endParaRPr lang="en-US" sz="1100" dirty="0"/>
          </a:p>
        </p:txBody>
      </p:sp>
      <p:sp>
        <p:nvSpPr>
          <p:cNvPr id="14" name="Text 12"/>
          <p:cNvSpPr/>
          <p:nvPr/>
        </p:nvSpPr>
        <p:spPr>
          <a:xfrm>
            <a:off x="4562856" y="2962656"/>
            <a:ext cx="3063240" cy="310896"/>
          </a:xfrm>
          <a:prstGeom prst="rect">
            <a:avLst/>
          </a:prstGeom>
          <a:noFill/>
          <a:ln/>
        </p:spPr>
        <p:txBody>
          <a:bodyPr wrap="square" lIns="0" tIns="0" rIns="0" bIns="0" rtlCol="0" anchor="t"/>
          <a:lstStyle/>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read every run  ·  111 lines</a:t>
            </a:r>
            <a:endParaRPr lang="en-US" sz="800" dirty="0"/>
          </a:p>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.claude/skills/react-devextreme-grid/SKILL.md</a:t>
            </a:r>
            <a:endParaRPr lang="en-US" sz="800" dirty="0"/>
          </a:p>
        </p:txBody>
      </p:sp>
      <p:sp>
        <p:nvSpPr>
          <p:cNvPr id="15" name="Text 13"/>
          <p:cNvSpPr/>
          <p:nvPr/>
        </p:nvSpPr>
        <p:spPr>
          <a:xfrm>
            <a:off x="4562856" y="3364992"/>
            <a:ext cx="3063240" cy="2450592"/>
          </a:xfrm>
          <a:prstGeom prst="rect">
            <a:avLst/>
          </a:prstGeom>
          <a:noFill/>
          <a:ln/>
        </p:spPr>
        <p:txBody>
          <a:bodyPr wrap="square" lIns="0" tIns="0" rIns="0" bIns="0" rtlCol="0" anchor="t"/>
          <a:lstStyle/>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Licence first. DevExtreme is commercial software: the key lives in .env.local and never in git.</a:t>
            </a:r>
            <a:endParaRPr lang="en-US" sz="1050" dirty="0"/>
          </a:p>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No dataSource={arrayOfRows} for remote data — CustomStore with remoteOperations, always.</a:t>
            </a:r>
            <a:endParaRPr lang="en-US" sz="1050" dirty="0"/>
          </a:p>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No filtering, sorting or slicing inside the React component; the server does that.</a:t>
            </a:r>
            <a:endParaRPr lang="en-US" sz="1050" dirty="0"/>
          </a:p>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Event types come from devextreme/ui/data_grid, never from devextreme-react/data-grid.</a:t>
            </a:r>
            <a:endParaRPr lang="en-US" sz="1050" dirty="0"/>
          </a:p>
        </p:txBody>
      </p:sp>
      <p:sp>
        <p:nvSpPr>
          <p:cNvPr id="16" name="Shape 14"/>
          <p:cNvSpPr/>
          <p:nvPr/>
        </p:nvSpPr>
        <p:spPr>
          <a:xfrm>
            <a:off x="8083296" y="2523744"/>
            <a:ext cx="3538728" cy="3493008"/>
          </a:xfrm>
          <a:prstGeom prst="roundRect">
            <a:avLst>
              <a:gd name="adj" fmla="val 1571"/>
            </a:avLst>
          </a:prstGeom>
          <a:solidFill>
            <a:srgbClr val="EAF6ED"/>
          </a:solidFill>
          <a:ln w="9525">
            <a:solidFill>
              <a:srgbClr val="D8DEE4"/>
            </a:solidFill>
            <a:prstDash val="solid"/>
          </a:ln>
          <a:effectLst>
            <a:outerShdw blurRad="177800" dist="38100" dir="5400000" algn="bl" rotWithShape="0">
              <a:srgbClr val="8C959F">
                <a:alpha val="16000"/>
              </a:srgbClr>
            </a:outerShdw>
          </a:effectLst>
        </p:spPr>
      </p:sp>
      <p:sp>
        <p:nvSpPr>
          <p:cNvPr id="17" name="Text 15"/>
          <p:cNvSpPr/>
          <p:nvPr/>
        </p:nvSpPr>
        <p:spPr>
          <a:xfrm>
            <a:off x="8321040" y="2688336"/>
            <a:ext cx="3063240" cy="256032"/>
          </a:xfrm>
          <a:prstGeom prst="rect">
            <a:avLst/>
          </a:prstGeom>
          <a:noFill/>
          <a:ln/>
        </p:spPr>
        <p:txBody>
          <a:bodyPr wrap="square" lIns="0" tIns="0" rIns="0" bIns="0" rtlCol="0" anchor="t"/>
          <a:lstStyle/>
          <a:p>
            <a:pPr marL="0" indent="0">
              <a:buNone/>
            </a:pPr>
            <a:r>
              <a:rPr lang="en-US" sz="1100" b="1" kern="0" spc="120" dirty="0">
                <a:solidFill>
                  <a:srgbClr val="1A7F37"/>
                </a:solidFill>
                <a:latin typeface="Calibri" pitchFamily="34" charset="0"/>
                <a:ea typeface="Calibri" pitchFamily="34" charset="-122"/>
                <a:cs typeface="Calibri" pitchFamily="34" charset="-120"/>
              </a:rPr>
              <a:t>ACCEPTANCE CRITERIA</a:t>
            </a:r>
            <a:endParaRPr lang="en-US" sz="1100" dirty="0"/>
          </a:p>
        </p:txBody>
      </p:sp>
      <p:sp>
        <p:nvSpPr>
          <p:cNvPr id="18" name="Text 16"/>
          <p:cNvSpPr/>
          <p:nvPr/>
        </p:nvSpPr>
        <p:spPr>
          <a:xfrm>
            <a:off x="8321040" y="2962656"/>
            <a:ext cx="3063240" cy="310896"/>
          </a:xfrm>
          <a:prstGeom prst="rect">
            <a:avLst/>
          </a:prstGeom>
          <a:noFill/>
          <a:ln/>
        </p:spPr>
        <p:txBody>
          <a:bodyPr wrap="square" lIns="0" tIns="0" rIns="0" bIns="0" rtlCol="0" anchor="t"/>
          <a:lstStyle/>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the agent is not finished</a:t>
            </a:r>
            <a:endParaRPr lang="en-US" sz="800" dirty="0"/>
          </a:p>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until all four of these pass</a:t>
            </a:r>
            <a:endParaRPr lang="en-US" sz="800" dirty="0"/>
          </a:p>
        </p:txBody>
      </p:sp>
      <p:sp>
        <p:nvSpPr>
          <p:cNvPr id="19" name="Shape 17"/>
          <p:cNvSpPr/>
          <p:nvPr/>
        </p:nvSpPr>
        <p:spPr>
          <a:xfrm>
            <a:off x="8321040" y="3419856"/>
            <a:ext cx="201168" cy="201168"/>
          </a:xfrm>
          <a:prstGeom prst="ellipse">
            <a:avLst/>
          </a:prstGeom>
          <a:solidFill>
            <a:srgbClr val="FFFFFF"/>
          </a:solidFill>
          <a:ln w="12700">
            <a:solidFill>
              <a:srgbClr val="1A7F37"/>
            </a:solidFill>
            <a:prstDash val="solid"/>
          </a:ln>
        </p:spPr>
      </p:sp>
      <p:sp>
        <p:nvSpPr>
          <p:cNvPr id="20" name="Text 18"/>
          <p:cNvSpPr/>
          <p:nvPr/>
        </p:nvSpPr>
        <p:spPr>
          <a:xfrm>
            <a:off x="8321040" y="3419856"/>
            <a:ext cx="201168" cy="201168"/>
          </a:xfrm>
          <a:prstGeom prst="rect">
            <a:avLst/>
          </a:prstGeom>
          <a:noFill/>
          <a:ln/>
        </p:spPr>
        <p:txBody>
          <a:bodyPr wrap="square" lIns="0" tIns="0" rIns="0" bIns="0" rtlCol="0" anchor="ctr"/>
          <a:lstStyle/>
          <a:p>
            <a:pPr marL="0" indent="0" algn="ctr">
              <a:buNone/>
            </a:pPr>
            <a:r>
              <a:rPr lang="en-US" sz="850" b="1" dirty="0">
                <a:solidFill>
                  <a:srgbClr val="1A7F37"/>
                </a:solidFill>
                <a:latin typeface="Calibri" pitchFamily="34" charset="0"/>
                <a:ea typeface="Calibri" pitchFamily="34" charset="-122"/>
                <a:cs typeface="Calibri" pitchFamily="34" charset="-120"/>
              </a:rPr>
              <a:t>✓</a:t>
            </a:r>
            <a:endParaRPr lang="en-US" sz="850" dirty="0"/>
          </a:p>
        </p:txBody>
      </p:sp>
      <p:sp>
        <p:nvSpPr>
          <p:cNvPr id="21" name="Text 19"/>
          <p:cNvSpPr/>
          <p:nvPr/>
        </p:nvSpPr>
        <p:spPr>
          <a:xfrm>
            <a:off x="8613648" y="3383280"/>
            <a:ext cx="2770632" cy="640080"/>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npm run typecheck and npm run lint both exit 0, zero warnings</a:t>
            </a:r>
            <a:endParaRPr lang="en-US" sz="1050" dirty="0"/>
          </a:p>
        </p:txBody>
      </p:sp>
      <p:sp>
        <p:nvSpPr>
          <p:cNvPr id="22" name="Shape 20"/>
          <p:cNvSpPr/>
          <p:nvPr/>
        </p:nvSpPr>
        <p:spPr>
          <a:xfrm>
            <a:off x="8321040" y="4059936"/>
            <a:ext cx="201168" cy="201168"/>
          </a:xfrm>
          <a:prstGeom prst="ellipse">
            <a:avLst/>
          </a:prstGeom>
          <a:solidFill>
            <a:srgbClr val="FFFFFF"/>
          </a:solidFill>
          <a:ln w="12700">
            <a:solidFill>
              <a:srgbClr val="1A7F37"/>
            </a:solidFill>
            <a:prstDash val="solid"/>
          </a:ln>
        </p:spPr>
      </p:sp>
      <p:sp>
        <p:nvSpPr>
          <p:cNvPr id="23" name="Text 21"/>
          <p:cNvSpPr/>
          <p:nvPr/>
        </p:nvSpPr>
        <p:spPr>
          <a:xfrm>
            <a:off x="8321040" y="4059936"/>
            <a:ext cx="201168" cy="201168"/>
          </a:xfrm>
          <a:prstGeom prst="rect">
            <a:avLst/>
          </a:prstGeom>
          <a:noFill/>
          <a:ln/>
        </p:spPr>
        <p:txBody>
          <a:bodyPr wrap="square" lIns="0" tIns="0" rIns="0" bIns="0" rtlCol="0" anchor="ctr"/>
          <a:lstStyle/>
          <a:p>
            <a:pPr marL="0" indent="0" algn="ctr">
              <a:buNone/>
            </a:pPr>
            <a:r>
              <a:rPr lang="en-US" sz="850" b="1" dirty="0">
                <a:solidFill>
                  <a:srgbClr val="1A7F37"/>
                </a:solidFill>
                <a:latin typeface="Calibri" pitchFamily="34" charset="0"/>
                <a:ea typeface="Calibri" pitchFamily="34" charset="-122"/>
                <a:cs typeface="Calibri" pitchFamily="34" charset="-120"/>
              </a:rPr>
              <a:t>✓</a:t>
            </a:r>
            <a:endParaRPr lang="en-US" sz="850" dirty="0"/>
          </a:p>
        </p:txBody>
      </p:sp>
      <p:sp>
        <p:nvSpPr>
          <p:cNvPr id="24" name="Text 22"/>
          <p:cNvSpPr/>
          <p:nvPr/>
        </p:nvSpPr>
        <p:spPr>
          <a:xfrm>
            <a:off x="8613648" y="4023360"/>
            <a:ext cx="2770632" cy="640080"/>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npm test — unit tests over the query engine and column defs pass</a:t>
            </a:r>
            <a:endParaRPr lang="en-US" sz="1050" dirty="0"/>
          </a:p>
        </p:txBody>
      </p:sp>
      <p:sp>
        <p:nvSpPr>
          <p:cNvPr id="25" name="Shape 23"/>
          <p:cNvSpPr/>
          <p:nvPr/>
        </p:nvSpPr>
        <p:spPr>
          <a:xfrm>
            <a:off x="8321040" y="4700016"/>
            <a:ext cx="201168" cy="201168"/>
          </a:xfrm>
          <a:prstGeom prst="ellipse">
            <a:avLst/>
          </a:prstGeom>
          <a:solidFill>
            <a:srgbClr val="FFFFFF"/>
          </a:solidFill>
          <a:ln w="12700">
            <a:solidFill>
              <a:srgbClr val="1A7F37"/>
            </a:solidFill>
            <a:prstDash val="solid"/>
          </a:ln>
        </p:spPr>
      </p:sp>
      <p:sp>
        <p:nvSpPr>
          <p:cNvPr id="26" name="Text 24"/>
          <p:cNvSpPr/>
          <p:nvPr/>
        </p:nvSpPr>
        <p:spPr>
          <a:xfrm>
            <a:off x="8321040" y="4700016"/>
            <a:ext cx="201168" cy="201168"/>
          </a:xfrm>
          <a:prstGeom prst="rect">
            <a:avLst/>
          </a:prstGeom>
          <a:noFill/>
          <a:ln/>
        </p:spPr>
        <p:txBody>
          <a:bodyPr wrap="square" lIns="0" tIns="0" rIns="0" bIns="0" rtlCol="0" anchor="ctr"/>
          <a:lstStyle/>
          <a:p>
            <a:pPr marL="0" indent="0" algn="ctr">
              <a:buNone/>
            </a:pPr>
            <a:r>
              <a:rPr lang="en-US" sz="850" b="1" dirty="0">
                <a:solidFill>
                  <a:srgbClr val="1A7F37"/>
                </a:solidFill>
                <a:latin typeface="Calibri" pitchFamily="34" charset="0"/>
                <a:ea typeface="Calibri" pitchFamily="34" charset="-122"/>
                <a:cs typeface="Calibri" pitchFamily="34" charset="-120"/>
              </a:rPr>
              <a:t>✓</a:t>
            </a:r>
            <a:endParaRPr lang="en-US" sz="850" dirty="0"/>
          </a:p>
        </p:txBody>
      </p:sp>
      <p:sp>
        <p:nvSpPr>
          <p:cNvPr id="27" name="Text 25"/>
          <p:cNvSpPr/>
          <p:nvPr/>
        </p:nvSpPr>
        <p:spPr>
          <a:xfrm>
            <a:off x="8613648" y="4663440"/>
            <a:ext cx="2770632" cy="640080"/>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npm run test:e2e — Playwright loads the page, asserts .dx-data-row count</a:t>
            </a:r>
            <a:endParaRPr lang="en-US" sz="1050" dirty="0"/>
          </a:p>
        </p:txBody>
      </p:sp>
      <p:sp>
        <p:nvSpPr>
          <p:cNvPr id="28" name="Shape 26"/>
          <p:cNvSpPr/>
          <p:nvPr/>
        </p:nvSpPr>
        <p:spPr>
          <a:xfrm>
            <a:off x="8321040" y="5340096"/>
            <a:ext cx="201168" cy="201168"/>
          </a:xfrm>
          <a:prstGeom prst="ellipse">
            <a:avLst/>
          </a:prstGeom>
          <a:solidFill>
            <a:srgbClr val="FFFFFF"/>
          </a:solidFill>
          <a:ln w="12700">
            <a:solidFill>
              <a:srgbClr val="1A7F37"/>
            </a:solidFill>
            <a:prstDash val="solid"/>
          </a:ln>
        </p:spPr>
      </p:sp>
      <p:sp>
        <p:nvSpPr>
          <p:cNvPr id="29" name="Text 27"/>
          <p:cNvSpPr/>
          <p:nvPr/>
        </p:nvSpPr>
        <p:spPr>
          <a:xfrm>
            <a:off x="8321040" y="5340096"/>
            <a:ext cx="201168" cy="201168"/>
          </a:xfrm>
          <a:prstGeom prst="rect">
            <a:avLst/>
          </a:prstGeom>
          <a:noFill/>
          <a:ln/>
        </p:spPr>
        <p:txBody>
          <a:bodyPr wrap="square" lIns="0" tIns="0" rIns="0" bIns="0" rtlCol="0" anchor="ctr"/>
          <a:lstStyle/>
          <a:p>
            <a:pPr marL="0" indent="0" algn="ctr">
              <a:buNone/>
            </a:pPr>
            <a:r>
              <a:rPr lang="en-US" sz="850" b="1" dirty="0">
                <a:solidFill>
                  <a:srgbClr val="1A7F37"/>
                </a:solidFill>
                <a:latin typeface="Calibri" pitchFamily="34" charset="0"/>
                <a:ea typeface="Calibri" pitchFamily="34" charset="-122"/>
                <a:cs typeface="Calibri" pitchFamily="34" charset="-120"/>
              </a:rPr>
              <a:t>✓</a:t>
            </a:r>
            <a:endParaRPr lang="en-US" sz="850" dirty="0"/>
          </a:p>
        </p:txBody>
      </p:sp>
      <p:sp>
        <p:nvSpPr>
          <p:cNvPr id="30" name="Text 28"/>
          <p:cNvSpPr/>
          <p:nvPr/>
        </p:nvSpPr>
        <p:spPr>
          <a:xfrm>
            <a:off x="8613648" y="5303520"/>
            <a:ext cx="2770632" cy="640080"/>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check:clean finds no TODO, no `as any`, no @ts-expect-error</a:t>
            </a:r>
            <a:endParaRPr lang="en-US" sz="1050" dirty="0"/>
          </a:p>
        </p:txBody>
      </p:sp>
      <p:sp>
        <p:nvSpPr>
          <p:cNvPr id="31"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anim calcmode="lin" valueType="num">
                                      <p:cBhvr additive="base">
                                        <p:cTn id="8" dur="420" fill="hold"/>
                                        <p:tgtEl>
                                          <p:spTgt spid="7"/>
                                        </p:tgtEl>
                                        <p:attrNameLst>
                                          <p:attrName>ppt_y</p:attrName>
                                        </p:attrNameLst>
                                      </p:cBhvr>
                                      <p:tavLst>
                                        <p:tav tm="0">
                                          <p:val>
                                            <p:strVal val="#ppt_y+0.035"/>
                                          </p:val>
                                        </p:tav>
                                        <p:tav tm="100000">
                                          <p:val>
                                            <p:strVal val="#ppt_y"/>
                                          </p:val>
                                        </p:tav>
                                      </p:tavLst>
                                    </p:anim>
                                    <p:set>
                                      <p:cBhvr>
                                        <p:cTn id="9" dur="1" fill="hold">
                                          <p:stCondLst>
                                            <p:cond delay="0"/>
                                          </p:stCondLst>
                                        </p:cTn>
                                        <p:tgtEl>
                                          <p:spTgt spid="8"/>
                                        </p:tgtEl>
                                        <p:attrNameLst>
                                          <p:attrName>style.visibility</p:attrName>
                                        </p:attrNameLst>
                                      </p:cBhvr>
                                      <p:to>
                                        <p:strVal val="visible"/>
                                      </p:to>
                                    </p:set>
                                    <p:animEffect transition="in" filter="fade">
                                      <p:cBhvr>
                                        <p:cTn id="10" dur="420"/>
                                        <p:tgtEl>
                                          <p:spTgt spid="8"/>
                                        </p:tgtEl>
                                      </p:cBhvr>
                                    </p:animEffect>
                                    <p:anim calcmode="lin" valueType="num">
                                      <p:cBhvr additive="base">
                                        <p:cTn id="11" dur="420" fill="hold"/>
                                        <p:tgtEl>
                                          <p:spTgt spid="8"/>
                                        </p:tgtEl>
                                        <p:attrNameLst>
                                          <p:attrName>ppt_y</p:attrName>
                                        </p:attrNameLst>
                                      </p:cBhvr>
                                      <p:tavLst>
                                        <p:tav tm="0">
                                          <p:val>
                                            <p:strVal val="#ppt_y+0.035"/>
                                          </p:val>
                                        </p:tav>
                                        <p:tav tm="100000">
                                          <p:val>
                                            <p:strVal val="#ppt_y"/>
                                          </p:val>
                                        </p:tav>
                                      </p:tavLst>
                                    </p:anim>
                                    <p:set>
                                      <p:cBhvr>
                                        <p:cTn id="12" dur="1" fill="hold">
                                          <p:stCondLst>
                                            <p:cond delay="0"/>
                                          </p:stCondLst>
                                        </p:cTn>
                                        <p:tgtEl>
                                          <p:spTgt spid="12"/>
                                        </p:tgtEl>
                                        <p:attrNameLst>
                                          <p:attrName>style.visibility</p:attrName>
                                        </p:attrNameLst>
                                      </p:cBhvr>
                                      <p:to>
                                        <p:strVal val="visible"/>
                                      </p:to>
                                    </p:set>
                                    <p:animEffect transition="in" filter="fade">
                                      <p:cBhvr>
                                        <p:cTn id="13" dur="420"/>
                                        <p:tgtEl>
                                          <p:spTgt spid="12"/>
                                        </p:tgtEl>
                                      </p:cBhvr>
                                    </p:animEffect>
                                    <p:anim calcmode="lin" valueType="num">
                                      <p:cBhvr additive="base">
                                        <p:cTn id="14" dur="420" fill="hold"/>
                                        <p:tgtEl>
                                          <p:spTgt spid="12"/>
                                        </p:tgtEl>
                                        <p:attrNameLst>
                                          <p:attrName>ppt_y</p:attrName>
                                        </p:attrNameLst>
                                      </p:cBhvr>
                                      <p:tavLst>
                                        <p:tav tm="0">
                                          <p:val>
                                            <p:strVal val="#ppt_y+0.035"/>
                                          </p:val>
                                        </p:tav>
                                        <p:tav tm="100000">
                                          <p:val>
                                            <p:strVal val="#ppt_y"/>
                                          </p:val>
                                        </p:tav>
                                      </p:tavLst>
                                    </p:anim>
                                    <p:set>
                                      <p:cBhvr>
                                        <p:cTn id="15" dur="1" fill="hold">
                                          <p:stCondLst>
                                            <p:cond delay="0"/>
                                          </p:stCondLst>
                                        </p:cTn>
                                        <p:tgtEl>
                                          <p:spTgt spid="16"/>
                                        </p:tgtEl>
                                        <p:attrNameLst>
                                          <p:attrName>style.visibility</p:attrName>
                                        </p:attrNameLst>
                                      </p:cBhvr>
                                      <p:to>
                                        <p:strVal val="visible"/>
                                      </p:to>
                                    </p:set>
                                    <p:animEffect transition="in" filter="fade">
                                      <p:cBhvr>
                                        <p:cTn id="16" dur="420"/>
                                        <p:tgtEl>
                                          <p:spTgt spid="16"/>
                                        </p:tgtEl>
                                      </p:cBhvr>
                                    </p:animEffect>
                                    <p:anim calcmode="lin" valueType="num">
                                      <p:cBhvr additive="base">
                                        <p:cTn id="17" dur="420" fill="hold"/>
                                        <p:tgtEl>
                                          <p:spTgt spid="16"/>
                                        </p:tgtEl>
                                        <p:attrNameLst>
                                          <p:attrName>ppt_y</p:attrName>
                                        </p:attrNameLst>
                                      </p:cBhvr>
                                      <p:tavLst>
                                        <p:tav tm="0">
                                          <p:val>
                                            <p:strVal val="#ppt_y+0.035"/>
                                          </p:val>
                                        </p:tav>
                                        <p:tav tm="100000">
                                          <p:val>
                                            <p:strVal val="#ppt_y"/>
                                          </p:val>
                                        </p:tav>
                                      </p:tavLst>
                                    </p:anim>
                                    <p:set>
                                      <p:cBhvr>
                                        <p:cTn id="18" dur="1" fill="hold">
                                          <p:stCondLst>
                                            <p:cond delay="0"/>
                                          </p:stCondLst>
                                        </p:cTn>
                                        <p:tgtEl>
                                          <p:spTgt spid="9"/>
                                        </p:tgtEl>
                                        <p:attrNameLst>
                                          <p:attrName>style.visibility</p:attrName>
                                        </p:attrNameLst>
                                      </p:cBhvr>
                                      <p:to>
                                        <p:strVal val="visible"/>
                                      </p:to>
                                    </p:set>
                                    <p:animEffect transition="in" filter="fade">
                                      <p:cBhvr>
                                        <p:cTn id="19" dur="420"/>
                                        <p:tgtEl>
                                          <p:spTgt spid="9"/>
                                        </p:tgtEl>
                                      </p:cBhvr>
                                    </p:animEffect>
                                    <p:anim calcmode="lin" valueType="num">
                                      <p:cBhvr additive="base">
                                        <p:cTn id="20" dur="420" fill="hold"/>
                                        <p:tgtEl>
                                          <p:spTgt spid="9"/>
                                        </p:tgtEl>
                                        <p:attrNameLst>
                                          <p:attrName>ppt_y</p:attrName>
                                        </p:attrNameLst>
                                      </p:cBhvr>
                                      <p:tavLst>
                                        <p:tav tm="0">
                                          <p:val>
                                            <p:strVal val="#ppt_y+0.035"/>
                                          </p:val>
                                        </p:tav>
                                        <p:tav tm="100000">
                                          <p:val>
                                            <p:strVal val="#ppt_y"/>
                                          </p:val>
                                        </p:tav>
                                      </p:tavLst>
                                    </p:anim>
                                    <p:set>
                                      <p:cBhvr>
                                        <p:cTn id="21" dur="1" fill="hold">
                                          <p:stCondLst>
                                            <p:cond delay="0"/>
                                          </p:stCondLst>
                                        </p:cTn>
                                        <p:tgtEl>
                                          <p:spTgt spid="13"/>
                                        </p:tgtEl>
                                        <p:attrNameLst>
                                          <p:attrName>style.visibility</p:attrName>
                                        </p:attrNameLst>
                                      </p:cBhvr>
                                      <p:to>
                                        <p:strVal val="visible"/>
                                      </p:to>
                                    </p:set>
                                    <p:animEffect transition="in" filter="fade">
                                      <p:cBhvr>
                                        <p:cTn id="22" dur="420"/>
                                        <p:tgtEl>
                                          <p:spTgt spid="13"/>
                                        </p:tgtEl>
                                      </p:cBhvr>
                                    </p:animEffect>
                                    <p:anim calcmode="lin" valueType="num">
                                      <p:cBhvr additive="base">
                                        <p:cTn id="23" dur="420" fill="hold"/>
                                        <p:tgtEl>
                                          <p:spTgt spid="13"/>
                                        </p:tgtEl>
                                        <p:attrNameLst>
                                          <p:attrName>ppt_y</p:attrName>
                                        </p:attrNameLst>
                                      </p:cBhvr>
                                      <p:tavLst>
                                        <p:tav tm="0">
                                          <p:val>
                                            <p:strVal val="#ppt_y+0.035"/>
                                          </p:val>
                                        </p:tav>
                                        <p:tav tm="100000">
                                          <p:val>
                                            <p:strVal val="#ppt_y"/>
                                          </p:val>
                                        </p:tav>
                                      </p:tavLst>
                                    </p:anim>
                                    <p:set>
                                      <p:cBhvr>
                                        <p:cTn id="24" dur="1" fill="hold">
                                          <p:stCondLst>
                                            <p:cond delay="0"/>
                                          </p:stCondLst>
                                        </p:cTn>
                                        <p:tgtEl>
                                          <p:spTgt spid="17"/>
                                        </p:tgtEl>
                                        <p:attrNameLst>
                                          <p:attrName>style.visibility</p:attrName>
                                        </p:attrNameLst>
                                      </p:cBhvr>
                                      <p:to>
                                        <p:strVal val="visible"/>
                                      </p:to>
                                    </p:set>
                                    <p:animEffect transition="in" filter="fade">
                                      <p:cBhvr>
                                        <p:cTn id="25" dur="420"/>
                                        <p:tgtEl>
                                          <p:spTgt spid="17"/>
                                        </p:tgtEl>
                                      </p:cBhvr>
                                    </p:animEffect>
                                    <p:anim calcmode="lin" valueType="num">
                                      <p:cBhvr additive="base">
                                        <p:cTn id="26" dur="420" fill="hold"/>
                                        <p:tgtEl>
                                          <p:spTgt spid="17"/>
                                        </p:tgtEl>
                                        <p:attrNameLst>
                                          <p:attrName>ppt_y</p:attrName>
                                        </p:attrNameLst>
                                      </p:cBhvr>
                                      <p:tavLst>
                                        <p:tav tm="0">
                                          <p:val>
                                            <p:strVal val="#ppt_y+0.035"/>
                                          </p:val>
                                        </p:tav>
                                        <p:tav tm="100000">
                                          <p:val>
                                            <p:strVal val="#ppt_y"/>
                                          </p:val>
                                        </p:tav>
                                      </p:tavLst>
                                    </p:anim>
                                    <p:set>
                                      <p:cBhvr>
                                        <p:cTn id="27" dur="1" fill="hold">
                                          <p:stCondLst>
                                            <p:cond delay="0"/>
                                          </p:stCondLst>
                                        </p:cTn>
                                        <p:tgtEl>
                                          <p:spTgt spid="10"/>
                                        </p:tgtEl>
                                        <p:attrNameLst>
                                          <p:attrName>style.visibility</p:attrName>
                                        </p:attrNameLst>
                                      </p:cBhvr>
                                      <p:to>
                                        <p:strVal val="visible"/>
                                      </p:to>
                                    </p:set>
                                    <p:animEffect transition="in" filter="fade">
                                      <p:cBhvr>
                                        <p:cTn id="28" dur="420"/>
                                        <p:tgtEl>
                                          <p:spTgt spid="10"/>
                                        </p:tgtEl>
                                      </p:cBhvr>
                                    </p:animEffect>
                                    <p:anim calcmode="lin" valueType="num">
                                      <p:cBhvr additive="base">
                                        <p:cTn id="29" dur="420" fill="hold"/>
                                        <p:tgtEl>
                                          <p:spTgt spid="10"/>
                                        </p:tgtEl>
                                        <p:attrNameLst>
                                          <p:attrName>ppt_y</p:attrName>
                                        </p:attrNameLst>
                                      </p:cBhvr>
                                      <p:tavLst>
                                        <p:tav tm="0">
                                          <p:val>
                                            <p:strVal val="#ppt_y+0.035"/>
                                          </p:val>
                                        </p:tav>
                                        <p:tav tm="100000">
                                          <p:val>
                                            <p:strVal val="#ppt_y"/>
                                          </p:val>
                                        </p:tav>
                                      </p:tavLst>
                                    </p:anim>
                                    <p:set>
                                      <p:cBhvr>
                                        <p:cTn id="30" dur="1" fill="hold">
                                          <p:stCondLst>
                                            <p:cond delay="0"/>
                                          </p:stCondLst>
                                        </p:cTn>
                                        <p:tgtEl>
                                          <p:spTgt spid="14"/>
                                        </p:tgtEl>
                                        <p:attrNameLst>
                                          <p:attrName>style.visibility</p:attrName>
                                        </p:attrNameLst>
                                      </p:cBhvr>
                                      <p:to>
                                        <p:strVal val="visible"/>
                                      </p:to>
                                    </p:set>
                                    <p:animEffect transition="in" filter="fade">
                                      <p:cBhvr>
                                        <p:cTn id="31" dur="420"/>
                                        <p:tgtEl>
                                          <p:spTgt spid="14"/>
                                        </p:tgtEl>
                                      </p:cBhvr>
                                    </p:animEffect>
                                    <p:anim calcmode="lin" valueType="num">
                                      <p:cBhvr additive="base">
                                        <p:cTn id="32" dur="420" fill="hold"/>
                                        <p:tgtEl>
                                          <p:spTgt spid="14"/>
                                        </p:tgtEl>
                                        <p:attrNameLst>
                                          <p:attrName>ppt_y</p:attrName>
                                        </p:attrNameLst>
                                      </p:cBhvr>
                                      <p:tavLst>
                                        <p:tav tm="0">
                                          <p:val>
                                            <p:strVal val="#ppt_y+0.035"/>
                                          </p:val>
                                        </p:tav>
                                        <p:tav tm="100000">
                                          <p:val>
                                            <p:strVal val="#ppt_y"/>
                                          </p:val>
                                        </p:tav>
                                      </p:tavLst>
                                    </p:anim>
                                    <p:set>
                                      <p:cBhvr>
                                        <p:cTn id="33"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5" dur="420" fill="hold"/>
                                        <p:tgtEl>
                                          <p:spTgt spid="18"/>
                                        </p:tgtEl>
                                        <p:attrNameLst>
                                          <p:attrName>ppt_y</p:attrName>
                                        </p:attrNameLst>
                                      </p:cBhvr>
                                      <p:tavLst>
                                        <p:tav tm="0">
                                          <p:val>
                                            <p:strVal val="#ppt_y+0.035"/>
                                          </p:val>
                                        </p:tav>
                                        <p:tav tm="100000">
                                          <p:val>
                                            <p:strVal val="#ppt_y"/>
                                          </p:val>
                                        </p:tav>
                                      </p:tavLst>
                                    </p:anim>
                                    <p:set>
                                      <p:cBhvr>
                                        <p:cTn id="36" dur="1" fill="hold">
                                          <p:stCondLst>
                                            <p:cond delay="0"/>
                                          </p:stCondLst>
                                        </p:cTn>
                                        <p:tgtEl>
                                          <p:spTgt spid="11"/>
                                        </p:tgtEl>
                                        <p:attrNameLst>
                                          <p:attrName>style.visibility</p:attrName>
                                        </p:attrNameLst>
                                      </p:cBhvr>
                                      <p:to>
                                        <p:strVal val="visible"/>
                                      </p:to>
                                    </p:set>
                                    <p:animEffect transition="in" filter="fade">
                                      <p:cBhvr>
                                        <p:cTn id="37" dur="420"/>
                                        <p:tgtEl>
                                          <p:spTgt spid="11"/>
                                        </p:tgtEl>
                                      </p:cBhvr>
                                    </p:animEffect>
                                    <p:anim calcmode="lin" valueType="num">
                                      <p:cBhvr additive="base">
                                        <p:cTn id="38" dur="420" fill="hold"/>
                                        <p:tgtEl>
                                          <p:spTgt spid="11"/>
                                        </p:tgtEl>
                                        <p:attrNameLst>
                                          <p:attrName>ppt_y</p:attrName>
                                        </p:attrNameLst>
                                      </p:cBhvr>
                                      <p:tavLst>
                                        <p:tav tm="0">
                                          <p:val>
                                            <p:strVal val="#ppt_y+0.035"/>
                                          </p:val>
                                        </p:tav>
                                        <p:tav tm="100000">
                                          <p:val>
                                            <p:strVal val="#ppt_y"/>
                                          </p:val>
                                        </p:tav>
                                      </p:tavLst>
                                    </p:anim>
                                    <p:set>
                                      <p:cBhvr>
                                        <p:cTn id="39" dur="1" fill="hold">
                                          <p:stCondLst>
                                            <p:cond delay="0"/>
                                          </p:stCondLst>
                                        </p:cTn>
                                        <p:tgtEl>
                                          <p:spTgt spid="15"/>
                                        </p:tgtEl>
                                        <p:attrNameLst>
                                          <p:attrName>style.visibility</p:attrName>
                                        </p:attrNameLst>
                                      </p:cBhvr>
                                      <p:to>
                                        <p:strVal val="visible"/>
                                      </p:to>
                                    </p:set>
                                    <p:animEffect transition="in" filter="fade">
                                      <p:cBhvr>
                                        <p:cTn id="40" dur="420"/>
                                        <p:tgtEl>
                                          <p:spTgt spid="15"/>
                                        </p:tgtEl>
                                      </p:cBhvr>
                                    </p:animEffect>
                                    <p:anim calcmode="lin" valueType="num">
                                      <p:cBhvr additive="base">
                                        <p:cTn id="41" dur="420" fill="hold"/>
                                        <p:tgtEl>
                                          <p:spTgt spid="15"/>
                                        </p:tgtEl>
                                        <p:attrNameLst>
                                          <p:attrName>ppt_y</p:attrName>
                                        </p:attrNameLst>
                                      </p:cBhvr>
                                      <p:tavLst>
                                        <p:tav tm="0">
                                          <p:val>
                                            <p:strVal val="#ppt_y+0.035"/>
                                          </p:val>
                                        </p:tav>
                                        <p:tav tm="100000">
                                          <p:val>
                                            <p:strVal val="#ppt_y"/>
                                          </p:val>
                                        </p:tav>
                                      </p:tavLst>
                                    </p:anim>
                                    <p:set>
                                      <p:cBhvr>
                                        <p:cTn id="42"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4" dur="420" fill="hold"/>
                                        <p:tgtEl>
                                          <p:spTgt spid="21"/>
                                        </p:tgtEl>
                                        <p:attrNameLst>
                                          <p:attrName>ppt_y</p:attrName>
                                        </p:attrNameLst>
                                      </p:cBhvr>
                                      <p:tavLst>
                                        <p:tav tm="0">
                                          <p:val>
                                            <p:strVal val="#ppt_y+0.035"/>
                                          </p:val>
                                        </p:tav>
                                        <p:tav tm="100000">
                                          <p:val>
                                            <p:strVal val="#ppt_y"/>
                                          </p:val>
                                        </p:tav>
                                      </p:tavLst>
                                    </p:anim>
                                    <p:set>
                                      <p:cBhvr>
                                        <p:cTn id="45" dur="1" fill="hold">
                                          <p:stCondLst>
                                            <p:cond delay="0"/>
                                          </p:stCondLst>
                                        </p:cTn>
                                        <p:tgtEl>
                                          <p:spTgt spid="19"/>
                                        </p:tgtEl>
                                        <p:attrNameLst>
                                          <p:attrName>style.visibility</p:attrName>
                                        </p:attrNameLst>
                                      </p:cBhvr>
                                      <p:to>
                                        <p:strVal val="visible"/>
                                      </p:to>
                                    </p:set>
                                    <p:animEffect transition="in" filter="fade">
                                      <p:cBhvr>
                                        <p:cTn id="46" dur="420"/>
                                        <p:tgtEl>
                                          <p:spTgt spid="19"/>
                                        </p:tgtEl>
                                      </p:cBhvr>
                                    </p:animEffect>
                                    <p:anim calcmode="lin" valueType="num">
                                      <p:cBhvr additive="base">
                                        <p:cTn id="47" dur="420" fill="hold"/>
                                        <p:tgtEl>
                                          <p:spTgt spid="19"/>
                                        </p:tgtEl>
                                        <p:attrNameLst>
                                          <p:attrName>ppt_y</p:attrName>
                                        </p:attrNameLst>
                                      </p:cBhvr>
                                      <p:tavLst>
                                        <p:tav tm="0">
                                          <p:val>
                                            <p:strVal val="#ppt_y+0.035"/>
                                          </p:val>
                                        </p:tav>
                                        <p:tav tm="100000">
                                          <p:val>
                                            <p:strVal val="#ppt_y"/>
                                          </p:val>
                                        </p:tav>
                                      </p:tavLst>
                                    </p:anim>
                                    <p:set>
                                      <p:cBhvr>
                                        <p:cTn id="48" dur="1" fill="hold">
                                          <p:stCondLst>
                                            <p:cond delay="0"/>
                                          </p:stCondLst>
                                        </p:cTn>
                                        <p:tgtEl>
                                          <p:spTgt spid="20"/>
                                        </p:tgtEl>
                                        <p:attrNameLst>
                                          <p:attrName>style.visibility</p:attrName>
                                        </p:attrNameLst>
                                      </p:cBhvr>
                                      <p:to>
                                        <p:strVal val="visible"/>
                                      </p:to>
                                    </p:set>
                                    <p:animEffect transition="in" filter="fade">
                                      <p:cBhvr>
                                        <p:cTn id="49" dur="420"/>
                                        <p:tgtEl>
                                          <p:spTgt spid="20"/>
                                        </p:tgtEl>
                                      </p:cBhvr>
                                    </p:animEffect>
                                    <p:anim calcmode="lin" valueType="num">
                                      <p:cBhvr additive="base">
                                        <p:cTn id="50" dur="420" fill="hold"/>
                                        <p:tgtEl>
                                          <p:spTgt spid="20"/>
                                        </p:tgtEl>
                                        <p:attrNameLst>
                                          <p:attrName>ppt_y</p:attrName>
                                        </p:attrNameLst>
                                      </p:cBhvr>
                                      <p:tavLst>
                                        <p:tav tm="0">
                                          <p:val>
                                            <p:strVal val="#ppt_y+0.035"/>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20"/>
                                        <p:tgtEl>
                                          <p:spTgt spid="24"/>
                                        </p:tgtEl>
                                      </p:cBhvr>
                                    </p:animEffect>
                                    <p:anim calcmode="lin" valueType="num">
                                      <p:cBhvr additive="base">
                                        <p:cTn id="56" dur="420" fill="hold"/>
                                        <p:tgtEl>
                                          <p:spTgt spid="24"/>
                                        </p:tgtEl>
                                        <p:attrNameLst>
                                          <p:attrName>ppt_y</p:attrName>
                                        </p:attrNameLst>
                                      </p:cBhvr>
                                      <p:tavLst>
                                        <p:tav tm="0">
                                          <p:val>
                                            <p:strVal val="#ppt_y+0.035"/>
                                          </p:val>
                                        </p:tav>
                                        <p:tav tm="100000">
                                          <p:val>
                                            <p:strVal val="#ppt_y"/>
                                          </p:val>
                                        </p:tav>
                                      </p:tavLst>
                                    </p:anim>
                                    <p:set>
                                      <p:cBhvr>
                                        <p:cTn id="57" dur="1" fill="hold">
                                          <p:stCondLst>
                                            <p:cond delay="0"/>
                                          </p:stCondLst>
                                        </p:cTn>
                                        <p:tgtEl>
                                          <p:spTgt spid="22"/>
                                        </p:tgtEl>
                                        <p:attrNameLst>
                                          <p:attrName>style.visibility</p:attrName>
                                        </p:attrNameLst>
                                      </p:cBhvr>
                                      <p:to>
                                        <p:strVal val="visible"/>
                                      </p:to>
                                    </p:set>
                                    <p:animEffect transition="in" filter="fade">
                                      <p:cBhvr>
                                        <p:cTn id="58" dur="420"/>
                                        <p:tgtEl>
                                          <p:spTgt spid="22"/>
                                        </p:tgtEl>
                                      </p:cBhvr>
                                    </p:animEffect>
                                    <p:anim calcmode="lin" valueType="num">
                                      <p:cBhvr additive="base">
                                        <p:cTn id="59" dur="420" fill="hold"/>
                                        <p:tgtEl>
                                          <p:spTgt spid="22"/>
                                        </p:tgtEl>
                                        <p:attrNameLst>
                                          <p:attrName>ppt_y</p:attrName>
                                        </p:attrNameLst>
                                      </p:cBhvr>
                                      <p:tavLst>
                                        <p:tav tm="0">
                                          <p:val>
                                            <p:strVal val="#ppt_y+0.035"/>
                                          </p:val>
                                        </p:tav>
                                        <p:tav tm="100000">
                                          <p:val>
                                            <p:strVal val="#ppt_y"/>
                                          </p:val>
                                        </p:tav>
                                      </p:tavLst>
                                    </p:anim>
                                    <p:set>
                                      <p:cBhvr>
                                        <p:cTn id="60" dur="1" fill="hold">
                                          <p:stCondLst>
                                            <p:cond delay="0"/>
                                          </p:stCondLst>
                                        </p:cTn>
                                        <p:tgtEl>
                                          <p:spTgt spid="23"/>
                                        </p:tgtEl>
                                        <p:attrNameLst>
                                          <p:attrName>style.visibility</p:attrName>
                                        </p:attrNameLst>
                                      </p:cBhvr>
                                      <p:to>
                                        <p:strVal val="visible"/>
                                      </p:to>
                                    </p:set>
                                    <p:animEffect transition="in" filter="fade">
                                      <p:cBhvr>
                                        <p:cTn id="61" dur="420"/>
                                        <p:tgtEl>
                                          <p:spTgt spid="23"/>
                                        </p:tgtEl>
                                      </p:cBhvr>
                                    </p:animEffect>
                                    <p:anim calcmode="lin" valueType="num">
                                      <p:cBhvr additive="base">
                                        <p:cTn id="62" dur="420" fill="hold"/>
                                        <p:tgtEl>
                                          <p:spTgt spid="23"/>
                                        </p:tgtEl>
                                        <p:attrNameLst>
                                          <p:attrName>ppt_y</p:attrName>
                                        </p:attrNameLst>
                                      </p:cBhvr>
                                      <p:tavLst>
                                        <p:tav tm="0">
                                          <p:val>
                                            <p:strVal val="#ppt_y+0.035"/>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420"/>
                                        <p:tgtEl>
                                          <p:spTgt spid="27"/>
                                        </p:tgtEl>
                                      </p:cBhvr>
                                    </p:animEffect>
                                    <p:anim calcmode="lin" valueType="num">
                                      <p:cBhvr additive="base">
                                        <p:cTn id="68" dur="420" fill="hold"/>
                                        <p:tgtEl>
                                          <p:spTgt spid="27"/>
                                        </p:tgtEl>
                                        <p:attrNameLst>
                                          <p:attrName>ppt_y</p:attrName>
                                        </p:attrNameLst>
                                      </p:cBhvr>
                                      <p:tavLst>
                                        <p:tav tm="0">
                                          <p:val>
                                            <p:strVal val="#ppt_y+0.035"/>
                                          </p:val>
                                        </p:tav>
                                        <p:tav tm="100000">
                                          <p:val>
                                            <p:strVal val="#ppt_y"/>
                                          </p:val>
                                        </p:tav>
                                      </p:tavLst>
                                    </p:anim>
                                    <p:set>
                                      <p:cBhvr>
                                        <p:cTn id="69" dur="1" fill="hold">
                                          <p:stCondLst>
                                            <p:cond delay="0"/>
                                          </p:stCondLst>
                                        </p:cTn>
                                        <p:tgtEl>
                                          <p:spTgt spid="25"/>
                                        </p:tgtEl>
                                        <p:attrNameLst>
                                          <p:attrName>style.visibility</p:attrName>
                                        </p:attrNameLst>
                                      </p:cBhvr>
                                      <p:to>
                                        <p:strVal val="visible"/>
                                      </p:to>
                                    </p:set>
                                    <p:animEffect transition="in" filter="fade">
                                      <p:cBhvr>
                                        <p:cTn id="70" dur="420"/>
                                        <p:tgtEl>
                                          <p:spTgt spid="25"/>
                                        </p:tgtEl>
                                      </p:cBhvr>
                                    </p:animEffect>
                                    <p:anim calcmode="lin" valueType="num">
                                      <p:cBhvr additive="base">
                                        <p:cTn id="71" dur="420" fill="hold"/>
                                        <p:tgtEl>
                                          <p:spTgt spid="25"/>
                                        </p:tgtEl>
                                        <p:attrNameLst>
                                          <p:attrName>ppt_y</p:attrName>
                                        </p:attrNameLst>
                                      </p:cBhvr>
                                      <p:tavLst>
                                        <p:tav tm="0">
                                          <p:val>
                                            <p:strVal val="#ppt_y+0.035"/>
                                          </p:val>
                                        </p:tav>
                                        <p:tav tm="100000">
                                          <p:val>
                                            <p:strVal val="#ppt_y"/>
                                          </p:val>
                                        </p:tav>
                                      </p:tavLst>
                                    </p:anim>
                                    <p:set>
                                      <p:cBhvr>
                                        <p:cTn id="72" dur="1" fill="hold">
                                          <p:stCondLst>
                                            <p:cond delay="0"/>
                                          </p:stCondLst>
                                        </p:cTn>
                                        <p:tgtEl>
                                          <p:spTgt spid="26"/>
                                        </p:tgtEl>
                                        <p:attrNameLst>
                                          <p:attrName>style.visibility</p:attrName>
                                        </p:attrNameLst>
                                      </p:cBhvr>
                                      <p:to>
                                        <p:strVal val="visible"/>
                                      </p:to>
                                    </p:set>
                                    <p:animEffect transition="in" filter="fade">
                                      <p:cBhvr>
                                        <p:cTn id="73" dur="420"/>
                                        <p:tgtEl>
                                          <p:spTgt spid="26"/>
                                        </p:tgtEl>
                                      </p:cBhvr>
                                    </p:animEffect>
                                    <p:anim calcmode="lin" valueType="num">
                                      <p:cBhvr additive="base">
                                        <p:cTn id="74" dur="420" fill="hold"/>
                                        <p:tgtEl>
                                          <p:spTgt spid="26"/>
                                        </p:tgtEl>
                                        <p:attrNameLst>
                                          <p:attrName>ppt_y</p:attrName>
                                        </p:attrNameLst>
                                      </p:cBhvr>
                                      <p:tavLst>
                                        <p:tav tm="0">
                                          <p:val>
                                            <p:strVal val="#ppt_y+0.035"/>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20"/>
                                        <p:tgtEl>
                                          <p:spTgt spid="30"/>
                                        </p:tgtEl>
                                      </p:cBhvr>
                                    </p:animEffect>
                                    <p:anim calcmode="lin" valueType="num">
                                      <p:cBhvr additive="base">
                                        <p:cTn id="80" dur="420" fill="hold"/>
                                        <p:tgtEl>
                                          <p:spTgt spid="30"/>
                                        </p:tgtEl>
                                        <p:attrNameLst>
                                          <p:attrName>ppt_y</p:attrName>
                                        </p:attrNameLst>
                                      </p:cBhvr>
                                      <p:tavLst>
                                        <p:tav tm="0">
                                          <p:val>
                                            <p:strVal val="#ppt_y+0.035"/>
                                          </p:val>
                                        </p:tav>
                                        <p:tav tm="100000">
                                          <p:val>
                                            <p:strVal val="#ppt_y"/>
                                          </p:val>
                                        </p:tav>
                                      </p:tavLst>
                                    </p:anim>
                                    <p:set>
                                      <p:cBhvr>
                                        <p:cTn id="81" dur="1" fill="hold">
                                          <p:stCondLst>
                                            <p:cond delay="0"/>
                                          </p:stCondLst>
                                        </p:cTn>
                                        <p:tgtEl>
                                          <p:spTgt spid="28"/>
                                        </p:tgtEl>
                                        <p:attrNameLst>
                                          <p:attrName>style.visibility</p:attrName>
                                        </p:attrNameLst>
                                      </p:cBhvr>
                                      <p:to>
                                        <p:strVal val="visible"/>
                                      </p:to>
                                    </p:set>
                                    <p:animEffect transition="in" filter="fade">
                                      <p:cBhvr>
                                        <p:cTn id="82" dur="420"/>
                                        <p:tgtEl>
                                          <p:spTgt spid="28"/>
                                        </p:tgtEl>
                                      </p:cBhvr>
                                    </p:animEffect>
                                    <p:anim calcmode="lin" valueType="num">
                                      <p:cBhvr additive="base">
                                        <p:cTn id="83" dur="420" fill="hold"/>
                                        <p:tgtEl>
                                          <p:spTgt spid="28"/>
                                        </p:tgtEl>
                                        <p:attrNameLst>
                                          <p:attrName>ppt_y</p:attrName>
                                        </p:attrNameLst>
                                      </p:cBhvr>
                                      <p:tavLst>
                                        <p:tav tm="0">
                                          <p:val>
                                            <p:strVal val="#ppt_y+0.035"/>
                                          </p:val>
                                        </p:tav>
                                        <p:tav tm="100000">
                                          <p:val>
                                            <p:strVal val="#ppt_y"/>
                                          </p:val>
                                        </p:tav>
                                      </p:tavLst>
                                    </p:anim>
                                    <p:set>
                                      <p:cBhvr>
                                        <p:cTn id="84" dur="1" fill="hold">
                                          <p:stCondLst>
                                            <p:cond delay="0"/>
                                          </p:stCondLst>
                                        </p:cTn>
                                        <p:tgtEl>
                                          <p:spTgt spid="29"/>
                                        </p:tgtEl>
                                        <p:attrNameLst>
                                          <p:attrName>style.visibility</p:attrName>
                                        </p:attrNameLst>
                                      </p:cBhvr>
                                      <p:to>
                                        <p:strVal val="visible"/>
                                      </p:to>
                                    </p:set>
                                    <p:animEffect transition="in" filter="fade">
                                      <p:cBhvr>
                                        <p:cTn id="85" dur="420"/>
                                        <p:tgtEl>
                                          <p:spTgt spid="29"/>
                                        </p:tgtEl>
                                      </p:cBhvr>
                                    </p:animEffect>
                                    <p:anim calcmode="lin" valueType="num">
                                      <p:cBhvr additive="base">
                                        <p:cTn id="86" dur="420" fill="hold"/>
                                        <p:tgtEl>
                                          <p:spTgt spid="29"/>
                                        </p:tgtEl>
                                        <p:attrNameLst>
                                          <p:attrName>ppt_y</p:attrName>
                                        </p:attrNameLst>
                                      </p:cBhvr>
                                      <p:tavLst>
                                        <p:tav tm="0">
                                          <p:val>
                                            <p:strVal val="#ppt_y+0.035"/>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25"/>
                                        </p:tgtEl>
                                        <p:attrNameLst>
                                          <p:attrName>style.visibility</p:attrName>
                                        </p:attrNameLst>
                                      </p:cBhvr>
                                      <p:to>
                                        <p:strVal val="visible"/>
                                      </p:to>
                                    </p:set>
                                    <p:animEffect transition="in" filter="fade">
                                      <p:cBhvr>
                                        <p:cTn id="91" dur="420"/>
                                        <p:tgtEl>
                                          <p:spTgt spid="25"/>
                                        </p:tgtEl>
                                      </p:cBhvr>
                                    </p:animEffect>
                                    <p:anim calcmode="lin" valueType="num">
                                      <p:cBhvr additive="base">
                                        <p:cTn id="92" dur="420" fill="hold"/>
                                        <p:tgtEl>
                                          <p:spTgt spid="2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animBg="1"/>
      <p:bldP spid="25" grpId="0" animBg="1"/>
      <p:bldP spid="26" grpId="0"/>
      <p:bldP spid="27" grpId="0" animBg="1"/>
      <p:bldP spid="28" grpId="0"/>
      <p:bldP spid="29" grpId="0"/>
      <p:bldP spid="3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05</a:t>
            </a:r>
            <a:r>
              <a:rPr lang="en-US" sz="1150" b="1" kern="0" spc="160" dirty="0">
                <a:solidFill>
                  <a:srgbClr val="6E7781"/>
                </a:solidFill>
                <a:latin typeface="Calibri" pitchFamily="34" charset="0"/>
                <a:ea typeface="Calibri" pitchFamily="34" charset="-122"/>
                <a:cs typeface="Calibri" pitchFamily="34" charset="-120"/>
              </a:rPr>
              <a:t>   APP 2 OF 4   ·   ANGULAR + DEVEXTREME</a:t>
            </a:r>
            <a:endParaRPr lang="en-US" sz="1150" dirty="0"/>
          </a:p>
        </p:txBody>
      </p:sp>
      <p:sp>
        <p:nvSpPr>
          <p:cNvPr id="3" name="Shape 1"/>
          <p:cNvSpPr/>
          <p:nvPr/>
        </p:nvSpPr>
        <p:spPr>
          <a:xfrm>
            <a:off x="10351008" y="393192"/>
            <a:ext cx="1271016" cy="292608"/>
          </a:xfrm>
          <a:prstGeom prst="roundRect">
            <a:avLst>
              <a:gd name="adj" fmla="val 59375"/>
            </a:avLst>
          </a:prstGeom>
          <a:solidFill>
            <a:srgbClr val="C2410C"/>
          </a:solidFill>
          <a:ln/>
        </p:spPr>
      </p:sp>
      <p:sp>
        <p:nvSpPr>
          <p:cNvPr id="4" name="Text 2"/>
          <p:cNvSpPr/>
          <p:nvPr/>
        </p:nvSpPr>
        <p:spPr>
          <a:xfrm>
            <a:off x="10351008" y="393192"/>
            <a:ext cx="1271016" cy="292608"/>
          </a:xfrm>
          <a:prstGeom prst="rect">
            <a:avLst/>
          </a:prstGeom>
          <a:noFill/>
          <a:ln/>
        </p:spPr>
        <p:txBody>
          <a:bodyPr wrap="square" lIns="0" tIns="0" rIns="0" bIns="0" rtlCol="0" anchor="ctr"/>
          <a:lstStyle/>
          <a:p>
            <a:pPr marL="0" indent="0" algn="ctr">
              <a:buNone/>
            </a:pPr>
            <a:r>
              <a:rPr lang="en-US" sz="950" b="1" kern="0" spc="120" dirty="0">
                <a:solidFill>
                  <a:srgbClr val="FFFFFF"/>
                </a:solidFill>
                <a:latin typeface="Calibri" pitchFamily="34" charset="0"/>
                <a:ea typeface="Calibri" pitchFamily="34" charset="-122"/>
                <a:cs typeface="Calibri" pitchFamily="34" charset="-120"/>
              </a:rPr>
              <a:t>SKILL + PROMPT</a:t>
            </a:r>
            <a:endParaRPr lang="en-US" sz="950" dirty="0"/>
          </a:p>
        </p:txBody>
      </p:sp>
      <p:sp>
        <p:nvSpPr>
          <p:cNvPr id="5" name="Text 3"/>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The same grid, in Angular</a:t>
            </a:r>
            <a:endParaRPr lang="en-US" sz="3200" dirty="0"/>
          </a:p>
        </p:txBody>
      </p:sp>
      <p:sp>
        <p:nvSpPr>
          <p:cNvPr id="6" name="Text 4"/>
          <p:cNvSpPr/>
          <p:nvPr/>
        </p:nvSpPr>
        <p:spPr>
          <a:xfrm>
            <a:off x="566928" y="1335024"/>
            <a:ext cx="11055096" cy="566928"/>
          </a:xfrm>
          <a:prstGeom prst="rect">
            <a:avLst/>
          </a:prstGeom>
          <a:noFill/>
          <a:ln/>
        </p:spPr>
        <p:txBody>
          <a:bodyPr wrap="square" lIns="0" tIns="0" rIns="0" bIns="0" rtlCol="0" anchor="t"/>
          <a:lstStyle/>
          <a:p>
            <a:pPr marL="0" indent="0">
              <a:lnSpc>
                <a:spcPts val="1850"/>
              </a:lnSpc>
              <a:buNone/>
            </a:pPr>
            <a:r>
              <a:rPr lang="en-US" sz="1200" dirty="0">
                <a:solidFill>
                  <a:srgbClr val="2B3138"/>
                </a:solidFill>
                <a:latin typeface="Calibri" pitchFamily="34" charset="0"/>
                <a:ea typeface="Calibri" pitchFamily="34" charset="-122"/>
                <a:cs typeface="Calibri" pitchFamily="34" charset="-120"/>
              </a:rPr>
              <a:t>Deliberately the same feature set as the React one, so the two are comparable: zoneless Angular with signals over a .NET minimal API, server-side operations, inline editing, Excel export, seeded offline fallback.</a:t>
            </a:r>
            <a:endParaRPr lang="en-US" sz="1200" dirty="0"/>
          </a:p>
        </p:txBody>
      </p:sp>
      <p:sp>
        <p:nvSpPr>
          <p:cNvPr id="7" name="Text 5"/>
          <p:cNvSpPr/>
          <p:nvPr/>
        </p:nvSpPr>
        <p:spPr>
          <a:xfrm>
            <a:off x="566928" y="1883664"/>
            <a:ext cx="11055096" cy="548640"/>
          </a:xfrm>
          <a:prstGeom prst="rect">
            <a:avLst/>
          </a:prstGeom>
          <a:noFill/>
          <a:ln/>
        </p:spPr>
        <p:txBody>
          <a:bodyPr wrap="square" lIns="0" tIns="0" rIns="0" bIns="0" rtlCol="0" anchor="t"/>
          <a:lstStyle/>
          <a:p>
            <a:pPr marL="0" indent="0">
              <a:lnSpc>
                <a:spcPts val="1500"/>
              </a:lnSpc>
              <a:buNone/>
            </a:pPr>
            <a:r>
              <a:rPr lang="en-US" sz="1100" b="1" dirty="0">
                <a:solidFill>
                  <a:srgbClr val="B42318"/>
                </a:solidFill>
                <a:latin typeface="Calibri" pitchFamily="34" charset="0"/>
                <a:ea typeface="Calibri" pitchFamily="34" charset="-122"/>
                <a:cs typeface="Calibri" pitchFamily="34" charset="-120"/>
              </a:rPr>
              <a:t>The trap this app exists to expose:  </a:t>
            </a:r>
            <a:r>
              <a:rPr lang="en-US" sz="1100" dirty="0">
                <a:solidFill>
                  <a:srgbClr val="2B3138"/>
                </a:solidFill>
                <a:latin typeface="Calibri" pitchFamily="34" charset="0"/>
                <a:ea typeface="Calibri" pitchFamily="34" charset="-122"/>
                <a:cs typeface="Calibri" pitchFamily="34" charset="-120"/>
              </a:rPr>
              <a:t>the Angular CLI hard-refuses to run outside its supported Node engine range and fails at the very first scaffold command — before any code exists to debug. The reviewer installed the CLI and reproduced the exact refusal, so the shipped prompt states the real range.</a:t>
            </a:r>
            <a:endParaRPr lang="en-US" sz="1100" dirty="0"/>
          </a:p>
        </p:txBody>
      </p:sp>
      <p:sp>
        <p:nvSpPr>
          <p:cNvPr id="8" name="Shape 6"/>
          <p:cNvSpPr/>
          <p:nvPr/>
        </p:nvSpPr>
        <p:spPr>
          <a:xfrm>
            <a:off x="566928" y="2523744"/>
            <a:ext cx="3538728" cy="3493008"/>
          </a:xfrm>
          <a:prstGeom prst="roundRect">
            <a:avLst>
              <a:gd name="adj" fmla="val 1571"/>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9" name="Text 7"/>
          <p:cNvSpPr/>
          <p:nvPr/>
        </p:nvSpPr>
        <p:spPr>
          <a:xfrm>
            <a:off x="804672" y="2688336"/>
            <a:ext cx="3063240" cy="256032"/>
          </a:xfrm>
          <a:prstGeom prst="rect">
            <a:avLst/>
          </a:prstGeom>
          <a:noFill/>
          <a:ln/>
        </p:spPr>
        <p:txBody>
          <a:bodyPr wrap="square" lIns="0" tIns="0" rIns="0" bIns="0" rtlCol="0" anchor="t"/>
          <a:lstStyle/>
          <a:p>
            <a:pPr marL="0" indent="0">
              <a:buNone/>
            </a:pPr>
            <a:r>
              <a:rPr lang="en-US" sz="1100" b="1" kern="0" spc="120" dirty="0">
                <a:solidFill>
                  <a:srgbClr val="0969DA"/>
                </a:solidFill>
                <a:latin typeface="Calibri" pitchFamily="34" charset="0"/>
                <a:ea typeface="Calibri" pitchFamily="34" charset="-122"/>
                <a:cs typeface="Calibri" pitchFamily="34" charset="-120"/>
              </a:rPr>
              <a:t>THE PROMPT</a:t>
            </a:r>
            <a:endParaRPr lang="en-US" sz="1100" dirty="0"/>
          </a:p>
        </p:txBody>
      </p:sp>
      <p:sp>
        <p:nvSpPr>
          <p:cNvPr id="10" name="Text 8"/>
          <p:cNvSpPr/>
          <p:nvPr/>
        </p:nvSpPr>
        <p:spPr>
          <a:xfrm>
            <a:off x="804672" y="2962656"/>
            <a:ext cx="3063240" cy="310896"/>
          </a:xfrm>
          <a:prstGeom prst="rect">
            <a:avLst/>
          </a:prstGeom>
          <a:noFill/>
          <a:ln/>
        </p:spPr>
        <p:txBody>
          <a:bodyPr wrap="square" lIns="0" tIns="0" rIns="0" bIns="0" rtlCol="0" anchor="t"/>
          <a:lstStyle/>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paste into the desktop app  ·  455 lines</a:t>
            </a:r>
            <a:endParaRPr lang="en-US" sz="800" dirty="0"/>
          </a:p>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prompts/angular-devextreme-grid.PROMPT.md</a:t>
            </a:r>
            <a:endParaRPr lang="en-US" sz="800" dirty="0"/>
          </a:p>
        </p:txBody>
      </p:sp>
      <p:sp>
        <p:nvSpPr>
          <p:cNvPr id="11" name="Text 9"/>
          <p:cNvSpPr/>
          <p:nvPr/>
        </p:nvSpPr>
        <p:spPr>
          <a:xfrm>
            <a:off x="804672" y="3364992"/>
            <a:ext cx="3063240" cy="2450592"/>
          </a:xfrm>
          <a:prstGeom prst="rect">
            <a:avLst/>
          </a:prstGeom>
          <a:noFill/>
          <a:ln/>
        </p:spPr>
        <p:txBody>
          <a:bodyPr wrap="square" lIns="0" tIns="0" rIns="0" bIns="0" rtlCol="0" anchor="t"/>
          <a:lstStyle/>
          <a:p>
            <a:pPr marL="0" indent="0">
              <a:lnSpc>
                <a:spcPts val="1400"/>
              </a:lnSpc>
              <a:spcAft>
                <a:spcPts val="700"/>
              </a:spcAft>
              <a:buNone/>
            </a:pPr>
            <a:r>
              <a:rPr lang="en-US" sz="1050" b="1" dirty="0">
                <a:solidFill>
                  <a:srgbClr val="15181D"/>
                </a:solidFill>
                <a:latin typeface="Calibri" pitchFamily="34" charset="0"/>
                <a:ea typeface="Calibri" pitchFamily="34" charset="-122"/>
                <a:cs typeface="Calibri" pitchFamily="34" charset="-120"/>
              </a:rPr>
              <a:t>"Build Catalog — an Angular 22 + DevExtreme DataGrid app on a .NET 10 API."</a:t>
            </a:r>
            <a:endParaRPr lang="en-US" sz="1050" dirty="0"/>
          </a:p>
          <a:p>
            <a:pPr marL="0" indent="0">
              <a:lnSpc>
                <a:spcPts val="1400"/>
              </a:lnSpc>
              <a:spcAft>
                <a:spcPts val="700"/>
              </a:spcAft>
              <a:buNone/>
            </a:pPr>
            <a:r>
              <a:rPr lang="en-US" sz="1050" dirty="0">
                <a:solidFill>
                  <a:srgbClr val="2B3138"/>
                </a:solidFill>
                <a:latin typeface="Calibri" pitchFamily="34" charset="0"/>
                <a:ea typeface="Calibri" pitchFamily="34" charset="-122"/>
                <a:cs typeface="Calibri" pitchFamily="34" charset="-120"/>
              </a:rPr>
              <a:t>Two READ FIRST blocks at the top: DevExtreme is commercial software, and the Node engine range is enforced by the CLI itself.</a:t>
            </a:r>
            <a:endParaRPr lang="en-US" sz="1050" dirty="0"/>
          </a:p>
          <a:p>
            <a:pPr marL="0" indent="0">
              <a:lnSpc>
                <a:spcPts val="1400"/>
              </a:lnSpc>
              <a:spcAft>
                <a:spcPts val="700"/>
              </a:spcAft>
              <a:buNone/>
            </a:pPr>
            <a:r>
              <a:rPr lang="en-US" sz="1050" dirty="0">
                <a:solidFill>
                  <a:srgbClr val="2B3138"/>
                </a:solidFill>
                <a:latin typeface="Calibri" pitchFamily="34" charset="0"/>
                <a:ea typeface="Calibri" pitchFamily="34" charset="-122"/>
                <a:cs typeface="Calibri" pitchFamily="34" charset="-120"/>
              </a:rPr>
              <a:t>Ends with a Troubleshooting section covering the three errors you will actually hit, so the agent recovers instead of asking.</a:t>
            </a:r>
            <a:endParaRPr lang="en-US" sz="1050" dirty="0"/>
          </a:p>
        </p:txBody>
      </p:sp>
      <p:sp>
        <p:nvSpPr>
          <p:cNvPr id="12" name="Shape 10"/>
          <p:cNvSpPr/>
          <p:nvPr/>
        </p:nvSpPr>
        <p:spPr>
          <a:xfrm>
            <a:off x="4325112" y="2523744"/>
            <a:ext cx="3538728" cy="3493008"/>
          </a:xfrm>
          <a:prstGeom prst="roundRect">
            <a:avLst>
              <a:gd name="adj" fmla="val 1571"/>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13" name="Text 11"/>
          <p:cNvSpPr/>
          <p:nvPr/>
        </p:nvSpPr>
        <p:spPr>
          <a:xfrm>
            <a:off x="4562856" y="2688336"/>
            <a:ext cx="3063240" cy="256032"/>
          </a:xfrm>
          <a:prstGeom prst="rect">
            <a:avLst/>
          </a:prstGeom>
          <a:noFill/>
          <a:ln/>
        </p:spPr>
        <p:txBody>
          <a:bodyPr wrap="square" lIns="0" tIns="0" rIns="0" bIns="0" rtlCol="0" anchor="t"/>
          <a:lstStyle/>
          <a:p>
            <a:pPr marL="0" indent="0">
              <a:buNone/>
            </a:pPr>
            <a:r>
              <a:rPr lang="en-US" sz="1100" b="1" kern="0" spc="120" dirty="0">
                <a:solidFill>
                  <a:srgbClr val="C2410C"/>
                </a:solidFill>
                <a:latin typeface="Calibri" pitchFamily="34" charset="0"/>
                <a:ea typeface="Calibri" pitchFamily="34" charset="-122"/>
                <a:cs typeface="Calibri" pitchFamily="34" charset="-120"/>
              </a:rPr>
              <a:t>THE SKILL</a:t>
            </a:r>
            <a:endParaRPr lang="en-US" sz="1100" dirty="0"/>
          </a:p>
        </p:txBody>
      </p:sp>
      <p:sp>
        <p:nvSpPr>
          <p:cNvPr id="14" name="Text 12"/>
          <p:cNvSpPr/>
          <p:nvPr/>
        </p:nvSpPr>
        <p:spPr>
          <a:xfrm>
            <a:off x="4562856" y="2962656"/>
            <a:ext cx="3063240" cy="310896"/>
          </a:xfrm>
          <a:prstGeom prst="rect">
            <a:avLst/>
          </a:prstGeom>
          <a:noFill/>
          <a:ln/>
        </p:spPr>
        <p:txBody>
          <a:bodyPr wrap="square" lIns="0" tIns="0" rIns="0" bIns="0" rtlCol="0" anchor="t"/>
          <a:lstStyle/>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read every run  ·  113 lines</a:t>
            </a:r>
            <a:endParaRPr lang="en-US" sz="800" dirty="0"/>
          </a:p>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.claude/skills/angular-devextreme-grid/SKILL.md</a:t>
            </a:r>
            <a:endParaRPr lang="en-US" sz="800" dirty="0"/>
          </a:p>
        </p:txBody>
      </p:sp>
      <p:sp>
        <p:nvSpPr>
          <p:cNvPr id="15" name="Text 13"/>
          <p:cNvSpPr/>
          <p:nvPr/>
        </p:nvSpPr>
        <p:spPr>
          <a:xfrm>
            <a:off x="4562856" y="3364992"/>
            <a:ext cx="3063240" cy="2450592"/>
          </a:xfrm>
          <a:prstGeom prst="rect">
            <a:avLst/>
          </a:prstGeom>
          <a:noFill/>
          <a:ln/>
        </p:spPr>
        <p:txBody>
          <a:bodyPr wrap="square" lIns="0" tIns="0" rIns="0" bIns="0" rtlCol="0" anchor="t"/>
          <a:lstStyle/>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Never run ng add devextreme-angular. Its schematics pull an incompatible @angular-devkit and corrupt the workspace.</a:t>
            </a:r>
            <a:endParaRPr lang="en-US" sz="1050" dirty="0"/>
          </a:p>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Never load a full dataset client-side. remoteOperations on, CustomStore always.</a:t>
            </a:r>
            <a:endParaRPr lang="en-US" sz="1050" dirty="0"/>
          </a:p>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Never render a DevExtreme widget in a jsdom spec — test the query builder, not the widget.</a:t>
            </a:r>
            <a:endParaRPr lang="en-US" sz="1050" dirty="0"/>
          </a:p>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Never call detectChanges() or inject NgZone in app code: the app is zoneless.</a:t>
            </a:r>
            <a:endParaRPr lang="en-US" sz="1050" dirty="0"/>
          </a:p>
        </p:txBody>
      </p:sp>
      <p:sp>
        <p:nvSpPr>
          <p:cNvPr id="16" name="Shape 14"/>
          <p:cNvSpPr/>
          <p:nvPr/>
        </p:nvSpPr>
        <p:spPr>
          <a:xfrm>
            <a:off x="8083296" y="2523744"/>
            <a:ext cx="3538728" cy="3493008"/>
          </a:xfrm>
          <a:prstGeom prst="roundRect">
            <a:avLst>
              <a:gd name="adj" fmla="val 1571"/>
            </a:avLst>
          </a:prstGeom>
          <a:solidFill>
            <a:srgbClr val="EAF6ED"/>
          </a:solidFill>
          <a:ln w="9525">
            <a:solidFill>
              <a:srgbClr val="D8DEE4"/>
            </a:solidFill>
            <a:prstDash val="solid"/>
          </a:ln>
          <a:effectLst>
            <a:outerShdw blurRad="177800" dist="38100" dir="5400000" algn="bl" rotWithShape="0">
              <a:srgbClr val="8C959F">
                <a:alpha val="16000"/>
              </a:srgbClr>
            </a:outerShdw>
          </a:effectLst>
        </p:spPr>
      </p:sp>
      <p:sp>
        <p:nvSpPr>
          <p:cNvPr id="17" name="Text 15"/>
          <p:cNvSpPr/>
          <p:nvPr/>
        </p:nvSpPr>
        <p:spPr>
          <a:xfrm>
            <a:off x="8321040" y="2688336"/>
            <a:ext cx="3063240" cy="256032"/>
          </a:xfrm>
          <a:prstGeom prst="rect">
            <a:avLst/>
          </a:prstGeom>
          <a:noFill/>
          <a:ln/>
        </p:spPr>
        <p:txBody>
          <a:bodyPr wrap="square" lIns="0" tIns="0" rIns="0" bIns="0" rtlCol="0" anchor="t"/>
          <a:lstStyle/>
          <a:p>
            <a:pPr marL="0" indent="0">
              <a:buNone/>
            </a:pPr>
            <a:r>
              <a:rPr lang="en-US" sz="1100" b="1" kern="0" spc="120" dirty="0">
                <a:solidFill>
                  <a:srgbClr val="1A7F37"/>
                </a:solidFill>
                <a:latin typeface="Calibri" pitchFamily="34" charset="0"/>
                <a:ea typeface="Calibri" pitchFamily="34" charset="-122"/>
                <a:cs typeface="Calibri" pitchFamily="34" charset="-120"/>
              </a:rPr>
              <a:t>ACCEPTANCE CRITERIA</a:t>
            </a:r>
            <a:endParaRPr lang="en-US" sz="1100" dirty="0"/>
          </a:p>
        </p:txBody>
      </p:sp>
      <p:sp>
        <p:nvSpPr>
          <p:cNvPr id="18" name="Text 16"/>
          <p:cNvSpPr/>
          <p:nvPr/>
        </p:nvSpPr>
        <p:spPr>
          <a:xfrm>
            <a:off x="8321040" y="2962656"/>
            <a:ext cx="3063240" cy="310896"/>
          </a:xfrm>
          <a:prstGeom prst="rect">
            <a:avLst/>
          </a:prstGeom>
          <a:noFill/>
          <a:ln/>
        </p:spPr>
        <p:txBody>
          <a:bodyPr wrap="square" lIns="0" tIns="0" rIns="0" bIns="0" rtlCol="0" anchor="t"/>
          <a:lstStyle/>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the agent is not finished</a:t>
            </a:r>
            <a:endParaRPr lang="en-US" sz="800" dirty="0"/>
          </a:p>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until all four of these pass</a:t>
            </a:r>
            <a:endParaRPr lang="en-US" sz="800" dirty="0"/>
          </a:p>
        </p:txBody>
      </p:sp>
      <p:sp>
        <p:nvSpPr>
          <p:cNvPr id="19" name="Shape 17"/>
          <p:cNvSpPr/>
          <p:nvPr/>
        </p:nvSpPr>
        <p:spPr>
          <a:xfrm>
            <a:off x="8321040" y="3419856"/>
            <a:ext cx="201168" cy="201168"/>
          </a:xfrm>
          <a:prstGeom prst="ellipse">
            <a:avLst/>
          </a:prstGeom>
          <a:solidFill>
            <a:srgbClr val="FFFFFF"/>
          </a:solidFill>
          <a:ln w="12700">
            <a:solidFill>
              <a:srgbClr val="1A7F37"/>
            </a:solidFill>
            <a:prstDash val="solid"/>
          </a:ln>
        </p:spPr>
      </p:sp>
      <p:sp>
        <p:nvSpPr>
          <p:cNvPr id="20" name="Text 18"/>
          <p:cNvSpPr/>
          <p:nvPr/>
        </p:nvSpPr>
        <p:spPr>
          <a:xfrm>
            <a:off x="8321040" y="3419856"/>
            <a:ext cx="201168" cy="201168"/>
          </a:xfrm>
          <a:prstGeom prst="rect">
            <a:avLst/>
          </a:prstGeom>
          <a:noFill/>
          <a:ln/>
        </p:spPr>
        <p:txBody>
          <a:bodyPr wrap="square" lIns="0" tIns="0" rIns="0" bIns="0" rtlCol="0" anchor="ctr"/>
          <a:lstStyle/>
          <a:p>
            <a:pPr marL="0" indent="0" algn="ctr">
              <a:buNone/>
            </a:pPr>
            <a:r>
              <a:rPr lang="en-US" sz="850" b="1" dirty="0">
                <a:solidFill>
                  <a:srgbClr val="1A7F37"/>
                </a:solidFill>
                <a:latin typeface="Calibri" pitchFamily="34" charset="0"/>
                <a:ea typeface="Calibri" pitchFamily="34" charset="-122"/>
                <a:cs typeface="Calibri" pitchFamily="34" charset="-120"/>
              </a:rPr>
              <a:t>✓</a:t>
            </a:r>
            <a:endParaRPr lang="en-US" sz="850" dirty="0"/>
          </a:p>
        </p:txBody>
      </p:sp>
      <p:sp>
        <p:nvSpPr>
          <p:cNvPr id="21" name="Text 19"/>
          <p:cNvSpPr/>
          <p:nvPr/>
        </p:nvSpPr>
        <p:spPr>
          <a:xfrm>
            <a:off x="8613648" y="3383280"/>
            <a:ext cx="2770632" cy="640080"/>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ng build and ng lint exit 0 with zero warnings</a:t>
            </a:r>
            <a:endParaRPr lang="en-US" sz="1050" dirty="0"/>
          </a:p>
        </p:txBody>
      </p:sp>
      <p:sp>
        <p:nvSpPr>
          <p:cNvPr id="22" name="Shape 20"/>
          <p:cNvSpPr/>
          <p:nvPr/>
        </p:nvSpPr>
        <p:spPr>
          <a:xfrm>
            <a:off x="8321040" y="4059936"/>
            <a:ext cx="201168" cy="201168"/>
          </a:xfrm>
          <a:prstGeom prst="ellipse">
            <a:avLst/>
          </a:prstGeom>
          <a:solidFill>
            <a:srgbClr val="FFFFFF"/>
          </a:solidFill>
          <a:ln w="12700">
            <a:solidFill>
              <a:srgbClr val="1A7F37"/>
            </a:solidFill>
            <a:prstDash val="solid"/>
          </a:ln>
        </p:spPr>
      </p:sp>
      <p:sp>
        <p:nvSpPr>
          <p:cNvPr id="23" name="Text 21"/>
          <p:cNvSpPr/>
          <p:nvPr/>
        </p:nvSpPr>
        <p:spPr>
          <a:xfrm>
            <a:off x="8321040" y="4059936"/>
            <a:ext cx="201168" cy="201168"/>
          </a:xfrm>
          <a:prstGeom prst="rect">
            <a:avLst/>
          </a:prstGeom>
          <a:noFill/>
          <a:ln/>
        </p:spPr>
        <p:txBody>
          <a:bodyPr wrap="square" lIns="0" tIns="0" rIns="0" bIns="0" rtlCol="0" anchor="ctr"/>
          <a:lstStyle/>
          <a:p>
            <a:pPr marL="0" indent="0" algn="ctr">
              <a:buNone/>
            </a:pPr>
            <a:r>
              <a:rPr lang="en-US" sz="850" b="1" dirty="0">
                <a:solidFill>
                  <a:srgbClr val="1A7F37"/>
                </a:solidFill>
                <a:latin typeface="Calibri" pitchFamily="34" charset="0"/>
                <a:ea typeface="Calibri" pitchFamily="34" charset="-122"/>
                <a:cs typeface="Calibri" pitchFamily="34" charset="-120"/>
              </a:rPr>
              <a:t>✓</a:t>
            </a:r>
            <a:endParaRPr lang="en-US" sz="850" dirty="0"/>
          </a:p>
        </p:txBody>
      </p:sp>
      <p:sp>
        <p:nvSpPr>
          <p:cNvPr id="24" name="Text 22"/>
          <p:cNvSpPr/>
          <p:nvPr/>
        </p:nvSpPr>
        <p:spPr>
          <a:xfrm>
            <a:off x="8613648" y="4023360"/>
            <a:ext cx="2770632" cy="640080"/>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Vitest covers the query builder — no DevExtreme widget in jsdom</a:t>
            </a:r>
            <a:endParaRPr lang="en-US" sz="1050" dirty="0"/>
          </a:p>
        </p:txBody>
      </p:sp>
      <p:sp>
        <p:nvSpPr>
          <p:cNvPr id="25" name="Shape 23"/>
          <p:cNvSpPr/>
          <p:nvPr/>
        </p:nvSpPr>
        <p:spPr>
          <a:xfrm>
            <a:off x="8321040" y="4700016"/>
            <a:ext cx="201168" cy="201168"/>
          </a:xfrm>
          <a:prstGeom prst="ellipse">
            <a:avLst/>
          </a:prstGeom>
          <a:solidFill>
            <a:srgbClr val="FFFFFF"/>
          </a:solidFill>
          <a:ln w="12700">
            <a:solidFill>
              <a:srgbClr val="1A7F37"/>
            </a:solidFill>
            <a:prstDash val="solid"/>
          </a:ln>
        </p:spPr>
      </p:sp>
      <p:sp>
        <p:nvSpPr>
          <p:cNvPr id="26" name="Text 24"/>
          <p:cNvSpPr/>
          <p:nvPr/>
        </p:nvSpPr>
        <p:spPr>
          <a:xfrm>
            <a:off x="8321040" y="4700016"/>
            <a:ext cx="201168" cy="201168"/>
          </a:xfrm>
          <a:prstGeom prst="rect">
            <a:avLst/>
          </a:prstGeom>
          <a:noFill/>
          <a:ln/>
        </p:spPr>
        <p:txBody>
          <a:bodyPr wrap="square" lIns="0" tIns="0" rIns="0" bIns="0" rtlCol="0" anchor="ctr"/>
          <a:lstStyle/>
          <a:p>
            <a:pPr marL="0" indent="0" algn="ctr">
              <a:buNone/>
            </a:pPr>
            <a:r>
              <a:rPr lang="en-US" sz="850" b="1" dirty="0">
                <a:solidFill>
                  <a:srgbClr val="1A7F37"/>
                </a:solidFill>
                <a:latin typeface="Calibri" pitchFamily="34" charset="0"/>
                <a:ea typeface="Calibri" pitchFamily="34" charset="-122"/>
                <a:cs typeface="Calibri" pitchFamily="34" charset="-120"/>
              </a:rPr>
              <a:t>✓</a:t>
            </a:r>
            <a:endParaRPr lang="en-US" sz="850" dirty="0"/>
          </a:p>
        </p:txBody>
      </p:sp>
      <p:sp>
        <p:nvSpPr>
          <p:cNvPr id="27" name="Text 25"/>
          <p:cNvSpPr/>
          <p:nvPr/>
        </p:nvSpPr>
        <p:spPr>
          <a:xfrm>
            <a:off x="8613648" y="4663440"/>
            <a:ext cx="2770632" cy="640080"/>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dotnet test green: the API honours skip/take/sort/filter</a:t>
            </a:r>
            <a:endParaRPr lang="en-US" sz="1050" dirty="0"/>
          </a:p>
        </p:txBody>
      </p:sp>
      <p:sp>
        <p:nvSpPr>
          <p:cNvPr id="28" name="Shape 26"/>
          <p:cNvSpPr/>
          <p:nvPr/>
        </p:nvSpPr>
        <p:spPr>
          <a:xfrm>
            <a:off x="8321040" y="5340096"/>
            <a:ext cx="201168" cy="201168"/>
          </a:xfrm>
          <a:prstGeom prst="ellipse">
            <a:avLst/>
          </a:prstGeom>
          <a:solidFill>
            <a:srgbClr val="FFFFFF"/>
          </a:solidFill>
          <a:ln w="12700">
            <a:solidFill>
              <a:srgbClr val="1A7F37"/>
            </a:solidFill>
            <a:prstDash val="solid"/>
          </a:ln>
        </p:spPr>
      </p:sp>
      <p:sp>
        <p:nvSpPr>
          <p:cNvPr id="29" name="Text 27"/>
          <p:cNvSpPr/>
          <p:nvPr/>
        </p:nvSpPr>
        <p:spPr>
          <a:xfrm>
            <a:off x="8321040" y="5340096"/>
            <a:ext cx="201168" cy="201168"/>
          </a:xfrm>
          <a:prstGeom prst="rect">
            <a:avLst/>
          </a:prstGeom>
          <a:noFill/>
          <a:ln/>
        </p:spPr>
        <p:txBody>
          <a:bodyPr wrap="square" lIns="0" tIns="0" rIns="0" bIns="0" rtlCol="0" anchor="ctr"/>
          <a:lstStyle/>
          <a:p>
            <a:pPr marL="0" indent="0" algn="ctr">
              <a:buNone/>
            </a:pPr>
            <a:r>
              <a:rPr lang="en-US" sz="850" b="1" dirty="0">
                <a:solidFill>
                  <a:srgbClr val="1A7F37"/>
                </a:solidFill>
                <a:latin typeface="Calibri" pitchFamily="34" charset="0"/>
                <a:ea typeface="Calibri" pitchFamily="34" charset="-122"/>
                <a:cs typeface="Calibri" pitchFamily="34" charset="-120"/>
              </a:rPr>
              <a:t>✓</a:t>
            </a:r>
            <a:endParaRPr lang="en-US" sz="850" dirty="0"/>
          </a:p>
        </p:txBody>
      </p:sp>
      <p:sp>
        <p:nvSpPr>
          <p:cNvPr id="30" name="Text 28"/>
          <p:cNvSpPr/>
          <p:nvPr/>
        </p:nvSpPr>
        <p:spPr>
          <a:xfrm>
            <a:off x="8613648" y="5303520"/>
            <a:ext cx="2770632" cy="640080"/>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App serves and the grid pages server-side against the backend</a:t>
            </a:r>
            <a:endParaRPr lang="en-US" sz="1050" dirty="0"/>
          </a:p>
        </p:txBody>
      </p:sp>
      <p:sp>
        <p:nvSpPr>
          <p:cNvPr id="31"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anim calcmode="lin" valueType="num">
                                      <p:cBhvr additive="base">
                                        <p:cTn id="8" dur="420" fill="hold"/>
                                        <p:tgtEl>
                                          <p:spTgt spid="7"/>
                                        </p:tgtEl>
                                        <p:attrNameLst>
                                          <p:attrName>ppt_y</p:attrName>
                                        </p:attrNameLst>
                                      </p:cBhvr>
                                      <p:tavLst>
                                        <p:tav tm="0">
                                          <p:val>
                                            <p:strVal val="#ppt_y+0.035"/>
                                          </p:val>
                                        </p:tav>
                                        <p:tav tm="100000">
                                          <p:val>
                                            <p:strVal val="#ppt_y"/>
                                          </p:val>
                                        </p:tav>
                                      </p:tavLst>
                                    </p:anim>
                                    <p:set>
                                      <p:cBhvr>
                                        <p:cTn id="9" dur="1" fill="hold">
                                          <p:stCondLst>
                                            <p:cond delay="0"/>
                                          </p:stCondLst>
                                        </p:cTn>
                                        <p:tgtEl>
                                          <p:spTgt spid="8"/>
                                        </p:tgtEl>
                                        <p:attrNameLst>
                                          <p:attrName>style.visibility</p:attrName>
                                        </p:attrNameLst>
                                      </p:cBhvr>
                                      <p:to>
                                        <p:strVal val="visible"/>
                                      </p:to>
                                    </p:set>
                                    <p:animEffect transition="in" filter="fade">
                                      <p:cBhvr>
                                        <p:cTn id="10" dur="420"/>
                                        <p:tgtEl>
                                          <p:spTgt spid="8"/>
                                        </p:tgtEl>
                                      </p:cBhvr>
                                    </p:animEffect>
                                    <p:anim calcmode="lin" valueType="num">
                                      <p:cBhvr additive="base">
                                        <p:cTn id="11" dur="420" fill="hold"/>
                                        <p:tgtEl>
                                          <p:spTgt spid="8"/>
                                        </p:tgtEl>
                                        <p:attrNameLst>
                                          <p:attrName>ppt_y</p:attrName>
                                        </p:attrNameLst>
                                      </p:cBhvr>
                                      <p:tavLst>
                                        <p:tav tm="0">
                                          <p:val>
                                            <p:strVal val="#ppt_y+0.035"/>
                                          </p:val>
                                        </p:tav>
                                        <p:tav tm="100000">
                                          <p:val>
                                            <p:strVal val="#ppt_y"/>
                                          </p:val>
                                        </p:tav>
                                      </p:tavLst>
                                    </p:anim>
                                    <p:set>
                                      <p:cBhvr>
                                        <p:cTn id="12" dur="1" fill="hold">
                                          <p:stCondLst>
                                            <p:cond delay="0"/>
                                          </p:stCondLst>
                                        </p:cTn>
                                        <p:tgtEl>
                                          <p:spTgt spid="12"/>
                                        </p:tgtEl>
                                        <p:attrNameLst>
                                          <p:attrName>style.visibility</p:attrName>
                                        </p:attrNameLst>
                                      </p:cBhvr>
                                      <p:to>
                                        <p:strVal val="visible"/>
                                      </p:to>
                                    </p:set>
                                    <p:animEffect transition="in" filter="fade">
                                      <p:cBhvr>
                                        <p:cTn id="13" dur="420"/>
                                        <p:tgtEl>
                                          <p:spTgt spid="12"/>
                                        </p:tgtEl>
                                      </p:cBhvr>
                                    </p:animEffect>
                                    <p:anim calcmode="lin" valueType="num">
                                      <p:cBhvr additive="base">
                                        <p:cTn id="14" dur="420" fill="hold"/>
                                        <p:tgtEl>
                                          <p:spTgt spid="12"/>
                                        </p:tgtEl>
                                        <p:attrNameLst>
                                          <p:attrName>ppt_y</p:attrName>
                                        </p:attrNameLst>
                                      </p:cBhvr>
                                      <p:tavLst>
                                        <p:tav tm="0">
                                          <p:val>
                                            <p:strVal val="#ppt_y+0.035"/>
                                          </p:val>
                                        </p:tav>
                                        <p:tav tm="100000">
                                          <p:val>
                                            <p:strVal val="#ppt_y"/>
                                          </p:val>
                                        </p:tav>
                                      </p:tavLst>
                                    </p:anim>
                                    <p:set>
                                      <p:cBhvr>
                                        <p:cTn id="15" dur="1" fill="hold">
                                          <p:stCondLst>
                                            <p:cond delay="0"/>
                                          </p:stCondLst>
                                        </p:cTn>
                                        <p:tgtEl>
                                          <p:spTgt spid="16"/>
                                        </p:tgtEl>
                                        <p:attrNameLst>
                                          <p:attrName>style.visibility</p:attrName>
                                        </p:attrNameLst>
                                      </p:cBhvr>
                                      <p:to>
                                        <p:strVal val="visible"/>
                                      </p:to>
                                    </p:set>
                                    <p:animEffect transition="in" filter="fade">
                                      <p:cBhvr>
                                        <p:cTn id="16" dur="420"/>
                                        <p:tgtEl>
                                          <p:spTgt spid="16"/>
                                        </p:tgtEl>
                                      </p:cBhvr>
                                    </p:animEffect>
                                    <p:anim calcmode="lin" valueType="num">
                                      <p:cBhvr additive="base">
                                        <p:cTn id="17" dur="420" fill="hold"/>
                                        <p:tgtEl>
                                          <p:spTgt spid="16"/>
                                        </p:tgtEl>
                                        <p:attrNameLst>
                                          <p:attrName>ppt_y</p:attrName>
                                        </p:attrNameLst>
                                      </p:cBhvr>
                                      <p:tavLst>
                                        <p:tav tm="0">
                                          <p:val>
                                            <p:strVal val="#ppt_y+0.035"/>
                                          </p:val>
                                        </p:tav>
                                        <p:tav tm="100000">
                                          <p:val>
                                            <p:strVal val="#ppt_y"/>
                                          </p:val>
                                        </p:tav>
                                      </p:tavLst>
                                    </p:anim>
                                    <p:set>
                                      <p:cBhvr>
                                        <p:cTn id="18" dur="1" fill="hold">
                                          <p:stCondLst>
                                            <p:cond delay="0"/>
                                          </p:stCondLst>
                                        </p:cTn>
                                        <p:tgtEl>
                                          <p:spTgt spid="9"/>
                                        </p:tgtEl>
                                        <p:attrNameLst>
                                          <p:attrName>style.visibility</p:attrName>
                                        </p:attrNameLst>
                                      </p:cBhvr>
                                      <p:to>
                                        <p:strVal val="visible"/>
                                      </p:to>
                                    </p:set>
                                    <p:animEffect transition="in" filter="fade">
                                      <p:cBhvr>
                                        <p:cTn id="19" dur="420"/>
                                        <p:tgtEl>
                                          <p:spTgt spid="9"/>
                                        </p:tgtEl>
                                      </p:cBhvr>
                                    </p:animEffect>
                                    <p:anim calcmode="lin" valueType="num">
                                      <p:cBhvr additive="base">
                                        <p:cTn id="20" dur="420" fill="hold"/>
                                        <p:tgtEl>
                                          <p:spTgt spid="9"/>
                                        </p:tgtEl>
                                        <p:attrNameLst>
                                          <p:attrName>ppt_y</p:attrName>
                                        </p:attrNameLst>
                                      </p:cBhvr>
                                      <p:tavLst>
                                        <p:tav tm="0">
                                          <p:val>
                                            <p:strVal val="#ppt_y+0.035"/>
                                          </p:val>
                                        </p:tav>
                                        <p:tav tm="100000">
                                          <p:val>
                                            <p:strVal val="#ppt_y"/>
                                          </p:val>
                                        </p:tav>
                                      </p:tavLst>
                                    </p:anim>
                                    <p:set>
                                      <p:cBhvr>
                                        <p:cTn id="21" dur="1" fill="hold">
                                          <p:stCondLst>
                                            <p:cond delay="0"/>
                                          </p:stCondLst>
                                        </p:cTn>
                                        <p:tgtEl>
                                          <p:spTgt spid="13"/>
                                        </p:tgtEl>
                                        <p:attrNameLst>
                                          <p:attrName>style.visibility</p:attrName>
                                        </p:attrNameLst>
                                      </p:cBhvr>
                                      <p:to>
                                        <p:strVal val="visible"/>
                                      </p:to>
                                    </p:set>
                                    <p:animEffect transition="in" filter="fade">
                                      <p:cBhvr>
                                        <p:cTn id="22" dur="420"/>
                                        <p:tgtEl>
                                          <p:spTgt spid="13"/>
                                        </p:tgtEl>
                                      </p:cBhvr>
                                    </p:animEffect>
                                    <p:anim calcmode="lin" valueType="num">
                                      <p:cBhvr additive="base">
                                        <p:cTn id="23" dur="420" fill="hold"/>
                                        <p:tgtEl>
                                          <p:spTgt spid="13"/>
                                        </p:tgtEl>
                                        <p:attrNameLst>
                                          <p:attrName>ppt_y</p:attrName>
                                        </p:attrNameLst>
                                      </p:cBhvr>
                                      <p:tavLst>
                                        <p:tav tm="0">
                                          <p:val>
                                            <p:strVal val="#ppt_y+0.035"/>
                                          </p:val>
                                        </p:tav>
                                        <p:tav tm="100000">
                                          <p:val>
                                            <p:strVal val="#ppt_y"/>
                                          </p:val>
                                        </p:tav>
                                      </p:tavLst>
                                    </p:anim>
                                    <p:set>
                                      <p:cBhvr>
                                        <p:cTn id="24" dur="1" fill="hold">
                                          <p:stCondLst>
                                            <p:cond delay="0"/>
                                          </p:stCondLst>
                                        </p:cTn>
                                        <p:tgtEl>
                                          <p:spTgt spid="17"/>
                                        </p:tgtEl>
                                        <p:attrNameLst>
                                          <p:attrName>style.visibility</p:attrName>
                                        </p:attrNameLst>
                                      </p:cBhvr>
                                      <p:to>
                                        <p:strVal val="visible"/>
                                      </p:to>
                                    </p:set>
                                    <p:animEffect transition="in" filter="fade">
                                      <p:cBhvr>
                                        <p:cTn id="25" dur="420"/>
                                        <p:tgtEl>
                                          <p:spTgt spid="17"/>
                                        </p:tgtEl>
                                      </p:cBhvr>
                                    </p:animEffect>
                                    <p:anim calcmode="lin" valueType="num">
                                      <p:cBhvr additive="base">
                                        <p:cTn id="26" dur="420" fill="hold"/>
                                        <p:tgtEl>
                                          <p:spTgt spid="17"/>
                                        </p:tgtEl>
                                        <p:attrNameLst>
                                          <p:attrName>ppt_y</p:attrName>
                                        </p:attrNameLst>
                                      </p:cBhvr>
                                      <p:tavLst>
                                        <p:tav tm="0">
                                          <p:val>
                                            <p:strVal val="#ppt_y+0.035"/>
                                          </p:val>
                                        </p:tav>
                                        <p:tav tm="100000">
                                          <p:val>
                                            <p:strVal val="#ppt_y"/>
                                          </p:val>
                                        </p:tav>
                                      </p:tavLst>
                                    </p:anim>
                                    <p:set>
                                      <p:cBhvr>
                                        <p:cTn id="27" dur="1" fill="hold">
                                          <p:stCondLst>
                                            <p:cond delay="0"/>
                                          </p:stCondLst>
                                        </p:cTn>
                                        <p:tgtEl>
                                          <p:spTgt spid="10"/>
                                        </p:tgtEl>
                                        <p:attrNameLst>
                                          <p:attrName>style.visibility</p:attrName>
                                        </p:attrNameLst>
                                      </p:cBhvr>
                                      <p:to>
                                        <p:strVal val="visible"/>
                                      </p:to>
                                    </p:set>
                                    <p:animEffect transition="in" filter="fade">
                                      <p:cBhvr>
                                        <p:cTn id="28" dur="420"/>
                                        <p:tgtEl>
                                          <p:spTgt spid="10"/>
                                        </p:tgtEl>
                                      </p:cBhvr>
                                    </p:animEffect>
                                    <p:anim calcmode="lin" valueType="num">
                                      <p:cBhvr additive="base">
                                        <p:cTn id="29" dur="420" fill="hold"/>
                                        <p:tgtEl>
                                          <p:spTgt spid="10"/>
                                        </p:tgtEl>
                                        <p:attrNameLst>
                                          <p:attrName>ppt_y</p:attrName>
                                        </p:attrNameLst>
                                      </p:cBhvr>
                                      <p:tavLst>
                                        <p:tav tm="0">
                                          <p:val>
                                            <p:strVal val="#ppt_y+0.035"/>
                                          </p:val>
                                        </p:tav>
                                        <p:tav tm="100000">
                                          <p:val>
                                            <p:strVal val="#ppt_y"/>
                                          </p:val>
                                        </p:tav>
                                      </p:tavLst>
                                    </p:anim>
                                    <p:set>
                                      <p:cBhvr>
                                        <p:cTn id="30" dur="1" fill="hold">
                                          <p:stCondLst>
                                            <p:cond delay="0"/>
                                          </p:stCondLst>
                                        </p:cTn>
                                        <p:tgtEl>
                                          <p:spTgt spid="14"/>
                                        </p:tgtEl>
                                        <p:attrNameLst>
                                          <p:attrName>style.visibility</p:attrName>
                                        </p:attrNameLst>
                                      </p:cBhvr>
                                      <p:to>
                                        <p:strVal val="visible"/>
                                      </p:to>
                                    </p:set>
                                    <p:animEffect transition="in" filter="fade">
                                      <p:cBhvr>
                                        <p:cTn id="31" dur="420"/>
                                        <p:tgtEl>
                                          <p:spTgt spid="14"/>
                                        </p:tgtEl>
                                      </p:cBhvr>
                                    </p:animEffect>
                                    <p:anim calcmode="lin" valueType="num">
                                      <p:cBhvr additive="base">
                                        <p:cTn id="32" dur="420" fill="hold"/>
                                        <p:tgtEl>
                                          <p:spTgt spid="14"/>
                                        </p:tgtEl>
                                        <p:attrNameLst>
                                          <p:attrName>ppt_y</p:attrName>
                                        </p:attrNameLst>
                                      </p:cBhvr>
                                      <p:tavLst>
                                        <p:tav tm="0">
                                          <p:val>
                                            <p:strVal val="#ppt_y+0.035"/>
                                          </p:val>
                                        </p:tav>
                                        <p:tav tm="100000">
                                          <p:val>
                                            <p:strVal val="#ppt_y"/>
                                          </p:val>
                                        </p:tav>
                                      </p:tavLst>
                                    </p:anim>
                                    <p:set>
                                      <p:cBhvr>
                                        <p:cTn id="33"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5" dur="420" fill="hold"/>
                                        <p:tgtEl>
                                          <p:spTgt spid="18"/>
                                        </p:tgtEl>
                                        <p:attrNameLst>
                                          <p:attrName>ppt_y</p:attrName>
                                        </p:attrNameLst>
                                      </p:cBhvr>
                                      <p:tavLst>
                                        <p:tav tm="0">
                                          <p:val>
                                            <p:strVal val="#ppt_y+0.035"/>
                                          </p:val>
                                        </p:tav>
                                        <p:tav tm="100000">
                                          <p:val>
                                            <p:strVal val="#ppt_y"/>
                                          </p:val>
                                        </p:tav>
                                      </p:tavLst>
                                    </p:anim>
                                    <p:set>
                                      <p:cBhvr>
                                        <p:cTn id="36" dur="1" fill="hold">
                                          <p:stCondLst>
                                            <p:cond delay="0"/>
                                          </p:stCondLst>
                                        </p:cTn>
                                        <p:tgtEl>
                                          <p:spTgt spid="11"/>
                                        </p:tgtEl>
                                        <p:attrNameLst>
                                          <p:attrName>style.visibility</p:attrName>
                                        </p:attrNameLst>
                                      </p:cBhvr>
                                      <p:to>
                                        <p:strVal val="visible"/>
                                      </p:to>
                                    </p:set>
                                    <p:animEffect transition="in" filter="fade">
                                      <p:cBhvr>
                                        <p:cTn id="37" dur="420"/>
                                        <p:tgtEl>
                                          <p:spTgt spid="11"/>
                                        </p:tgtEl>
                                      </p:cBhvr>
                                    </p:animEffect>
                                    <p:anim calcmode="lin" valueType="num">
                                      <p:cBhvr additive="base">
                                        <p:cTn id="38" dur="420" fill="hold"/>
                                        <p:tgtEl>
                                          <p:spTgt spid="11"/>
                                        </p:tgtEl>
                                        <p:attrNameLst>
                                          <p:attrName>ppt_y</p:attrName>
                                        </p:attrNameLst>
                                      </p:cBhvr>
                                      <p:tavLst>
                                        <p:tav tm="0">
                                          <p:val>
                                            <p:strVal val="#ppt_y+0.035"/>
                                          </p:val>
                                        </p:tav>
                                        <p:tav tm="100000">
                                          <p:val>
                                            <p:strVal val="#ppt_y"/>
                                          </p:val>
                                        </p:tav>
                                      </p:tavLst>
                                    </p:anim>
                                    <p:set>
                                      <p:cBhvr>
                                        <p:cTn id="39" dur="1" fill="hold">
                                          <p:stCondLst>
                                            <p:cond delay="0"/>
                                          </p:stCondLst>
                                        </p:cTn>
                                        <p:tgtEl>
                                          <p:spTgt spid="15"/>
                                        </p:tgtEl>
                                        <p:attrNameLst>
                                          <p:attrName>style.visibility</p:attrName>
                                        </p:attrNameLst>
                                      </p:cBhvr>
                                      <p:to>
                                        <p:strVal val="visible"/>
                                      </p:to>
                                    </p:set>
                                    <p:animEffect transition="in" filter="fade">
                                      <p:cBhvr>
                                        <p:cTn id="40" dur="420"/>
                                        <p:tgtEl>
                                          <p:spTgt spid="15"/>
                                        </p:tgtEl>
                                      </p:cBhvr>
                                    </p:animEffect>
                                    <p:anim calcmode="lin" valueType="num">
                                      <p:cBhvr additive="base">
                                        <p:cTn id="41" dur="420" fill="hold"/>
                                        <p:tgtEl>
                                          <p:spTgt spid="15"/>
                                        </p:tgtEl>
                                        <p:attrNameLst>
                                          <p:attrName>ppt_y</p:attrName>
                                        </p:attrNameLst>
                                      </p:cBhvr>
                                      <p:tavLst>
                                        <p:tav tm="0">
                                          <p:val>
                                            <p:strVal val="#ppt_y+0.035"/>
                                          </p:val>
                                        </p:tav>
                                        <p:tav tm="100000">
                                          <p:val>
                                            <p:strVal val="#ppt_y"/>
                                          </p:val>
                                        </p:tav>
                                      </p:tavLst>
                                    </p:anim>
                                    <p:set>
                                      <p:cBhvr>
                                        <p:cTn id="42"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4" dur="420" fill="hold"/>
                                        <p:tgtEl>
                                          <p:spTgt spid="21"/>
                                        </p:tgtEl>
                                        <p:attrNameLst>
                                          <p:attrName>ppt_y</p:attrName>
                                        </p:attrNameLst>
                                      </p:cBhvr>
                                      <p:tavLst>
                                        <p:tav tm="0">
                                          <p:val>
                                            <p:strVal val="#ppt_y+0.035"/>
                                          </p:val>
                                        </p:tav>
                                        <p:tav tm="100000">
                                          <p:val>
                                            <p:strVal val="#ppt_y"/>
                                          </p:val>
                                        </p:tav>
                                      </p:tavLst>
                                    </p:anim>
                                    <p:set>
                                      <p:cBhvr>
                                        <p:cTn id="45" dur="1" fill="hold">
                                          <p:stCondLst>
                                            <p:cond delay="0"/>
                                          </p:stCondLst>
                                        </p:cTn>
                                        <p:tgtEl>
                                          <p:spTgt spid="19"/>
                                        </p:tgtEl>
                                        <p:attrNameLst>
                                          <p:attrName>style.visibility</p:attrName>
                                        </p:attrNameLst>
                                      </p:cBhvr>
                                      <p:to>
                                        <p:strVal val="visible"/>
                                      </p:to>
                                    </p:set>
                                    <p:animEffect transition="in" filter="fade">
                                      <p:cBhvr>
                                        <p:cTn id="46" dur="420"/>
                                        <p:tgtEl>
                                          <p:spTgt spid="19"/>
                                        </p:tgtEl>
                                      </p:cBhvr>
                                    </p:animEffect>
                                    <p:anim calcmode="lin" valueType="num">
                                      <p:cBhvr additive="base">
                                        <p:cTn id="47" dur="420" fill="hold"/>
                                        <p:tgtEl>
                                          <p:spTgt spid="19"/>
                                        </p:tgtEl>
                                        <p:attrNameLst>
                                          <p:attrName>ppt_y</p:attrName>
                                        </p:attrNameLst>
                                      </p:cBhvr>
                                      <p:tavLst>
                                        <p:tav tm="0">
                                          <p:val>
                                            <p:strVal val="#ppt_y+0.035"/>
                                          </p:val>
                                        </p:tav>
                                        <p:tav tm="100000">
                                          <p:val>
                                            <p:strVal val="#ppt_y"/>
                                          </p:val>
                                        </p:tav>
                                      </p:tavLst>
                                    </p:anim>
                                    <p:set>
                                      <p:cBhvr>
                                        <p:cTn id="48" dur="1" fill="hold">
                                          <p:stCondLst>
                                            <p:cond delay="0"/>
                                          </p:stCondLst>
                                        </p:cTn>
                                        <p:tgtEl>
                                          <p:spTgt spid="20"/>
                                        </p:tgtEl>
                                        <p:attrNameLst>
                                          <p:attrName>style.visibility</p:attrName>
                                        </p:attrNameLst>
                                      </p:cBhvr>
                                      <p:to>
                                        <p:strVal val="visible"/>
                                      </p:to>
                                    </p:set>
                                    <p:animEffect transition="in" filter="fade">
                                      <p:cBhvr>
                                        <p:cTn id="49" dur="420"/>
                                        <p:tgtEl>
                                          <p:spTgt spid="20"/>
                                        </p:tgtEl>
                                      </p:cBhvr>
                                    </p:animEffect>
                                    <p:anim calcmode="lin" valueType="num">
                                      <p:cBhvr additive="base">
                                        <p:cTn id="50" dur="420" fill="hold"/>
                                        <p:tgtEl>
                                          <p:spTgt spid="20"/>
                                        </p:tgtEl>
                                        <p:attrNameLst>
                                          <p:attrName>ppt_y</p:attrName>
                                        </p:attrNameLst>
                                      </p:cBhvr>
                                      <p:tavLst>
                                        <p:tav tm="0">
                                          <p:val>
                                            <p:strVal val="#ppt_y+0.035"/>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20"/>
                                        <p:tgtEl>
                                          <p:spTgt spid="24"/>
                                        </p:tgtEl>
                                      </p:cBhvr>
                                    </p:animEffect>
                                    <p:anim calcmode="lin" valueType="num">
                                      <p:cBhvr additive="base">
                                        <p:cTn id="56" dur="420" fill="hold"/>
                                        <p:tgtEl>
                                          <p:spTgt spid="24"/>
                                        </p:tgtEl>
                                        <p:attrNameLst>
                                          <p:attrName>ppt_y</p:attrName>
                                        </p:attrNameLst>
                                      </p:cBhvr>
                                      <p:tavLst>
                                        <p:tav tm="0">
                                          <p:val>
                                            <p:strVal val="#ppt_y+0.035"/>
                                          </p:val>
                                        </p:tav>
                                        <p:tav tm="100000">
                                          <p:val>
                                            <p:strVal val="#ppt_y"/>
                                          </p:val>
                                        </p:tav>
                                      </p:tavLst>
                                    </p:anim>
                                    <p:set>
                                      <p:cBhvr>
                                        <p:cTn id="57" dur="1" fill="hold">
                                          <p:stCondLst>
                                            <p:cond delay="0"/>
                                          </p:stCondLst>
                                        </p:cTn>
                                        <p:tgtEl>
                                          <p:spTgt spid="22"/>
                                        </p:tgtEl>
                                        <p:attrNameLst>
                                          <p:attrName>style.visibility</p:attrName>
                                        </p:attrNameLst>
                                      </p:cBhvr>
                                      <p:to>
                                        <p:strVal val="visible"/>
                                      </p:to>
                                    </p:set>
                                    <p:animEffect transition="in" filter="fade">
                                      <p:cBhvr>
                                        <p:cTn id="58" dur="420"/>
                                        <p:tgtEl>
                                          <p:spTgt spid="22"/>
                                        </p:tgtEl>
                                      </p:cBhvr>
                                    </p:animEffect>
                                    <p:anim calcmode="lin" valueType="num">
                                      <p:cBhvr additive="base">
                                        <p:cTn id="59" dur="420" fill="hold"/>
                                        <p:tgtEl>
                                          <p:spTgt spid="22"/>
                                        </p:tgtEl>
                                        <p:attrNameLst>
                                          <p:attrName>ppt_y</p:attrName>
                                        </p:attrNameLst>
                                      </p:cBhvr>
                                      <p:tavLst>
                                        <p:tav tm="0">
                                          <p:val>
                                            <p:strVal val="#ppt_y+0.035"/>
                                          </p:val>
                                        </p:tav>
                                        <p:tav tm="100000">
                                          <p:val>
                                            <p:strVal val="#ppt_y"/>
                                          </p:val>
                                        </p:tav>
                                      </p:tavLst>
                                    </p:anim>
                                    <p:set>
                                      <p:cBhvr>
                                        <p:cTn id="60" dur="1" fill="hold">
                                          <p:stCondLst>
                                            <p:cond delay="0"/>
                                          </p:stCondLst>
                                        </p:cTn>
                                        <p:tgtEl>
                                          <p:spTgt spid="23"/>
                                        </p:tgtEl>
                                        <p:attrNameLst>
                                          <p:attrName>style.visibility</p:attrName>
                                        </p:attrNameLst>
                                      </p:cBhvr>
                                      <p:to>
                                        <p:strVal val="visible"/>
                                      </p:to>
                                    </p:set>
                                    <p:animEffect transition="in" filter="fade">
                                      <p:cBhvr>
                                        <p:cTn id="61" dur="420"/>
                                        <p:tgtEl>
                                          <p:spTgt spid="23"/>
                                        </p:tgtEl>
                                      </p:cBhvr>
                                    </p:animEffect>
                                    <p:anim calcmode="lin" valueType="num">
                                      <p:cBhvr additive="base">
                                        <p:cTn id="62" dur="420" fill="hold"/>
                                        <p:tgtEl>
                                          <p:spTgt spid="23"/>
                                        </p:tgtEl>
                                        <p:attrNameLst>
                                          <p:attrName>ppt_y</p:attrName>
                                        </p:attrNameLst>
                                      </p:cBhvr>
                                      <p:tavLst>
                                        <p:tav tm="0">
                                          <p:val>
                                            <p:strVal val="#ppt_y+0.035"/>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420"/>
                                        <p:tgtEl>
                                          <p:spTgt spid="27"/>
                                        </p:tgtEl>
                                      </p:cBhvr>
                                    </p:animEffect>
                                    <p:anim calcmode="lin" valueType="num">
                                      <p:cBhvr additive="base">
                                        <p:cTn id="68" dur="420" fill="hold"/>
                                        <p:tgtEl>
                                          <p:spTgt spid="27"/>
                                        </p:tgtEl>
                                        <p:attrNameLst>
                                          <p:attrName>ppt_y</p:attrName>
                                        </p:attrNameLst>
                                      </p:cBhvr>
                                      <p:tavLst>
                                        <p:tav tm="0">
                                          <p:val>
                                            <p:strVal val="#ppt_y+0.035"/>
                                          </p:val>
                                        </p:tav>
                                        <p:tav tm="100000">
                                          <p:val>
                                            <p:strVal val="#ppt_y"/>
                                          </p:val>
                                        </p:tav>
                                      </p:tavLst>
                                    </p:anim>
                                    <p:set>
                                      <p:cBhvr>
                                        <p:cTn id="69" dur="1" fill="hold">
                                          <p:stCondLst>
                                            <p:cond delay="0"/>
                                          </p:stCondLst>
                                        </p:cTn>
                                        <p:tgtEl>
                                          <p:spTgt spid="25"/>
                                        </p:tgtEl>
                                        <p:attrNameLst>
                                          <p:attrName>style.visibility</p:attrName>
                                        </p:attrNameLst>
                                      </p:cBhvr>
                                      <p:to>
                                        <p:strVal val="visible"/>
                                      </p:to>
                                    </p:set>
                                    <p:animEffect transition="in" filter="fade">
                                      <p:cBhvr>
                                        <p:cTn id="70" dur="420"/>
                                        <p:tgtEl>
                                          <p:spTgt spid="25"/>
                                        </p:tgtEl>
                                      </p:cBhvr>
                                    </p:animEffect>
                                    <p:anim calcmode="lin" valueType="num">
                                      <p:cBhvr additive="base">
                                        <p:cTn id="71" dur="420" fill="hold"/>
                                        <p:tgtEl>
                                          <p:spTgt spid="25"/>
                                        </p:tgtEl>
                                        <p:attrNameLst>
                                          <p:attrName>ppt_y</p:attrName>
                                        </p:attrNameLst>
                                      </p:cBhvr>
                                      <p:tavLst>
                                        <p:tav tm="0">
                                          <p:val>
                                            <p:strVal val="#ppt_y+0.035"/>
                                          </p:val>
                                        </p:tav>
                                        <p:tav tm="100000">
                                          <p:val>
                                            <p:strVal val="#ppt_y"/>
                                          </p:val>
                                        </p:tav>
                                      </p:tavLst>
                                    </p:anim>
                                    <p:set>
                                      <p:cBhvr>
                                        <p:cTn id="72" dur="1" fill="hold">
                                          <p:stCondLst>
                                            <p:cond delay="0"/>
                                          </p:stCondLst>
                                        </p:cTn>
                                        <p:tgtEl>
                                          <p:spTgt spid="26"/>
                                        </p:tgtEl>
                                        <p:attrNameLst>
                                          <p:attrName>style.visibility</p:attrName>
                                        </p:attrNameLst>
                                      </p:cBhvr>
                                      <p:to>
                                        <p:strVal val="visible"/>
                                      </p:to>
                                    </p:set>
                                    <p:animEffect transition="in" filter="fade">
                                      <p:cBhvr>
                                        <p:cTn id="73" dur="420"/>
                                        <p:tgtEl>
                                          <p:spTgt spid="26"/>
                                        </p:tgtEl>
                                      </p:cBhvr>
                                    </p:animEffect>
                                    <p:anim calcmode="lin" valueType="num">
                                      <p:cBhvr additive="base">
                                        <p:cTn id="74" dur="420" fill="hold"/>
                                        <p:tgtEl>
                                          <p:spTgt spid="26"/>
                                        </p:tgtEl>
                                        <p:attrNameLst>
                                          <p:attrName>ppt_y</p:attrName>
                                        </p:attrNameLst>
                                      </p:cBhvr>
                                      <p:tavLst>
                                        <p:tav tm="0">
                                          <p:val>
                                            <p:strVal val="#ppt_y+0.035"/>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20"/>
                                        <p:tgtEl>
                                          <p:spTgt spid="30"/>
                                        </p:tgtEl>
                                      </p:cBhvr>
                                    </p:animEffect>
                                    <p:anim calcmode="lin" valueType="num">
                                      <p:cBhvr additive="base">
                                        <p:cTn id="80" dur="420" fill="hold"/>
                                        <p:tgtEl>
                                          <p:spTgt spid="30"/>
                                        </p:tgtEl>
                                        <p:attrNameLst>
                                          <p:attrName>ppt_y</p:attrName>
                                        </p:attrNameLst>
                                      </p:cBhvr>
                                      <p:tavLst>
                                        <p:tav tm="0">
                                          <p:val>
                                            <p:strVal val="#ppt_y+0.035"/>
                                          </p:val>
                                        </p:tav>
                                        <p:tav tm="100000">
                                          <p:val>
                                            <p:strVal val="#ppt_y"/>
                                          </p:val>
                                        </p:tav>
                                      </p:tavLst>
                                    </p:anim>
                                    <p:set>
                                      <p:cBhvr>
                                        <p:cTn id="81" dur="1" fill="hold">
                                          <p:stCondLst>
                                            <p:cond delay="0"/>
                                          </p:stCondLst>
                                        </p:cTn>
                                        <p:tgtEl>
                                          <p:spTgt spid="28"/>
                                        </p:tgtEl>
                                        <p:attrNameLst>
                                          <p:attrName>style.visibility</p:attrName>
                                        </p:attrNameLst>
                                      </p:cBhvr>
                                      <p:to>
                                        <p:strVal val="visible"/>
                                      </p:to>
                                    </p:set>
                                    <p:animEffect transition="in" filter="fade">
                                      <p:cBhvr>
                                        <p:cTn id="82" dur="420"/>
                                        <p:tgtEl>
                                          <p:spTgt spid="28"/>
                                        </p:tgtEl>
                                      </p:cBhvr>
                                    </p:animEffect>
                                    <p:anim calcmode="lin" valueType="num">
                                      <p:cBhvr additive="base">
                                        <p:cTn id="83" dur="420" fill="hold"/>
                                        <p:tgtEl>
                                          <p:spTgt spid="28"/>
                                        </p:tgtEl>
                                        <p:attrNameLst>
                                          <p:attrName>ppt_y</p:attrName>
                                        </p:attrNameLst>
                                      </p:cBhvr>
                                      <p:tavLst>
                                        <p:tav tm="0">
                                          <p:val>
                                            <p:strVal val="#ppt_y+0.035"/>
                                          </p:val>
                                        </p:tav>
                                        <p:tav tm="100000">
                                          <p:val>
                                            <p:strVal val="#ppt_y"/>
                                          </p:val>
                                        </p:tav>
                                      </p:tavLst>
                                    </p:anim>
                                    <p:set>
                                      <p:cBhvr>
                                        <p:cTn id="84" dur="1" fill="hold">
                                          <p:stCondLst>
                                            <p:cond delay="0"/>
                                          </p:stCondLst>
                                        </p:cTn>
                                        <p:tgtEl>
                                          <p:spTgt spid="29"/>
                                        </p:tgtEl>
                                        <p:attrNameLst>
                                          <p:attrName>style.visibility</p:attrName>
                                        </p:attrNameLst>
                                      </p:cBhvr>
                                      <p:to>
                                        <p:strVal val="visible"/>
                                      </p:to>
                                    </p:set>
                                    <p:animEffect transition="in" filter="fade">
                                      <p:cBhvr>
                                        <p:cTn id="85" dur="420"/>
                                        <p:tgtEl>
                                          <p:spTgt spid="29"/>
                                        </p:tgtEl>
                                      </p:cBhvr>
                                    </p:animEffect>
                                    <p:anim calcmode="lin" valueType="num">
                                      <p:cBhvr additive="base">
                                        <p:cTn id="86" dur="420" fill="hold"/>
                                        <p:tgtEl>
                                          <p:spTgt spid="29"/>
                                        </p:tgtEl>
                                        <p:attrNameLst>
                                          <p:attrName>ppt_y</p:attrName>
                                        </p:attrNameLst>
                                      </p:cBhvr>
                                      <p:tavLst>
                                        <p:tav tm="0">
                                          <p:val>
                                            <p:strVal val="#ppt_y+0.035"/>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25"/>
                                        </p:tgtEl>
                                        <p:attrNameLst>
                                          <p:attrName>style.visibility</p:attrName>
                                        </p:attrNameLst>
                                      </p:cBhvr>
                                      <p:to>
                                        <p:strVal val="visible"/>
                                      </p:to>
                                    </p:set>
                                    <p:animEffect transition="in" filter="fade">
                                      <p:cBhvr>
                                        <p:cTn id="91" dur="420"/>
                                        <p:tgtEl>
                                          <p:spTgt spid="25"/>
                                        </p:tgtEl>
                                      </p:cBhvr>
                                    </p:animEffect>
                                    <p:anim calcmode="lin" valueType="num">
                                      <p:cBhvr additive="base">
                                        <p:cTn id="92" dur="420" fill="hold"/>
                                        <p:tgtEl>
                                          <p:spTgt spid="2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animBg="1"/>
      <p:bldP spid="25" grpId="0" animBg="1"/>
      <p:bldP spid="26" grpId="0"/>
      <p:bldP spid="27" grpId="0" animBg="1"/>
      <p:bldP spid="28" grpId="0"/>
      <p:bldP spid="29" grpId="0"/>
      <p:bldP spid="3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05</a:t>
            </a:r>
            <a:r>
              <a:rPr lang="en-US" sz="1150" b="1" kern="0" spc="160" dirty="0">
                <a:solidFill>
                  <a:srgbClr val="6E7781"/>
                </a:solidFill>
                <a:latin typeface="Calibri" pitchFamily="34" charset="0"/>
                <a:ea typeface="Calibri" pitchFamily="34" charset="-122"/>
                <a:cs typeface="Calibri" pitchFamily="34" charset="-120"/>
              </a:rPr>
              <a:t>   APP 3 OF 4   ·   DESKTOP (WPF)</a:t>
            </a:r>
            <a:endParaRPr lang="en-US" sz="1150" dirty="0"/>
          </a:p>
        </p:txBody>
      </p:sp>
      <p:sp>
        <p:nvSpPr>
          <p:cNvPr id="3" name="Shape 1"/>
          <p:cNvSpPr/>
          <p:nvPr/>
        </p:nvSpPr>
        <p:spPr>
          <a:xfrm>
            <a:off x="10351008" y="393192"/>
            <a:ext cx="1271016" cy="292608"/>
          </a:xfrm>
          <a:prstGeom prst="roundRect">
            <a:avLst>
              <a:gd name="adj" fmla="val 59375"/>
            </a:avLst>
          </a:prstGeom>
          <a:solidFill>
            <a:srgbClr val="C2410C"/>
          </a:solidFill>
          <a:ln/>
        </p:spPr>
      </p:sp>
      <p:sp>
        <p:nvSpPr>
          <p:cNvPr id="4" name="Text 2"/>
          <p:cNvSpPr/>
          <p:nvPr/>
        </p:nvSpPr>
        <p:spPr>
          <a:xfrm>
            <a:off x="10351008" y="393192"/>
            <a:ext cx="1271016" cy="292608"/>
          </a:xfrm>
          <a:prstGeom prst="rect">
            <a:avLst/>
          </a:prstGeom>
          <a:noFill/>
          <a:ln/>
        </p:spPr>
        <p:txBody>
          <a:bodyPr wrap="square" lIns="0" tIns="0" rIns="0" bIns="0" rtlCol="0" anchor="ctr"/>
          <a:lstStyle/>
          <a:p>
            <a:pPr marL="0" indent="0" algn="ctr">
              <a:buNone/>
            </a:pPr>
            <a:r>
              <a:rPr lang="en-US" sz="950" b="1" kern="0" spc="120" dirty="0">
                <a:solidFill>
                  <a:srgbClr val="FFFFFF"/>
                </a:solidFill>
                <a:latin typeface="Calibri" pitchFamily="34" charset="0"/>
                <a:ea typeface="Calibri" pitchFamily="34" charset="-122"/>
                <a:cs typeface="Calibri" pitchFamily="34" charset="-120"/>
              </a:rPr>
              <a:t>SKILL + PROMPT</a:t>
            </a:r>
            <a:endParaRPr lang="en-US" sz="950" dirty="0"/>
          </a:p>
        </p:txBody>
      </p:sp>
      <p:sp>
        <p:nvSpPr>
          <p:cNvPr id="5" name="Text 3"/>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A WPF desktop app that actually opens</a:t>
            </a:r>
            <a:endParaRPr lang="en-US" sz="3200" dirty="0"/>
          </a:p>
        </p:txBody>
      </p:sp>
      <p:sp>
        <p:nvSpPr>
          <p:cNvPr id="6" name="Text 4"/>
          <p:cNvSpPr/>
          <p:nvPr/>
        </p:nvSpPr>
        <p:spPr>
          <a:xfrm>
            <a:off x="566928" y="1335024"/>
            <a:ext cx="11055096" cy="566928"/>
          </a:xfrm>
          <a:prstGeom prst="rect">
            <a:avLst/>
          </a:prstGeom>
          <a:noFill/>
          <a:ln/>
        </p:spPr>
        <p:txBody>
          <a:bodyPr wrap="square" lIns="0" tIns="0" rIns="0" bIns="0" rtlCol="0" anchor="t"/>
          <a:lstStyle/>
          <a:p>
            <a:pPr marL="0" indent="0">
              <a:lnSpc>
                <a:spcPts val="1850"/>
              </a:lnSpc>
              <a:buNone/>
            </a:pPr>
            <a:r>
              <a:rPr lang="en-US" sz="1200" dirty="0">
                <a:solidFill>
                  <a:srgbClr val="2B3138"/>
                </a:solidFill>
                <a:latin typeface="Calibri" pitchFamily="34" charset="0"/>
                <a:ea typeface="Calibri" pitchFamily="34" charset="-122"/>
                <a:cs typeface="Calibri" pitchFamily="34" charset="-120"/>
              </a:rPr>
              <a:t>An asset tracker on .NET 10: a real window with seeded rows, async loading that never freezes the UI thread, settings persisted to disk, structured logging, headless view-model tests and a single-file EXE.</a:t>
            </a:r>
            <a:endParaRPr lang="en-US" sz="1200" dirty="0"/>
          </a:p>
        </p:txBody>
      </p:sp>
      <p:sp>
        <p:nvSpPr>
          <p:cNvPr id="7" name="Text 5"/>
          <p:cNvSpPr/>
          <p:nvPr/>
        </p:nvSpPr>
        <p:spPr>
          <a:xfrm>
            <a:off x="566928" y="1883664"/>
            <a:ext cx="11055096" cy="548640"/>
          </a:xfrm>
          <a:prstGeom prst="rect">
            <a:avLst/>
          </a:prstGeom>
          <a:noFill/>
          <a:ln/>
        </p:spPr>
        <p:txBody>
          <a:bodyPr wrap="square" lIns="0" tIns="0" rIns="0" bIns="0" rtlCol="0" anchor="t"/>
          <a:lstStyle/>
          <a:p>
            <a:pPr marL="0" indent="0">
              <a:lnSpc>
                <a:spcPts val="1500"/>
              </a:lnSpc>
              <a:buNone/>
            </a:pPr>
            <a:r>
              <a:rPr lang="en-US" sz="1100" b="1" dirty="0">
                <a:solidFill>
                  <a:srgbClr val="B42318"/>
                </a:solidFill>
                <a:latin typeface="Calibri" pitchFamily="34" charset="0"/>
                <a:ea typeface="Calibri" pitchFamily="34" charset="-122"/>
                <a:cs typeface="Calibri" pitchFamily="34" charset="-120"/>
              </a:rPr>
              <a:t>The trap this app exists to expose:  </a:t>
            </a:r>
            <a:r>
              <a:rPr lang="en-US" sz="1100" dirty="0">
                <a:solidFill>
                  <a:srgbClr val="2B3138"/>
                </a:solidFill>
                <a:latin typeface="Calibri" pitchFamily="34" charset="0"/>
                <a:ea typeface="Calibri" pitchFamily="34" charset="-122"/>
                <a:cs typeface="Calibri" pitchFamily="34" charset="-120"/>
              </a:rPr>
              <a:t>the interface, not the concrete class, has to expose the failure-simulation flag — otherwise the error-banner criterion is literally unreachable from the view model and the agent will quietly declare victory anyway. Eight HIGH defects were fixed on this one.</a:t>
            </a:r>
            <a:endParaRPr lang="en-US" sz="1100" dirty="0"/>
          </a:p>
        </p:txBody>
      </p:sp>
      <p:sp>
        <p:nvSpPr>
          <p:cNvPr id="8" name="Shape 6"/>
          <p:cNvSpPr/>
          <p:nvPr/>
        </p:nvSpPr>
        <p:spPr>
          <a:xfrm>
            <a:off x="566928" y="2523744"/>
            <a:ext cx="3538728" cy="3493008"/>
          </a:xfrm>
          <a:prstGeom prst="roundRect">
            <a:avLst>
              <a:gd name="adj" fmla="val 1571"/>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9" name="Text 7"/>
          <p:cNvSpPr/>
          <p:nvPr/>
        </p:nvSpPr>
        <p:spPr>
          <a:xfrm>
            <a:off x="804672" y="2688336"/>
            <a:ext cx="3063240" cy="256032"/>
          </a:xfrm>
          <a:prstGeom prst="rect">
            <a:avLst/>
          </a:prstGeom>
          <a:noFill/>
          <a:ln/>
        </p:spPr>
        <p:txBody>
          <a:bodyPr wrap="square" lIns="0" tIns="0" rIns="0" bIns="0" rtlCol="0" anchor="t"/>
          <a:lstStyle/>
          <a:p>
            <a:pPr marL="0" indent="0">
              <a:buNone/>
            </a:pPr>
            <a:r>
              <a:rPr lang="en-US" sz="1100" b="1" kern="0" spc="120" dirty="0">
                <a:solidFill>
                  <a:srgbClr val="0969DA"/>
                </a:solidFill>
                <a:latin typeface="Calibri" pitchFamily="34" charset="0"/>
                <a:ea typeface="Calibri" pitchFamily="34" charset="-122"/>
                <a:cs typeface="Calibri" pitchFamily="34" charset="-120"/>
              </a:rPr>
              <a:t>THE PROMPT</a:t>
            </a:r>
            <a:endParaRPr lang="en-US" sz="1100" dirty="0"/>
          </a:p>
        </p:txBody>
      </p:sp>
      <p:sp>
        <p:nvSpPr>
          <p:cNvPr id="10" name="Text 8"/>
          <p:cNvSpPr/>
          <p:nvPr/>
        </p:nvSpPr>
        <p:spPr>
          <a:xfrm>
            <a:off x="804672" y="2962656"/>
            <a:ext cx="3063240" cy="310896"/>
          </a:xfrm>
          <a:prstGeom prst="rect">
            <a:avLst/>
          </a:prstGeom>
          <a:noFill/>
          <a:ln/>
        </p:spPr>
        <p:txBody>
          <a:bodyPr wrap="square" lIns="0" tIns="0" rIns="0" bIns="0" rtlCol="0" anchor="t"/>
          <a:lstStyle/>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paste into the desktop app  ·  430 lines</a:t>
            </a:r>
            <a:endParaRPr lang="en-US" sz="800" dirty="0"/>
          </a:p>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prompts/dotnet-desktop-app.PROMPT.md</a:t>
            </a:r>
            <a:endParaRPr lang="en-US" sz="800" dirty="0"/>
          </a:p>
        </p:txBody>
      </p:sp>
      <p:sp>
        <p:nvSpPr>
          <p:cNvPr id="11" name="Text 9"/>
          <p:cNvSpPr/>
          <p:nvPr/>
        </p:nvSpPr>
        <p:spPr>
          <a:xfrm>
            <a:off x="804672" y="3364992"/>
            <a:ext cx="3063240" cy="2450592"/>
          </a:xfrm>
          <a:prstGeom prst="rect">
            <a:avLst/>
          </a:prstGeom>
          <a:noFill/>
          <a:ln/>
        </p:spPr>
        <p:txBody>
          <a:bodyPr wrap="square" lIns="0" tIns="0" rIns="0" bIns="0" rtlCol="0" anchor="t"/>
          <a:lstStyle/>
          <a:p>
            <a:pPr marL="0" indent="0">
              <a:lnSpc>
                <a:spcPts val="1400"/>
              </a:lnSpc>
              <a:spcAft>
                <a:spcPts val="700"/>
              </a:spcAft>
              <a:buNone/>
            </a:pPr>
            <a:r>
              <a:rPr lang="en-US" sz="1050" b="1" dirty="0">
                <a:solidFill>
                  <a:srgbClr val="15181D"/>
                </a:solidFill>
                <a:latin typeface="Calibri" pitchFamily="34" charset="0"/>
                <a:ea typeface="Calibri" pitchFamily="34" charset="-122"/>
                <a:cs typeface="Calibri" pitchFamily="34" charset="-120"/>
              </a:rPr>
              <a:t>"Build AssetTracker — a production WPF desktop app on .NET 10."</a:t>
            </a:r>
            <a:endParaRPr lang="en-US" sz="1050" dirty="0"/>
          </a:p>
          <a:p>
            <a:pPr marL="0" indent="0">
              <a:lnSpc>
                <a:spcPts val="1400"/>
              </a:lnSpc>
              <a:spcAft>
                <a:spcPts val="700"/>
              </a:spcAft>
              <a:buNone/>
            </a:pPr>
            <a:r>
              <a:rPr lang="en-US" sz="1050" dirty="0">
                <a:solidFill>
                  <a:srgbClr val="2B3138"/>
                </a:solidFill>
                <a:latin typeface="Calibri" pitchFamily="34" charset="0"/>
                <a:ea typeface="Calibri" pitchFamily="34" charset="-122"/>
                <a:cs typeface="Calibri" pitchFamily="34" charset="-120"/>
              </a:rPr>
              <a:t>Explicitly end to end: create the folder, scaffold the solution, write every file, run the gates. No stopping to confirm.</a:t>
            </a:r>
            <a:endParaRPr lang="en-US" sz="1050" dirty="0"/>
          </a:p>
          <a:p>
            <a:pPr marL="0" indent="0">
              <a:lnSpc>
                <a:spcPts val="1400"/>
              </a:lnSpc>
              <a:spcAft>
                <a:spcPts val="700"/>
              </a:spcAft>
              <a:buNone/>
            </a:pPr>
            <a:r>
              <a:rPr lang="en-US" sz="1050" dirty="0">
                <a:solidFill>
                  <a:srgbClr val="2B3138"/>
                </a:solidFill>
                <a:latin typeface="Calibri" pitchFamily="34" charset="0"/>
                <a:ea typeface="Calibri" pitchFamily="34" charset="-122"/>
                <a:cs typeface="Calibri" pitchFamily="34" charset="-120"/>
              </a:rPr>
              <a:t>Out of scope: no auth, no cloud sync, no installer — the point is a window that opens, not a product.</a:t>
            </a:r>
            <a:endParaRPr lang="en-US" sz="1050" dirty="0"/>
          </a:p>
        </p:txBody>
      </p:sp>
      <p:sp>
        <p:nvSpPr>
          <p:cNvPr id="12" name="Shape 10"/>
          <p:cNvSpPr/>
          <p:nvPr/>
        </p:nvSpPr>
        <p:spPr>
          <a:xfrm>
            <a:off x="4325112" y="2523744"/>
            <a:ext cx="3538728" cy="3493008"/>
          </a:xfrm>
          <a:prstGeom prst="roundRect">
            <a:avLst>
              <a:gd name="adj" fmla="val 1571"/>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13" name="Text 11"/>
          <p:cNvSpPr/>
          <p:nvPr/>
        </p:nvSpPr>
        <p:spPr>
          <a:xfrm>
            <a:off x="4562856" y="2688336"/>
            <a:ext cx="3063240" cy="256032"/>
          </a:xfrm>
          <a:prstGeom prst="rect">
            <a:avLst/>
          </a:prstGeom>
          <a:noFill/>
          <a:ln/>
        </p:spPr>
        <p:txBody>
          <a:bodyPr wrap="square" lIns="0" tIns="0" rIns="0" bIns="0" rtlCol="0" anchor="t"/>
          <a:lstStyle/>
          <a:p>
            <a:pPr marL="0" indent="0">
              <a:buNone/>
            </a:pPr>
            <a:r>
              <a:rPr lang="en-US" sz="1100" b="1" kern="0" spc="120" dirty="0">
                <a:solidFill>
                  <a:srgbClr val="C2410C"/>
                </a:solidFill>
                <a:latin typeface="Calibri" pitchFamily="34" charset="0"/>
                <a:ea typeface="Calibri" pitchFamily="34" charset="-122"/>
                <a:cs typeface="Calibri" pitchFamily="34" charset="-120"/>
              </a:rPr>
              <a:t>THE SKILL</a:t>
            </a:r>
            <a:endParaRPr lang="en-US" sz="1100" dirty="0"/>
          </a:p>
        </p:txBody>
      </p:sp>
      <p:sp>
        <p:nvSpPr>
          <p:cNvPr id="14" name="Text 12"/>
          <p:cNvSpPr/>
          <p:nvPr/>
        </p:nvSpPr>
        <p:spPr>
          <a:xfrm>
            <a:off x="4562856" y="2962656"/>
            <a:ext cx="3063240" cy="310896"/>
          </a:xfrm>
          <a:prstGeom prst="rect">
            <a:avLst/>
          </a:prstGeom>
          <a:noFill/>
          <a:ln/>
        </p:spPr>
        <p:txBody>
          <a:bodyPr wrap="square" lIns="0" tIns="0" rIns="0" bIns="0" rtlCol="0" anchor="t"/>
          <a:lstStyle/>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read every run  ·  166 lines</a:t>
            </a:r>
            <a:endParaRPr lang="en-US" sz="800" dirty="0"/>
          </a:p>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.claude/skills/dotnet-desktop-app/SKILL.md</a:t>
            </a:r>
            <a:endParaRPr lang="en-US" sz="800" dirty="0"/>
          </a:p>
        </p:txBody>
      </p:sp>
      <p:sp>
        <p:nvSpPr>
          <p:cNvPr id="15" name="Text 13"/>
          <p:cNvSpPr/>
          <p:nvPr/>
        </p:nvSpPr>
        <p:spPr>
          <a:xfrm>
            <a:off x="4562856" y="3364992"/>
            <a:ext cx="3063240" cy="2450592"/>
          </a:xfrm>
          <a:prstGeom prst="rect">
            <a:avLst/>
          </a:prstGeom>
          <a:noFill/>
          <a:ln/>
        </p:spPr>
        <p:txBody>
          <a:bodyPr wrap="square" lIns="0" tIns="0" rIns="0" bIns="0" rtlCol="0" anchor="t"/>
          <a:lstStyle/>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No code-behind logic beyond InitializeComponent() and pure view concerns.</a:t>
            </a:r>
            <a:endParaRPr lang="en-US" sz="1050" dirty="0"/>
          </a:p>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No Thread.Sleep, .Result or .Wait(), and no async void outside the two places the framework demands it.</a:t>
            </a:r>
            <a:endParaRPr lang="en-US" sz="1050" dirty="0"/>
          </a:p>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No Application.ThemeMode — it is experimental and emits WPF0001.</a:t>
            </a:r>
            <a:endParaRPr lang="en-US" sz="1050" dirty="0"/>
          </a:p>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No inline #pragma to pass the build: relax the rule in .editorconfig with a comment, or fix the code.</a:t>
            </a:r>
            <a:endParaRPr lang="en-US" sz="1050" dirty="0"/>
          </a:p>
        </p:txBody>
      </p:sp>
      <p:sp>
        <p:nvSpPr>
          <p:cNvPr id="16" name="Shape 14"/>
          <p:cNvSpPr/>
          <p:nvPr/>
        </p:nvSpPr>
        <p:spPr>
          <a:xfrm>
            <a:off x="8083296" y="2523744"/>
            <a:ext cx="3538728" cy="3493008"/>
          </a:xfrm>
          <a:prstGeom prst="roundRect">
            <a:avLst>
              <a:gd name="adj" fmla="val 1571"/>
            </a:avLst>
          </a:prstGeom>
          <a:solidFill>
            <a:srgbClr val="EAF6ED"/>
          </a:solidFill>
          <a:ln w="9525">
            <a:solidFill>
              <a:srgbClr val="D8DEE4"/>
            </a:solidFill>
            <a:prstDash val="solid"/>
          </a:ln>
          <a:effectLst>
            <a:outerShdw blurRad="177800" dist="38100" dir="5400000" algn="bl" rotWithShape="0">
              <a:srgbClr val="8C959F">
                <a:alpha val="16000"/>
              </a:srgbClr>
            </a:outerShdw>
          </a:effectLst>
        </p:spPr>
      </p:sp>
      <p:sp>
        <p:nvSpPr>
          <p:cNvPr id="17" name="Text 15"/>
          <p:cNvSpPr/>
          <p:nvPr/>
        </p:nvSpPr>
        <p:spPr>
          <a:xfrm>
            <a:off x="8321040" y="2688336"/>
            <a:ext cx="3063240" cy="256032"/>
          </a:xfrm>
          <a:prstGeom prst="rect">
            <a:avLst/>
          </a:prstGeom>
          <a:noFill/>
          <a:ln/>
        </p:spPr>
        <p:txBody>
          <a:bodyPr wrap="square" lIns="0" tIns="0" rIns="0" bIns="0" rtlCol="0" anchor="t"/>
          <a:lstStyle/>
          <a:p>
            <a:pPr marL="0" indent="0">
              <a:buNone/>
            </a:pPr>
            <a:r>
              <a:rPr lang="en-US" sz="1100" b="1" kern="0" spc="120" dirty="0">
                <a:solidFill>
                  <a:srgbClr val="1A7F37"/>
                </a:solidFill>
                <a:latin typeface="Calibri" pitchFamily="34" charset="0"/>
                <a:ea typeface="Calibri" pitchFamily="34" charset="-122"/>
                <a:cs typeface="Calibri" pitchFamily="34" charset="-120"/>
              </a:rPr>
              <a:t>ACCEPTANCE CRITERIA</a:t>
            </a:r>
            <a:endParaRPr lang="en-US" sz="1100" dirty="0"/>
          </a:p>
        </p:txBody>
      </p:sp>
      <p:sp>
        <p:nvSpPr>
          <p:cNvPr id="18" name="Text 16"/>
          <p:cNvSpPr/>
          <p:nvPr/>
        </p:nvSpPr>
        <p:spPr>
          <a:xfrm>
            <a:off x="8321040" y="2962656"/>
            <a:ext cx="3063240" cy="310896"/>
          </a:xfrm>
          <a:prstGeom prst="rect">
            <a:avLst/>
          </a:prstGeom>
          <a:noFill/>
          <a:ln/>
        </p:spPr>
        <p:txBody>
          <a:bodyPr wrap="square" lIns="0" tIns="0" rIns="0" bIns="0" rtlCol="0" anchor="t"/>
          <a:lstStyle/>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the agent is not finished</a:t>
            </a:r>
            <a:endParaRPr lang="en-US" sz="800" dirty="0"/>
          </a:p>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until all four of these pass</a:t>
            </a:r>
            <a:endParaRPr lang="en-US" sz="800" dirty="0"/>
          </a:p>
        </p:txBody>
      </p:sp>
      <p:sp>
        <p:nvSpPr>
          <p:cNvPr id="19" name="Shape 17"/>
          <p:cNvSpPr/>
          <p:nvPr/>
        </p:nvSpPr>
        <p:spPr>
          <a:xfrm>
            <a:off x="8321040" y="3419856"/>
            <a:ext cx="201168" cy="201168"/>
          </a:xfrm>
          <a:prstGeom prst="ellipse">
            <a:avLst/>
          </a:prstGeom>
          <a:solidFill>
            <a:srgbClr val="FFFFFF"/>
          </a:solidFill>
          <a:ln w="12700">
            <a:solidFill>
              <a:srgbClr val="1A7F37"/>
            </a:solidFill>
            <a:prstDash val="solid"/>
          </a:ln>
        </p:spPr>
      </p:sp>
      <p:sp>
        <p:nvSpPr>
          <p:cNvPr id="20" name="Text 18"/>
          <p:cNvSpPr/>
          <p:nvPr/>
        </p:nvSpPr>
        <p:spPr>
          <a:xfrm>
            <a:off x="8321040" y="3419856"/>
            <a:ext cx="201168" cy="201168"/>
          </a:xfrm>
          <a:prstGeom prst="rect">
            <a:avLst/>
          </a:prstGeom>
          <a:noFill/>
          <a:ln/>
        </p:spPr>
        <p:txBody>
          <a:bodyPr wrap="square" lIns="0" tIns="0" rIns="0" bIns="0" rtlCol="0" anchor="ctr"/>
          <a:lstStyle/>
          <a:p>
            <a:pPr marL="0" indent="0" algn="ctr">
              <a:buNone/>
            </a:pPr>
            <a:r>
              <a:rPr lang="en-US" sz="850" b="1" dirty="0">
                <a:solidFill>
                  <a:srgbClr val="1A7F37"/>
                </a:solidFill>
                <a:latin typeface="Calibri" pitchFamily="34" charset="0"/>
                <a:ea typeface="Calibri" pitchFamily="34" charset="-122"/>
                <a:cs typeface="Calibri" pitchFamily="34" charset="-120"/>
              </a:rPr>
              <a:t>✓</a:t>
            </a:r>
            <a:endParaRPr lang="en-US" sz="850" dirty="0"/>
          </a:p>
        </p:txBody>
      </p:sp>
      <p:sp>
        <p:nvSpPr>
          <p:cNvPr id="21" name="Text 19"/>
          <p:cNvSpPr/>
          <p:nvPr/>
        </p:nvSpPr>
        <p:spPr>
          <a:xfrm>
            <a:off x="8613648" y="3383280"/>
            <a:ext cx="2770632" cy="640080"/>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dotnet build -warnaserror exits 0 with zero warnings</a:t>
            </a:r>
            <a:endParaRPr lang="en-US" sz="1050" dirty="0"/>
          </a:p>
        </p:txBody>
      </p:sp>
      <p:sp>
        <p:nvSpPr>
          <p:cNvPr id="22" name="Shape 20"/>
          <p:cNvSpPr/>
          <p:nvPr/>
        </p:nvSpPr>
        <p:spPr>
          <a:xfrm>
            <a:off x="8321040" y="4059936"/>
            <a:ext cx="201168" cy="201168"/>
          </a:xfrm>
          <a:prstGeom prst="ellipse">
            <a:avLst/>
          </a:prstGeom>
          <a:solidFill>
            <a:srgbClr val="FFFFFF"/>
          </a:solidFill>
          <a:ln w="12700">
            <a:solidFill>
              <a:srgbClr val="1A7F37"/>
            </a:solidFill>
            <a:prstDash val="solid"/>
          </a:ln>
        </p:spPr>
      </p:sp>
      <p:sp>
        <p:nvSpPr>
          <p:cNvPr id="23" name="Text 21"/>
          <p:cNvSpPr/>
          <p:nvPr/>
        </p:nvSpPr>
        <p:spPr>
          <a:xfrm>
            <a:off x="8321040" y="4059936"/>
            <a:ext cx="201168" cy="201168"/>
          </a:xfrm>
          <a:prstGeom prst="rect">
            <a:avLst/>
          </a:prstGeom>
          <a:noFill/>
          <a:ln/>
        </p:spPr>
        <p:txBody>
          <a:bodyPr wrap="square" lIns="0" tIns="0" rIns="0" bIns="0" rtlCol="0" anchor="ctr"/>
          <a:lstStyle/>
          <a:p>
            <a:pPr marL="0" indent="0" algn="ctr">
              <a:buNone/>
            </a:pPr>
            <a:r>
              <a:rPr lang="en-US" sz="850" b="1" dirty="0">
                <a:solidFill>
                  <a:srgbClr val="1A7F37"/>
                </a:solidFill>
                <a:latin typeface="Calibri" pitchFamily="34" charset="0"/>
                <a:ea typeface="Calibri" pitchFamily="34" charset="-122"/>
                <a:cs typeface="Calibri" pitchFamily="34" charset="-120"/>
              </a:rPr>
              <a:t>✓</a:t>
            </a:r>
            <a:endParaRPr lang="en-US" sz="850" dirty="0"/>
          </a:p>
        </p:txBody>
      </p:sp>
      <p:sp>
        <p:nvSpPr>
          <p:cNvPr id="24" name="Text 22"/>
          <p:cNvSpPr/>
          <p:nvPr/>
        </p:nvSpPr>
        <p:spPr>
          <a:xfrm>
            <a:off x="8613648" y="4023360"/>
            <a:ext cx="2770632" cy="640080"/>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dotnet test runs headless in CI — no window required</a:t>
            </a:r>
            <a:endParaRPr lang="en-US" sz="1050" dirty="0"/>
          </a:p>
        </p:txBody>
      </p:sp>
      <p:sp>
        <p:nvSpPr>
          <p:cNvPr id="25" name="Shape 23"/>
          <p:cNvSpPr/>
          <p:nvPr/>
        </p:nvSpPr>
        <p:spPr>
          <a:xfrm>
            <a:off x="8321040" y="4700016"/>
            <a:ext cx="201168" cy="201168"/>
          </a:xfrm>
          <a:prstGeom prst="ellipse">
            <a:avLst/>
          </a:prstGeom>
          <a:solidFill>
            <a:srgbClr val="FFFFFF"/>
          </a:solidFill>
          <a:ln w="12700">
            <a:solidFill>
              <a:srgbClr val="1A7F37"/>
            </a:solidFill>
            <a:prstDash val="solid"/>
          </a:ln>
        </p:spPr>
      </p:sp>
      <p:sp>
        <p:nvSpPr>
          <p:cNvPr id="26" name="Text 24"/>
          <p:cNvSpPr/>
          <p:nvPr/>
        </p:nvSpPr>
        <p:spPr>
          <a:xfrm>
            <a:off x="8321040" y="4700016"/>
            <a:ext cx="201168" cy="201168"/>
          </a:xfrm>
          <a:prstGeom prst="rect">
            <a:avLst/>
          </a:prstGeom>
          <a:noFill/>
          <a:ln/>
        </p:spPr>
        <p:txBody>
          <a:bodyPr wrap="square" lIns="0" tIns="0" rIns="0" bIns="0" rtlCol="0" anchor="ctr"/>
          <a:lstStyle/>
          <a:p>
            <a:pPr marL="0" indent="0" algn="ctr">
              <a:buNone/>
            </a:pPr>
            <a:r>
              <a:rPr lang="en-US" sz="850" b="1" dirty="0">
                <a:solidFill>
                  <a:srgbClr val="1A7F37"/>
                </a:solidFill>
                <a:latin typeface="Calibri" pitchFamily="34" charset="0"/>
                <a:ea typeface="Calibri" pitchFamily="34" charset="-122"/>
                <a:cs typeface="Calibri" pitchFamily="34" charset="-120"/>
              </a:rPr>
              <a:t>✓</a:t>
            </a:r>
            <a:endParaRPr lang="en-US" sz="850" dirty="0"/>
          </a:p>
        </p:txBody>
      </p:sp>
      <p:sp>
        <p:nvSpPr>
          <p:cNvPr id="27" name="Text 25"/>
          <p:cNvSpPr/>
          <p:nvPr/>
        </p:nvSpPr>
        <p:spPr>
          <a:xfrm>
            <a:off x="8613648" y="4663440"/>
            <a:ext cx="2770632" cy="640080"/>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The app opens, shows seeded rows, stays responsive while loading</a:t>
            </a:r>
            <a:endParaRPr lang="en-US" sz="1050" dirty="0"/>
          </a:p>
        </p:txBody>
      </p:sp>
      <p:sp>
        <p:nvSpPr>
          <p:cNvPr id="28" name="Shape 26"/>
          <p:cNvSpPr/>
          <p:nvPr/>
        </p:nvSpPr>
        <p:spPr>
          <a:xfrm>
            <a:off x="8321040" y="5340096"/>
            <a:ext cx="201168" cy="201168"/>
          </a:xfrm>
          <a:prstGeom prst="ellipse">
            <a:avLst/>
          </a:prstGeom>
          <a:solidFill>
            <a:srgbClr val="FFFFFF"/>
          </a:solidFill>
          <a:ln w="12700">
            <a:solidFill>
              <a:srgbClr val="1A7F37"/>
            </a:solidFill>
            <a:prstDash val="solid"/>
          </a:ln>
        </p:spPr>
      </p:sp>
      <p:sp>
        <p:nvSpPr>
          <p:cNvPr id="29" name="Text 27"/>
          <p:cNvSpPr/>
          <p:nvPr/>
        </p:nvSpPr>
        <p:spPr>
          <a:xfrm>
            <a:off x="8321040" y="5340096"/>
            <a:ext cx="201168" cy="201168"/>
          </a:xfrm>
          <a:prstGeom prst="rect">
            <a:avLst/>
          </a:prstGeom>
          <a:noFill/>
          <a:ln/>
        </p:spPr>
        <p:txBody>
          <a:bodyPr wrap="square" lIns="0" tIns="0" rIns="0" bIns="0" rtlCol="0" anchor="ctr"/>
          <a:lstStyle/>
          <a:p>
            <a:pPr marL="0" indent="0" algn="ctr">
              <a:buNone/>
            </a:pPr>
            <a:r>
              <a:rPr lang="en-US" sz="850" b="1" dirty="0">
                <a:solidFill>
                  <a:srgbClr val="1A7F37"/>
                </a:solidFill>
                <a:latin typeface="Calibri" pitchFamily="34" charset="0"/>
                <a:ea typeface="Calibri" pitchFamily="34" charset="-122"/>
                <a:cs typeface="Calibri" pitchFamily="34" charset="-120"/>
              </a:rPr>
              <a:t>✓</a:t>
            </a:r>
            <a:endParaRPr lang="en-US" sz="850" dirty="0"/>
          </a:p>
        </p:txBody>
      </p:sp>
      <p:sp>
        <p:nvSpPr>
          <p:cNvPr id="30" name="Text 28"/>
          <p:cNvSpPr/>
          <p:nvPr/>
        </p:nvSpPr>
        <p:spPr>
          <a:xfrm>
            <a:off x="8613648" y="5303520"/>
            <a:ext cx="2770632" cy="640080"/>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dotnet publish produces a single-file self-contained win-x64 EXE</a:t>
            </a:r>
            <a:endParaRPr lang="en-US" sz="1050" dirty="0"/>
          </a:p>
        </p:txBody>
      </p:sp>
      <p:sp>
        <p:nvSpPr>
          <p:cNvPr id="31"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anim calcmode="lin" valueType="num">
                                      <p:cBhvr additive="base">
                                        <p:cTn id="8" dur="420" fill="hold"/>
                                        <p:tgtEl>
                                          <p:spTgt spid="7"/>
                                        </p:tgtEl>
                                        <p:attrNameLst>
                                          <p:attrName>ppt_y</p:attrName>
                                        </p:attrNameLst>
                                      </p:cBhvr>
                                      <p:tavLst>
                                        <p:tav tm="0">
                                          <p:val>
                                            <p:strVal val="#ppt_y+0.035"/>
                                          </p:val>
                                        </p:tav>
                                        <p:tav tm="100000">
                                          <p:val>
                                            <p:strVal val="#ppt_y"/>
                                          </p:val>
                                        </p:tav>
                                      </p:tavLst>
                                    </p:anim>
                                    <p:set>
                                      <p:cBhvr>
                                        <p:cTn id="9" dur="1" fill="hold">
                                          <p:stCondLst>
                                            <p:cond delay="0"/>
                                          </p:stCondLst>
                                        </p:cTn>
                                        <p:tgtEl>
                                          <p:spTgt spid="8"/>
                                        </p:tgtEl>
                                        <p:attrNameLst>
                                          <p:attrName>style.visibility</p:attrName>
                                        </p:attrNameLst>
                                      </p:cBhvr>
                                      <p:to>
                                        <p:strVal val="visible"/>
                                      </p:to>
                                    </p:set>
                                    <p:animEffect transition="in" filter="fade">
                                      <p:cBhvr>
                                        <p:cTn id="10" dur="420"/>
                                        <p:tgtEl>
                                          <p:spTgt spid="8"/>
                                        </p:tgtEl>
                                      </p:cBhvr>
                                    </p:animEffect>
                                    <p:anim calcmode="lin" valueType="num">
                                      <p:cBhvr additive="base">
                                        <p:cTn id="11" dur="420" fill="hold"/>
                                        <p:tgtEl>
                                          <p:spTgt spid="8"/>
                                        </p:tgtEl>
                                        <p:attrNameLst>
                                          <p:attrName>ppt_y</p:attrName>
                                        </p:attrNameLst>
                                      </p:cBhvr>
                                      <p:tavLst>
                                        <p:tav tm="0">
                                          <p:val>
                                            <p:strVal val="#ppt_y+0.035"/>
                                          </p:val>
                                        </p:tav>
                                        <p:tav tm="100000">
                                          <p:val>
                                            <p:strVal val="#ppt_y"/>
                                          </p:val>
                                        </p:tav>
                                      </p:tavLst>
                                    </p:anim>
                                    <p:set>
                                      <p:cBhvr>
                                        <p:cTn id="12" dur="1" fill="hold">
                                          <p:stCondLst>
                                            <p:cond delay="0"/>
                                          </p:stCondLst>
                                        </p:cTn>
                                        <p:tgtEl>
                                          <p:spTgt spid="12"/>
                                        </p:tgtEl>
                                        <p:attrNameLst>
                                          <p:attrName>style.visibility</p:attrName>
                                        </p:attrNameLst>
                                      </p:cBhvr>
                                      <p:to>
                                        <p:strVal val="visible"/>
                                      </p:to>
                                    </p:set>
                                    <p:animEffect transition="in" filter="fade">
                                      <p:cBhvr>
                                        <p:cTn id="13" dur="420"/>
                                        <p:tgtEl>
                                          <p:spTgt spid="12"/>
                                        </p:tgtEl>
                                      </p:cBhvr>
                                    </p:animEffect>
                                    <p:anim calcmode="lin" valueType="num">
                                      <p:cBhvr additive="base">
                                        <p:cTn id="14" dur="420" fill="hold"/>
                                        <p:tgtEl>
                                          <p:spTgt spid="12"/>
                                        </p:tgtEl>
                                        <p:attrNameLst>
                                          <p:attrName>ppt_y</p:attrName>
                                        </p:attrNameLst>
                                      </p:cBhvr>
                                      <p:tavLst>
                                        <p:tav tm="0">
                                          <p:val>
                                            <p:strVal val="#ppt_y+0.035"/>
                                          </p:val>
                                        </p:tav>
                                        <p:tav tm="100000">
                                          <p:val>
                                            <p:strVal val="#ppt_y"/>
                                          </p:val>
                                        </p:tav>
                                      </p:tavLst>
                                    </p:anim>
                                    <p:set>
                                      <p:cBhvr>
                                        <p:cTn id="15" dur="1" fill="hold">
                                          <p:stCondLst>
                                            <p:cond delay="0"/>
                                          </p:stCondLst>
                                        </p:cTn>
                                        <p:tgtEl>
                                          <p:spTgt spid="16"/>
                                        </p:tgtEl>
                                        <p:attrNameLst>
                                          <p:attrName>style.visibility</p:attrName>
                                        </p:attrNameLst>
                                      </p:cBhvr>
                                      <p:to>
                                        <p:strVal val="visible"/>
                                      </p:to>
                                    </p:set>
                                    <p:animEffect transition="in" filter="fade">
                                      <p:cBhvr>
                                        <p:cTn id="16" dur="420"/>
                                        <p:tgtEl>
                                          <p:spTgt spid="16"/>
                                        </p:tgtEl>
                                      </p:cBhvr>
                                    </p:animEffect>
                                    <p:anim calcmode="lin" valueType="num">
                                      <p:cBhvr additive="base">
                                        <p:cTn id="17" dur="420" fill="hold"/>
                                        <p:tgtEl>
                                          <p:spTgt spid="16"/>
                                        </p:tgtEl>
                                        <p:attrNameLst>
                                          <p:attrName>ppt_y</p:attrName>
                                        </p:attrNameLst>
                                      </p:cBhvr>
                                      <p:tavLst>
                                        <p:tav tm="0">
                                          <p:val>
                                            <p:strVal val="#ppt_y+0.035"/>
                                          </p:val>
                                        </p:tav>
                                        <p:tav tm="100000">
                                          <p:val>
                                            <p:strVal val="#ppt_y"/>
                                          </p:val>
                                        </p:tav>
                                      </p:tavLst>
                                    </p:anim>
                                    <p:set>
                                      <p:cBhvr>
                                        <p:cTn id="18" dur="1" fill="hold">
                                          <p:stCondLst>
                                            <p:cond delay="0"/>
                                          </p:stCondLst>
                                        </p:cTn>
                                        <p:tgtEl>
                                          <p:spTgt spid="9"/>
                                        </p:tgtEl>
                                        <p:attrNameLst>
                                          <p:attrName>style.visibility</p:attrName>
                                        </p:attrNameLst>
                                      </p:cBhvr>
                                      <p:to>
                                        <p:strVal val="visible"/>
                                      </p:to>
                                    </p:set>
                                    <p:animEffect transition="in" filter="fade">
                                      <p:cBhvr>
                                        <p:cTn id="19" dur="420"/>
                                        <p:tgtEl>
                                          <p:spTgt spid="9"/>
                                        </p:tgtEl>
                                      </p:cBhvr>
                                    </p:animEffect>
                                    <p:anim calcmode="lin" valueType="num">
                                      <p:cBhvr additive="base">
                                        <p:cTn id="20" dur="420" fill="hold"/>
                                        <p:tgtEl>
                                          <p:spTgt spid="9"/>
                                        </p:tgtEl>
                                        <p:attrNameLst>
                                          <p:attrName>ppt_y</p:attrName>
                                        </p:attrNameLst>
                                      </p:cBhvr>
                                      <p:tavLst>
                                        <p:tav tm="0">
                                          <p:val>
                                            <p:strVal val="#ppt_y+0.035"/>
                                          </p:val>
                                        </p:tav>
                                        <p:tav tm="100000">
                                          <p:val>
                                            <p:strVal val="#ppt_y"/>
                                          </p:val>
                                        </p:tav>
                                      </p:tavLst>
                                    </p:anim>
                                    <p:set>
                                      <p:cBhvr>
                                        <p:cTn id="21" dur="1" fill="hold">
                                          <p:stCondLst>
                                            <p:cond delay="0"/>
                                          </p:stCondLst>
                                        </p:cTn>
                                        <p:tgtEl>
                                          <p:spTgt spid="13"/>
                                        </p:tgtEl>
                                        <p:attrNameLst>
                                          <p:attrName>style.visibility</p:attrName>
                                        </p:attrNameLst>
                                      </p:cBhvr>
                                      <p:to>
                                        <p:strVal val="visible"/>
                                      </p:to>
                                    </p:set>
                                    <p:animEffect transition="in" filter="fade">
                                      <p:cBhvr>
                                        <p:cTn id="22" dur="420"/>
                                        <p:tgtEl>
                                          <p:spTgt spid="13"/>
                                        </p:tgtEl>
                                      </p:cBhvr>
                                    </p:animEffect>
                                    <p:anim calcmode="lin" valueType="num">
                                      <p:cBhvr additive="base">
                                        <p:cTn id="23" dur="420" fill="hold"/>
                                        <p:tgtEl>
                                          <p:spTgt spid="13"/>
                                        </p:tgtEl>
                                        <p:attrNameLst>
                                          <p:attrName>ppt_y</p:attrName>
                                        </p:attrNameLst>
                                      </p:cBhvr>
                                      <p:tavLst>
                                        <p:tav tm="0">
                                          <p:val>
                                            <p:strVal val="#ppt_y+0.035"/>
                                          </p:val>
                                        </p:tav>
                                        <p:tav tm="100000">
                                          <p:val>
                                            <p:strVal val="#ppt_y"/>
                                          </p:val>
                                        </p:tav>
                                      </p:tavLst>
                                    </p:anim>
                                    <p:set>
                                      <p:cBhvr>
                                        <p:cTn id="24" dur="1" fill="hold">
                                          <p:stCondLst>
                                            <p:cond delay="0"/>
                                          </p:stCondLst>
                                        </p:cTn>
                                        <p:tgtEl>
                                          <p:spTgt spid="17"/>
                                        </p:tgtEl>
                                        <p:attrNameLst>
                                          <p:attrName>style.visibility</p:attrName>
                                        </p:attrNameLst>
                                      </p:cBhvr>
                                      <p:to>
                                        <p:strVal val="visible"/>
                                      </p:to>
                                    </p:set>
                                    <p:animEffect transition="in" filter="fade">
                                      <p:cBhvr>
                                        <p:cTn id="25" dur="420"/>
                                        <p:tgtEl>
                                          <p:spTgt spid="17"/>
                                        </p:tgtEl>
                                      </p:cBhvr>
                                    </p:animEffect>
                                    <p:anim calcmode="lin" valueType="num">
                                      <p:cBhvr additive="base">
                                        <p:cTn id="26" dur="420" fill="hold"/>
                                        <p:tgtEl>
                                          <p:spTgt spid="17"/>
                                        </p:tgtEl>
                                        <p:attrNameLst>
                                          <p:attrName>ppt_y</p:attrName>
                                        </p:attrNameLst>
                                      </p:cBhvr>
                                      <p:tavLst>
                                        <p:tav tm="0">
                                          <p:val>
                                            <p:strVal val="#ppt_y+0.035"/>
                                          </p:val>
                                        </p:tav>
                                        <p:tav tm="100000">
                                          <p:val>
                                            <p:strVal val="#ppt_y"/>
                                          </p:val>
                                        </p:tav>
                                      </p:tavLst>
                                    </p:anim>
                                    <p:set>
                                      <p:cBhvr>
                                        <p:cTn id="27" dur="1" fill="hold">
                                          <p:stCondLst>
                                            <p:cond delay="0"/>
                                          </p:stCondLst>
                                        </p:cTn>
                                        <p:tgtEl>
                                          <p:spTgt spid="10"/>
                                        </p:tgtEl>
                                        <p:attrNameLst>
                                          <p:attrName>style.visibility</p:attrName>
                                        </p:attrNameLst>
                                      </p:cBhvr>
                                      <p:to>
                                        <p:strVal val="visible"/>
                                      </p:to>
                                    </p:set>
                                    <p:animEffect transition="in" filter="fade">
                                      <p:cBhvr>
                                        <p:cTn id="28" dur="420"/>
                                        <p:tgtEl>
                                          <p:spTgt spid="10"/>
                                        </p:tgtEl>
                                      </p:cBhvr>
                                    </p:animEffect>
                                    <p:anim calcmode="lin" valueType="num">
                                      <p:cBhvr additive="base">
                                        <p:cTn id="29" dur="420" fill="hold"/>
                                        <p:tgtEl>
                                          <p:spTgt spid="10"/>
                                        </p:tgtEl>
                                        <p:attrNameLst>
                                          <p:attrName>ppt_y</p:attrName>
                                        </p:attrNameLst>
                                      </p:cBhvr>
                                      <p:tavLst>
                                        <p:tav tm="0">
                                          <p:val>
                                            <p:strVal val="#ppt_y+0.035"/>
                                          </p:val>
                                        </p:tav>
                                        <p:tav tm="100000">
                                          <p:val>
                                            <p:strVal val="#ppt_y"/>
                                          </p:val>
                                        </p:tav>
                                      </p:tavLst>
                                    </p:anim>
                                    <p:set>
                                      <p:cBhvr>
                                        <p:cTn id="30" dur="1" fill="hold">
                                          <p:stCondLst>
                                            <p:cond delay="0"/>
                                          </p:stCondLst>
                                        </p:cTn>
                                        <p:tgtEl>
                                          <p:spTgt spid="14"/>
                                        </p:tgtEl>
                                        <p:attrNameLst>
                                          <p:attrName>style.visibility</p:attrName>
                                        </p:attrNameLst>
                                      </p:cBhvr>
                                      <p:to>
                                        <p:strVal val="visible"/>
                                      </p:to>
                                    </p:set>
                                    <p:animEffect transition="in" filter="fade">
                                      <p:cBhvr>
                                        <p:cTn id="31" dur="420"/>
                                        <p:tgtEl>
                                          <p:spTgt spid="14"/>
                                        </p:tgtEl>
                                      </p:cBhvr>
                                    </p:animEffect>
                                    <p:anim calcmode="lin" valueType="num">
                                      <p:cBhvr additive="base">
                                        <p:cTn id="32" dur="420" fill="hold"/>
                                        <p:tgtEl>
                                          <p:spTgt spid="14"/>
                                        </p:tgtEl>
                                        <p:attrNameLst>
                                          <p:attrName>ppt_y</p:attrName>
                                        </p:attrNameLst>
                                      </p:cBhvr>
                                      <p:tavLst>
                                        <p:tav tm="0">
                                          <p:val>
                                            <p:strVal val="#ppt_y+0.035"/>
                                          </p:val>
                                        </p:tav>
                                        <p:tav tm="100000">
                                          <p:val>
                                            <p:strVal val="#ppt_y"/>
                                          </p:val>
                                        </p:tav>
                                      </p:tavLst>
                                    </p:anim>
                                    <p:set>
                                      <p:cBhvr>
                                        <p:cTn id="33"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5" dur="420" fill="hold"/>
                                        <p:tgtEl>
                                          <p:spTgt spid="18"/>
                                        </p:tgtEl>
                                        <p:attrNameLst>
                                          <p:attrName>ppt_y</p:attrName>
                                        </p:attrNameLst>
                                      </p:cBhvr>
                                      <p:tavLst>
                                        <p:tav tm="0">
                                          <p:val>
                                            <p:strVal val="#ppt_y+0.035"/>
                                          </p:val>
                                        </p:tav>
                                        <p:tav tm="100000">
                                          <p:val>
                                            <p:strVal val="#ppt_y"/>
                                          </p:val>
                                        </p:tav>
                                      </p:tavLst>
                                    </p:anim>
                                    <p:set>
                                      <p:cBhvr>
                                        <p:cTn id="36" dur="1" fill="hold">
                                          <p:stCondLst>
                                            <p:cond delay="0"/>
                                          </p:stCondLst>
                                        </p:cTn>
                                        <p:tgtEl>
                                          <p:spTgt spid="11"/>
                                        </p:tgtEl>
                                        <p:attrNameLst>
                                          <p:attrName>style.visibility</p:attrName>
                                        </p:attrNameLst>
                                      </p:cBhvr>
                                      <p:to>
                                        <p:strVal val="visible"/>
                                      </p:to>
                                    </p:set>
                                    <p:animEffect transition="in" filter="fade">
                                      <p:cBhvr>
                                        <p:cTn id="37" dur="420"/>
                                        <p:tgtEl>
                                          <p:spTgt spid="11"/>
                                        </p:tgtEl>
                                      </p:cBhvr>
                                    </p:animEffect>
                                    <p:anim calcmode="lin" valueType="num">
                                      <p:cBhvr additive="base">
                                        <p:cTn id="38" dur="420" fill="hold"/>
                                        <p:tgtEl>
                                          <p:spTgt spid="11"/>
                                        </p:tgtEl>
                                        <p:attrNameLst>
                                          <p:attrName>ppt_y</p:attrName>
                                        </p:attrNameLst>
                                      </p:cBhvr>
                                      <p:tavLst>
                                        <p:tav tm="0">
                                          <p:val>
                                            <p:strVal val="#ppt_y+0.035"/>
                                          </p:val>
                                        </p:tav>
                                        <p:tav tm="100000">
                                          <p:val>
                                            <p:strVal val="#ppt_y"/>
                                          </p:val>
                                        </p:tav>
                                      </p:tavLst>
                                    </p:anim>
                                    <p:set>
                                      <p:cBhvr>
                                        <p:cTn id="39" dur="1" fill="hold">
                                          <p:stCondLst>
                                            <p:cond delay="0"/>
                                          </p:stCondLst>
                                        </p:cTn>
                                        <p:tgtEl>
                                          <p:spTgt spid="15"/>
                                        </p:tgtEl>
                                        <p:attrNameLst>
                                          <p:attrName>style.visibility</p:attrName>
                                        </p:attrNameLst>
                                      </p:cBhvr>
                                      <p:to>
                                        <p:strVal val="visible"/>
                                      </p:to>
                                    </p:set>
                                    <p:animEffect transition="in" filter="fade">
                                      <p:cBhvr>
                                        <p:cTn id="40" dur="420"/>
                                        <p:tgtEl>
                                          <p:spTgt spid="15"/>
                                        </p:tgtEl>
                                      </p:cBhvr>
                                    </p:animEffect>
                                    <p:anim calcmode="lin" valueType="num">
                                      <p:cBhvr additive="base">
                                        <p:cTn id="41" dur="420" fill="hold"/>
                                        <p:tgtEl>
                                          <p:spTgt spid="15"/>
                                        </p:tgtEl>
                                        <p:attrNameLst>
                                          <p:attrName>ppt_y</p:attrName>
                                        </p:attrNameLst>
                                      </p:cBhvr>
                                      <p:tavLst>
                                        <p:tav tm="0">
                                          <p:val>
                                            <p:strVal val="#ppt_y+0.035"/>
                                          </p:val>
                                        </p:tav>
                                        <p:tav tm="100000">
                                          <p:val>
                                            <p:strVal val="#ppt_y"/>
                                          </p:val>
                                        </p:tav>
                                      </p:tavLst>
                                    </p:anim>
                                    <p:set>
                                      <p:cBhvr>
                                        <p:cTn id="42"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4" dur="420" fill="hold"/>
                                        <p:tgtEl>
                                          <p:spTgt spid="21"/>
                                        </p:tgtEl>
                                        <p:attrNameLst>
                                          <p:attrName>ppt_y</p:attrName>
                                        </p:attrNameLst>
                                      </p:cBhvr>
                                      <p:tavLst>
                                        <p:tav tm="0">
                                          <p:val>
                                            <p:strVal val="#ppt_y+0.035"/>
                                          </p:val>
                                        </p:tav>
                                        <p:tav tm="100000">
                                          <p:val>
                                            <p:strVal val="#ppt_y"/>
                                          </p:val>
                                        </p:tav>
                                      </p:tavLst>
                                    </p:anim>
                                    <p:set>
                                      <p:cBhvr>
                                        <p:cTn id="45" dur="1" fill="hold">
                                          <p:stCondLst>
                                            <p:cond delay="0"/>
                                          </p:stCondLst>
                                        </p:cTn>
                                        <p:tgtEl>
                                          <p:spTgt spid="19"/>
                                        </p:tgtEl>
                                        <p:attrNameLst>
                                          <p:attrName>style.visibility</p:attrName>
                                        </p:attrNameLst>
                                      </p:cBhvr>
                                      <p:to>
                                        <p:strVal val="visible"/>
                                      </p:to>
                                    </p:set>
                                    <p:animEffect transition="in" filter="fade">
                                      <p:cBhvr>
                                        <p:cTn id="46" dur="420"/>
                                        <p:tgtEl>
                                          <p:spTgt spid="19"/>
                                        </p:tgtEl>
                                      </p:cBhvr>
                                    </p:animEffect>
                                    <p:anim calcmode="lin" valueType="num">
                                      <p:cBhvr additive="base">
                                        <p:cTn id="47" dur="420" fill="hold"/>
                                        <p:tgtEl>
                                          <p:spTgt spid="19"/>
                                        </p:tgtEl>
                                        <p:attrNameLst>
                                          <p:attrName>ppt_y</p:attrName>
                                        </p:attrNameLst>
                                      </p:cBhvr>
                                      <p:tavLst>
                                        <p:tav tm="0">
                                          <p:val>
                                            <p:strVal val="#ppt_y+0.035"/>
                                          </p:val>
                                        </p:tav>
                                        <p:tav tm="100000">
                                          <p:val>
                                            <p:strVal val="#ppt_y"/>
                                          </p:val>
                                        </p:tav>
                                      </p:tavLst>
                                    </p:anim>
                                    <p:set>
                                      <p:cBhvr>
                                        <p:cTn id="48" dur="1" fill="hold">
                                          <p:stCondLst>
                                            <p:cond delay="0"/>
                                          </p:stCondLst>
                                        </p:cTn>
                                        <p:tgtEl>
                                          <p:spTgt spid="20"/>
                                        </p:tgtEl>
                                        <p:attrNameLst>
                                          <p:attrName>style.visibility</p:attrName>
                                        </p:attrNameLst>
                                      </p:cBhvr>
                                      <p:to>
                                        <p:strVal val="visible"/>
                                      </p:to>
                                    </p:set>
                                    <p:animEffect transition="in" filter="fade">
                                      <p:cBhvr>
                                        <p:cTn id="49" dur="420"/>
                                        <p:tgtEl>
                                          <p:spTgt spid="20"/>
                                        </p:tgtEl>
                                      </p:cBhvr>
                                    </p:animEffect>
                                    <p:anim calcmode="lin" valueType="num">
                                      <p:cBhvr additive="base">
                                        <p:cTn id="50" dur="420" fill="hold"/>
                                        <p:tgtEl>
                                          <p:spTgt spid="20"/>
                                        </p:tgtEl>
                                        <p:attrNameLst>
                                          <p:attrName>ppt_y</p:attrName>
                                        </p:attrNameLst>
                                      </p:cBhvr>
                                      <p:tavLst>
                                        <p:tav tm="0">
                                          <p:val>
                                            <p:strVal val="#ppt_y+0.035"/>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20"/>
                                        <p:tgtEl>
                                          <p:spTgt spid="24"/>
                                        </p:tgtEl>
                                      </p:cBhvr>
                                    </p:animEffect>
                                    <p:anim calcmode="lin" valueType="num">
                                      <p:cBhvr additive="base">
                                        <p:cTn id="56" dur="420" fill="hold"/>
                                        <p:tgtEl>
                                          <p:spTgt spid="24"/>
                                        </p:tgtEl>
                                        <p:attrNameLst>
                                          <p:attrName>ppt_y</p:attrName>
                                        </p:attrNameLst>
                                      </p:cBhvr>
                                      <p:tavLst>
                                        <p:tav tm="0">
                                          <p:val>
                                            <p:strVal val="#ppt_y+0.035"/>
                                          </p:val>
                                        </p:tav>
                                        <p:tav tm="100000">
                                          <p:val>
                                            <p:strVal val="#ppt_y"/>
                                          </p:val>
                                        </p:tav>
                                      </p:tavLst>
                                    </p:anim>
                                    <p:set>
                                      <p:cBhvr>
                                        <p:cTn id="57" dur="1" fill="hold">
                                          <p:stCondLst>
                                            <p:cond delay="0"/>
                                          </p:stCondLst>
                                        </p:cTn>
                                        <p:tgtEl>
                                          <p:spTgt spid="22"/>
                                        </p:tgtEl>
                                        <p:attrNameLst>
                                          <p:attrName>style.visibility</p:attrName>
                                        </p:attrNameLst>
                                      </p:cBhvr>
                                      <p:to>
                                        <p:strVal val="visible"/>
                                      </p:to>
                                    </p:set>
                                    <p:animEffect transition="in" filter="fade">
                                      <p:cBhvr>
                                        <p:cTn id="58" dur="420"/>
                                        <p:tgtEl>
                                          <p:spTgt spid="22"/>
                                        </p:tgtEl>
                                      </p:cBhvr>
                                    </p:animEffect>
                                    <p:anim calcmode="lin" valueType="num">
                                      <p:cBhvr additive="base">
                                        <p:cTn id="59" dur="420" fill="hold"/>
                                        <p:tgtEl>
                                          <p:spTgt spid="22"/>
                                        </p:tgtEl>
                                        <p:attrNameLst>
                                          <p:attrName>ppt_y</p:attrName>
                                        </p:attrNameLst>
                                      </p:cBhvr>
                                      <p:tavLst>
                                        <p:tav tm="0">
                                          <p:val>
                                            <p:strVal val="#ppt_y+0.035"/>
                                          </p:val>
                                        </p:tav>
                                        <p:tav tm="100000">
                                          <p:val>
                                            <p:strVal val="#ppt_y"/>
                                          </p:val>
                                        </p:tav>
                                      </p:tavLst>
                                    </p:anim>
                                    <p:set>
                                      <p:cBhvr>
                                        <p:cTn id="60" dur="1" fill="hold">
                                          <p:stCondLst>
                                            <p:cond delay="0"/>
                                          </p:stCondLst>
                                        </p:cTn>
                                        <p:tgtEl>
                                          <p:spTgt spid="23"/>
                                        </p:tgtEl>
                                        <p:attrNameLst>
                                          <p:attrName>style.visibility</p:attrName>
                                        </p:attrNameLst>
                                      </p:cBhvr>
                                      <p:to>
                                        <p:strVal val="visible"/>
                                      </p:to>
                                    </p:set>
                                    <p:animEffect transition="in" filter="fade">
                                      <p:cBhvr>
                                        <p:cTn id="61" dur="420"/>
                                        <p:tgtEl>
                                          <p:spTgt spid="23"/>
                                        </p:tgtEl>
                                      </p:cBhvr>
                                    </p:animEffect>
                                    <p:anim calcmode="lin" valueType="num">
                                      <p:cBhvr additive="base">
                                        <p:cTn id="62" dur="420" fill="hold"/>
                                        <p:tgtEl>
                                          <p:spTgt spid="23"/>
                                        </p:tgtEl>
                                        <p:attrNameLst>
                                          <p:attrName>ppt_y</p:attrName>
                                        </p:attrNameLst>
                                      </p:cBhvr>
                                      <p:tavLst>
                                        <p:tav tm="0">
                                          <p:val>
                                            <p:strVal val="#ppt_y+0.035"/>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420"/>
                                        <p:tgtEl>
                                          <p:spTgt spid="27"/>
                                        </p:tgtEl>
                                      </p:cBhvr>
                                    </p:animEffect>
                                    <p:anim calcmode="lin" valueType="num">
                                      <p:cBhvr additive="base">
                                        <p:cTn id="68" dur="420" fill="hold"/>
                                        <p:tgtEl>
                                          <p:spTgt spid="27"/>
                                        </p:tgtEl>
                                        <p:attrNameLst>
                                          <p:attrName>ppt_y</p:attrName>
                                        </p:attrNameLst>
                                      </p:cBhvr>
                                      <p:tavLst>
                                        <p:tav tm="0">
                                          <p:val>
                                            <p:strVal val="#ppt_y+0.035"/>
                                          </p:val>
                                        </p:tav>
                                        <p:tav tm="100000">
                                          <p:val>
                                            <p:strVal val="#ppt_y"/>
                                          </p:val>
                                        </p:tav>
                                      </p:tavLst>
                                    </p:anim>
                                    <p:set>
                                      <p:cBhvr>
                                        <p:cTn id="69" dur="1" fill="hold">
                                          <p:stCondLst>
                                            <p:cond delay="0"/>
                                          </p:stCondLst>
                                        </p:cTn>
                                        <p:tgtEl>
                                          <p:spTgt spid="25"/>
                                        </p:tgtEl>
                                        <p:attrNameLst>
                                          <p:attrName>style.visibility</p:attrName>
                                        </p:attrNameLst>
                                      </p:cBhvr>
                                      <p:to>
                                        <p:strVal val="visible"/>
                                      </p:to>
                                    </p:set>
                                    <p:animEffect transition="in" filter="fade">
                                      <p:cBhvr>
                                        <p:cTn id="70" dur="420"/>
                                        <p:tgtEl>
                                          <p:spTgt spid="25"/>
                                        </p:tgtEl>
                                      </p:cBhvr>
                                    </p:animEffect>
                                    <p:anim calcmode="lin" valueType="num">
                                      <p:cBhvr additive="base">
                                        <p:cTn id="71" dur="420" fill="hold"/>
                                        <p:tgtEl>
                                          <p:spTgt spid="25"/>
                                        </p:tgtEl>
                                        <p:attrNameLst>
                                          <p:attrName>ppt_y</p:attrName>
                                        </p:attrNameLst>
                                      </p:cBhvr>
                                      <p:tavLst>
                                        <p:tav tm="0">
                                          <p:val>
                                            <p:strVal val="#ppt_y+0.035"/>
                                          </p:val>
                                        </p:tav>
                                        <p:tav tm="100000">
                                          <p:val>
                                            <p:strVal val="#ppt_y"/>
                                          </p:val>
                                        </p:tav>
                                      </p:tavLst>
                                    </p:anim>
                                    <p:set>
                                      <p:cBhvr>
                                        <p:cTn id="72" dur="1" fill="hold">
                                          <p:stCondLst>
                                            <p:cond delay="0"/>
                                          </p:stCondLst>
                                        </p:cTn>
                                        <p:tgtEl>
                                          <p:spTgt spid="26"/>
                                        </p:tgtEl>
                                        <p:attrNameLst>
                                          <p:attrName>style.visibility</p:attrName>
                                        </p:attrNameLst>
                                      </p:cBhvr>
                                      <p:to>
                                        <p:strVal val="visible"/>
                                      </p:to>
                                    </p:set>
                                    <p:animEffect transition="in" filter="fade">
                                      <p:cBhvr>
                                        <p:cTn id="73" dur="420"/>
                                        <p:tgtEl>
                                          <p:spTgt spid="26"/>
                                        </p:tgtEl>
                                      </p:cBhvr>
                                    </p:animEffect>
                                    <p:anim calcmode="lin" valueType="num">
                                      <p:cBhvr additive="base">
                                        <p:cTn id="74" dur="420" fill="hold"/>
                                        <p:tgtEl>
                                          <p:spTgt spid="26"/>
                                        </p:tgtEl>
                                        <p:attrNameLst>
                                          <p:attrName>ppt_y</p:attrName>
                                        </p:attrNameLst>
                                      </p:cBhvr>
                                      <p:tavLst>
                                        <p:tav tm="0">
                                          <p:val>
                                            <p:strVal val="#ppt_y+0.035"/>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20"/>
                                        <p:tgtEl>
                                          <p:spTgt spid="30"/>
                                        </p:tgtEl>
                                      </p:cBhvr>
                                    </p:animEffect>
                                    <p:anim calcmode="lin" valueType="num">
                                      <p:cBhvr additive="base">
                                        <p:cTn id="80" dur="420" fill="hold"/>
                                        <p:tgtEl>
                                          <p:spTgt spid="30"/>
                                        </p:tgtEl>
                                        <p:attrNameLst>
                                          <p:attrName>ppt_y</p:attrName>
                                        </p:attrNameLst>
                                      </p:cBhvr>
                                      <p:tavLst>
                                        <p:tav tm="0">
                                          <p:val>
                                            <p:strVal val="#ppt_y+0.035"/>
                                          </p:val>
                                        </p:tav>
                                        <p:tav tm="100000">
                                          <p:val>
                                            <p:strVal val="#ppt_y"/>
                                          </p:val>
                                        </p:tav>
                                      </p:tavLst>
                                    </p:anim>
                                    <p:set>
                                      <p:cBhvr>
                                        <p:cTn id="81" dur="1" fill="hold">
                                          <p:stCondLst>
                                            <p:cond delay="0"/>
                                          </p:stCondLst>
                                        </p:cTn>
                                        <p:tgtEl>
                                          <p:spTgt spid="28"/>
                                        </p:tgtEl>
                                        <p:attrNameLst>
                                          <p:attrName>style.visibility</p:attrName>
                                        </p:attrNameLst>
                                      </p:cBhvr>
                                      <p:to>
                                        <p:strVal val="visible"/>
                                      </p:to>
                                    </p:set>
                                    <p:animEffect transition="in" filter="fade">
                                      <p:cBhvr>
                                        <p:cTn id="82" dur="420"/>
                                        <p:tgtEl>
                                          <p:spTgt spid="28"/>
                                        </p:tgtEl>
                                      </p:cBhvr>
                                    </p:animEffect>
                                    <p:anim calcmode="lin" valueType="num">
                                      <p:cBhvr additive="base">
                                        <p:cTn id="83" dur="420" fill="hold"/>
                                        <p:tgtEl>
                                          <p:spTgt spid="28"/>
                                        </p:tgtEl>
                                        <p:attrNameLst>
                                          <p:attrName>ppt_y</p:attrName>
                                        </p:attrNameLst>
                                      </p:cBhvr>
                                      <p:tavLst>
                                        <p:tav tm="0">
                                          <p:val>
                                            <p:strVal val="#ppt_y+0.035"/>
                                          </p:val>
                                        </p:tav>
                                        <p:tav tm="100000">
                                          <p:val>
                                            <p:strVal val="#ppt_y"/>
                                          </p:val>
                                        </p:tav>
                                      </p:tavLst>
                                    </p:anim>
                                    <p:set>
                                      <p:cBhvr>
                                        <p:cTn id="84" dur="1" fill="hold">
                                          <p:stCondLst>
                                            <p:cond delay="0"/>
                                          </p:stCondLst>
                                        </p:cTn>
                                        <p:tgtEl>
                                          <p:spTgt spid="29"/>
                                        </p:tgtEl>
                                        <p:attrNameLst>
                                          <p:attrName>style.visibility</p:attrName>
                                        </p:attrNameLst>
                                      </p:cBhvr>
                                      <p:to>
                                        <p:strVal val="visible"/>
                                      </p:to>
                                    </p:set>
                                    <p:animEffect transition="in" filter="fade">
                                      <p:cBhvr>
                                        <p:cTn id="85" dur="420"/>
                                        <p:tgtEl>
                                          <p:spTgt spid="29"/>
                                        </p:tgtEl>
                                      </p:cBhvr>
                                    </p:animEffect>
                                    <p:anim calcmode="lin" valueType="num">
                                      <p:cBhvr additive="base">
                                        <p:cTn id="86" dur="420" fill="hold"/>
                                        <p:tgtEl>
                                          <p:spTgt spid="29"/>
                                        </p:tgtEl>
                                        <p:attrNameLst>
                                          <p:attrName>ppt_y</p:attrName>
                                        </p:attrNameLst>
                                      </p:cBhvr>
                                      <p:tavLst>
                                        <p:tav tm="0">
                                          <p:val>
                                            <p:strVal val="#ppt_y+0.035"/>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25"/>
                                        </p:tgtEl>
                                        <p:attrNameLst>
                                          <p:attrName>style.visibility</p:attrName>
                                        </p:attrNameLst>
                                      </p:cBhvr>
                                      <p:to>
                                        <p:strVal val="visible"/>
                                      </p:to>
                                    </p:set>
                                    <p:animEffect transition="in" filter="fade">
                                      <p:cBhvr>
                                        <p:cTn id="91" dur="420"/>
                                        <p:tgtEl>
                                          <p:spTgt spid="25"/>
                                        </p:tgtEl>
                                      </p:cBhvr>
                                    </p:animEffect>
                                    <p:anim calcmode="lin" valueType="num">
                                      <p:cBhvr additive="base">
                                        <p:cTn id="92" dur="420" fill="hold"/>
                                        <p:tgtEl>
                                          <p:spTgt spid="2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animBg="1"/>
      <p:bldP spid="25" grpId="0" animBg="1"/>
      <p:bldP spid="26" grpId="0"/>
      <p:bldP spid="27" grpId="0" animBg="1"/>
      <p:bldP spid="28" grpId="0"/>
      <p:bldP spid="29" grpId="0"/>
      <p:bldP spid="3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05</a:t>
            </a:r>
            <a:r>
              <a:rPr lang="en-US" sz="1150" b="1" kern="0" spc="160" dirty="0">
                <a:solidFill>
                  <a:srgbClr val="6E7781"/>
                </a:solidFill>
                <a:latin typeface="Calibri" pitchFamily="34" charset="0"/>
                <a:ea typeface="Calibri" pitchFamily="34" charset="-122"/>
                <a:cs typeface="Calibri" pitchFamily="34" charset="-120"/>
              </a:rPr>
              <a:t>   APP 4 OF 4   ·   BACKEND</a:t>
            </a:r>
            <a:endParaRPr lang="en-US" sz="1150" dirty="0"/>
          </a:p>
        </p:txBody>
      </p:sp>
      <p:sp>
        <p:nvSpPr>
          <p:cNvPr id="3" name="Shape 1"/>
          <p:cNvSpPr/>
          <p:nvPr/>
        </p:nvSpPr>
        <p:spPr>
          <a:xfrm>
            <a:off x="10351008" y="393192"/>
            <a:ext cx="1271016" cy="292608"/>
          </a:xfrm>
          <a:prstGeom prst="roundRect">
            <a:avLst>
              <a:gd name="adj" fmla="val 59375"/>
            </a:avLst>
          </a:prstGeom>
          <a:solidFill>
            <a:srgbClr val="C2410C"/>
          </a:solidFill>
          <a:ln/>
        </p:spPr>
      </p:sp>
      <p:sp>
        <p:nvSpPr>
          <p:cNvPr id="4" name="Text 2"/>
          <p:cNvSpPr/>
          <p:nvPr/>
        </p:nvSpPr>
        <p:spPr>
          <a:xfrm>
            <a:off x="10351008" y="393192"/>
            <a:ext cx="1271016" cy="292608"/>
          </a:xfrm>
          <a:prstGeom prst="rect">
            <a:avLst/>
          </a:prstGeom>
          <a:noFill/>
          <a:ln/>
        </p:spPr>
        <p:txBody>
          <a:bodyPr wrap="square" lIns="0" tIns="0" rIns="0" bIns="0" rtlCol="0" anchor="ctr"/>
          <a:lstStyle/>
          <a:p>
            <a:pPr marL="0" indent="0" algn="ctr">
              <a:buNone/>
            </a:pPr>
            <a:r>
              <a:rPr lang="en-US" sz="950" b="1" kern="0" spc="120" dirty="0">
                <a:solidFill>
                  <a:srgbClr val="FFFFFF"/>
                </a:solidFill>
                <a:latin typeface="Calibri" pitchFamily="34" charset="0"/>
                <a:ea typeface="Calibri" pitchFamily="34" charset="-122"/>
                <a:cs typeface="Calibri" pitchFamily="34" charset="-120"/>
              </a:rPr>
              <a:t>SKILL + PROMPT</a:t>
            </a:r>
            <a:endParaRPr lang="en-US" sz="950" dirty="0"/>
          </a:p>
        </p:txBody>
      </p:sp>
      <p:sp>
        <p:nvSpPr>
          <p:cNvPr id="5" name="Text 3"/>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A weather API with no API key</a:t>
            </a:r>
            <a:endParaRPr lang="en-US" sz="3200" dirty="0"/>
          </a:p>
        </p:txBody>
      </p:sp>
      <p:sp>
        <p:nvSpPr>
          <p:cNvPr id="6" name="Text 4"/>
          <p:cNvSpPr/>
          <p:nvPr/>
        </p:nvSpPr>
        <p:spPr>
          <a:xfrm>
            <a:off x="566928" y="1335024"/>
            <a:ext cx="11055096" cy="566928"/>
          </a:xfrm>
          <a:prstGeom prst="rect">
            <a:avLst/>
          </a:prstGeom>
          <a:noFill/>
          <a:ln/>
        </p:spPr>
        <p:txBody>
          <a:bodyPr wrap="square" lIns="0" tIns="0" rIns="0" bIns="0" rtlCol="0" anchor="t"/>
          <a:lstStyle/>
          <a:p>
            <a:pPr marL="0" indent="0">
              <a:lnSpc>
                <a:spcPts val="1850"/>
              </a:lnSpc>
              <a:buNone/>
            </a:pPr>
            <a:r>
              <a:rPr lang="en-US" sz="1200" dirty="0">
                <a:solidFill>
                  <a:srgbClr val="2B3138"/>
                </a:solidFill>
                <a:latin typeface="Calibri" pitchFamily="34" charset="0"/>
                <a:ea typeface="Calibri" pitchFamily="34" charset="-122"/>
                <a:cs typeface="Calibri" pitchFamily="34" charset="-120"/>
              </a:rPr>
              <a:t>A .NET 10 minimal API that clones, builds and serves live forecasts by coordinates or city name in under two minutes — no account, no key, no config, because the provider is keyless.</a:t>
            </a:r>
            <a:endParaRPr lang="en-US" sz="1200" dirty="0"/>
          </a:p>
        </p:txBody>
      </p:sp>
      <p:sp>
        <p:nvSpPr>
          <p:cNvPr id="7" name="Text 5"/>
          <p:cNvSpPr/>
          <p:nvPr/>
        </p:nvSpPr>
        <p:spPr>
          <a:xfrm>
            <a:off x="566928" y="1883664"/>
            <a:ext cx="11055096" cy="548640"/>
          </a:xfrm>
          <a:prstGeom prst="rect">
            <a:avLst/>
          </a:prstGeom>
          <a:noFill/>
          <a:ln/>
        </p:spPr>
        <p:txBody>
          <a:bodyPr wrap="square" lIns="0" tIns="0" rIns="0" bIns="0" rtlCol="0" anchor="t"/>
          <a:lstStyle/>
          <a:p>
            <a:pPr marL="0" indent="0">
              <a:lnSpc>
                <a:spcPts val="1500"/>
              </a:lnSpc>
              <a:buNone/>
            </a:pPr>
            <a:r>
              <a:rPr lang="en-US" sz="1100" b="1" dirty="0">
                <a:solidFill>
                  <a:srgbClr val="B42318"/>
                </a:solidFill>
                <a:latin typeface="Calibri" pitchFamily="34" charset="0"/>
                <a:ea typeface="Calibri" pitchFamily="34" charset="-122"/>
                <a:cs typeface="Calibri" pitchFamily="34" charset="-120"/>
              </a:rPr>
              <a:t>The trap this app exists to expose:  </a:t>
            </a:r>
            <a:r>
              <a:rPr lang="en-US" sz="1100" dirty="0">
                <a:solidFill>
                  <a:srgbClr val="2B3138"/>
                </a:solidFill>
                <a:latin typeface="Calibri" pitchFamily="34" charset="0"/>
                <a:ea typeface="Calibri" pitchFamily="34" charset="-122"/>
                <a:cs typeface="Calibri" pitchFamily="34" charset="-120"/>
              </a:rPr>
              <a:t>the original OpenAPI gate was silently vacuous: git diff --exit-code returns 0 for an untracked file, so on a fresh clone it passed without checking anything at all. It is now git status --porcelain, which catches untracked and drifted alike.</a:t>
            </a:r>
            <a:endParaRPr lang="en-US" sz="1100" dirty="0"/>
          </a:p>
        </p:txBody>
      </p:sp>
      <p:sp>
        <p:nvSpPr>
          <p:cNvPr id="8" name="Shape 6"/>
          <p:cNvSpPr/>
          <p:nvPr/>
        </p:nvSpPr>
        <p:spPr>
          <a:xfrm>
            <a:off x="566928" y="2523744"/>
            <a:ext cx="3538728" cy="3493008"/>
          </a:xfrm>
          <a:prstGeom prst="roundRect">
            <a:avLst>
              <a:gd name="adj" fmla="val 1571"/>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9" name="Text 7"/>
          <p:cNvSpPr/>
          <p:nvPr/>
        </p:nvSpPr>
        <p:spPr>
          <a:xfrm>
            <a:off x="804672" y="2688336"/>
            <a:ext cx="3063240" cy="256032"/>
          </a:xfrm>
          <a:prstGeom prst="rect">
            <a:avLst/>
          </a:prstGeom>
          <a:noFill/>
          <a:ln/>
        </p:spPr>
        <p:txBody>
          <a:bodyPr wrap="square" lIns="0" tIns="0" rIns="0" bIns="0" rtlCol="0" anchor="t"/>
          <a:lstStyle/>
          <a:p>
            <a:pPr marL="0" indent="0">
              <a:buNone/>
            </a:pPr>
            <a:r>
              <a:rPr lang="en-US" sz="1100" b="1" kern="0" spc="120" dirty="0">
                <a:solidFill>
                  <a:srgbClr val="0969DA"/>
                </a:solidFill>
                <a:latin typeface="Calibri" pitchFamily="34" charset="0"/>
                <a:ea typeface="Calibri" pitchFamily="34" charset="-122"/>
                <a:cs typeface="Calibri" pitchFamily="34" charset="-120"/>
              </a:rPr>
              <a:t>THE PROMPT</a:t>
            </a:r>
            <a:endParaRPr lang="en-US" sz="1100" dirty="0"/>
          </a:p>
        </p:txBody>
      </p:sp>
      <p:sp>
        <p:nvSpPr>
          <p:cNvPr id="10" name="Text 8"/>
          <p:cNvSpPr/>
          <p:nvPr/>
        </p:nvSpPr>
        <p:spPr>
          <a:xfrm>
            <a:off x="804672" y="2962656"/>
            <a:ext cx="3063240" cy="310896"/>
          </a:xfrm>
          <a:prstGeom prst="rect">
            <a:avLst/>
          </a:prstGeom>
          <a:noFill/>
          <a:ln/>
        </p:spPr>
        <p:txBody>
          <a:bodyPr wrap="square" lIns="0" tIns="0" rIns="0" bIns="0" rtlCol="0" anchor="t"/>
          <a:lstStyle/>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paste into the desktop app  ·  459 lines</a:t>
            </a:r>
            <a:endParaRPr lang="en-US" sz="800" dirty="0"/>
          </a:p>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prompts/weather-api.PROMPT.md</a:t>
            </a:r>
            <a:endParaRPr lang="en-US" sz="800" dirty="0"/>
          </a:p>
        </p:txBody>
      </p:sp>
      <p:sp>
        <p:nvSpPr>
          <p:cNvPr id="11" name="Text 9"/>
          <p:cNvSpPr/>
          <p:nvPr/>
        </p:nvSpPr>
        <p:spPr>
          <a:xfrm>
            <a:off x="804672" y="3364992"/>
            <a:ext cx="3063240" cy="2450592"/>
          </a:xfrm>
          <a:prstGeom prst="rect">
            <a:avLst/>
          </a:prstGeom>
          <a:noFill/>
          <a:ln/>
        </p:spPr>
        <p:txBody>
          <a:bodyPr wrap="square" lIns="0" tIns="0" rIns="0" bIns="0" rtlCol="0" anchor="t"/>
          <a:lstStyle/>
          <a:p>
            <a:pPr marL="0" indent="0">
              <a:lnSpc>
                <a:spcPts val="1400"/>
              </a:lnSpc>
              <a:spcAft>
                <a:spcPts val="700"/>
              </a:spcAft>
              <a:buNone/>
            </a:pPr>
            <a:r>
              <a:rPr lang="en-US" sz="1050" b="1" dirty="0">
                <a:solidFill>
                  <a:srgbClr val="15181D"/>
                </a:solidFill>
                <a:latin typeface="Calibri" pitchFamily="34" charset="0"/>
                <a:ea typeface="Calibri" pitchFamily="34" charset="-122"/>
                <a:cs typeface="Calibri" pitchFamily="34" charset="-120"/>
              </a:rPr>
              <a:t>"Build a production-ready .NET 10 weather backend that runs the moment it is cloned."</a:t>
            </a:r>
            <a:endParaRPr lang="en-US" sz="1050" dirty="0"/>
          </a:p>
          <a:p>
            <a:pPr marL="0" indent="0">
              <a:lnSpc>
                <a:spcPts val="1400"/>
              </a:lnSpc>
              <a:spcAft>
                <a:spcPts val="700"/>
              </a:spcAft>
              <a:buNone/>
            </a:pPr>
            <a:r>
              <a:rPr lang="en-US" sz="1050" dirty="0">
                <a:solidFill>
                  <a:srgbClr val="2B3138"/>
                </a:solidFill>
                <a:latin typeface="Calibri" pitchFamily="34" charset="0"/>
                <a:ea typeface="Calibri" pitchFamily="34" charset="-122"/>
                <a:cs typeface="Calibri" pitchFamily="34" charset="-120"/>
              </a:rPr>
              <a:t>Acceptance is split in two: Block A runs with the network cable unplugged, Block B runs online against Open-Meteo.</a:t>
            </a:r>
            <a:endParaRPr lang="en-US" sz="1050" dirty="0"/>
          </a:p>
          <a:p>
            <a:pPr marL="0" indent="0">
              <a:lnSpc>
                <a:spcPts val="1400"/>
              </a:lnSpc>
              <a:spcAft>
                <a:spcPts val="700"/>
              </a:spcAft>
              <a:buNone/>
            </a:pPr>
            <a:r>
              <a:rPr lang="en-US" sz="1050" dirty="0">
                <a:solidFill>
                  <a:srgbClr val="2B3138"/>
                </a:solidFill>
                <a:latin typeface="Calibri" pitchFamily="34" charset="0"/>
                <a:ea typeface="Calibri" pitchFamily="34" charset="-122"/>
                <a:cs typeface="Calibri" pitchFamily="34" charset="-120"/>
              </a:rPr>
              <a:t>That split is deliberate — a developer behind a corporate proxy can still tell whether the build is broken or just the network.</a:t>
            </a:r>
            <a:endParaRPr lang="en-US" sz="1050" dirty="0"/>
          </a:p>
        </p:txBody>
      </p:sp>
      <p:sp>
        <p:nvSpPr>
          <p:cNvPr id="12" name="Shape 10"/>
          <p:cNvSpPr/>
          <p:nvPr/>
        </p:nvSpPr>
        <p:spPr>
          <a:xfrm>
            <a:off x="4325112" y="2523744"/>
            <a:ext cx="3538728" cy="3493008"/>
          </a:xfrm>
          <a:prstGeom prst="roundRect">
            <a:avLst>
              <a:gd name="adj" fmla="val 1571"/>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13" name="Text 11"/>
          <p:cNvSpPr/>
          <p:nvPr/>
        </p:nvSpPr>
        <p:spPr>
          <a:xfrm>
            <a:off x="4562856" y="2688336"/>
            <a:ext cx="3063240" cy="256032"/>
          </a:xfrm>
          <a:prstGeom prst="rect">
            <a:avLst/>
          </a:prstGeom>
          <a:noFill/>
          <a:ln/>
        </p:spPr>
        <p:txBody>
          <a:bodyPr wrap="square" lIns="0" tIns="0" rIns="0" bIns="0" rtlCol="0" anchor="t"/>
          <a:lstStyle/>
          <a:p>
            <a:pPr marL="0" indent="0">
              <a:buNone/>
            </a:pPr>
            <a:r>
              <a:rPr lang="en-US" sz="1100" b="1" kern="0" spc="120" dirty="0">
                <a:solidFill>
                  <a:srgbClr val="C2410C"/>
                </a:solidFill>
                <a:latin typeface="Calibri" pitchFamily="34" charset="0"/>
                <a:ea typeface="Calibri" pitchFamily="34" charset="-122"/>
                <a:cs typeface="Calibri" pitchFamily="34" charset="-120"/>
              </a:rPr>
              <a:t>THE SKILL</a:t>
            </a:r>
            <a:endParaRPr lang="en-US" sz="1100" dirty="0"/>
          </a:p>
        </p:txBody>
      </p:sp>
      <p:sp>
        <p:nvSpPr>
          <p:cNvPr id="14" name="Text 12"/>
          <p:cNvSpPr/>
          <p:nvPr/>
        </p:nvSpPr>
        <p:spPr>
          <a:xfrm>
            <a:off x="4562856" y="2962656"/>
            <a:ext cx="3063240" cy="310896"/>
          </a:xfrm>
          <a:prstGeom prst="rect">
            <a:avLst/>
          </a:prstGeom>
          <a:noFill/>
          <a:ln/>
        </p:spPr>
        <p:txBody>
          <a:bodyPr wrap="square" lIns="0" tIns="0" rIns="0" bIns="0" rtlCol="0" anchor="t"/>
          <a:lstStyle/>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read every run  ·  125 lines</a:t>
            </a:r>
            <a:endParaRPr lang="en-US" sz="800" dirty="0"/>
          </a:p>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.claude/skills/weather-api/SKILL.md</a:t>
            </a:r>
            <a:endParaRPr lang="en-US" sz="800" dirty="0"/>
          </a:p>
        </p:txBody>
      </p:sp>
      <p:sp>
        <p:nvSpPr>
          <p:cNvPr id="15" name="Text 13"/>
          <p:cNvSpPr/>
          <p:nvPr/>
        </p:nvSpPr>
        <p:spPr>
          <a:xfrm>
            <a:off x="4562856" y="3364992"/>
            <a:ext cx="3063240" cy="2450592"/>
          </a:xfrm>
          <a:prstGeom prst="rect">
            <a:avLst/>
          </a:prstGeom>
          <a:noFill/>
          <a:ln/>
        </p:spPr>
        <p:txBody>
          <a:bodyPr wrap="square" lIns="0" tIns="0" rIns="0" bIns="0" rtlCol="0" anchor="t"/>
          <a:lstStyle/>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Named methods, never lambdas: XML doc comments are not captured from lambdas, so OpenAPI summaries come out empty.</a:t>
            </a:r>
            <a:endParaRPr lang="en-US" sz="1050" dirty="0"/>
          </a:p>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CancellationToken through every layer, no exceptions.</a:t>
            </a:r>
            <a:endParaRPr lang="en-US" sz="1050" dirty="0"/>
          </a:p>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ProblemDetails (RFC 9457) is the only error shape.</a:t>
            </a:r>
            <a:endParaRPr lang="en-US" sz="1050" dirty="0"/>
          </a:p>
          <a:p>
            <a:pPr marL="177800" indent="-177800">
              <a:lnSpc>
                <a:spcPts val="1386"/>
              </a:lnSpc>
              <a:spcAft>
                <a:spcPts val="700"/>
              </a:spcAft>
              <a:buSzPct val="100000"/>
              <a:buChar char="•"/>
            </a:pPr>
            <a:r>
              <a:rPr lang="en-US" sz="1050" dirty="0">
                <a:solidFill>
                  <a:srgbClr val="2B3138"/>
                </a:solidFill>
                <a:latin typeface="Calibri" pitchFamily="34" charset="0"/>
                <a:ea typeface="Calibri" pitchFamily="34" charset="-122"/>
                <a:cs typeface="Calibri" pitchFamily="34" charset="-120"/>
              </a:rPr>
              <a:t>Tests never touch the network — stub the provider.</a:t>
            </a:r>
            <a:endParaRPr lang="en-US" sz="1050" dirty="0"/>
          </a:p>
        </p:txBody>
      </p:sp>
      <p:sp>
        <p:nvSpPr>
          <p:cNvPr id="16" name="Shape 14"/>
          <p:cNvSpPr/>
          <p:nvPr/>
        </p:nvSpPr>
        <p:spPr>
          <a:xfrm>
            <a:off x="8083296" y="2523744"/>
            <a:ext cx="3538728" cy="3493008"/>
          </a:xfrm>
          <a:prstGeom prst="roundRect">
            <a:avLst>
              <a:gd name="adj" fmla="val 1571"/>
            </a:avLst>
          </a:prstGeom>
          <a:solidFill>
            <a:srgbClr val="EAF6ED"/>
          </a:solidFill>
          <a:ln w="9525">
            <a:solidFill>
              <a:srgbClr val="D8DEE4"/>
            </a:solidFill>
            <a:prstDash val="solid"/>
          </a:ln>
          <a:effectLst>
            <a:outerShdw blurRad="177800" dist="38100" dir="5400000" algn="bl" rotWithShape="0">
              <a:srgbClr val="8C959F">
                <a:alpha val="16000"/>
              </a:srgbClr>
            </a:outerShdw>
          </a:effectLst>
        </p:spPr>
      </p:sp>
      <p:sp>
        <p:nvSpPr>
          <p:cNvPr id="17" name="Text 15"/>
          <p:cNvSpPr/>
          <p:nvPr/>
        </p:nvSpPr>
        <p:spPr>
          <a:xfrm>
            <a:off x="8321040" y="2688336"/>
            <a:ext cx="3063240" cy="256032"/>
          </a:xfrm>
          <a:prstGeom prst="rect">
            <a:avLst/>
          </a:prstGeom>
          <a:noFill/>
          <a:ln/>
        </p:spPr>
        <p:txBody>
          <a:bodyPr wrap="square" lIns="0" tIns="0" rIns="0" bIns="0" rtlCol="0" anchor="t"/>
          <a:lstStyle/>
          <a:p>
            <a:pPr marL="0" indent="0">
              <a:buNone/>
            </a:pPr>
            <a:r>
              <a:rPr lang="en-US" sz="1100" b="1" kern="0" spc="120" dirty="0">
                <a:solidFill>
                  <a:srgbClr val="1A7F37"/>
                </a:solidFill>
                <a:latin typeface="Calibri" pitchFamily="34" charset="0"/>
                <a:ea typeface="Calibri" pitchFamily="34" charset="-122"/>
                <a:cs typeface="Calibri" pitchFamily="34" charset="-120"/>
              </a:rPr>
              <a:t>ACCEPTANCE CRITERIA</a:t>
            </a:r>
            <a:endParaRPr lang="en-US" sz="1100" dirty="0"/>
          </a:p>
        </p:txBody>
      </p:sp>
      <p:sp>
        <p:nvSpPr>
          <p:cNvPr id="18" name="Text 16"/>
          <p:cNvSpPr/>
          <p:nvPr/>
        </p:nvSpPr>
        <p:spPr>
          <a:xfrm>
            <a:off x="8321040" y="2962656"/>
            <a:ext cx="3063240" cy="310896"/>
          </a:xfrm>
          <a:prstGeom prst="rect">
            <a:avLst/>
          </a:prstGeom>
          <a:noFill/>
          <a:ln/>
        </p:spPr>
        <p:txBody>
          <a:bodyPr wrap="square" lIns="0" tIns="0" rIns="0" bIns="0" rtlCol="0" anchor="t"/>
          <a:lstStyle/>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the agent is not finished</a:t>
            </a:r>
            <a:endParaRPr lang="en-US" sz="800" dirty="0"/>
          </a:p>
          <a:p>
            <a:pPr marL="0" indent="0">
              <a:lnSpc>
                <a:spcPts val="1050"/>
              </a:lnSpc>
              <a:buNone/>
            </a:pPr>
            <a:r>
              <a:rPr lang="en-US" sz="800" dirty="0">
                <a:solidFill>
                  <a:srgbClr val="6E7781"/>
                </a:solidFill>
                <a:latin typeface="Courier New" pitchFamily="34" charset="0"/>
                <a:ea typeface="Courier New" pitchFamily="34" charset="-122"/>
                <a:cs typeface="Courier New" pitchFamily="34" charset="-120"/>
              </a:rPr>
              <a:t>until all four of these pass</a:t>
            </a:r>
            <a:endParaRPr lang="en-US" sz="800" dirty="0"/>
          </a:p>
        </p:txBody>
      </p:sp>
      <p:sp>
        <p:nvSpPr>
          <p:cNvPr id="19" name="Shape 17"/>
          <p:cNvSpPr/>
          <p:nvPr/>
        </p:nvSpPr>
        <p:spPr>
          <a:xfrm>
            <a:off x="8321040" y="3419856"/>
            <a:ext cx="201168" cy="201168"/>
          </a:xfrm>
          <a:prstGeom prst="ellipse">
            <a:avLst/>
          </a:prstGeom>
          <a:solidFill>
            <a:srgbClr val="FFFFFF"/>
          </a:solidFill>
          <a:ln w="12700">
            <a:solidFill>
              <a:srgbClr val="1A7F37"/>
            </a:solidFill>
            <a:prstDash val="solid"/>
          </a:ln>
        </p:spPr>
      </p:sp>
      <p:sp>
        <p:nvSpPr>
          <p:cNvPr id="20" name="Text 18"/>
          <p:cNvSpPr/>
          <p:nvPr/>
        </p:nvSpPr>
        <p:spPr>
          <a:xfrm>
            <a:off x="8321040" y="3419856"/>
            <a:ext cx="201168" cy="201168"/>
          </a:xfrm>
          <a:prstGeom prst="rect">
            <a:avLst/>
          </a:prstGeom>
          <a:noFill/>
          <a:ln/>
        </p:spPr>
        <p:txBody>
          <a:bodyPr wrap="square" lIns="0" tIns="0" rIns="0" bIns="0" rtlCol="0" anchor="ctr"/>
          <a:lstStyle/>
          <a:p>
            <a:pPr marL="0" indent="0" algn="ctr">
              <a:buNone/>
            </a:pPr>
            <a:r>
              <a:rPr lang="en-US" sz="850" b="1" dirty="0">
                <a:solidFill>
                  <a:srgbClr val="1A7F37"/>
                </a:solidFill>
                <a:latin typeface="Calibri" pitchFamily="34" charset="0"/>
                <a:ea typeface="Calibri" pitchFamily="34" charset="-122"/>
                <a:cs typeface="Calibri" pitchFamily="34" charset="-120"/>
              </a:rPr>
              <a:t>✓</a:t>
            </a:r>
            <a:endParaRPr lang="en-US" sz="850" dirty="0"/>
          </a:p>
        </p:txBody>
      </p:sp>
      <p:sp>
        <p:nvSpPr>
          <p:cNvPr id="21" name="Text 19"/>
          <p:cNvSpPr/>
          <p:nvPr/>
        </p:nvSpPr>
        <p:spPr>
          <a:xfrm>
            <a:off x="8613648" y="3383280"/>
            <a:ext cx="2770632" cy="640080"/>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OFFLINE: format, build -warnaserror and test all exit 0, no network</a:t>
            </a:r>
            <a:endParaRPr lang="en-US" sz="1050" dirty="0"/>
          </a:p>
        </p:txBody>
      </p:sp>
      <p:sp>
        <p:nvSpPr>
          <p:cNvPr id="22" name="Shape 20"/>
          <p:cNvSpPr/>
          <p:nvPr/>
        </p:nvSpPr>
        <p:spPr>
          <a:xfrm>
            <a:off x="8321040" y="4059936"/>
            <a:ext cx="201168" cy="201168"/>
          </a:xfrm>
          <a:prstGeom prst="ellipse">
            <a:avLst/>
          </a:prstGeom>
          <a:solidFill>
            <a:srgbClr val="FFFFFF"/>
          </a:solidFill>
          <a:ln w="12700">
            <a:solidFill>
              <a:srgbClr val="1A7F37"/>
            </a:solidFill>
            <a:prstDash val="solid"/>
          </a:ln>
        </p:spPr>
      </p:sp>
      <p:sp>
        <p:nvSpPr>
          <p:cNvPr id="23" name="Text 21"/>
          <p:cNvSpPr/>
          <p:nvPr/>
        </p:nvSpPr>
        <p:spPr>
          <a:xfrm>
            <a:off x="8321040" y="4059936"/>
            <a:ext cx="201168" cy="201168"/>
          </a:xfrm>
          <a:prstGeom prst="rect">
            <a:avLst/>
          </a:prstGeom>
          <a:noFill/>
          <a:ln/>
        </p:spPr>
        <p:txBody>
          <a:bodyPr wrap="square" lIns="0" tIns="0" rIns="0" bIns="0" rtlCol="0" anchor="ctr"/>
          <a:lstStyle/>
          <a:p>
            <a:pPr marL="0" indent="0" algn="ctr">
              <a:buNone/>
            </a:pPr>
            <a:r>
              <a:rPr lang="en-US" sz="850" b="1" dirty="0">
                <a:solidFill>
                  <a:srgbClr val="1A7F37"/>
                </a:solidFill>
                <a:latin typeface="Calibri" pitchFamily="34" charset="0"/>
                <a:ea typeface="Calibri" pitchFamily="34" charset="-122"/>
                <a:cs typeface="Calibri" pitchFamily="34" charset="-120"/>
              </a:rPr>
              <a:t>✓</a:t>
            </a:r>
            <a:endParaRPr lang="en-US" sz="850" dirty="0"/>
          </a:p>
        </p:txBody>
      </p:sp>
      <p:sp>
        <p:nvSpPr>
          <p:cNvPr id="24" name="Text 22"/>
          <p:cNvSpPr/>
          <p:nvPr/>
        </p:nvSpPr>
        <p:spPr>
          <a:xfrm>
            <a:off x="8613648" y="4023360"/>
            <a:ext cx="2770632" cy="640080"/>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OFFLINE: the committed OpenAPI doc neither drifts nor is untracked</a:t>
            </a:r>
            <a:endParaRPr lang="en-US" sz="1050" dirty="0"/>
          </a:p>
        </p:txBody>
      </p:sp>
      <p:sp>
        <p:nvSpPr>
          <p:cNvPr id="25" name="Shape 23"/>
          <p:cNvSpPr/>
          <p:nvPr/>
        </p:nvSpPr>
        <p:spPr>
          <a:xfrm>
            <a:off x="8321040" y="4700016"/>
            <a:ext cx="201168" cy="201168"/>
          </a:xfrm>
          <a:prstGeom prst="ellipse">
            <a:avLst/>
          </a:prstGeom>
          <a:solidFill>
            <a:srgbClr val="FFFFFF"/>
          </a:solidFill>
          <a:ln w="12700">
            <a:solidFill>
              <a:srgbClr val="1A7F37"/>
            </a:solidFill>
            <a:prstDash val="solid"/>
          </a:ln>
        </p:spPr>
      </p:sp>
      <p:sp>
        <p:nvSpPr>
          <p:cNvPr id="26" name="Text 24"/>
          <p:cNvSpPr/>
          <p:nvPr/>
        </p:nvSpPr>
        <p:spPr>
          <a:xfrm>
            <a:off x="8321040" y="4700016"/>
            <a:ext cx="201168" cy="201168"/>
          </a:xfrm>
          <a:prstGeom prst="rect">
            <a:avLst/>
          </a:prstGeom>
          <a:noFill/>
          <a:ln/>
        </p:spPr>
        <p:txBody>
          <a:bodyPr wrap="square" lIns="0" tIns="0" rIns="0" bIns="0" rtlCol="0" anchor="ctr"/>
          <a:lstStyle/>
          <a:p>
            <a:pPr marL="0" indent="0" algn="ctr">
              <a:buNone/>
            </a:pPr>
            <a:r>
              <a:rPr lang="en-US" sz="850" b="1" dirty="0">
                <a:solidFill>
                  <a:srgbClr val="1A7F37"/>
                </a:solidFill>
                <a:latin typeface="Calibri" pitchFamily="34" charset="0"/>
                <a:ea typeface="Calibri" pitchFamily="34" charset="-122"/>
                <a:cs typeface="Calibri" pitchFamily="34" charset="-120"/>
              </a:rPr>
              <a:t>✓</a:t>
            </a:r>
            <a:endParaRPr lang="en-US" sz="850" dirty="0"/>
          </a:p>
        </p:txBody>
      </p:sp>
      <p:sp>
        <p:nvSpPr>
          <p:cNvPr id="27" name="Text 25"/>
          <p:cNvSpPr/>
          <p:nvPr/>
        </p:nvSpPr>
        <p:spPr>
          <a:xfrm>
            <a:off x="8613648" y="4663440"/>
            <a:ext cx="2770632" cy="640080"/>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ONLINE: /forecast?city=Kyiv returns 200 with a 7-day payload</a:t>
            </a:r>
            <a:endParaRPr lang="en-US" sz="1050" dirty="0"/>
          </a:p>
        </p:txBody>
      </p:sp>
      <p:sp>
        <p:nvSpPr>
          <p:cNvPr id="28" name="Shape 26"/>
          <p:cNvSpPr/>
          <p:nvPr/>
        </p:nvSpPr>
        <p:spPr>
          <a:xfrm>
            <a:off x="8321040" y="5340096"/>
            <a:ext cx="201168" cy="201168"/>
          </a:xfrm>
          <a:prstGeom prst="ellipse">
            <a:avLst/>
          </a:prstGeom>
          <a:solidFill>
            <a:srgbClr val="FFFFFF"/>
          </a:solidFill>
          <a:ln w="12700">
            <a:solidFill>
              <a:srgbClr val="1A7F37"/>
            </a:solidFill>
            <a:prstDash val="solid"/>
          </a:ln>
        </p:spPr>
      </p:sp>
      <p:sp>
        <p:nvSpPr>
          <p:cNvPr id="29" name="Text 27"/>
          <p:cNvSpPr/>
          <p:nvPr/>
        </p:nvSpPr>
        <p:spPr>
          <a:xfrm>
            <a:off x="8321040" y="5340096"/>
            <a:ext cx="201168" cy="201168"/>
          </a:xfrm>
          <a:prstGeom prst="rect">
            <a:avLst/>
          </a:prstGeom>
          <a:noFill/>
          <a:ln/>
        </p:spPr>
        <p:txBody>
          <a:bodyPr wrap="square" lIns="0" tIns="0" rIns="0" bIns="0" rtlCol="0" anchor="ctr"/>
          <a:lstStyle/>
          <a:p>
            <a:pPr marL="0" indent="0" algn="ctr">
              <a:buNone/>
            </a:pPr>
            <a:r>
              <a:rPr lang="en-US" sz="850" b="1" dirty="0">
                <a:solidFill>
                  <a:srgbClr val="1A7F37"/>
                </a:solidFill>
                <a:latin typeface="Calibri" pitchFamily="34" charset="0"/>
                <a:ea typeface="Calibri" pitchFamily="34" charset="-122"/>
                <a:cs typeface="Calibri" pitchFamily="34" charset="-120"/>
              </a:rPr>
              <a:t>✓</a:t>
            </a:r>
            <a:endParaRPr lang="en-US" sz="850" dirty="0"/>
          </a:p>
        </p:txBody>
      </p:sp>
      <p:sp>
        <p:nvSpPr>
          <p:cNvPr id="30" name="Text 28"/>
          <p:cNvSpPr/>
          <p:nvPr/>
        </p:nvSpPr>
        <p:spPr>
          <a:xfrm>
            <a:off x="8613648" y="5303520"/>
            <a:ext cx="2770632" cy="640080"/>
          </a:xfrm>
          <a:prstGeom prst="rect">
            <a:avLst/>
          </a:prstGeom>
          <a:noFill/>
          <a:ln/>
        </p:spPr>
        <p:txBody>
          <a:bodyPr wrap="square" lIns="0" tIns="0" rIns="0" bIns="0" rtlCol="0" anchor="t"/>
          <a:lstStyle/>
          <a:p>
            <a:pPr marL="0" indent="0">
              <a:lnSpc>
                <a:spcPts val="1350"/>
              </a:lnSpc>
              <a:buNone/>
            </a:pPr>
            <a:r>
              <a:rPr lang="en-US" sz="1050" dirty="0">
                <a:solidFill>
                  <a:srgbClr val="2B3138"/>
                </a:solidFill>
                <a:latin typeface="Calibri" pitchFamily="34" charset="0"/>
                <a:ea typeface="Calibri" pitchFamily="34" charset="-122"/>
                <a:cs typeface="Calibri" pitchFamily="34" charset="-120"/>
              </a:rPr>
              <a:t>ONLINE: bad coordinates return 400 as application/problem+json</a:t>
            </a:r>
            <a:endParaRPr lang="en-US" sz="1050" dirty="0"/>
          </a:p>
        </p:txBody>
      </p:sp>
      <p:sp>
        <p:nvSpPr>
          <p:cNvPr id="31"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anim calcmode="lin" valueType="num">
                                      <p:cBhvr additive="base">
                                        <p:cTn id="8" dur="420" fill="hold"/>
                                        <p:tgtEl>
                                          <p:spTgt spid="7"/>
                                        </p:tgtEl>
                                        <p:attrNameLst>
                                          <p:attrName>ppt_y</p:attrName>
                                        </p:attrNameLst>
                                      </p:cBhvr>
                                      <p:tavLst>
                                        <p:tav tm="0">
                                          <p:val>
                                            <p:strVal val="#ppt_y+0.035"/>
                                          </p:val>
                                        </p:tav>
                                        <p:tav tm="100000">
                                          <p:val>
                                            <p:strVal val="#ppt_y"/>
                                          </p:val>
                                        </p:tav>
                                      </p:tavLst>
                                    </p:anim>
                                    <p:set>
                                      <p:cBhvr>
                                        <p:cTn id="9" dur="1" fill="hold">
                                          <p:stCondLst>
                                            <p:cond delay="0"/>
                                          </p:stCondLst>
                                        </p:cTn>
                                        <p:tgtEl>
                                          <p:spTgt spid="8"/>
                                        </p:tgtEl>
                                        <p:attrNameLst>
                                          <p:attrName>style.visibility</p:attrName>
                                        </p:attrNameLst>
                                      </p:cBhvr>
                                      <p:to>
                                        <p:strVal val="visible"/>
                                      </p:to>
                                    </p:set>
                                    <p:animEffect transition="in" filter="fade">
                                      <p:cBhvr>
                                        <p:cTn id="10" dur="420"/>
                                        <p:tgtEl>
                                          <p:spTgt spid="8"/>
                                        </p:tgtEl>
                                      </p:cBhvr>
                                    </p:animEffect>
                                    <p:anim calcmode="lin" valueType="num">
                                      <p:cBhvr additive="base">
                                        <p:cTn id="11" dur="420" fill="hold"/>
                                        <p:tgtEl>
                                          <p:spTgt spid="8"/>
                                        </p:tgtEl>
                                        <p:attrNameLst>
                                          <p:attrName>ppt_y</p:attrName>
                                        </p:attrNameLst>
                                      </p:cBhvr>
                                      <p:tavLst>
                                        <p:tav tm="0">
                                          <p:val>
                                            <p:strVal val="#ppt_y+0.035"/>
                                          </p:val>
                                        </p:tav>
                                        <p:tav tm="100000">
                                          <p:val>
                                            <p:strVal val="#ppt_y"/>
                                          </p:val>
                                        </p:tav>
                                      </p:tavLst>
                                    </p:anim>
                                    <p:set>
                                      <p:cBhvr>
                                        <p:cTn id="12" dur="1" fill="hold">
                                          <p:stCondLst>
                                            <p:cond delay="0"/>
                                          </p:stCondLst>
                                        </p:cTn>
                                        <p:tgtEl>
                                          <p:spTgt spid="12"/>
                                        </p:tgtEl>
                                        <p:attrNameLst>
                                          <p:attrName>style.visibility</p:attrName>
                                        </p:attrNameLst>
                                      </p:cBhvr>
                                      <p:to>
                                        <p:strVal val="visible"/>
                                      </p:to>
                                    </p:set>
                                    <p:animEffect transition="in" filter="fade">
                                      <p:cBhvr>
                                        <p:cTn id="13" dur="420"/>
                                        <p:tgtEl>
                                          <p:spTgt spid="12"/>
                                        </p:tgtEl>
                                      </p:cBhvr>
                                    </p:animEffect>
                                    <p:anim calcmode="lin" valueType="num">
                                      <p:cBhvr additive="base">
                                        <p:cTn id="14" dur="420" fill="hold"/>
                                        <p:tgtEl>
                                          <p:spTgt spid="12"/>
                                        </p:tgtEl>
                                        <p:attrNameLst>
                                          <p:attrName>ppt_y</p:attrName>
                                        </p:attrNameLst>
                                      </p:cBhvr>
                                      <p:tavLst>
                                        <p:tav tm="0">
                                          <p:val>
                                            <p:strVal val="#ppt_y+0.035"/>
                                          </p:val>
                                        </p:tav>
                                        <p:tav tm="100000">
                                          <p:val>
                                            <p:strVal val="#ppt_y"/>
                                          </p:val>
                                        </p:tav>
                                      </p:tavLst>
                                    </p:anim>
                                    <p:set>
                                      <p:cBhvr>
                                        <p:cTn id="15" dur="1" fill="hold">
                                          <p:stCondLst>
                                            <p:cond delay="0"/>
                                          </p:stCondLst>
                                        </p:cTn>
                                        <p:tgtEl>
                                          <p:spTgt spid="16"/>
                                        </p:tgtEl>
                                        <p:attrNameLst>
                                          <p:attrName>style.visibility</p:attrName>
                                        </p:attrNameLst>
                                      </p:cBhvr>
                                      <p:to>
                                        <p:strVal val="visible"/>
                                      </p:to>
                                    </p:set>
                                    <p:animEffect transition="in" filter="fade">
                                      <p:cBhvr>
                                        <p:cTn id="16" dur="420"/>
                                        <p:tgtEl>
                                          <p:spTgt spid="16"/>
                                        </p:tgtEl>
                                      </p:cBhvr>
                                    </p:animEffect>
                                    <p:anim calcmode="lin" valueType="num">
                                      <p:cBhvr additive="base">
                                        <p:cTn id="17" dur="420" fill="hold"/>
                                        <p:tgtEl>
                                          <p:spTgt spid="16"/>
                                        </p:tgtEl>
                                        <p:attrNameLst>
                                          <p:attrName>ppt_y</p:attrName>
                                        </p:attrNameLst>
                                      </p:cBhvr>
                                      <p:tavLst>
                                        <p:tav tm="0">
                                          <p:val>
                                            <p:strVal val="#ppt_y+0.035"/>
                                          </p:val>
                                        </p:tav>
                                        <p:tav tm="100000">
                                          <p:val>
                                            <p:strVal val="#ppt_y"/>
                                          </p:val>
                                        </p:tav>
                                      </p:tavLst>
                                    </p:anim>
                                    <p:set>
                                      <p:cBhvr>
                                        <p:cTn id="18" dur="1" fill="hold">
                                          <p:stCondLst>
                                            <p:cond delay="0"/>
                                          </p:stCondLst>
                                        </p:cTn>
                                        <p:tgtEl>
                                          <p:spTgt spid="9"/>
                                        </p:tgtEl>
                                        <p:attrNameLst>
                                          <p:attrName>style.visibility</p:attrName>
                                        </p:attrNameLst>
                                      </p:cBhvr>
                                      <p:to>
                                        <p:strVal val="visible"/>
                                      </p:to>
                                    </p:set>
                                    <p:animEffect transition="in" filter="fade">
                                      <p:cBhvr>
                                        <p:cTn id="19" dur="420"/>
                                        <p:tgtEl>
                                          <p:spTgt spid="9"/>
                                        </p:tgtEl>
                                      </p:cBhvr>
                                    </p:animEffect>
                                    <p:anim calcmode="lin" valueType="num">
                                      <p:cBhvr additive="base">
                                        <p:cTn id="20" dur="420" fill="hold"/>
                                        <p:tgtEl>
                                          <p:spTgt spid="9"/>
                                        </p:tgtEl>
                                        <p:attrNameLst>
                                          <p:attrName>ppt_y</p:attrName>
                                        </p:attrNameLst>
                                      </p:cBhvr>
                                      <p:tavLst>
                                        <p:tav tm="0">
                                          <p:val>
                                            <p:strVal val="#ppt_y+0.035"/>
                                          </p:val>
                                        </p:tav>
                                        <p:tav tm="100000">
                                          <p:val>
                                            <p:strVal val="#ppt_y"/>
                                          </p:val>
                                        </p:tav>
                                      </p:tavLst>
                                    </p:anim>
                                    <p:set>
                                      <p:cBhvr>
                                        <p:cTn id="21" dur="1" fill="hold">
                                          <p:stCondLst>
                                            <p:cond delay="0"/>
                                          </p:stCondLst>
                                        </p:cTn>
                                        <p:tgtEl>
                                          <p:spTgt spid="13"/>
                                        </p:tgtEl>
                                        <p:attrNameLst>
                                          <p:attrName>style.visibility</p:attrName>
                                        </p:attrNameLst>
                                      </p:cBhvr>
                                      <p:to>
                                        <p:strVal val="visible"/>
                                      </p:to>
                                    </p:set>
                                    <p:animEffect transition="in" filter="fade">
                                      <p:cBhvr>
                                        <p:cTn id="22" dur="420"/>
                                        <p:tgtEl>
                                          <p:spTgt spid="13"/>
                                        </p:tgtEl>
                                      </p:cBhvr>
                                    </p:animEffect>
                                    <p:anim calcmode="lin" valueType="num">
                                      <p:cBhvr additive="base">
                                        <p:cTn id="23" dur="420" fill="hold"/>
                                        <p:tgtEl>
                                          <p:spTgt spid="13"/>
                                        </p:tgtEl>
                                        <p:attrNameLst>
                                          <p:attrName>ppt_y</p:attrName>
                                        </p:attrNameLst>
                                      </p:cBhvr>
                                      <p:tavLst>
                                        <p:tav tm="0">
                                          <p:val>
                                            <p:strVal val="#ppt_y+0.035"/>
                                          </p:val>
                                        </p:tav>
                                        <p:tav tm="100000">
                                          <p:val>
                                            <p:strVal val="#ppt_y"/>
                                          </p:val>
                                        </p:tav>
                                      </p:tavLst>
                                    </p:anim>
                                    <p:set>
                                      <p:cBhvr>
                                        <p:cTn id="24" dur="1" fill="hold">
                                          <p:stCondLst>
                                            <p:cond delay="0"/>
                                          </p:stCondLst>
                                        </p:cTn>
                                        <p:tgtEl>
                                          <p:spTgt spid="17"/>
                                        </p:tgtEl>
                                        <p:attrNameLst>
                                          <p:attrName>style.visibility</p:attrName>
                                        </p:attrNameLst>
                                      </p:cBhvr>
                                      <p:to>
                                        <p:strVal val="visible"/>
                                      </p:to>
                                    </p:set>
                                    <p:animEffect transition="in" filter="fade">
                                      <p:cBhvr>
                                        <p:cTn id="25" dur="420"/>
                                        <p:tgtEl>
                                          <p:spTgt spid="17"/>
                                        </p:tgtEl>
                                      </p:cBhvr>
                                    </p:animEffect>
                                    <p:anim calcmode="lin" valueType="num">
                                      <p:cBhvr additive="base">
                                        <p:cTn id="26" dur="420" fill="hold"/>
                                        <p:tgtEl>
                                          <p:spTgt spid="17"/>
                                        </p:tgtEl>
                                        <p:attrNameLst>
                                          <p:attrName>ppt_y</p:attrName>
                                        </p:attrNameLst>
                                      </p:cBhvr>
                                      <p:tavLst>
                                        <p:tav tm="0">
                                          <p:val>
                                            <p:strVal val="#ppt_y+0.035"/>
                                          </p:val>
                                        </p:tav>
                                        <p:tav tm="100000">
                                          <p:val>
                                            <p:strVal val="#ppt_y"/>
                                          </p:val>
                                        </p:tav>
                                      </p:tavLst>
                                    </p:anim>
                                    <p:set>
                                      <p:cBhvr>
                                        <p:cTn id="27" dur="1" fill="hold">
                                          <p:stCondLst>
                                            <p:cond delay="0"/>
                                          </p:stCondLst>
                                        </p:cTn>
                                        <p:tgtEl>
                                          <p:spTgt spid="10"/>
                                        </p:tgtEl>
                                        <p:attrNameLst>
                                          <p:attrName>style.visibility</p:attrName>
                                        </p:attrNameLst>
                                      </p:cBhvr>
                                      <p:to>
                                        <p:strVal val="visible"/>
                                      </p:to>
                                    </p:set>
                                    <p:animEffect transition="in" filter="fade">
                                      <p:cBhvr>
                                        <p:cTn id="28" dur="420"/>
                                        <p:tgtEl>
                                          <p:spTgt spid="10"/>
                                        </p:tgtEl>
                                      </p:cBhvr>
                                    </p:animEffect>
                                    <p:anim calcmode="lin" valueType="num">
                                      <p:cBhvr additive="base">
                                        <p:cTn id="29" dur="420" fill="hold"/>
                                        <p:tgtEl>
                                          <p:spTgt spid="10"/>
                                        </p:tgtEl>
                                        <p:attrNameLst>
                                          <p:attrName>ppt_y</p:attrName>
                                        </p:attrNameLst>
                                      </p:cBhvr>
                                      <p:tavLst>
                                        <p:tav tm="0">
                                          <p:val>
                                            <p:strVal val="#ppt_y+0.035"/>
                                          </p:val>
                                        </p:tav>
                                        <p:tav tm="100000">
                                          <p:val>
                                            <p:strVal val="#ppt_y"/>
                                          </p:val>
                                        </p:tav>
                                      </p:tavLst>
                                    </p:anim>
                                    <p:set>
                                      <p:cBhvr>
                                        <p:cTn id="30" dur="1" fill="hold">
                                          <p:stCondLst>
                                            <p:cond delay="0"/>
                                          </p:stCondLst>
                                        </p:cTn>
                                        <p:tgtEl>
                                          <p:spTgt spid="14"/>
                                        </p:tgtEl>
                                        <p:attrNameLst>
                                          <p:attrName>style.visibility</p:attrName>
                                        </p:attrNameLst>
                                      </p:cBhvr>
                                      <p:to>
                                        <p:strVal val="visible"/>
                                      </p:to>
                                    </p:set>
                                    <p:animEffect transition="in" filter="fade">
                                      <p:cBhvr>
                                        <p:cTn id="31" dur="420"/>
                                        <p:tgtEl>
                                          <p:spTgt spid="14"/>
                                        </p:tgtEl>
                                      </p:cBhvr>
                                    </p:animEffect>
                                    <p:anim calcmode="lin" valueType="num">
                                      <p:cBhvr additive="base">
                                        <p:cTn id="32" dur="420" fill="hold"/>
                                        <p:tgtEl>
                                          <p:spTgt spid="14"/>
                                        </p:tgtEl>
                                        <p:attrNameLst>
                                          <p:attrName>ppt_y</p:attrName>
                                        </p:attrNameLst>
                                      </p:cBhvr>
                                      <p:tavLst>
                                        <p:tav tm="0">
                                          <p:val>
                                            <p:strVal val="#ppt_y+0.035"/>
                                          </p:val>
                                        </p:tav>
                                        <p:tav tm="100000">
                                          <p:val>
                                            <p:strVal val="#ppt_y"/>
                                          </p:val>
                                        </p:tav>
                                      </p:tavLst>
                                    </p:anim>
                                    <p:set>
                                      <p:cBhvr>
                                        <p:cTn id="33"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5" dur="420" fill="hold"/>
                                        <p:tgtEl>
                                          <p:spTgt spid="18"/>
                                        </p:tgtEl>
                                        <p:attrNameLst>
                                          <p:attrName>ppt_y</p:attrName>
                                        </p:attrNameLst>
                                      </p:cBhvr>
                                      <p:tavLst>
                                        <p:tav tm="0">
                                          <p:val>
                                            <p:strVal val="#ppt_y+0.035"/>
                                          </p:val>
                                        </p:tav>
                                        <p:tav tm="100000">
                                          <p:val>
                                            <p:strVal val="#ppt_y"/>
                                          </p:val>
                                        </p:tav>
                                      </p:tavLst>
                                    </p:anim>
                                    <p:set>
                                      <p:cBhvr>
                                        <p:cTn id="36" dur="1" fill="hold">
                                          <p:stCondLst>
                                            <p:cond delay="0"/>
                                          </p:stCondLst>
                                        </p:cTn>
                                        <p:tgtEl>
                                          <p:spTgt spid="11"/>
                                        </p:tgtEl>
                                        <p:attrNameLst>
                                          <p:attrName>style.visibility</p:attrName>
                                        </p:attrNameLst>
                                      </p:cBhvr>
                                      <p:to>
                                        <p:strVal val="visible"/>
                                      </p:to>
                                    </p:set>
                                    <p:animEffect transition="in" filter="fade">
                                      <p:cBhvr>
                                        <p:cTn id="37" dur="420"/>
                                        <p:tgtEl>
                                          <p:spTgt spid="11"/>
                                        </p:tgtEl>
                                      </p:cBhvr>
                                    </p:animEffect>
                                    <p:anim calcmode="lin" valueType="num">
                                      <p:cBhvr additive="base">
                                        <p:cTn id="38" dur="420" fill="hold"/>
                                        <p:tgtEl>
                                          <p:spTgt spid="11"/>
                                        </p:tgtEl>
                                        <p:attrNameLst>
                                          <p:attrName>ppt_y</p:attrName>
                                        </p:attrNameLst>
                                      </p:cBhvr>
                                      <p:tavLst>
                                        <p:tav tm="0">
                                          <p:val>
                                            <p:strVal val="#ppt_y+0.035"/>
                                          </p:val>
                                        </p:tav>
                                        <p:tav tm="100000">
                                          <p:val>
                                            <p:strVal val="#ppt_y"/>
                                          </p:val>
                                        </p:tav>
                                      </p:tavLst>
                                    </p:anim>
                                    <p:set>
                                      <p:cBhvr>
                                        <p:cTn id="39" dur="1" fill="hold">
                                          <p:stCondLst>
                                            <p:cond delay="0"/>
                                          </p:stCondLst>
                                        </p:cTn>
                                        <p:tgtEl>
                                          <p:spTgt spid="15"/>
                                        </p:tgtEl>
                                        <p:attrNameLst>
                                          <p:attrName>style.visibility</p:attrName>
                                        </p:attrNameLst>
                                      </p:cBhvr>
                                      <p:to>
                                        <p:strVal val="visible"/>
                                      </p:to>
                                    </p:set>
                                    <p:animEffect transition="in" filter="fade">
                                      <p:cBhvr>
                                        <p:cTn id="40" dur="420"/>
                                        <p:tgtEl>
                                          <p:spTgt spid="15"/>
                                        </p:tgtEl>
                                      </p:cBhvr>
                                    </p:animEffect>
                                    <p:anim calcmode="lin" valueType="num">
                                      <p:cBhvr additive="base">
                                        <p:cTn id="41" dur="420" fill="hold"/>
                                        <p:tgtEl>
                                          <p:spTgt spid="15"/>
                                        </p:tgtEl>
                                        <p:attrNameLst>
                                          <p:attrName>ppt_y</p:attrName>
                                        </p:attrNameLst>
                                      </p:cBhvr>
                                      <p:tavLst>
                                        <p:tav tm="0">
                                          <p:val>
                                            <p:strVal val="#ppt_y+0.035"/>
                                          </p:val>
                                        </p:tav>
                                        <p:tav tm="100000">
                                          <p:val>
                                            <p:strVal val="#ppt_y"/>
                                          </p:val>
                                        </p:tav>
                                      </p:tavLst>
                                    </p:anim>
                                    <p:set>
                                      <p:cBhvr>
                                        <p:cTn id="42"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4" dur="420" fill="hold"/>
                                        <p:tgtEl>
                                          <p:spTgt spid="21"/>
                                        </p:tgtEl>
                                        <p:attrNameLst>
                                          <p:attrName>ppt_y</p:attrName>
                                        </p:attrNameLst>
                                      </p:cBhvr>
                                      <p:tavLst>
                                        <p:tav tm="0">
                                          <p:val>
                                            <p:strVal val="#ppt_y+0.035"/>
                                          </p:val>
                                        </p:tav>
                                        <p:tav tm="100000">
                                          <p:val>
                                            <p:strVal val="#ppt_y"/>
                                          </p:val>
                                        </p:tav>
                                      </p:tavLst>
                                    </p:anim>
                                    <p:set>
                                      <p:cBhvr>
                                        <p:cTn id="45" dur="1" fill="hold">
                                          <p:stCondLst>
                                            <p:cond delay="0"/>
                                          </p:stCondLst>
                                        </p:cTn>
                                        <p:tgtEl>
                                          <p:spTgt spid="19"/>
                                        </p:tgtEl>
                                        <p:attrNameLst>
                                          <p:attrName>style.visibility</p:attrName>
                                        </p:attrNameLst>
                                      </p:cBhvr>
                                      <p:to>
                                        <p:strVal val="visible"/>
                                      </p:to>
                                    </p:set>
                                    <p:animEffect transition="in" filter="fade">
                                      <p:cBhvr>
                                        <p:cTn id="46" dur="420"/>
                                        <p:tgtEl>
                                          <p:spTgt spid="19"/>
                                        </p:tgtEl>
                                      </p:cBhvr>
                                    </p:animEffect>
                                    <p:anim calcmode="lin" valueType="num">
                                      <p:cBhvr additive="base">
                                        <p:cTn id="47" dur="420" fill="hold"/>
                                        <p:tgtEl>
                                          <p:spTgt spid="19"/>
                                        </p:tgtEl>
                                        <p:attrNameLst>
                                          <p:attrName>ppt_y</p:attrName>
                                        </p:attrNameLst>
                                      </p:cBhvr>
                                      <p:tavLst>
                                        <p:tav tm="0">
                                          <p:val>
                                            <p:strVal val="#ppt_y+0.035"/>
                                          </p:val>
                                        </p:tav>
                                        <p:tav tm="100000">
                                          <p:val>
                                            <p:strVal val="#ppt_y"/>
                                          </p:val>
                                        </p:tav>
                                      </p:tavLst>
                                    </p:anim>
                                    <p:set>
                                      <p:cBhvr>
                                        <p:cTn id="48" dur="1" fill="hold">
                                          <p:stCondLst>
                                            <p:cond delay="0"/>
                                          </p:stCondLst>
                                        </p:cTn>
                                        <p:tgtEl>
                                          <p:spTgt spid="20"/>
                                        </p:tgtEl>
                                        <p:attrNameLst>
                                          <p:attrName>style.visibility</p:attrName>
                                        </p:attrNameLst>
                                      </p:cBhvr>
                                      <p:to>
                                        <p:strVal val="visible"/>
                                      </p:to>
                                    </p:set>
                                    <p:animEffect transition="in" filter="fade">
                                      <p:cBhvr>
                                        <p:cTn id="49" dur="420"/>
                                        <p:tgtEl>
                                          <p:spTgt spid="20"/>
                                        </p:tgtEl>
                                      </p:cBhvr>
                                    </p:animEffect>
                                    <p:anim calcmode="lin" valueType="num">
                                      <p:cBhvr additive="base">
                                        <p:cTn id="50" dur="420" fill="hold"/>
                                        <p:tgtEl>
                                          <p:spTgt spid="20"/>
                                        </p:tgtEl>
                                        <p:attrNameLst>
                                          <p:attrName>ppt_y</p:attrName>
                                        </p:attrNameLst>
                                      </p:cBhvr>
                                      <p:tavLst>
                                        <p:tav tm="0">
                                          <p:val>
                                            <p:strVal val="#ppt_y+0.035"/>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20"/>
                                        <p:tgtEl>
                                          <p:spTgt spid="24"/>
                                        </p:tgtEl>
                                      </p:cBhvr>
                                    </p:animEffect>
                                    <p:anim calcmode="lin" valueType="num">
                                      <p:cBhvr additive="base">
                                        <p:cTn id="56" dur="420" fill="hold"/>
                                        <p:tgtEl>
                                          <p:spTgt spid="24"/>
                                        </p:tgtEl>
                                        <p:attrNameLst>
                                          <p:attrName>ppt_y</p:attrName>
                                        </p:attrNameLst>
                                      </p:cBhvr>
                                      <p:tavLst>
                                        <p:tav tm="0">
                                          <p:val>
                                            <p:strVal val="#ppt_y+0.035"/>
                                          </p:val>
                                        </p:tav>
                                        <p:tav tm="100000">
                                          <p:val>
                                            <p:strVal val="#ppt_y"/>
                                          </p:val>
                                        </p:tav>
                                      </p:tavLst>
                                    </p:anim>
                                    <p:set>
                                      <p:cBhvr>
                                        <p:cTn id="57" dur="1" fill="hold">
                                          <p:stCondLst>
                                            <p:cond delay="0"/>
                                          </p:stCondLst>
                                        </p:cTn>
                                        <p:tgtEl>
                                          <p:spTgt spid="22"/>
                                        </p:tgtEl>
                                        <p:attrNameLst>
                                          <p:attrName>style.visibility</p:attrName>
                                        </p:attrNameLst>
                                      </p:cBhvr>
                                      <p:to>
                                        <p:strVal val="visible"/>
                                      </p:to>
                                    </p:set>
                                    <p:animEffect transition="in" filter="fade">
                                      <p:cBhvr>
                                        <p:cTn id="58" dur="420"/>
                                        <p:tgtEl>
                                          <p:spTgt spid="22"/>
                                        </p:tgtEl>
                                      </p:cBhvr>
                                    </p:animEffect>
                                    <p:anim calcmode="lin" valueType="num">
                                      <p:cBhvr additive="base">
                                        <p:cTn id="59" dur="420" fill="hold"/>
                                        <p:tgtEl>
                                          <p:spTgt spid="22"/>
                                        </p:tgtEl>
                                        <p:attrNameLst>
                                          <p:attrName>ppt_y</p:attrName>
                                        </p:attrNameLst>
                                      </p:cBhvr>
                                      <p:tavLst>
                                        <p:tav tm="0">
                                          <p:val>
                                            <p:strVal val="#ppt_y+0.035"/>
                                          </p:val>
                                        </p:tav>
                                        <p:tav tm="100000">
                                          <p:val>
                                            <p:strVal val="#ppt_y"/>
                                          </p:val>
                                        </p:tav>
                                      </p:tavLst>
                                    </p:anim>
                                    <p:set>
                                      <p:cBhvr>
                                        <p:cTn id="60" dur="1" fill="hold">
                                          <p:stCondLst>
                                            <p:cond delay="0"/>
                                          </p:stCondLst>
                                        </p:cTn>
                                        <p:tgtEl>
                                          <p:spTgt spid="23"/>
                                        </p:tgtEl>
                                        <p:attrNameLst>
                                          <p:attrName>style.visibility</p:attrName>
                                        </p:attrNameLst>
                                      </p:cBhvr>
                                      <p:to>
                                        <p:strVal val="visible"/>
                                      </p:to>
                                    </p:set>
                                    <p:animEffect transition="in" filter="fade">
                                      <p:cBhvr>
                                        <p:cTn id="61" dur="420"/>
                                        <p:tgtEl>
                                          <p:spTgt spid="23"/>
                                        </p:tgtEl>
                                      </p:cBhvr>
                                    </p:animEffect>
                                    <p:anim calcmode="lin" valueType="num">
                                      <p:cBhvr additive="base">
                                        <p:cTn id="62" dur="420" fill="hold"/>
                                        <p:tgtEl>
                                          <p:spTgt spid="23"/>
                                        </p:tgtEl>
                                        <p:attrNameLst>
                                          <p:attrName>ppt_y</p:attrName>
                                        </p:attrNameLst>
                                      </p:cBhvr>
                                      <p:tavLst>
                                        <p:tav tm="0">
                                          <p:val>
                                            <p:strVal val="#ppt_y+0.035"/>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420"/>
                                        <p:tgtEl>
                                          <p:spTgt spid="27"/>
                                        </p:tgtEl>
                                      </p:cBhvr>
                                    </p:animEffect>
                                    <p:anim calcmode="lin" valueType="num">
                                      <p:cBhvr additive="base">
                                        <p:cTn id="68" dur="420" fill="hold"/>
                                        <p:tgtEl>
                                          <p:spTgt spid="27"/>
                                        </p:tgtEl>
                                        <p:attrNameLst>
                                          <p:attrName>ppt_y</p:attrName>
                                        </p:attrNameLst>
                                      </p:cBhvr>
                                      <p:tavLst>
                                        <p:tav tm="0">
                                          <p:val>
                                            <p:strVal val="#ppt_y+0.035"/>
                                          </p:val>
                                        </p:tav>
                                        <p:tav tm="100000">
                                          <p:val>
                                            <p:strVal val="#ppt_y"/>
                                          </p:val>
                                        </p:tav>
                                      </p:tavLst>
                                    </p:anim>
                                    <p:set>
                                      <p:cBhvr>
                                        <p:cTn id="69" dur="1" fill="hold">
                                          <p:stCondLst>
                                            <p:cond delay="0"/>
                                          </p:stCondLst>
                                        </p:cTn>
                                        <p:tgtEl>
                                          <p:spTgt spid="25"/>
                                        </p:tgtEl>
                                        <p:attrNameLst>
                                          <p:attrName>style.visibility</p:attrName>
                                        </p:attrNameLst>
                                      </p:cBhvr>
                                      <p:to>
                                        <p:strVal val="visible"/>
                                      </p:to>
                                    </p:set>
                                    <p:animEffect transition="in" filter="fade">
                                      <p:cBhvr>
                                        <p:cTn id="70" dur="420"/>
                                        <p:tgtEl>
                                          <p:spTgt spid="25"/>
                                        </p:tgtEl>
                                      </p:cBhvr>
                                    </p:animEffect>
                                    <p:anim calcmode="lin" valueType="num">
                                      <p:cBhvr additive="base">
                                        <p:cTn id="71" dur="420" fill="hold"/>
                                        <p:tgtEl>
                                          <p:spTgt spid="25"/>
                                        </p:tgtEl>
                                        <p:attrNameLst>
                                          <p:attrName>ppt_y</p:attrName>
                                        </p:attrNameLst>
                                      </p:cBhvr>
                                      <p:tavLst>
                                        <p:tav tm="0">
                                          <p:val>
                                            <p:strVal val="#ppt_y+0.035"/>
                                          </p:val>
                                        </p:tav>
                                        <p:tav tm="100000">
                                          <p:val>
                                            <p:strVal val="#ppt_y"/>
                                          </p:val>
                                        </p:tav>
                                      </p:tavLst>
                                    </p:anim>
                                    <p:set>
                                      <p:cBhvr>
                                        <p:cTn id="72" dur="1" fill="hold">
                                          <p:stCondLst>
                                            <p:cond delay="0"/>
                                          </p:stCondLst>
                                        </p:cTn>
                                        <p:tgtEl>
                                          <p:spTgt spid="26"/>
                                        </p:tgtEl>
                                        <p:attrNameLst>
                                          <p:attrName>style.visibility</p:attrName>
                                        </p:attrNameLst>
                                      </p:cBhvr>
                                      <p:to>
                                        <p:strVal val="visible"/>
                                      </p:to>
                                    </p:set>
                                    <p:animEffect transition="in" filter="fade">
                                      <p:cBhvr>
                                        <p:cTn id="73" dur="420"/>
                                        <p:tgtEl>
                                          <p:spTgt spid="26"/>
                                        </p:tgtEl>
                                      </p:cBhvr>
                                    </p:animEffect>
                                    <p:anim calcmode="lin" valueType="num">
                                      <p:cBhvr additive="base">
                                        <p:cTn id="74" dur="420" fill="hold"/>
                                        <p:tgtEl>
                                          <p:spTgt spid="26"/>
                                        </p:tgtEl>
                                        <p:attrNameLst>
                                          <p:attrName>ppt_y</p:attrName>
                                        </p:attrNameLst>
                                      </p:cBhvr>
                                      <p:tavLst>
                                        <p:tav tm="0">
                                          <p:val>
                                            <p:strVal val="#ppt_y+0.035"/>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20"/>
                                        <p:tgtEl>
                                          <p:spTgt spid="30"/>
                                        </p:tgtEl>
                                      </p:cBhvr>
                                    </p:animEffect>
                                    <p:anim calcmode="lin" valueType="num">
                                      <p:cBhvr additive="base">
                                        <p:cTn id="80" dur="420" fill="hold"/>
                                        <p:tgtEl>
                                          <p:spTgt spid="30"/>
                                        </p:tgtEl>
                                        <p:attrNameLst>
                                          <p:attrName>ppt_y</p:attrName>
                                        </p:attrNameLst>
                                      </p:cBhvr>
                                      <p:tavLst>
                                        <p:tav tm="0">
                                          <p:val>
                                            <p:strVal val="#ppt_y+0.035"/>
                                          </p:val>
                                        </p:tav>
                                        <p:tav tm="100000">
                                          <p:val>
                                            <p:strVal val="#ppt_y"/>
                                          </p:val>
                                        </p:tav>
                                      </p:tavLst>
                                    </p:anim>
                                    <p:set>
                                      <p:cBhvr>
                                        <p:cTn id="81" dur="1" fill="hold">
                                          <p:stCondLst>
                                            <p:cond delay="0"/>
                                          </p:stCondLst>
                                        </p:cTn>
                                        <p:tgtEl>
                                          <p:spTgt spid="28"/>
                                        </p:tgtEl>
                                        <p:attrNameLst>
                                          <p:attrName>style.visibility</p:attrName>
                                        </p:attrNameLst>
                                      </p:cBhvr>
                                      <p:to>
                                        <p:strVal val="visible"/>
                                      </p:to>
                                    </p:set>
                                    <p:animEffect transition="in" filter="fade">
                                      <p:cBhvr>
                                        <p:cTn id="82" dur="420"/>
                                        <p:tgtEl>
                                          <p:spTgt spid="28"/>
                                        </p:tgtEl>
                                      </p:cBhvr>
                                    </p:animEffect>
                                    <p:anim calcmode="lin" valueType="num">
                                      <p:cBhvr additive="base">
                                        <p:cTn id="83" dur="420" fill="hold"/>
                                        <p:tgtEl>
                                          <p:spTgt spid="28"/>
                                        </p:tgtEl>
                                        <p:attrNameLst>
                                          <p:attrName>ppt_y</p:attrName>
                                        </p:attrNameLst>
                                      </p:cBhvr>
                                      <p:tavLst>
                                        <p:tav tm="0">
                                          <p:val>
                                            <p:strVal val="#ppt_y+0.035"/>
                                          </p:val>
                                        </p:tav>
                                        <p:tav tm="100000">
                                          <p:val>
                                            <p:strVal val="#ppt_y"/>
                                          </p:val>
                                        </p:tav>
                                      </p:tavLst>
                                    </p:anim>
                                    <p:set>
                                      <p:cBhvr>
                                        <p:cTn id="84" dur="1" fill="hold">
                                          <p:stCondLst>
                                            <p:cond delay="0"/>
                                          </p:stCondLst>
                                        </p:cTn>
                                        <p:tgtEl>
                                          <p:spTgt spid="29"/>
                                        </p:tgtEl>
                                        <p:attrNameLst>
                                          <p:attrName>style.visibility</p:attrName>
                                        </p:attrNameLst>
                                      </p:cBhvr>
                                      <p:to>
                                        <p:strVal val="visible"/>
                                      </p:to>
                                    </p:set>
                                    <p:animEffect transition="in" filter="fade">
                                      <p:cBhvr>
                                        <p:cTn id="85" dur="420"/>
                                        <p:tgtEl>
                                          <p:spTgt spid="29"/>
                                        </p:tgtEl>
                                      </p:cBhvr>
                                    </p:animEffect>
                                    <p:anim calcmode="lin" valueType="num">
                                      <p:cBhvr additive="base">
                                        <p:cTn id="86" dur="420" fill="hold"/>
                                        <p:tgtEl>
                                          <p:spTgt spid="29"/>
                                        </p:tgtEl>
                                        <p:attrNameLst>
                                          <p:attrName>ppt_y</p:attrName>
                                        </p:attrNameLst>
                                      </p:cBhvr>
                                      <p:tavLst>
                                        <p:tav tm="0">
                                          <p:val>
                                            <p:strVal val="#ppt_y+0.035"/>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25"/>
                                        </p:tgtEl>
                                        <p:attrNameLst>
                                          <p:attrName>style.visibility</p:attrName>
                                        </p:attrNameLst>
                                      </p:cBhvr>
                                      <p:to>
                                        <p:strVal val="visible"/>
                                      </p:to>
                                    </p:set>
                                    <p:animEffect transition="in" filter="fade">
                                      <p:cBhvr>
                                        <p:cTn id="91" dur="420"/>
                                        <p:tgtEl>
                                          <p:spTgt spid="25"/>
                                        </p:tgtEl>
                                      </p:cBhvr>
                                    </p:animEffect>
                                    <p:anim calcmode="lin" valueType="num">
                                      <p:cBhvr additive="base">
                                        <p:cTn id="92" dur="420" fill="hold"/>
                                        <p:tgtEl>
                                          <p:spTgt spid="2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animBg="1"/>
      <p:bldP spid="25" grpId="0" animBg="1"/>
      <p:bldP spid="26" grpId="0"/>
      <p:bldP spid="27" grpId="0" animBg="1"/>
      <p:bldP spid="28" grpId="0"/>
      <p:bldP spid="29" grpId="0"/>
      <p:bldP spid="3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06</a:t>
            </a:r>
            <a:r>
              <a:rPr lang="en-US" sz="1150" b="1" kern="0" spc="160" dirty="0">
                <a:solidFill>
                  <a:srgbClr val="6E7781"/>
                </a:solidFill>
                <a:latin typeface="Calibri" pitchFamily="34" charset="0"/>
                <a:ea typeface="Calibri" pitchFamily="34" charset="-122"/>
                <a:cs typeface="Calibri" pitchFamily="34" charset="-120"/>
              </a:rPr>
              <a:t>   THE RECOMMENDATION</a:t>
            </a:r>
            <a:endParaRPr lang="en-US" sz="1150" dirty="0"/>
          </a:p>
        </p:txBody>
      </p:sp>
      <p:sp>
        <p:nvSpPr>
          <p:cNvPr id="3" name="Text 1"/>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Both — with clear lanes</a:t>
            </a:r>
            <a:endParaRPr lang="en-US" sz="3200" dirty="0"/>
          </a:p>
        </p:txBody>
      </p:sp>
      <p:sp>
        <p:nvSpPr>
          <p:cNvPr id="4" name="Text 2"/>
          <p:cNvSpPr/>
          <p:nvPr/>
        </p:nvSpPr>
        <p:spPr>
          <a:xfrm>
            <a:off x="566928" y="1389888"/>
            <a:ext cx="11055096" cy="566928"/>
          </a:xfrm>
          <a:prstGeom prst="rect">
            <a:avLst/>
          </a:prstGeom>
          <a:noFill/>
          <a:ln/>
        </p:spPr>
        <p:txBody>
          <a:bodyPr wrap="square" lIns="0" tIns="0" rIns="0" bIns="0" rtlCol="0" anchor="t"/>
          <a:lstStyle/>
          <a:p>
            <a:pPr marL="0" indent="0">
              <a:lnSpc>
                <a:spcPts val="1850"/>
              </a:lnSpc>
              <a:buNone/>
            </a:pPr>
            <a:r>
              <a:rPr lang="en-US" sz="1350" dirty="0">
                <a:solidFill>
                  <a:srgbClr val="2B3138"/>
                </a:solidFill>
                <a:latin typeface="Calibri" pitchFamily="34" charset="0"/>
                <a:ea typeface="Calibri" pitchFamily="34" charset="-122"/>
                <a:cs typeface="Calibri" pitchFamily="34" charset="-120"/>
              </a:rPr>
              <a:t>For a mid-size .NET team on Azure and the Microsoft stack this is not an either/or. The two tools are strong in different places, and the lanes are easy to police.</a:t>
            </a:r>
            <a:endParaRPr lang="en-US" sz="1350" dirty="0"/>
          </a:p>
        </p:txBody>
      </p:sp>
      <p:sp>
        <p:nvSpPr>
          <p:cNvPr id="5" name="Shape 3"/>
          <p:cNvSpPr/>
          <p:nvPr/>
        </p:nvSpPr>
        <p:spPr>
          <a:xfrm>
            <a:off x="566928" y="2212848"/>
            <a:ext cx="4023360" cy="3072384"/>
          </a:xfrm>
          <a:prstGeom prst="roundRect">
            <a:avLst>
              <a:gd name="adj" fmla="val 1786"/>
            </a:avLst>
          </a:prstGeom>
          <a:solidFill>
            <a:srgbClr val="EAF2FD"/>
          </a:solidFill>
          <a:ln w="9525">
            <a:solidFill>
              <a:srgbClr val="D8DEE4"/>
            </a:solidFill>
            <a:prstDash val="solid"/>
          </a:ln>
          <a:effectLst>
            <a:outerShdw blurRad="177800" dist="38100" dir="5400000" algn="bl" rotWithShape="0">
              <a:srgbClr val="8C959F">
                <a:alpha val="16000"/>
              </a:srgbClr>
            </a:outerShdw>
          </a:effectLst>
        </p:spPr>
      </p:sp>
      <p:sp>
        <p:nvSpPr>
          <p:cNvPr id="6" name="Shape 4"/>
          <p:cNvSpPr/>
          <p:nvPr/>
        </p:nvSpPr>
        <p:spPr>
          <a:xfrm>
            <a:off x="841248" y="2487168"/>
            <a:ext cx="493776" cy="493776"/>
          </a:xfrm>
          <a:prstGeom prst="ellipse">
            <a:avLst/>
          </a:prstGeom>
          <a:solidFill>
            <a:srgbClr val="0969DA"/>
          </a:solidFill>
          <a:ln w="12700">
            <a:solidFill>
              <a:srgbClr val="0969DA"/>
            </a:solidFill>
            <a:prstDash val="solid"/>
          </a:ln>
        </p:spPr>
      </p:sp>
      <p:pic>
        <p:nvPicPr>
          <p:cNvPr id="7" name="Image 0" descr="/home/claude/deck/build/img/copilot_white.png"/>
          <p:cNvPicPr>
            <a:picLocks noChangeAspect="1"/>
          </p:cNvPicPr>
          <p:nvPr/>
        </p:nvPicPr>
        <p:blipFill>
          <a:blip r:embed="rId3"/>
          <a:stretch>
            <a:fillRect/>
          </a:stretch>
        </p:blipFill>
        <p:spPr>
          <a:xfrm>
            <a:off x="969630" y="2615550"/>
            <a:ext cx="237012" cy="237012"/>
          </a:xfrm>
          <a:prstGeom prst="rect">
            <a:avLst/>
          </a:prstGeom>
        </p:spPr>
      </p:pic>
      <p:sp>
        <p:nvSpPr>
          <p:cNvPr id="8" name="Text 5"/>
          <p:cNvSpPr/>
          <p:nvPr/>
        </p:nvSpPr>
        <p:spPr>
          <a:xfrm>
            <a:off x="1444752" y="2468880"/>
            <a:ext cx="2889504" cy="292608"/>
          </a:xfrm>
          <a:prstGeom prst="rect">
            <a:avLst/>
          </a:prstGeom>
          <a:noFill/>
          <a:ln/>
        </p:spPr>
        <p:txBody>
          <a:bodyPr wrap="square" lIns="0" tIns="0" rIns="0" bIns="0" rtlCol="0" anchor="ctr"/>
          <a:lstStyle/>
          <a:p>
            <a:pPr marL="0" indent="0">
              <a:buNone/>
            </a:pPr>
            <a:r>
              <a:rPr lang="en-US" sz="1650" b="1" dirty="0">
                <a:solidFill>
                  <a:srgbClr val="0969DA"/>
                </a:solidFill>
                <a:latin typeface="Cambria" pitchFamily="34" charset="0"/>
                <a:ea typeface="Cambria" pitchFamily="34" charset="-122"/>
                <a:cs typeface="Cambria" pitchFamily="34" charset="-120"/>
              </a:rPr>
              <a:t>Copilot for everyone</a:t>
            </a:r>
            <a:endParaRPr lang="en-US" sz="1650" dirty="0"/>
          </a:p>
        </p:txBody>
      </p:sp>
      <p:sp>
        <p:nvSpPr>
          <p:cNvPr id="9" name="Text 6"/>
          <p:cNvSpPr/>
          <p:nvPr/>
        </p:nvSpPr>
        <p:spPr>
          <a:xfrm>
            <a:off x="1444752" y="2761488"/>
            <a:ext cx="2889504" cy="237744"/>
          </a:xfrm>
          <a:prstGeom prst="rect">
            <a:avLst/>
          </a:prstGeom>
          <a:noFill/>
          <a:ln/>
        </p:spPr>
        <p:txBody>
          <a:bodyPr wrap="square" lIns="0" tIns="0" rIns="0" bIns="0" rtlCol="0" anchor="ctr"/>
          <a:lstStyle/>
          <a:p>
            <a:pPr marL="0" indent="0">
              <a:buNone/>
            </a:pPr>
            <a:r>
              <a:rPr lang="en-US" sz="1000" b="1" kern="0" spc="110" dirty="0">
                <a:solidFill>
                  <a:srgbClr val="6E7781"/>
                </a:solidFill>
                <a:latin typeface="Calibri" pitchFamily="34" charset="0"/>
                <a:ea typeface="Calibri" pitchFamily="34" charset="-122"/>
                <a:cs typeface="Calibri" pitchFamily="34" charset="-120"/>
              </a:rPr>
              <a:t>THE BREADTH PLAY</a:t>
            </a:r>
            <a:endParaRPr lang="en-US" sz="1000" dirty="0"/>
          </a:p>
        </p:txBody>
      </p:sp>
      <p:sp>
        <p:nvSpPr>
          <p:cNvPr id="10" name="Text 7"/>
          <p:cNvSpPr/>
          <p:nvPr/>
        </p:nvSpPr>
        <p:spPr>
          <a:xfrm>
            <a:off x="841248" y="3200400"/>
            <a:ext cx="3474720" cy="1883664"/>
          </a:xfrm>
          <a:prstGeom prst="rect">
            <a:avLst/>
          </a:prstGeom>
          <a:noFill/>
          <a:ln/>
        </p:spPr>
        <p:txBody>
          <a:bodyPr wrap="square" lIns="0" tIns="0" rIns="0" bIns="0" rtlCol="0" anchor="t"/>
          <a:lstStyle/>
          <a:p>
            <a:pPr marL="177800" indent="-177800">
              <a:lnSpc>
                <a:spcPts val="1518"/>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Completions and in-IDE agent tasks for the whole team.</a:t>
            </a:r>
            <a:endParaRPr lang="en-US" sz="1150" dirty="0"/>
          </a:p>
          <a:p>
            <a:pPr marL="177800" indent="-177800">
              <a:lnSpc>
                <a:spcPts val="1518"/>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GitHub-native pull-request review.</a:t>
            </a:r>
            <a:endParaRPr lang="en-US" sz="1150" dirty="0"/>
          </a:p>
          <a:p>
            <a:pPr marL="177800" indent="-177800">
              <a:lnSpc>
                <a:spcPts val="1518"/>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The cloud agent on well-described backlog tickets.</a:t>
            </a:r>
            <a:endParaRPr lang="en-US" sz="1150" dirty="0"/>
          </a:p>
          <a:p>
            <a:pPr marL="177800" indent="-177800">
              <a:lnSpc>
                <a:spcPts val="1518"/>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The .NET modernization agent in Visual Studio 2026.</a:t>
            </a:r>
            <a:endParaRPr lang="en-US" sz="1150" dirty="0"/>
          </a:p>
          <a:p>
            <a:pPr marL="177800" indent="-177800">
              <a:lnSpc>
                <a:spcPts val="1518"/>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It lands where your governance already lives.</a:t>
            </a:r>
            <a:endParaRPr lang="en-US" sz="1150" dirty="0"/>
          </a:p>
        </p:txBody>
      </p:sp>
      <p:sp>
        <p:nvSpPr>
          <p:cNvPr id="11" name="Shape 8"/>
          <p:cNvSpPr/>
          <p:nvPr/>
        </p:nvSpPr>
        <p:spPr>
          <a:xfrm>
            <a:off x="4700016" y="2212848"/>
            <a:ext cx="4023360" cy="3072384"/>
          </a:xfrm>
          <a:prstGeom prst="roundRect">
            <a:avLst>
              <a:gd name="adj" fmla="val 1786"/>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12" name="Shape 9"/>
          <p:cNvSpPr/>
          <p:nvPr/>
        </p:nvSpPr>
        <p:spPr>
          <a:xfrm>
            <a:off x="4974336" y="2487168"/>
            <a:ext cx="493776" cy="493776"/>
          </a:xfrm>
          <a:prstGeom prst="ellipse">
            <a:avLst/>
          </a:prstGeom>
          <a:solidFill>
            <a:srgbClr val="C2410C"/>
          </a:solidFill>
          <a:ln w="12700">
            <a:solidFill>
              <a:srgbClr val="C2410C"/>
            </a:solidFill>
            <a:prstDash val="solid"/>
          </a:ln>
        </p:spPr>
      </p:sp>
      <p:pic>
        <p:nvPicPr>
          <p:cNvPr id="13" name="Image 1" descr="/home/claude/deck/build/img/claude_white.png"/>
          <p:cNvPicPr>
            <a:picLocks noChangeAspect="1"/>
          </p:cNvPicPr>
          <p:nvPr/>
        </p:nvPicPr>
        <p:blipFill>
          <a:blip r:embed="rId4"/>
          <a:stretch>
            <a:fillRect/>
          </a:stretch>
        </p:blipFill>
        <p:spPr>
          <a:xfrm>
            <a:off x="5102718" y="2615550"/>
            <a:ext cx="237012" cy="237012"/>
          </a:xfrm>
          <a:prstGeom prst="rect">
            <a:avLst/>
          </a:prstGeom>
        </p:spPr>
      </p:pic>
      <p:sp>
        <p:nvSpPr>
          <p:cNvPr id="14" name="Text 10"/>
          <p:cNvSpPr/>
          <p:nvPr/>
        </p:nvSpPr>
        <p:spPr>
          <a:xfrm>
            <a:off x="5577840" y="2468880"/>
            <a:ext cx="2889504" cy="292608"/>
          </a:xfrm>
          <a:prstGeom prst="rect">
            <a:avLst/>
          </a:prstGeom>
          <a:noFill/>
          <a:ln/>
        </p:spPr>
        <p:txBody>
          <a:bodyPr wrap="square" lIns="0" tIns="0" rIns="0" bIns="0" rtlCol="0" anchor="ctr"/>
          <a:lstStyle/>
          <a:p>
            <a:pPr marL="0" indent="0">
              <a:buNone/>
            </a:pPr>
            <a:r>
              <a:rPr lang="en-US" sz="1650" b="1" dirty="0">
                <a:solidFill>
                  <a:srgbClr val="C2410C"/>
                </a:solidFill>
                <a:latin typeface="Cambria" pitchFamily="34" charset="0"/>
                <a:ea typeface="Cambria" pitchFamily="34" charset="-122"/>
                <a:cs typeface="Cambria" pitchFamily="34" charset="-120"/>
              </a:rPr>
              <a:t>Claude Code for the hard 20%</a:t>
            </a:r>
            <a:endParaRPr lang="en-US" sz="1650" dirty="0"/>
          </a:p>
        </p:txBody>
      </p:sp>
      <p:sp>
        <p:nvSpPr>
          <p:cNvPr id="15" name="Text 11"/>
          <p:cNvSpPr/>
          <p:nvPr/>
        </p:nvSpPr>
        <p:spPr>
          <a:xfrm>
            <a:off x="5577840" y="2761488"/>
            <a:ext cx="2889504" cy="237744"/>
          </a:xfrm>
          <a:prstGeom prst="rect">
            <a:avLst/>
          </a:prstGeom>
          <a:noFill/>
          <a:ln/>
        </p:spPr>
        <p:txBody>
          <a:bodyPr wrap="square" lIns="0" tIns="0" rIns="0" bIns="0" rtlCol="0" anchor="ctr"/>
          <a:lstStyle/>
          <a:p>
            <a:pPr marL="0" indent="0">
              <a:buNone/>
            </a:pPr>
            <a:r>
              <a:rPr lang="en-US" sz="1000" b="1" kern="0" spc="110" dirty="0">
                <a:solidFill>
                  <a:srgbClr val="6E7781"/>
                </a:solidFill>
                <a:latin typeface="Calibri" pitchFamily="34" charset="0"/>
                <a:ea typeface="Calibri" pitchFamily="34" charset="-122"/>
                <a:cs typeface="Calibri" pitchFamily="34" charset="-120"/>
              </a:rPr>
              <a:t>A FEW CAPPED SEATS</a:t>
            </a:r>
            <a:endParaRPr lang="en-US" sz="1000" dirty="0"/>
          </a:p>
        </p:txBody>
      </p:sp>
      <p:sp>
        <p:nvSpPr>
          <p:cNvPr id="16" name="Text 12"/>
          <p:cNvSpPr/>
          <p:nvPr/>
        </p:nvSpPr>
        <p:spPr>
          <a:xfrm>
            <a:off x="4974336" y="3200400"/>
            <a:ext cx="3474720" cy="1883664"/>
          </a:xfrm>
          <a:prstGeom prst="rect">
            <a:avLst/>
          </a:prstGeom>
          <a:noFill/>
          <a:ln/>
        </p:spPr>
        <p:txBody>
          <a:bodyPr wrap="square" lIns="0" tIns="0" rIns="0" bIns="0" rtlCol="0" anchor="t"/>
          <a:lstStyle/>
          <a:p>
            <a:pPr marL="177800" indent="-177800">
              <a:lnSpc>
                <a:spcPts val="1518"/>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Repo-scale refactors, deep debugging, migrations.</a:t>
            </a:r>
            <a:endParaRPr lang="en-US" sz="1150" dirty="0"/>
          </a:p>
          <a:p>
            <a:pPr marL="177800" indent="-177800">
              <a:lnSpc>
                <a:spcPts val="1518"/>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Anything whose definition of done can be written as a condition a machine checks.</a:t>
            </a:r>
            <a:endParaRPr lang="en-US" sz="1150" dirty="0"/>
          </a:p>
          <a:p>
            <a:pPr marL="177800" indent="-177800">
              <a:lnSpc>
                <a:spcPts val="1518"/>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Funded from a capped pool, not issued per developer.</a:t>
            </a:r>
            <a:endParaRPr lang="en-US" sz="1150" dirty="0"/>
          </a:p>
          <a:p>
            <a:pPr marL="177800" indent="-177800">
              <a:lnSpc>
                <a:spcPts val="1518"/>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Deploy through Microsoft Foundry if inference has to stay on Azure.</a:t>
            </a:r>
            <a:endParaRPr lang="en-US" sz="1150" dirty="0"/>
          </a:p>
        </p:txBody>
      </p:sp>
      <p:sp>
        <p:nvSpPr>
          <p:cNvPr id="17" name="Shape 13"/>
          <p:cNvSpPr/>
          <p:nvPr/>
        </p:nvSpPr>
        <p:spPr>
          <a:xfrm>
            <a:off x="8833104" y="2212848"/>
            <a:ext cx="2788920" cy="3072384"/>
          </a:xfrm>
          <a:prstGeom prst="roundRect">
            <a:avLst>
              <a:gd name="adj" fmla="val 1967"/>
            </a:avLst>
          </a:prstGeom>
          <a:solidFill>
            <a:srgbClr val="F6F8FA"/>
          </a:solidFill>
          <a:ln w="9525">
            <a:solidFill>
              <a:srgbClr val="D8DEE4"/>
            </a:solidFill>
            <a:prstDash val="solid"/>
          </a:ln>
          <a:effectLst>
            <a:outerShdw blurRad="177800" dist="38100" dir="5400000" algn="bl" rotWithShape="0">
              <a:srgbClr val="8C959F">
                <a:alpha val="16000"/>
              </a:srgbClr>
            </a:outerShdw>
          </a:effectLst>
        </p:spPr>
      </p:sp>
      <p:sp>
        <p:nvSpPr>
          <p:cNvPr id="18" name="Text 14"/>
          <p:cNvSpPr/>
          <p:nvPr/>
        </p:nvSpPr>
        <p:spPr>
          <a:xfrm>
            <a:off x="9089136" y="2395728"/>
            <a:ext cx="2276856" cy="310896"/>
          </a:xfrm>
          <a:prstGeom prst="rect">
            <a:avLst/>
          </a:prstGeom>
          <a:noFill/>
          <a:ln/>
        </p:spPr>
        <p:txBody>
          <a:bodyPr wrap="square" lIns="0" tIns="0" rIns="0" bIns="0" rtlCol="0" anchor="ctr"/>
          <a:lstStyle/>
          <a:p>
            <a:pPr marL="0" indent="0">
              <a:buNone/>
            </a:pPr>
            <a:r>
              <a:rPr lang="en-US" sz="1550" b="1" dirty="0">
                <a:solidFill>
                  <a:srgbClr val="15181D"/>
                </a:solidFill>
                <a:latin typeface="Cambria" pitchFamily="34" charset="0"/>
                <a:ea typeface="Cambria" pitchFamily="34" charset="-122"/>
                <a:cs typeface="Cambria" pitchFamily="34" charset="-120"/>
              </a:rPr>
              <a:t>Next step</a:t>
            </a:r>
            <a:endParaRPr lang="en-US" sz="1550" dirty="0"/>
          </a:p>
        </p:txBody>
      </p:sp>
      <p:sp>
        <p:nvSpPr>
          <p:cNvPr id="19" name="Text 15"/>
          <p:cNvSpPr/>
          <p:nvPr/>
        </p:nvSpPr>
        <p:spPr>
          <a:xfrm>
            <a:off x="9089136" y="2724912"/>
            <a:ext cx="2276856" cy="219456"/>
          </a:xfrm>
          <a:prstGeom prst="rect">
            <a:avLst/>
          </a:prstGeom>
          <a:noFill/>
          <a:ln/>
        </p:spPr>
        <p:txBody>
          <a:bodyPr wrap="square" lIns="0" tIns="0" rIns="0" bIns="0" rtlCol="0" anchor="ctr"/>
          <a:lstStyle/>
          <a:p>
            <a:pPr marL="0" indent="0">
              <a:buNone/>
            </a:pPr>
            <a:r>
              <a:rPr lang="en-US" sz="950" dirty="0">
                <a:solidFill>
                  <a:srgbClr val="6E7781"/>
                </a:solidFill>
                <a:latin typeface="Calibri" pitchFamily="34" charset="0"/>
                <a:ea typeface="Calibri" pitchFamily="34" charset="-122"/>
                <a:cs typeface="Calibri" pitchFamily="34" charset="-120"/>
              </a:rPr>
              <a:t>five minutes, before any pilot</a:t>
            </a:r>
            <a:endParaRPr lang="en-US" sz="950" dirty="0"/>
          </a:p>
        </p:txBody>
      </p:sp>
      <p:sp>
        <p:nvSpPr>
          <p:cNvPr id="20" name="Text 16"/>
          <p:cNvSpPr/>
          <p:nvPr/>
        </p:nvSpPr>
        <p:spPr>
          <a:xfrm>
            <a:off x="9089136" y="3200400"/>
            <a:ext cx="2276856" cy="1883664"/>
          </a:xfrm>
          <a:prstGeom prst="rect">
            <a:avLst/>
          </a:prstGeom>
          <a:noFill/>
          <a:ln/>
        </p:spPr>
        <p:txBody>
          <a:bodyPr wrap="square" lIns="0" tIns="0" rIns="0" bIns="0" rtlCol="0" anchor="t"/>
          <a:lstStyle/>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Are the repos in GitHub or in Azure Repos? Azure Boards hands off only to GitHub repos.</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Is the team on Visual Studio 2022 or 2026? Most of Copilot's in-IDE advantage is documented for 2026 only.</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Then run the four apps on both tools.</a:t>
            </a:r>
            <a:endParaRPr lang="en-US" sz="1100" dirty="0"/>
          </a:p>
        </p:txBody>
      </p:sp>
      <p:sp>
        <p:nvSpPr>
          <p:cNvPr id="21" name="Text 17"/>
          <p:cNvSpPr/>
          <p:nvPr/>
        </p:nvSpPr>
        <p:spPr>
          <a:xfrm>
            <a:off x="566928" y="6437376"/>
            <a:ext cx="10552176" cy="237744"/>
          </a:xfrm>
          <a:prstGeom prst="rect">
            <a:avLst/>
          </a:prstGeom>
          <a:noFill/>
          <a:ln/>
        </p:spPr>
        <p:txBody>
          <a:bodyPr wrap="square" lIns="0" tIns="0" rIns="0" bIns="0" rtlCol="0" anchor="ctr"/>
          <a:lstStyle/>
          <a:p>
            <a:pPr marL="0" indent="0">
              <a:buNone/>
            </a:pPr>
            <a:r>
              <a:rPr lang="en-US" sz="850" b="1" dirty="0">
                <a:solidFill>
                  <a:srgbClr val="6E7781"/>
                </a:solidFill>
                <a:latin typeface="Calibri" pitchFamily="34" charset="0"/>
                <a:ea typeface="Calibri" pitchFamily="34" charset="-122"/>
                <a:cs typeface="Calibri" pitchFamily="34" charset="-120"/>
              </a:rPr>
              <a:t>Sources   </a:t>
            </a:r>
            <a:r>
              <a:rPr lang="en-US" sz="850" dirty="0">
                <a:solidFill>
                  <a:srgbClr val="6E7781"/>
                </a:solidFill>
                <a:latin typeface="Calibri" pitchFamily="34" charset="0"/>
                <a:ea typeface="Calibri" pitchFamily="34" charset="-122"/>
                <a:cs typeface="Calibri" pitchFamily="34" charset="-120"/>
              </a:rPr>
              <a:t>learn.microsoft.com/azure/devops/boards/github/work-item-integration-github-copilot · learn.microsoft.com/visualstudio/ide/copilot-specialized-agents · code.claude.com/docs/en/third-party-integrations</a:t>
            </a:r>
            <a:endParaRPr lang="en-US" sz="850" dirty="0"/>
          </a:p>
        </p:txBody>
      </p:sp>
      <p:sp>
        <p:nvSpPr>
          <p:cNvPr id="25"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anim calcmode="lin" valueType="num">
                                      <p:cBhvr additive="base">
                                        <p:cTn id="8" dur="420" fill="hold"/>
                                        <p:tgtEl>
                                          <p:spTgt spid="5"/>
                                        </p:tgtEl>
                                        <p:attrNameLst>
                                          <p:attrName>ppt_y</p:attrName>
                                        </p:attrNameLst>
                                      </p:cBhvr>
                                      <p:tavLst>
                                        <p:tav tm="0">
                                          <p:val>
                                            <p:strVal val="#ppt_y+0.035"/>
                                          </p:val>
                                        </p:tav>
                                        <p:tav tm="100000">
                                          <p:val>
                                            <p:strVal val="#ppt_y"/>
                                          </p:val>
                                        </p:tav>
                                      </p:tavLst>
                                    </p:anim>
                                    <p:set>
                                      <p:cBhvr>
                                        <p:cTn id="9" dur="1" fill="hold">
                                          <p:stCondLst>
                                            <p:cond delay="0"/>
                                          </p:stCondLst>
                                        </p:cTn>
                                        <p:tgtEl>
                                          <p:spTgt spid="11"/>
                                        </p:tgtEl>
                                        <p:attrNameLst>
                                          <p:attrName>style.visibility</p:attrName>
                                        </p:attrNameLst>
                                      </p:cBhvr>
                                      <p:to>
                                        <p:strVal val="visible"/>
                                      </p:to>
                                    </p:set>
                                    <p:animEffect transition="in" filter="fade">
                                      <p:cBhvr>
                                        <p:cTn id="10" dur="420"/>
                                        <p:tgtEl>
                                          <p:spTgt spid="11"/>
                                        </p:tgtEl>
                                      </p:cBhvr>
                                    </p:animEffect>
                                    <p:anim calcmode="lin" valueType="num">
                                      <p:cBhvr additive="base">
                                        <p:cTn id="11" dur="420" fill="hold"/>
                                        <p:tgtEl>
                                          <p:spTgt spid="11"/>
                                        </p:tgtEl>
                                        <p:attrNameLst>
                                          <p:attrName>ppt_y</p:attrName>
                                        </p:attrNameLst>
                                      </p:cBhvr>
                                      <p:tavLst>
                                        <p:tav tm="0">
                                          <p:val>
                                            <p:strVal val="#ppt_y+0.035"/>
                                          </p:val>
                                        </p:tav>
                                        <p:tav tm="100000">
                                          <p:val>
                                            <p:strVal val="#ppt_y"/>
                                          </p:val>
                                        </p:tav>
                                      </p:tavLst>
                                    </p:anim>
                                    <p:set>
                                      <p:cBhvr>
                                        <p:cTn id="12" dur="1" fill="hold">
                                          <p:stCondLst>
                                            <p:cond delay="0"/>
                                          </p:stCondLst>
                                        </p:cTn>
                                        <p:tgtEl>
                                          <p:spTgt spid="17"/>
                                        </p:tgtEl>
                                        <p:attrNameLst>
                                          <p:attrName>style.visibility</p:attrName>
                                        </p:attrNameLst>
                                      </p:cBhvr>
                                      <p:to>
                                        <p:strVal val="visible"/>
                                      </p:to>
                                    </p:set>
                                    <p:animEffect transition="in" filter="fade">
                                      <p:cBhvr>
                                        <p:cTn id="13" dur="420"/>
                                        <p:tgtEl>
                                          <p:spTgt spid="17"/>
                                        </p:tgtEl>
                                      </p:cBhvr>
                                    </p:animEffect>
                                    <p:anim calcmode="lin" valueType="num">
                                      <p:cBhvr additive="base">
                                        <p:cTn id="14" dur="420" fill="hold"/>
                                        <p:tgtEl>
                                          <p:spTgt spid="17"/>
                                        </p:tgtEl>
                                        <p:attrNameLst>
                                          <p:attrName>ppt_y</p:attrName>
                                        </p:attrNameLst>
                                      </p:cBhvr>
                                      <p:tavLst>
                                        <p:tav tm="0">
                                          <p:val>
                                            <p:strVal val="#ppt_y+0.035"/>
                                          </p:val>
                                        </p:tav>
                                        <p:tav tm="100000">
                                          <p:val>
                                            <p:strVal val="#ppt_y"/>
                                          </p:val>
                                        </p:tav>
                                      </p:tavLst>
                                    </p:anim>
                                    <p:set>
                                      <p:cBhvr>
                                        <p:cTn id="15" dur="1" fill="hold">
                                          <p:stCondLst>
                                            <p:cond delay="0"/>
                                          </p:stCondLst>
                                        </p:cTn>
                                        <p:tgtEl>
                                          <p:spTgt spid="18"/>
                                        </p:tgtEl>
                                        <p:attrNameLst>
                                          <p:attrName>style.visibility</p:attrName>
                                        </p:attrNameLst>
                                      </p:cBhvr>
                                      <p:to>
                                        <p:strVal val="visible"/>
                                      </p:to>
                                    </p:set>
                                    <p:animEffect transition="in" filter="fade">
                                      <p:cBhvr>
                                        <p:cTn id="16" dur="420"/>
                                        <p:tgtEl>
                                          <p:spTgt spid="18"/>
                                        </p:tgtEl>
                                      </p:cBhvr>
                                    </p:animEffect>
                                    <p:anim calcmode="lin" valueType="num">
                                      <p:cBhvr additive="base">
                                        <p:cTn id="17" dur="420" fill="hold"/>
                                        <p:tgtEl>
                                          <p:spTgt spid="18"/>
                                        </p:tgtEl>
                                        <p:attrNameLst>
                                          <p:attrName>ppt_y</p:attrName>
                                        </p:attrNameLst>
                                      </p:cBhvr>
                                      <p:tavLst>
                                        <p:tav tm="0">
                                          <p:val>
                                            <p:strVal val="#ppt_y+0.035"/>
                                          </p:val>
                                        </p:tav>
                                        <p:tav tm="100000">
                                          <p:val>
                                            <p:strVal val="#ppt_y"/>
                                          </p:val>
                                        </p:tav>
                                      </p:tavLst>
                                    </p:anim>
                                    <p:set>
                                      <p:cBhvr>
                                        <p:cTn id="18" dur="1" fill="hold">
                                          <p:stCondLst>
                                            <p:cond delay="0"/>
                                          </p:stCondLst>
                                        </p:cTn>
                                        <p:tgtEl>
                                          <p:spTgt spid="8"/>
                                        </p:tgtEl>
                                        <p:attrNameLst>
                                          <p:attrName>style.visibility</p:attrName>
                                        </p:attrNameLst>
                                      </p:cBhvr>
                                      <p:to>
                                        <p:strVal val="visible"/>
                                      </p:to>
                                    </p:set>
                                    <p:animEffect transition="in" filter="fade">
                                      <p:cBhvr>
                                        <p:cTn id="19" dur="420"/>
                                        <p:tgtEl>
                                          <p:spTgt spid="8"/>
                                        </p:tgtEl>
                                      </p:cBhvr>
                                    </p:animEffect>
                                    <p:anim calcmode="lin" valueType="num">
                                      <p:cBhvr additive="base">
                                        <p:cTn id="20" dur="420" fill="hold"/>
                                        <p:tgtEl>
                                          <p:spTgt spid="8"/>
                                        </p:tgtEl>
                                        <p:attrNameLst>
                                          <p:attrName>ppt_y</p:attrName>
                                        </p:attrNameLst>
                                      </p:cBhvr>
                                      <p:tavLst>
                                        <p:tav tm="0">
                                          <p:val>
                                            <p:strVal val="#ppt_y+0.035"/>
                                          </p:val>
                                        </p:tav>
                                        <p:tav tm="100000">
                                          <p:val>
                                            <p:strVal val="#ppt_y"/>
                                          </p:val>
                                        </p:tav>
                                      </p:tavLst>
                                    </p:anim>
                                    <p:set>
                                      <p:cBhvr>
                                        <p:cTn id="21" dur="1" fill="hold">
                                          <p:stCondLst>
                                            <p:cond delay="0"/>
                                          </p:stCondLst>
                                        </p:cTn>
                                        <p:tgtEl>
                                          <p:spTgt spid="14"/>
                                        </p:tgtEl>
                                        <p:attrNameLst>
                                          <p:attrName>style.visibility</p:attrName>
                                        </p:attrNameLst>
                                      </p:cBhvr>
                                      <p:to>
                                        <p:strVal val="visible"/>
                                      </p:to>
                                    </p:set>
                                    <p:animEffect transition="in" filter="fade">
                                      <p:cBhvr>
                                        <p:cTn id="22" dur="420"/>
                                        <p:tgtEl>
                                          <p:spTgt spid="14"/>
                                        </p:tgtEl>
                                      </p:cBhvr>
                                    </p:animEffect>
                                    <p:anim calcmode="lin" valueType="num">
                                      <p:cBhvr additive="base">
                                        <p:cTn id="23" dur="420" fill="hold"/>
                                        <p:tgtEl>
                                          <p:spTgt spid="14"/>
                                        </p:tgtEl>
                                        <p:attrNameLst>
                                          <p:attrName>ppt_y</p:attrName>
                                        </p:attrNameLst>
                                      </p:cBhvr>
                                      <p:tavLst>
                                        <p:tav tm="0">
                                          <p:val>
                                            <p:strVal val="#ppt_y+0.035"/>
                                          </p:val>
                                        </p:tav>
                                        <p:tav tm="100000">
                                          <p:val>
                                            <p:strVal val="#ppt_y"/>
                                          </p:val>
                                        </p:tav>
                                      </p:tavLst>
                                    </p:anim>
                                    <p:set>
                                      <p:cBhvr>
                                        <p:cTn id="24" dur="1" fill="hold">
                                          <p:stCondLst>
                                            <p:cond delay="0"/>
                                          </p:stCondLst>
                                        </p:cTn>
                                        <p:tgtEl>
                                          <p:spTgt spid="6"/>
                                        </p:tgtEl>
                                        <p:attrNameLst>
                                          <p:attrName>style.visibility</p:attrName>
                                        </p:attrNameLst>
                                      </p:cBhvr>
                                      <p:to>
                                        <p:strVal val="visible"/>
                                      </p:to>
                                    </p:set>
                                    <p:animEffect transition="in" filter="fade">
                                      <p:cBhvr>
                                        <p:cTn id="25" dur="420"/>
                                        <p:tgtEl>
                                          <p:spTgt spid="6"/>
                                        </p:tgtEl>
                                      </p:cBhvr>
                                    </p:animEffect>
                                    <p:anim calcmode="lin" valueType="num">
                                      <p:cBhvr additive="base">
                                        <p:cTn id="26" dur="420" fill="hold"/>
                                        <p:tgtEl>
                                          <p:spTgt spid="6"/>
                                        </p:tgtEl>
                                        <p:attrNameLst>
                                          <p:attrName>ppt_y</p:attrName>
                                        </p:attrNameLst>
                                      </p:cBhvr>
                                      <p:tavLst>
                                        <p:tav tm="0">
                                          <p:val>
                                            <p:strVal val="#ppt_y+0.035"/>
                                          </p:val>
                                        </p:tav>
                                        <p:tav tm="100000">
                                          <p:val>
                                            <p:strVal val="#ppt_y"/>
                                          </p:val>
                                        </p:tav>
                                      </p:tavLst>
                                    </p:anim>
                                    <p:set>
                                      <p:cBhvr>
                                        <p:cTn id="27" dur="1" fill="hold">
                                          <p:stCondLst>
                                            <p:cond delay="0"/>
                                          </p:stCondLst>
                                        </p:cTn>
                                        <p:tgtEl>
                                          <p:spTgt spid="12"/>
                                        </p:tgtEl>
                                        <p:attrNameLst>
                                          <p:attrName>style.visibility</p:attrName>
                                        </p:attrNameLst>
                                      </p:cBhvr>
                                      <p:to>
                                        <p:strVal val="visible"/>
                                      </p:to>
                                    </p:set>
                                    <p:animEffect transition="in" filter="fade">
                                      <p:cBhvr>
                                        <p:cTn id="28" dur="420"/>
                                        <p:tgtEl>
                                          <p:spTgt spid="12"/>
                                        </p:tgtEl>
                                      </p:cBhvr>
                                    </p:animEffect>
                                    <p:anim calcmode="lin" valueType="num">
                                      <p:cBhvr additive="base">
                                        <p:cTn id="29" dur="420" fill="hold"/>
                                        <p:tgtEl>
                                          <p:spTgt spid="12"/>
                                        </p:tgtEl>
                                        <p:attrNameLst>
                                          <p:attrName>ppt_y</p:attrName>
                                        </p:attrNameLst>
                                      </p:cBhvr>
                                      <p:tavLst>
                                        <p:tav tm="0">
                                          <p:val>
                                            <p:strVal val="#ppt_y+0.035"/>
                                          </p:val>
                                        </p:tav>
                                        <p:tav tm="100000">
                                          <p:val>
                                            <p:strVal val="#ppt_y"/>
                                          </p:val>
                                        </p:tav>
                                      </p:tavLst>
                                    </p:anim>
                                    <p:set>
                                      <p:cBhvr>
                                        <p:cTn id="30" dur="1" fill="hold">
                                          <p:stCondLst>
                                            <p:cond delay="0"/>
                                          </p:stCondLst>
                                        </p:cTn>
                                        <p:tgtEl>
                                          <p:spTgt spid="7"/>
                                        </p:tgtEl>
                                        <p:attrNameLst>
                                          <p:attrName>style.visibility</p:attrName>
                                        </p:attrNameLst>
                                      </p:cBhvr>
                                      <p:to>
                                        <p:strVal val="visible"/>
                                      </p:to>
                                    </p:set>
                                    <p:animEffect transition="in" filter="fade">
                                      <p:cBhvr>
                                        <p:cTn id="31" dur="420"/>
                                        <p:tgtEl>
                                          <p:spTgt spid="7"/>
                                        </p:tgtEl>
                                      </p:cBhvr>
                                    </p:animEffect>
                                    <p:anim calcmode="lin" valueType="num">
                                      <p:cBhvr additive="base">
                                        <p:cTn id="32" dur="420" fill="hold"/>
                                        <p:tgtEl>
                                          <p:spTgt spid="7"/>
                                        </p:tgtEl>
                                        <p:attrNameLst>
                                          <p:attrName>ppt_y</p:attrName>
                                        </p:attrNameLst>
                                      </p:cBhvr>
                                      <p:tavLst>
                                        <p:tav tm="0">
                                          <p:val>
                                            <p:strVal val="#ppt_y+0.035"/>
                                          </p:val>
                                        </p:tav>
                                        <p:tav tm="100000">
                                          <p:val>
                                            <p:strVal val="#ppt_y"/>
                                          </p:val>
                                        </p:tav>
                                      </p:tavLst>
                                    </p:anim>
                                    <p:set>
                                      <p:cBhvr>
                                        <p:cTn id="33" dur="1" fill="hold">
                                          <p:stCondLst>
                                            <p:cond delay="0"/>
                                          </p:stCondLst>
                                        </p:cTn>
                                        <p:tgtEl>
                                          <p:spTgt spid="13"/>
                                        </p:tgtEl>
                                        <p:attrNameLst>
                                          <p:attrName>style.visibility</p:attrName>
                                        </p:attrNameLst>
                                      </p:cBhvr>
                                      <p:to>
                                        <p:strVal val="visible"/>
                                      </p:to>
                                    </p:set>
                                    <p:animEffect transition="in" filter="fade">
                                      <p:cBhvr>
                                        <p:cTn id="34" dur="420"/>
                                        <p:tgtEl>
                                          <p:spTgt spid="13"/>
                                        </p:tgtEl>
                                      </p:cBhvr>
                                    </p:animEffect>
                                    <p:anim calcmode="lin" valueType="num">
                                      <p:cBhvr additive="base">
                                        <p:cTn id="35" dur="420" fill="hold"/>
                                        <p:tgtEl>
                                          <p:spTgt spid="13"/>
                                        </p:tgtEl>
                                        <p:attrNameLst>
                                          <p:attrName>ppt_y</p:attrName>
                                        </p:attrNameLst>
                                      </p:cBhvr>
                                      <p:tavLst>
                                        <p:tav tm="0">
                                          <p:val>
                                            <p:strVal val="#ppt_y+0.035"/>
                                          </p:val>
                                        </p:tav>
                                        <p:tav tm="100000">
                                          <p:val>
                                            <p:strVal val="#ppt_y"/>
                                          </p:val>
                                        </p:tav>
                                      </p:tavLst>
                                    </p:anim>
                                    <p:set>
                                      <p:cBhvr>
                                        <p:cTn id="36"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8" dur="420" fill="hold"/>
                                        <p:tgtEl>
                                          <p:spTgt spid="19"/>
                                        </p:tgtEl>
                                        <p:attrNameLst>
                                          <p:attrName>ppt_y</p:attrName>
                                        </p:attrNameLst>
                                      </p:cBhvr>
                                      <p:tavLst>
                                        <p:tav tm="0">
                                          <p:val>
                                            <p:strVal val="#ppt_y+0.035"/>
                                          </p:val>
                                        </p:tav>
                                        <p:tav tm="100000">
                                          <p:val>
                                            <p:strVal val="#ppt_y"/>
                                          </p:val>
                                        </p:tav>
                                      </p:tavLst>
                                    </p:anim>
                                    <p:set>
                                      <p:cBhvr>
                                        <p:cTn id="39" dur="1" fill="hold">
                                          <p:stCondLst>
                                            <p:cond delay="0"/>
                                          </p:stCondLst>
                                        </p:cTn>
                                        <p:tgtEl>
                                          <p:spTgt spid="9"/>
                                        </p:tgtEl>
                                        <p:attrNameLst>
                                          <p:attrName>style.visibility</p:attrName>
                                        </p:attrNameLst>
                                      </p:cBhvr>
                                      <p:to>
                                        <p:strVal val="visible"/>
                                      </p:to>
                                    </p:set>
                                    <p:animEffect transition="in" filter="fade">
                                      <p:cBhvr>
                                        <p:cTn id="40" dur="420"/>
                                        <p:tgtEl>
                                          <p:spTgt spid="9"/>
                                        </p:tgtEl>
                                      </p:cBhvr>
                                    </p:animEffect>
                                    <p:anim calcmode="lin" valueType="num">
                                      <p:cBhvr additive="base">
                                        <p:cTn id="41" dur="420" fill="hold"/>
                                        <p:tgtEl>
                                          <p:spTgt spid="9"/>
                                        </p:tgtEl>
                                        <p:attrNameLst>
                                          <p:attrName>ppt_y</p:attrName>
                                        </p:attrNameLst>
                                      </p:cBhvr>
                                      <p:tavLst>
                                        <p:tav tm="0">
                                          <p:val>
                                            <p:strVal val="#ppt_y+0.035"/>
                                          </p:val>
                                        </p:tav>
                                        <p:tav tm="100000">
                                          <p:val>
                                            <p:strVal val="#ppt_y"/>
                                          </p:val>
                                        </p:tav>
                                      </p:tavLst>
                                    </p:anim>
                                    <p:set>
                                      <p:cBhvr>
                                        <p:cTn id="42" dur="1" fill="hold">
                                          <p:stCondLst>
                                            <p:cond delay="0"/>
                                          </p:stCondLst>
                                        </p:cTn>
                                        <p:tgtEl>
                                          <p:spTgt spid="15"/>
                                        </p:tgtEl>
                                        <p:attrNameLst>
                                          <p:attrName>style.visibility</p:attrName>
                                        </p:attrNameLst>
                                      </p:cBhvr>
                                      <p:to>
                                        <p:strVal val="visible"/>
                                      </p:to>
                                    </p:set>
                                    <p:animEffect transition="in" filter="fade">
                                      <p:cBhvr>
                                        <p:cTn id="43" dur="420"/>
                                        <p:tgtEl>
                                          <p:spTgt spid="15"/>
                                        </p:tgtEl>
                                      </p:cBhvr>
                                    </p:animEffect>
                                    <p:anim calcmode="lin" valueType="num">
                                      <p:cBhvr additive="base">
                                        <p:cTn id="44" dur="420" fill="hold"/>
                                        <p:tgtEl>
                                          <p:spTgt spid="15"/>
                                        </p:tgtEl>
                                        <p:attrNameLst>
                                          <p:attrName>ppt_y</p:attrName>
                                        </p:attrNameLst>
                                      </p:cBhvr>
                                      <p:tavLst>
                                        <p:tav tm="0">
                                          <p:val>
                                            <p:strVal val="#ppt_y+0.035"/>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420"/>
                                        <p:tgtEl>
                                          <p:spTgt spid="10"/>
                                        </p:tgtEl>
                                      </p:cBhvr>
                                    </p:animEffect>
                                    <p:anim calcmode="lin" valueType="num">
                                      <p:cBhvr additive="base">
                                        <p:cTn id="50" dur="420" fill="hold"/>
                                        <p:tgtEl>
                                          <p:spTgt spid="10"/>
                                        </p:tgtEl>
                                        <p:attrNameLst>
                                          <p:attrName>ppt_y</p:attrName>
                                        </p:attrNameLst>
                                      </p:cBhvr>
                                      <p:tavLst>
                                        <p:tav tm="0">
                                          <p:val>
                                            <p:strVal val="#ppt_y+0.035"/>
                                          </p:val>
                                        </p:tav>
                                        <p:tav tm="100000">
                                          <p:val>
                                            <p:strVal val="#ppt_y"/>
                                          </p:val>
                                        </p:tav>
                                      </p:tavLst>
                                    </p:anim>
                                    <p:set>
                                      <p:cBhvr>
                                        <p:cTn id="51" dur="1" fill="hold">
                                          <p:stCondLst>
                                            <p:cond delay="0"/>
                                          </p:stCondLst>
                                        </p:cTn>
                                        <p:tgtEl>
                                          <p:spTgt spid="16"/>
                                        </p:tgtEl>
                                        <p:attrNameLst>
                                          <p:attrName>style.visibility</p:attrName>
                                        </p:attrNameLst>
                                      </p:cBhvr>
                                      <p:to>
                                        <p:strVal val="visible"/>
                                      </p:to>
                                    </p:set>
                                    <p:animEffect transition="in" filter="fade">
                                      <p:cBhvr>
                                        <p:cTn id="52" dur="420"/>
                                        <p:tgtEl>
                                          <p:spTgt spid="16"/>
                                        </p:tgtEl>
                                      </p:cBhvr>
                                    </p:animEffect>
                                    <p:anim calcmode="lin" valueType="num">
                                      <p:cBhvr additive="base">
                                        <p:cTn id="53" dur="420" fill="hold"/>
                                        <p:tgtEl>
                                          <p:spTgt spid="16"/>
                                        </p:tgtEl>
                                        <p:attrNameLst>
                                          <p:attrName>ppt_y</p:attrName>
                                        </p:attrNameLst>
                                      </p:cBhvr>
                                      <p:tavLst>
                                        <p:tav tm="0">
                                          <p:val>
                                            <p:strVal val="#ppt_y+0.035"/>
                                          </p:val>
                                        </p:tav>
                                        <p:tav tm="100000">
                                          <p:val>
                                            <p:strVal val="#ppt_y"/>
                                          </p:val>
                                        </p:tav>
                                      </p:tavLst>
                                    </p:anim>
                                    <p:set>
                                      <p:cBhvr>
                                        <p:cTn id="54" dur="1" fill="hold">
                                          <p:stCondLst>
                                            <p:cond delay="0"/>
                                          </p:stCondLst>
                                        </p:cTn>
                                        <p:tgtEl>
                                          <p:spTgt spid="20"/>
                                        </p:tgtEl>
                                        <p:attrNameLst>
                                          <p:attrName>style.visibility</p:attrName>
                                        </p:attrNameLst>
                                      </p:cBhvr>
                                      <p:to>
                                        <p:strVal val="visible"/>
                                      </p:to>
                                    </p:set>
                                    <p:animEffect transition="in" filter="fade">
                                      <p:cBhvr>
                                        <p:cTn id="55" dur="420"/>
                                        <p:tgtEl>
                                          <p:spTgt spid="20"/>
                                        </p:tgtEl>
                                      </p:cBhvr>
                                    </p:animEffect>
                                    <p:anim calcmode="lin" valueType="num">
                                      <p:cBhvr additive="base">
                                        <p:cTn id="56" dur="420" fill="hold"/>
                                        <p:tgtEl>
                                          <p:spTgt spid="20"/>
                                        </p:tgtEl>
                                        <p:attrNameLst>
                                          <p:attrName>ppt_y</p:attrName>
                                        </p:attrNameLst>
                                      </p:cBhvr>
                                      <p:tavLst>
                                        <p:tav tm="0">
                                          <p:val>
                                            <p:strVal val="#ppt_y+0.035"/>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20"/>
                                        <p:tgtEl>
                                          <p:spTgt spid="21"/>
                                        </p:tgtEl>
                                      </p:cBhvr>
                                    </p:animEffect>
                                    <p:anim calcmode="lin" valueType="num">
                                      <p:cBhvr additive="base">
                                        <p:cTn id="62" dur="420" fill="hold"/>
                                        <p:tgtEl>
                                          <p:spTgt spid="21"/>
                                        </p:tgtEl>
                                        <p:attrNameLst>
                                          <p:attrName>ppt_y</p:attrName>
                                        </p:attrNameLst>
                                      </p:cBhvr>
                                      <p:tavLst>
                                        <p:tav tm="0">
                                          <p:val>
                                            <p:strVal val="#ppt_y+0.035"/>
                                          </p:val>
                                        </p:tav>
                                        <p:tav tm="100000">
                                          <p:val>
                                            <p:strVal val="#ppt_y"/>
                                          </p:val>
                                        </p:tav>
                                      </p:tavLst>
                                    </p:anim>
                                    <p:set>
                                      <p:cBhvr>
                                        <p:cTn id="63" dur="1" fill="hold">
                                          <p:stCondLst>
                                            <p:cond delay="0"/>
                                          </p:stCondLst>
                                        </p:cTn>
                                        <p:tgtEl>
                                          <p:spTgt spid="25"/>
                                        </p:tgtEl>
                                        <p:attrNameLst>
                                          <p:attrName>style.visibility</p:attrName>
                                        </p:attrNameLst>
                                      </p:cBhvr>
                                      <p:to>
                                        <p:strVal val="visible"/>
                                      </p:to>
                                    </p:set>
                                    <p:animEffect transition="in" filter="fade">
                                      <p:cBhvr>
                                        <p:cTn id="64" dur="420"/>
                                        <p:tgtEl>
                                          <p:spTgt spid="25"/>
                                        </p:tgtEl>
                                      </p:cBhvr>
                                    </p:animEffect>
                                    <p:anim calcmode="lin" valueType="num">
                                      <p:cBhvr additive="base">
                                        <p:cTn id="65" dur="420" fill="hold"/>
                                        <p:tgtEl>
                                          <p:spTgt spid="2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p:bldP spid="9" grpId="0"/>
      <p:bldP spid="10" grpId="0" animBg="1"/>
      <p:bldP spid="11" grpId="0"/>
      <p:bldP spid="12" grpId="0"/>
      <p:bldP spid="13" grpId="0"/>
      <p:bldP spid="14" grpId="0"/>
      <p:bldP spid="15" grpId="0"/>
      <p:bldP spid="16" grpId="0"/>
      <p:bldP spid="17" grpId="0"/>
      <p:bldP spid="18" grpId="0"/>
      <p:bldP spid="19" grpId="0"/>
      <p:bldP spid="20" grpId="0"/>
      <p:bldP spid="21" grpId="0" animBg="1"/>
      <p:bldP spid="25" grpId="0"/>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06</a:t>
            </a:r>
            <a:r>
              <a:rPr lang="en-US" sz="1150" b="1" kern="0" spc="160" dirty="0">
                <a:solidFill>
                  <a:srgbClr val="6E7781"/>
                </a:solidFill>
                <a:latin typeface="Calibri" pitchFamily="34" charset="0"/>
                <a:ea typeface="Calibri" pitchFamily="34" charset="-122"/>
                <a:cs typeface="Calibri" pitchFamily="34" charset="-120"/>
              </a:rPr>
              <a:t>   THE RECOMMENDATION</a:t>
            </a:r>
            <a:endParaRPr lang="en-US" sz="1150" dirty="0"/>
          </a:p>
        </p:txBody>
      </p:sp>
      <p:sp>
        <p:nvSpPr>
          <p:cNvPr id="3" name="Text 1"/>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What the evidence actually says</a:t>
            </a:r>
            <a:endParaRPr lang="en-US" sz="3200" dirty="0"/>
          </a:p>
        </p:txBody>
      </p:sp>
      <p:sp>
        <p:nvSpPr>
          <p:cNvPr id="4" name="Text 2"/>
          <p:cNvSpPr/>
          <p:nvPr/>
        </p:nvSpPr>
        <p:spPr>
          <a:xfrm>
            <a:off x="566928" y="1389888"/>
            <a:ext cx="11055096" cy="658368"/>
          </a:xfrm>
          <a:prstGeom prst="rect">
            <a:avLst/>
          </a:prstGeom>
          <a:noFill/>
          <a:ln/>
        </p:spPr>
        <p:txBody>
          <a:bodyPr wrap="square" lIns="0" tIns="0" rIns="0" bIns="0" rtlCol="0" anchor="t"/>
          <a:lstStyle/>
          <a:p>
            <a:pPr marL="0" indent="0">
              <a:lnSpc>
                <a:spcPts val="1700"/>
              </a:lnSpc>
              <a:buNone/>
            </a:pPr>
            <a:r>
              <a:rPr lang="en-US" sz="1250" b="1" dirty="0">
                <a:solidFill>
                  <a:srgbClr val="C2410C"/>
                </a:solidFill>
                <a:latin typeface="Calibri" pitchFamily="34" charset="0"/>
                <a:ea typeface="Calibri" pitchFamily="34" charset="-122"/>
                <a:cs typeface="Calibri" pitchFamily="34" charset="-120"/>
              </a:rPr>
              <a:t>DORA, 2025:  </a:t>
            </a:r>
            <a:r>
              <a:rPr lang="en-US" sz="1250" dirty="0">
                <a:solidFill>
                  <a:srgbClr val="2B3138"/>
                </a:solidFill>
                <a:latin typeface="Calibri" pitchFamily="34" charset="0"/>
                <a:ea typeface="Calibri" pitchFamily="34" charset="-122"/>
                <a:cs typeface="Calibri" pitchFamily="34" charset="-120"/>
              </a:rPr>
              <a:t>"AI's primary role in software development is that of an amplifier. It magnifies the strengths of high-performing organizations and the dysfunctions of struggling ones." The differentiator will not be the tool.</a:t>
            </a:r>
            <a:endParaRPr lang="en-US" sz="1250" dirty="0"/>
          </a:p>
        </p:txBody>
      </p:sp>
      <p:sp>
        <p:nvSpPr>
          <p:cNvPr id="5" name="Shape 3"/>
          <p:cNvSpPr/>
          <p:nvPr/>
        </p:nvSpPr>
        <p:spPr>
          <a:xfrm>
            <a:off x="566928" y="2267712"/>
            <a:ext cx="3538728" cy="3639312"/>
          </a:xfrm>
          <a:prstGeom prst="roundRect">
            <a:avLst>
              <a:gd name="adj" fmla="val 1550"/>
            </a:avLst>
          </a:prstGeom>
          <a:solidFill>
            <a:srgbClr val="EAF6ED"/>
          </a:solidFill>
          <a:ln w="9525">
            <a:solidFill>
              <a:srgbClr val="D8DEE4"/>
            </a:solidFill>
            <a:prstDash val="solid"/>
          </a:ln>
          <a:effectLst>
            <a:outerShdw blurRad="177800" dist="38100" dir="5400000" algn="bl" rotWithShape="0">
              <a:srgbClr val="8C959F">
                <a:alpha val="16000"/>
              </a:srgbClr>
            </a:outerShdw>
          </a:effectLst>
        </p:spPr>
      </p:sp>
      <p:sp>
        <p:nvSpPr>
          <p:cNvPr id="6" name="Shape 4"/>
          <p:cNvSpPr/>
          <p:nvPr/>
        </p:nvSpPr>
        <p:spPr>
          <a:xfrm>
            <a:off x="841248" y="2542032"/>
            <a:ext cx="2990088" cy="1371600"/>
          </a:xfrm>
          <a:prstGeom prst="roundRect">
            <a:avLst>
              <a:gd name="adj" fmla="val 3333"/>
            </a:avLst>
          </a:prstGeom>
          <a:solidFill>
            <a:srgbClr val="FFFFFF"/>
          </a:solidFill>
          <a:ln w="9525">
            <a:solidFill>
              <a:srgbClr val="D8DEE4"/>
            </a:solidFill>
            <a:prstDash val="solid"/>
          </a:ln>
        </p:spPr>
      </p:sp>
      <p:sp>
        <p:nvSpPr>
          <p:cNvPr id="7" name="Text 5"/>
          <p:cNvSpPr/>
          <p:nvPr/>
        </p:nvSpPr>
        <p:spPr>
          <a:xfrm>
            <a:off x="841248" y="2578608"/>
            <a:ext cx="2990088" cy="896112"/>
          </a:xfrm>
          <a:prstGeom prst="rect">
            <a:avLst/>
          </a:prstGeom>
          <a:noFill/>
          <a:ln/>
        </p:spPr>
        <p:txBody>
          <a:bodyPr wrap="square" lIns="0" tIns="0" rIns="0" bIns="0" rtlCol="0" anchor="ctr"/>
          <a:lstStyle/>
          <a:p>
            <a:pPr marL="0" indent="0" algn="ctr">
              <a:buNone/>
            </a:pPr>
            <a:r>
              <a:rPr lang="en-US" sz="4600" b="1" dirty="0">
                <a:solidFill>
                  <a:srgbClr val="1A7F37"/>
                </a:solidFill>
                <a:latin typeface="Cambria" pitchFamily="34" charset="0"/>
                <a:ea typeface="Cambria" pitchFamily="34" charset="-122"/>
                <a:cs typeface="Cambria" pitchFamily="34" charset="-120"/>
              </a:rPr>
              <a:t>+26%</a:t>
            </a:r>
            <a:endParaRPr lang="en-US" sz="4600" dirty="0"/>
          </a:p>
        </p:txBody>
      </p:sp>
      <p:sp>
        <p:nvSpPr>
          <p:cNvPr id="8" name="Text 6"/>
          <p:cNvSpPr/>
          <p:nvPr/>
        </p:nvSpPr>
        <p:spPr>
          <a:xfrm>
            <a:off x="841248" y="3456432"/>
            <a:ext cx="2990088" cy="384048"/>
          </a:xfrm>
          <a:prstGeom prst="rect">
            <a:avLst/>
          </a:prstGeom>
          <a:noFill/>
          <a:ln/>
        </p:spPr>
        <p:txBody>
          <a:bodyPr wrap="square" lIns="0" tIns="0" rIns="0" bIns="0" rtlCol="0" anchor="t"/>
          <a:lstStyle/>
          <a:p>
            <a:pPr marL="0" indent="0" algn="ctr">
              <a:buNone/>
            </a:pPr>
            <a:r>
              <a:rPr lang="en-US" sz="1150" b="1" dirty="0">
                <a:solidFill>
                  <a:srgbClr val="2B3138"/>
                </a:solidFill>
                <a:latin typeface="Calibri" pitchFamily="34" charset="0"/>
                <a:ea typeface="Calibri" pitchFamily="34" charset="-122"/>
                <a:cs typeface="Calibri" pitchFamily="34" charset="-120"/>
              </a:rPr>
              <a:t>more tasks completed</a:t>
            </a:r>
            <a:endParaRPr lang="en-US" sz="1150" dirty="0"/>
          </a:p>
        </p:txBody>
      </p:sp>
      <p:sp>
        <p:nvSpPr>
          <p:cNvPr id="9" name="Text 7"/>
          <p:cNvSpPr/>
          <p:nvPr/>
        </p:nvSpPr>
        <p:spPr>
          <a:xfrm>
            <a:off x="841248" y="4133088"/>
            <a:ext cx="2990088" cy="1572768"/>
          </a:xfrm>
          <a:prstGeom prst="rect">
            <a:avLst/>
          </a:prstGeom>
          <a:noFill/>
          <a:ln/>
        </p:spPr>
        <p:txBody>
          <a:bodyPr wrap="square" lIns="0" tIns="0" rIns="0" bIns="0" rtlCol="0" anchor="t"/>
          <a:lstStyle/>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4,867 developers across three field experiments at Microsoft, Accenture and a Fortune 100 company.</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Measured +26.08%, standard error 10.3%.</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Cui et al., Management Science, 2026.</a:t>
            </a:r>
            <a:endParaRPr lang="en-US" sz="1100" dirty="0"/>
          </a:p>
        </p:txBody>
      </p:sp>
      <p:sp>
        <p:nvSpPr>
          <p:cNvPr id="10" name="Shape 8"/>
          <p:cNvSpPr/>
          <p:nvPr/>
        </p:nvSpPr>
        <p:spPr>
          <a:xfrm>
            <a:off x="4325112" y="2267712"/>
            <a:ext cx="3538728" cy="3639312"/>
          </a:xfrm>
          <a:prstGeom prst="roundRect">
            <a:avLst>
              <a:gd name="adj" fmla="val 1550"/>
            </a:avLst>
          </a:prstGeom>
          <a:solidFill>
            <a:srgbClr val="FDF0EE"/>
          </a:solidFill>
          <a:ln w="9525">
            <a:solidFill>
              <a:srgbClr val="D8DEE4"/>
            </a:solidFill>
            <a:prstDash val="solid"/>
          </a:ln>
          <a:effectLst>
            <a:outerShdw blurRad="177800" dist="38100" dir="5400000" algn="bl" rotWithShape="0">
              <a:srgbClr val="8C959F">
                <a:alpha val="16000"/>
              </a:srgbClr>
            </a:outerShdw>
          </a:effectLst>
        </p:spPr>
      </p:sp>
      <p:sp>
        <p:nvSpPr>
          <p:cNvPr id="11" name="Shape 9"/>
          <p:cNvSpPr/>
          <p:nvPr/>
        </p:nvSpPr>
        <p:spPr>
          <a:xfrm>
            <a:off x="4599432" y="2542032"/>
            <a:ext cx="2990088" cy="1371600"/>
          </a:xfrm>
          <a:prstGeom prst="roundRect">
            <a:avLst>
              <a:gd name="adj" fmla="val 3333"/>
            </a:avLst>
          </a:prstGeom>
          <a:solidFill>
            <a:srgbClr val="FFFFFF"/>
          </a:solidFill>
          <a:ln w="9525">
            <a:solidFill>
              <a:srgbClr val="D8DEE4"/>
            </a:solidFill>
            <a:prstDash val="solid"/>
          </a:ln>
        </p:spPr>
      </p:sp>
      <p:sp>
        <p:nvSpPr>
          <p:cNvPr id="12" name="Text 10"/>
          <p:cNvSpPr/>
          <p:nvPr/>
        </p:nvSpPr>
        <p:spPr>
          <a:xfrm>
            <a:off x="4599432" y="2578608"/>
            <a:ext cx="2990088" cy="896112"/>
          </a:xfrm>
          <a:prstGeom prst="rect">
            <a:avLst/>
          </a:prstGeom>
          <a:noFill/>
          <a:ln/>
        </p:spPr>
        <p:txBody>
          <a:bodyPr wrap="square" lIns="0" tIns="0" rIns="0" bIns="0" rtlCol="0" anchor="ctr"/>
          <a:lstStyle/>
          <a:p>
            <a:pPr marL="0" indent="0" algn="ctr">
              <a:buNone/>
            </a:pPr>
            <a:r>
              <a:rPr lang="en-US" sz="4600" b="1" dirty="0">
                <a:solidFill>
                  <a:srgbClr val="B42318"/>
                </a:solidFill>
                <a:latin typeface="Cambria" pitchFamily="34" charset="0"/>
                <a:ea typeface="Cambria" pitchFamily="34" charset="-122"/>
                <a:cs typeface="Cambria" pitchFamily="34" charset="-120"/>
              </a:rPr>
              <a:t>−19%</a:t>
            </a:r>
            <a:endParaRPr lang="en-US" sz="4600" dirty="0"/>
          </a:p>
        </p:txBody>
      </p:sp>
      <p:sp>
        <p:nvSpPr>
          <p:cNvPr id="13" name="Text 11"/>
          <p:cNvSpPr/>
          <p:nvPr/>
        </p:nvSpPr>
        <p:spPr>
          <a:xfrm>
            <a:off x="4599432" y="3456432"/>
            <a:ext cx="2990088" cy="384048"/>
          </a:xfrm>
          <a:prstGeom prst="rect">
            <a:avLst/>
          </a:prstGeom>
          <a:noFill/>
          <a:ln/>
        </p:spPr>
        <p:txBody>
          <a:bodyPr wrap="square" lIns="0" tIns="0" rIns="0" bIns="0" rtlCol="0" anchor="t"/>
          <a:lstStyle/>
          <a:p>
            <a:pPr marL="0" indent="0" algn="ctr">
              <a:buNone/>
            </a:pPr>
            <a:r>
              <a:rPr lang="en-US" sz="1150" b="1" dirty="0">
                <a:solidFill>
                  <a:srgbClr val="2B3138"/>
                </a:solidFill>
                <a:latin typeface="Calibri" pitchFamily="34" charset="0"/>
                <a:ea typeface="Calibri" pitchFamily="34" charset="-122"/>
                <a:cs typeface="Calibri" pitchFamily="34" charset="-120"/>
              </a:rPr>
              <a:t>slower, not faster</a:t>
            </a:r>
            <a:endParaRPr lang="en-US" sz="1150" dirty="0"/>
          </a:p>
        </p:txBody>
      </p:sp>
      <p:sp>
        <p:nvSpPr>
          <p:cNvPr id="14" name="Text 12"/>
          <p:cNvSpPr/>
          <p:nvPr/>
        </p:nvSpPr>
        <p:spPr>
          <a:xfrm>
            <a:off x="4599432" y="4133088"/>
            <a:ext cx="2990088" cy="1572768"/>
          </a:xfrm>
          <a:prstGeom prst="rect">
            <a:avLst/>
          </a:prstGeom>
          <a:noFill/>
          <a:ln/>
        </p:spPr>
        <p:txBody>
          <a:bodyPr wrap="square" lIns="0" tIns="0" rIns="0" bIns="0" rtlCol="0" anchor="t"/>
          <a:lstStyle/>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16 experienced open-source developers, 246 issues, on repos they already knew well.</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They believed they were 20% faster. They were 19% slower.</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METR randomised controlled trial, July 2025.</a:t>
            </a:r>
            <a:endParaRPr lang="en-US" sz="1100" dirty="0"/>
          </a:p>
        </p:txBody>
      </p:sp>
      <p:sp>
        <p:nvSpPr>
          <p:cNvPr id="15" name="Shape 13"/>
          <p:cNvSpPr/>
          <p:nvPr/>
        </p:nvSpPr>
        <p:spPr>
          <a:xfrm>
            <a:off x="8083296" y="2267712"/>
            <a:ext cx="3538728" cy="3639312"/>
          </a:xfrm>
          <a:prstGeom prst="roundRect">
            <a:avLst>
              <a:gd name="adj" fmla="val 1550"/>
            </a:avLst>
          </a:prstGeom>
          <a:solidFill>
            <a:srgbClr val="FDF2EC"/>
          </a:solidFill>
          <a:ln w="9525">
            <a:solidFill>
              <a:srgbClr val="D8DEE4"/>
            </a:solidFill>
            <a:prstDash val="solid"/>
          </a:ln>
          <a:effectLst>
            <a:outerShdw blurRad="177800" dist="38100" dir="5400000" algn="bl" rotWithShape="0">
              <a:srgbClr val="8C959F">
                <a:alpha val="16000"/>
              </a:srgbClr>
            </a:outerShdw>
          </a:effectLst>
        </p:spPr>
      </p:sp>
      <p:sp>
        <p:nvSpPr>
          <p:cNvPr id="16" name="Shape 14"/>
          <p:cNvSpPr/>
          <p:nvPr/>
        </p:nvSpPr>
        <p:spPr>
          <a:xfrm>
            <a:off x="8357616" y="2542032"/>
            <a:ext cx="2990088" cy="1371600"/>
          </a:xfrm>
          <a:prstGeom prst="roundRect">
            <a:avLst>
              <a:gd name="adj" fmla="val 3333"/>
            </a:avLst>
          </a:prstGeom>
          <a:solidFill>
            <a:srgbClr val="FFFFFF"/>
          </a:solidFill>
          <a:ln w="9525">
            <a:solidFill>
              <a:srgbClr val="D8DEE4"/>
            </a:solidFill>
            <a:prstDash val="solid"/>
          </a:ln>
        </p:spPr>
      </p:sp>
      <p:sp>
        <p:nvSpPr>
          <p:cNvPr id="17" name="Text 15"/>
          <p:cNvSpPr/>
          <p:nvPr/>
        </p:nvSpPr>
        <p:spPr>
          <a:xfrm>
            <a:off x="8357616" y="2578608"/>
            <a:ext cx="2990088" cy="896112"/>
          </a:xfrm>
          <a:prstGeom prst="rect">
            <a:avLst/>
          </a:prstGeom>
          <a:noFill/>
          <a:ln/>
        </p:spPr>
        <p:txBody>
          <a:bodyPr wrap="square" lIns="0" tIns="0" rIns="0" bIns="0" rtlCol="0" anchor="ctr"/>
          <a:lstStyle/>
          <a:p>
            <a:pPr marL="0" indent="0" algn="ctr">
              <a:buNone/>
            </a:pPr>
            <a:r>
              <a:rPr lang="en-US" sz="4600" b="1" dirty="0">
                <a:solidFill>
                  <a:srgbClr val="C2410C"/>
                </a:solidFill>
                <a:latin typeface="Cambria" pitchFamily="34" charset="0"/>
                <a:ea typeface="Cambria" pitchFamily="34" charset="-122"/>
                <a:cs typeface="Cambria" pitchFamily="34" charset="-120"/>
              </a:rPr>
              <a:t>$13</a:t>
            </a:r>
            <a:endParaRPr lang="en-US" sz="4600" dirty="0"/>
          </a:p>
        </p:txBody>
      </p:sp>
      <p:sp>
        <p:nvSpPr>
          <p:cNvPr id="18" name="Text 16"/>
          <p:cNvSpPr/>
          <p:nvPr/>
        </p:nvSpPr>
        <p:spPr>
          <a:xfrm>
            <a:off x="8357616" y="3456432"/>
            <a:ext cx="2990088" cy="384048"/>
          </a:xfrm>
          <a:prstGeom prst="rect">
            <a:avLst/>
          </a:prstGeom>
          <a:noFill/>
          <a:ln/>
        </p:spPr>
        <p:txBody>
          <a:bodyPr wrap="square" lIns="0" tIns="0" rIns="0" bIns="0" rtlCol="0" anchor="t"/>
          <a:lstStyle/>
          <a:p>
            <a:pPr marL="0" indent="0" algn="ctr">
              <a:buNone/>
            </a:pPr>
            <a:r>
              <a:rPr lang="en-US" sz="1150" b="1" dirty="0">
                <a:solidFill>
                  <a:srgbClr val="2B3138"/>
                </a:solidFill>
                <a:latin typeface="Calibri" pitchFamily="34" charset="0"/>
                <a:ea typeface="Calibri" pitchFamily="34" charset="-122"/>
                <a:cs typeface="Calibri" pitchFamily="34" charset="-120"/>
              </a:rPr>
              <a:t>per developer, per active day</a:t>
            </a:r>
            <a:endParaRPr lang="en-US" sz="1150" dirty="0"/>
          </a:p>
        </p:txBody>
      </p:sp>
      <p:sp>
        <p:nvSpPr>
          <p:cNvPr id="19" name="Text 17"/>
          <p:cNvSpPr/>
          <p:nvPr/>
        </p:nvSpPr>
        <p:spPr>
          <a:xfrm>
            <a:off x="8357616" y="4133088"/>
            <a:ext cx="2990088" cy="1572768"/>
          </a:xfrm>
          <a:prstGeom prst="rect">
            <a:avLst/>
          </a:prstGeom>
          <a:noFill/>
          <a:ln/>
        </p:spPr>
        <p:txBody>
          <a:bodyPr wrap="square" lIns="0" tIns="0" rIns="0" bIns="0" rtlCol="0" anchor="t"/>
          <a:lstStyle/>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$150–250 per developer per month across enterprise deployments.</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90% of users stay under $30 per active day.</a:t>
            </a:r>
            <a:endParaRPr lang="en-US" sz="1100" dirty="0"/>
          </a:p>
          <a:p>
            <a:pPr marL="177800" indent="-177800">
              <a:lnSpc>
                <a:spcPts val="1452"/>
              </a:lnSpc>
              <a:spcAft>
                <a:spcPts val="700"/>
              </a:spcAft>
              <a:buSzPct val="100000"/>
              <a:buChar char="•"/>
            </a:pPr>
            <a:r>
              <a:rPr lang="en-US" sz="1100" dirty="0">
                <a:solidFill>
                  <a:srgbClr val="2B3138"/>
                </a:solidFill>
                <a:latin typeface="Calibri" pitchFamily="34" charset="0"/>
                <a:ea typeface="Calibri" pitchFamily="34" charset="-122"/>
                <a:cs typeface="Calibri" pitchFamily="34" charset="-120"/>
              </a:rPr>
              <a:t>Anthropic's own published figure.</a:t>
            </a:r>
            <a:endParaRPr lang="en-US" sz="1100" dirty="0"/>
          </a:p>
        </p:txBody>
      </p:sp>
      <p:sp>
        <p:nvSpPr>
          <p:cNvPr id="20" name="Text 18"/>
          <p:cNvSpPr/>
          <p:nvPr/>
        </p:nvSpPr>
        <p:spPr>
          <a:xfrm>
            <a:off x="566928" y="6437376"/>
            <a:ext cx="10552176" cy="237744"/>
          </a:xfrm>
          <a:prstGeom prst="rect">
            <a:avLst/>
          </a:prstGeom>
          <a:noFill/>
          <a:ln/>
        </p:spPr>
        <p:txBody>
          <a:bodyPr wrap="square" lIns="0" tIns="0" rIns="0" bIns="0" rtlCol="0" anchor="ctr"/>
          <a:lstStyle/>
          <a:p>
            <a:pPr marL="0" indent="0">
              <a:buNone/>
            </a:pPr>
            <a:r>
              <a:rPr lang="en-US" sz="850" b="1" dirty="0">
                <a:solidFill>
                  <a:srgbClr val="6E7781"/>
                </a:solidFill>
                <a:latin typeface="Calibri" pitchFamily="34" charset="0"/>
                <a:ea typeface="Calibri" pitchFamily="34" charset="-122"/>
                <a:cs typeface="Calibri" pitchFamily="34" charset="-120"/>
              </a:rPr>
              <a:t>Sources   </a:t>
            </a:r>
            <a:r>
              <a:rPr lang="en-US" sz="850" dirty="0">
                <a:solidFill>
                  <a:srgbClr val="6E7781"/>
                </a:solidFill>
                <a:latin typeface="Calibri" pitchFamily="34" charset="0"/>
                <a:ea typeface="Calibri" pitchFamily="34" charset="-122"/>
                <a:cs typeface="Calibri" pitchFamily="34" charset="-120"/>
              </a:rPr>
              <a:t>pubsonline.informs.org/doi/10.1287/mnsc.2025.00535 · metr.org/blog/2025-07-10-early-2025-ai-experienced-os-dev-study · dora.dev/dora-report-2025 · code.claude.com/docs/en/costs</a:t>
            </a:r>
            <a:endParaRPr lang="en-US" sz="850" dirty="0"/>
          </a:p>
        </p:txBody>
      </p:sp>
      <p:sp>
        <p:nvSpPr>
          <p:cNvPr id="25"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25</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anim calcmode="lin" valueType="num">
                                      <p:cBhvr additive="base">
                                        <p:cTn id="8" dur="420" fill="hold"/>
                                        <p:tgtEl>
                                          <p:spTgt spid="5"/>
                                        </p:tgtEl>
                                        <p:attrNameLst>
                                          <p:attrName>ppt_y</p:attrName>
                                        </p:attrNameLst>
                                      </p:cBhvr>
                                      <p:tavLst>
                                        <p:tav tm="0">
                                          <p:val>
                                            <p:strVal val="#ppt_y+0.035"/>
                                          </p:val>
                                        </p:tav>
                                        <p:tav tm="100000">
                                          <p:val>
                                            <p:strVal val="#ppt_y"/>
                                          </p:val>
                                        </p:tav>
                                      </p:tavLst>
                                    </p:anim>
                                    <p:set>
                                      <p:cBhvr>
                                        <p:cTn id="9" dur="1" fill="hold">
                                          <p:stCondLst>
                                            <p:cond delay="0"/>
                                          </p:stCondLst>
                                        </p:cTn>
                                        <p:tgtEl>
                                          <p:spTgt spid="10"/>
                                        </p:tgtEl>
                                        <p:attrNameLst>
                                          <p:attrName>style.visibility</p:attrName>
                                        </p:attrNameLst>
                                      </p:cBhvr>
                                      <p:to>
                                        <p:strVal val="visible"/>
                                      </p:to>
                                    </p:set>
                                    <p:animEffect transition="in" filter="fade">
                                      <p:cBhvr>
                                        <p:cTn id="10" dur="420"/>
                                        <p:tgtEl>
                                          <p:spTgt spid="10"/>
                                        </p:tgtEl>
                                      </p:cBhvr>
                                    </p:animEffect>
                                    <p:anim calcmode="lin" valueType="num">
                                      <p:cBhvr additive="base">
                                        <p:cTn id="11" dur="420" fill="hold"/>
                                        <p:tgtEl>
                                          <p:spTgt spid="10"/>
                                        </p:tgtEl>
                                        <p:attrNameLst>
                                          <p:attrName>ppt_y</p:attrName>
                                        </p:attrNameLst>
                                      </p:cBhvr>
                                      <p:tavLst>
                                        <p:tav tm="0">
                                          <p:val>
                                            <p:strVal val="#ppt_y+0.035"/>
                                          </p:val>
                                        </p:tav>
                                        <p:tav tm="100000">
                                          <p:val>
                                            <p:strVal val="#ppt_y"/>
                                          </p:val>
                                        </p:tav>
                                      </p:tavLst>
                                    </p:anim>
                                    <p:set>
                                      <p:cBhvr>
                                        <p:cTn id="12" dur="1" fill="hold">
                                          <p:stCondLst>
                                            <p:cond delay="0"/>
                                          </p:stCondLst>
                                        </p:cTn>
                                        <p:tgtEl>
                                          <p:spTgt spid="15"/>
                                        </p:tgtEl>
                                        <p:attrNameLst>
                                          <p:attrName>style.visibility</p:attrName>
                                        </p:attrNameLst>
                                      </p:cBhvr>
                                      <p:to>
                                        <p:strVal val="visible"/>
                                      </p:to>
                                    </p:set>
                                    <p:animEffect transition="in" filter="fade">
                                      <p:cBhvr>
                                        <p:cTn id="13" dur="420"/>
                                        <p:tgtEl>
                                          <p:spTgt spid="15"/>
                                        </p:tgtEl>
                                      </p:cBhvr>
                                    </p:animEffect>
                                    <p:anim calcmode="lin" valueType="num">
                                      <p:cBhvr additive="base">
                                        <p:cTn id="14" dur="420" fill="hold"/>
                                        <p:tgtEl>
                                          <p:spTgt spid="15"/>
                                        </p:tgtEl>
                                        <p:attrNameLst>
                                          <p:attrName>ppt_y</p:attrName>
                                        </p:attrNameLst>
                                      </p:cBhvr>
                                      <p:tavLst>
                                        <p:tav tm="0">
                                          <p:val>
                                            <p:strVal val="#ppt_y+0.035"/>
                                          </p:val>
                                        </p:tav>
                                        <p:tav tm="100000">
                                          <p:val>
                                            <p:strVal val="#ppt_y"/>
                                          </p:val>
                                        </p:tav>
                                      </p:tavLst>
                                    </p:anim>
                                    <p:set>
                                      <p:cBhvr>
                                        <p:cTn id="15" dur="1" fill="hold">
                                          <p:stCondLst>
                                            <p:cond delay="0"/>
                                          </p:stCondLst>
                                        </p:cTn>
                                        <p:tgtEl>
                                          <p:spTgt spid="6"/>
                                        </p:tgtEl>
                                        <p:attrNameLst>
                                          <p:attrName>style.visibility</p:attrName>
                                        </p:attrNameLst>
                                      </p:cBhvr>
                                      <p:to>
                                        <p:strVal val="visible"/>
                                      </p:to>
                                    </p:set>
                                    <p:animEffect transition="in" filter="fade">
                                      <p:cBhvr>
                                        <p:cTn id="16" dur="420"/>
                                        <p:tgtEl>
                                          <p:spTgt spid="6"/>
                                        </p:tgtEl>
                                      </p:cBhvr>
                                    </p:animEffect>
                                    <p:anim calcmode="lin" valueType="num">
                                      <p:cBhvr additive="base">
                                        <p:cTn id="17" dur="420" fill="hold"/>
                                        <p:tgtEl>
                                          <p:spTgt spid="6"/>
                                        </p:tgtEl>
                                        <p:attrNameLst>
                                          <p:attrName>ppt_y</p:attrName>
                                        </p:attrNameLst>
                                      </p:cBhvr>
                                      <p:tavLst>
                                        <p:tav tm="0">
                                          <p:val>
                                            <p:strVal val="#ppt_y+0.035"/>
                                          </p:val>
                                        </p:tav>
                                        <p:tav tm="100000">
                                          <p:val>
                                            <p:strVal val="#ppt_y"/>
                                          </p:val>
                                        </p:tav>
                                      </p:tavLst>
                                    </p:anim>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anim calcmode="lin" valueType="num">
                                      <p:cBhvr additive="base">
                                        <p:cTn id="20" dur="420" fill="hold"/>
                                        <p:tgtEl>
                                          <p:spTgt spid="11"/>
                                        </p:tgtEl>
                                        <p:attrNameLst>
                                          <p:attrName>ppt_y</p:attrName>
                                        </p:attrNameLst>
                                      </p:cBhvr>
                                      <p:tavLst>
                                        <p:tav tm="0">
                                          <p:val>
                                            <p:strVal val="#ppt_y+0.035"/>
                                          </p:val>
                                        </p:tav>
                                        <p:tav tm="100000">
                                          <p:val>
                                            <p:strVal val="#ppt_y"/>
                                          </p:val>
                                        </p:tav>
                                      </p:tavLst>
                                    </p:anim>
                                    <p:set>
                                      <p:cBhvr>
                                        <p:cTn id="21" dur="1" fill="hold">
                                          <p:stCondLst>
                                            <p:cond delay="0"/>
                                          </p:stCondLst>
                                        </p:cTn>
                                        <p:tgtEl>
                                          <p:spTgt spid="16"/>
                                        </p:tgtEl>
                                        <p:attrNameLst>
                                          <p:attrName>style.visibility</p:attrName>
                                        </p:attrNameLst>
                                      </p:cBhvr>
                                      <p:to>
                                        <p:strVal val="visible"/>
                                      </p:to>
                                    </p:set>
                                    <p:animEffect transition="in" filter="fade">
                                      <p:cBhvr>
                                        <p:cTn id="22" dur="420"/>
                                        <p:tgtEl>
                                          <p:spTgt spid="16"/>
                                        </p:tgtEl>
                                      </p:cBhvr>
                                    </p:animEffect>
                                    <p:anim calcmode="lin" valueType="num">
                                      <p:cBhvr additive="base">
                                        <p:cTn id="23" dur="420" fill="hold"/>
                                        <p:tgtEl>
                                          <p:spTgt spid="16"/>
                                        </p:tgtEl>
                                        <p:attrNameLst>
                                          <p:attrName>ppt_y</p:attrName>
                                        </p:attrNameLst>
                                      </p:cBhvr>
                                      <p:tavLst>
                                        <p:tav tm="0">
                                          <p:val>
                                            <p:strVal val="#ppt_y+0.035"/>
                                          </p:val>
                                        </p:tav>
                                        <p:tav tm="100000">
                                          <p:val>
                                            <p:strVal val="#ppt_y"/>
                                          </p:val>
                                        </p:tav>
                                      </p:tavLst>
                                    </p:anim>
                                    <p:set>
                                      <p:cBhvr>
                                        <p:cTn id="24" dur="1" fill="hold">
                                          <p:stCondLst>
                                            <p:cond delay="0"/>
                                          </p:stCondLst>
                                        </p:cTn>
                                        <p:tgtEl>
                                          <p:spTgt spid="7"/>
                                        </p:tgtEl>
                                        <p:attrNameLst>
                                          <p:attrName>style.visibility</p:attrName>
                                        </p:attrNameLst>
                                      </p:cBhvr>
                                      <p:to>
                                        <p:strVal val="visible"/>
                                      </p:to>
                                    </p:set>
                                    <p:animEffect transition="in" filter="fade">
                                      <p:cBhvr>
                                        <p:cTn id="25" dur="420"/>
                                        <p:tgtEl>
                                          <p:spTgt spid="7"/>
                                        </p:tgtEl>
                                      </p:cBhvr>
                                    </p:animEffect>
                                    <p:anim calcmode="lin" valueType="num">
                                      <p:cBhvr additive="base">
                                        <p:cTn id="26" dur="420" fill="hold"/>
                                        <p:tgtEl>
                                          <p:spTgt spid="7"/>
                                        </p:tgtEl>
                                        <p:attrNameLst>
                                          <p:attrName>ppt_y</p:attrName>
                                        </p:attrNameLst>
                                      </p:cBhvr>
                                      <p:tavLst>
                                        <p:tav tm="0">
                                          <p:val>
                                            <p:strVal val="#ppt_y+0.035"/>
                                          </p:val>
                                        </p:tav>
                                        <p:tav tm="100000">
                                          <p:val>
                                            <p:strVal val="#ppt_y"/>
                                          </p:val>
                                        </p:tav>
                                      </p:tavLst>
                                    </p:anim>
                                    <p:set>
                                      <p:cBhvr>
                                        <p:cTn id="27" dur="1" fill="hold">
                                          <p:stCondLst>
                                            <p:cond delay="0"/>
                                          </p:stCondLst>
                                        </p:cTn>
                                        <p:tgtEl>
                                          <p:spTgt spid="12"/>
                                        </p:tgtEl>
                                        <p:attrNameLst>
                                          <p:attrName>style.visibility</p:attrName>
                                        </p:attrNameLst>
                                      </p:cBhvr>
                                      <p:to>
                                        <p:strVal val="visible"/>
                                      </p:to>
                                    </p:set>
                                    <p:animEffect transition="in" filter="fade">
                                      <p:cBhvr>
                                        <p:cTn id="28" dur="420"/>
                                        <p:tgtEl>
                                          <p:spTgt spid="12"/>
                                        </p:tgtEl>
                                      </p:cBhvr>
                                    </p:animEffect>
                                    <p:anim calcmode="lin" valueType="num">
                                      <p:cBhvr additive="base">
                                        <p:cTn id="29" dur="420" fill="hold"/>
                                        <p:tgtEl>
                                          <p:spTgt spid="12"/>
                                        </p:tgtEl>
                                        <p:attrNameLst>
                                          <p:attrName>ppt_y</p:attrName>
                                        </p:attrNameLst>
                                      </p:cBhvr>
                                      <p:tavLst>
                                        <p:tav tm="0">
                                          <p:val>
                                            <p:strVal val="#ppt_y+0.035"/>
                                          </p:val>
                                        </p:tav>
                                        <p:tav tm="100000">
                                          <p:val>
                                            <p:strVal val="#ppt_y"/>
                                          </p:val>
                                        </p:tav>
                                      </p:tavLst>
                                    </p:anim>
                                    <p:set>
                                      <p:cBhvr>
                                        <p:cTn id="30" dur="1" fill="hold">
                                          <p:stCondLst>
                                            <p:cond delay="0"/>
                                          </p:stCondLst>
                                        </p:cTn>
                                        <p:tgtEl>
                                          <p:spTgt spid="17"/>
                                        </p:tgtEl>
                                        <p:attrNameLst>
                                          <p:attrName>style.visibility</p:attrName>
                                        </p:attrNameLst>
                                      </p:cBhvr>
                                      <p:to>
                                        <p:strVal val="visible"/>
                                      </p:to>
                                    </p:set>
                                    <p:animEffect transition="in" filter="fade">
                                      <p:cBhvr>
                                        <p:cTn id="31" dur="420"/>
                                        <p:tgtEl>
                                          <p:spTgt spid="17"/>
                                        </p:tgtEl>
                                      </p:cBhvr>
                                    </p:animEffect>
                                    <p:anim calcmode="lin" valueType="num">
                                      <p:cBhvr additive="base">
                                        <p:cTn id="32" dur="420" fill="hold"/>
                                        <p:tgtEl>
                                          <p:spTgt spid="17"/>
                                        </p:tgtEl>
                                        <p:attrNameLst>
                                          <p:attrName>ppt_y</p:attrName>
                                        </p:attrNameLst>
                                      </p:cBhvr>
                                      <p:tavLst>
                                        <p:tav tm="0">
                                          <p:val>
                                            <p:strVal val="#ppt_y+0.035"/>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420"/>
                                        <p:tgtEl>
                                          <p:spTgt spid="8"/>
                                        </p:tgtEl>
                                      </p:cBhvr>
                                    </p:animEffect>
                                    <p:anim calcmode="lin" valueType="num">
                                      <p:cBhvr additive="base">
                                        <p:cTn id="38" dur="420" fill="hold"/>
                                        <p:tgtEl>
                                          <p:spTgt spid="8"/>
                                        </p:tgtEl>
                                        <p:attrNameLst>
                                          <p:attrName>ppt_y</p:attrName>
                                        </p:attrNameLst>
                                      </p:cBhvr>
                                      <p:tavLst>
                                        <p:tav tm="0">
                                          <p:val>
                                            <p:strVal val="#ppt_y+0.035"/>
                                          </p:val>
                                        </p:tav>
                                        <p:tav tm="100000">
                                          <p:val>
                                            <p:strVal val="#ppt_y"/>
                                          </p:val>
                                        </p:tav>
                                      </p:tavLst>
                                    </p:anim>
                                    <p:set>
                                      <p:cBhvr>
                                        <p:cTn id="39" dur="1" fill="hold">
                                          <p:stCondLst>
                                            <p:cond delay="0"/>
                                          </p:stCondLst>
                                        </p:cTn>
                                        <p:tgtEl>
                                          <p:spTgt spid="13"/>
                                        </p:tgtEl>
                                        <p:attrNameLst>
                                          <p:attrName>style.visibility</p:attrName>
                                        </p:attrNameLst>
                                      </p:cBhvr>
                                      <p:to>
                                        <p:strVal val="visible"/>
                                      </p:to>
                                    </p:set>
                                    <p:animEffect transition="in" filter="fade">
                                      <p:cBhvr>
                                        <p:cTn id="40" dur="420"/>
                                        <p:tgtEl>
                                          <p:spTgt spid="13"/>
                                        </p:tgtEl>
                                      </p:cBhvr>
                                    </p:animEffect>
                                    <p:anim calcmode="lin" valueType="num">
                                      <p:cBhvr additive="base">
                                        <p:cTn id="41" dur="420" fill="hold"/>
                                        <p:tgtEl>
                                          <p:spTgt spid="13"/>
                                        </p:tgtEl>
                                        <p:attrNameLst>
                                          <p:attrName>ppt_y</p:attrName>
                                        </p:attrNameLst>
                                      </p:cBhvr>
                                      <p:tavLst>
                                        <p:tav tm="0">
                                          <p:val>
                                            <p:strVal val="#ppt_y+0.035"/>
                                          </p:val>
                                        </p:tav>
                                        <p:tav tm="100000">
                                          <p:val>
                                            <p:strVal val="#ppt_y"/>
                                          </p:val>
                                        </p:tav>
                                      </p:tavLst>
                                    </p:anim>
                                    <p:set>
                                      <p:cBhvr>
                                        <p:cTn id="42" dur="1" fill="hold">
                                          <p:stCondLst>
                                            <p:cond delay="0"/>
                                          </p:stCondLst>
                                        </p:cTn>
                                        <p:tgtEl>
                                          <p:spTgt spid="18"/>
                                        </p:tgtEl>
                                        <p:attrNameLst>
                                          <p:attrName>style.visibility</p:attrName>
                                        </p:attrNameLst>
                                      </p:cBhvr>
                                      <p:to>
                                        <p:strVal val="visible"/>
                                      </p:to>
                                    </p:set>
                                    <p:animEffect transition="in" filter="fade">
                                      <p:cBhvr>
                                        <p:cTn id="43" dur="420"/>
                                        <p:tgtEl>
                                          <p:spTgt spid="18"/>
                                        </p:tgtEl>
                                      </p:cBhvr>
                                    </p:animEffect>
                                    <p:anim calcmode="lin" valueType="num">
                                      <p:cBhvr additive="base">
                                        <p:cTn id="44" dur="420" fill="hold"/>
                                        <p:tgtEl>
                                          <p:spTgt spid="18"/>
                                        </p:tgtEl>
                                        <p:attrNameLst>
                                          <p:attrName>ppt_y</p:attrName>
                                        </p:attrNameLst>
                                      </p:cBhvr>
                                      <p:tavLst>
                                        <p:tav tm="0">
                                          <p:val>
                                            <p:strVal val="#ppt_y+0.035"/>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420"/>
                                        <p:tgtEl>
                                          <p:spTgt spid="9"/>
                                        </p:tgtEl>
                                      </p:cBhvr>
                                    </p:animEffect>
                                    <p:anim calcmode="lin" valueType="num">
                                      <p:cBhvr additive="base">
                                        <p:cTn id="50" dur="420" fill="hold"/>
                                        <p:tgtEl>
                                          <p:spTgt spid="9"/>
                                        </p:tgtEl>
                                        <p:attrNameLst>
                                          <p:attrName>ppt_y</p:attrName>
                                        </p:attrNameLst>
                                      </p:cBhvr>
                                      <p:tavLst>
                                        <p:tav tm="0">
                                          <p:val>
                                            <p:strVal val="#ppt_y+0.035"/>
                                          </p:val>
                                        </p:tav>
                                        <p:tav tm="100000">
                                          <p:val>
                                            <p:strVal val="#ppt_y"/>
                                          </p:val>
                                        </p:tav>
                                      </p:tavLst>
                                    </p:anim>
                                    <p:set>
                                      <p:cBhvr>
                                        <p:cTn id="51" dur="1" fill="hold">
                                          <p:stCondLst>
                                            <p:cond delay="0"/>
                                          </p:stCondLst>
                                        </p:cTn>
                                        <p:tgtEl>
                                          <p:spTgt spid="14"/>
                                        </p:tgtEl>
                                        <p:attrNameLst>
                                          <p:attrName>style.visibility</p:attrName>
                                        </p:attrNameLst>
                                      </p:cBhvr>
                                      <p:to>
                                        <p:strVal val="visible"/>
                                      </p:to>
                                    </p:set>
                                    <p:animEffect transition="in" filter="fade">
                                      <p:cBhvr>
                                        <p:cTn id="52" dur="420"/>
                                        <p:tgtEl>
                                          <p:spTgt spid="14"/>
                                        </p:tgtEl>
                                      </p:cBhvr>
                                    </p:animEffect>
                                    <p:anim calcmode="lin" valueType="num">
                                      <p:cBhvr additive="base">
                                        <p:cTn id="53" dur="420" fill="hold"/>
                                        <p:tgtEl>
                                          <p:spTgt spid="14"/>
                                        </p:tgtEl>
                                        <p:attrNameLst>
                                          <p:attrName>ppt_y</p:attrName>
                                        </p:attrNameLst>
                                      </p:cBhvr>
                                      <p:tavLst>
                                        <p:tav tm="0">
                                          <p:val>
                                            <p:strVal val="#ppt_y+0.035"/>
                                          </p:val>
                                        </p:tav>
                                        <p:tav tm="100000">
                                          <p:val>
                                            <p:strVal val="#ppt_y"/>
                                          </p:val>
                                        </p:tav>
                                      </p:tavLst>
                                    </p:anim>
                                    <p:set>
                                      <p:cBhvr>
                                        <p:cTn id="54" dur="1" fill="hold">
                                          <p:stCondLst>
                                            <p:cond delay="0"/>
                                          </p:stCondLst>
                                        </p:cTn>
                                        <p:tgtEl>
                                          <p:spTgt spid="19"/>
                                        </p:tgtEl>
                                        <p:attrNameLst>
                                          <p:attrName>style.visibility</p:attrName>
                                        </p:attrNameLst>
                                      </p:cBhvr>
                                      <p:to>
                                        <p:strVal val="visible"/>
                                      </p:to>
                                    </p:set>
                                    <p:animEffect transition="in" filter="fade">
                                      <p:cBhvr>
                                        <p:cTn id="55" dur="420"/>
                                        <p:tgtEl>
                                          <p:spTgt spid="19"/>
                                        </p:tgtEl>
                                      </p:cBhvr>
                                    </p:animEffect>
                                    <p:anim calcmode="lin" valueType="num">
                                      <p:cBhvr additive="base">
                                        <p:cTn id="56" dur="420" fill="hold"/>
                                        <p:tgtEl>
                                          <p:spTgt spid="19"/>
                                        </p:tgtEl>
                                        <p:attrNameLst>
                                          <p:attrName>ppt_y</p:attrName>
                                        </p:attrNameLst>
                                      </p:cBhvr>
                                      <p:tavLst>
                                        <p:tav tm="0">
                                          <p:val>
                                            <p:strVal val="#ppt_y+0.035"/>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420"/>
                                        <p:tgtEl>
                                          <p:spTgt spid="20"/>
                                        </p:tgtEl>
                                      </p:cBhvr>
                                    </p:animEffect>
                                    <p:anim calcmode="lin" valueType="num">
                                      <p:cBhvr additive="base">
                                        <p:cTn id="62" dur="420" fill="hold"/>
                                        <p:tgtEl>
                                          <p:spTgt spid="20"/>
                                        </p:tgtEl>
                                        <p:attrNameLst>
                                          <p:attrName>ppt_y</p:attrName>
                                        </p:attrNameLst>
                                      </p:cBhvr>
                                      <p:tavLst>
                                        <p:tav tm="0">
                                          <p:val>
                                            <p:strVal val="#ppt_y+0.035"/>
                                          </p:val>
                                        </p:tav>
                                        <p:tav tm="100000">
                                          <p:val>
                                            <p:strVal val="#ppt_y"/>
                                          </p:val>
                                        </p:tav>
                                      </p:tavLst>
                                    </p:anim>
                                    <p:set>
                                      <p:cBhvr>
                                        <p:cTn id="63" dur="1" fill="hold">
                                          <p:stCondLst>
                                            <p:cond delay="0"/>
                                          </p:stCondLst>
                                        </p:cTn>
                                        <p:tgtEl>
                                          <p:spTgt spid="25"/>
                                        </p:tgtEl>
                                        <p:attrNameLst>
                                          <p:attrName>style.visibility</p:attrName>
                                        </p:attrNameLst>
                                      </p:cBhvr>
                                      <p:to>
                                        <p:strVal val="visible"/>
                                      </p:to>
                                    </p:set>
                                    <p:animEffect transition="in" filter="fade">
                                      <p:cBhvr>
                                        <p:cTn id="64" dur="420"/>
                                        <p:tgtEl>
                                          <p:spTgt spid="25"/>
                                        </p:tgtEl>
                                      </p:cBhvr>
                                    </p:animEffect>
                                    <p:anim calcmode="lin" valueType="num">
                                      <p:cBhvr additive="base">
                                        <p:cTn id="65" dur="420" fill="hold"/>
                                        <p:tgtEl>
                                          <p:spTgt spid="2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animBg="1"/>
      <p:bldP spid="9" grpId="0" animBg="1"/>
      <p:bldP spid="10" grpId="0"/>
      <p:bldP spid="11" grpId="0"/>
      <p:bldP spid="12" grpId="0"/>
      <p:bldP spid="13" grpId="0"/>
      <p:bldP spid="14" grpId="0"/>
      <p:bldP spid="15" grpId="0"/>
      <p:bldP spid="16" grpId="0"/>
      <p:bldP spid="17" grpId="0"/>
      <p:bldP spid="18" grpId="0"/>
      <p:bldP spid="19" grpId="0"/>
      <p:bldP spid="20" grpId="0" animBg="1"/>
      <p:bldP spid="25" grpId="0"/>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07</a:t>
            </a:r>
            <a:r>
              <a:rPr lang="en-US" sz="1150" b="1" kern="0" spc="160" dirty="0">
                <a:solidFill>
                  <a:srgbClr val="6E7781"/>
                </a:solidFill>
                <a:latin typeface="Calibri" pitchFamily="34" charset="0"/>
                <a:ea typeface="Calibri" pitchFamily="34" charset="-122"/>
                <a:cs typeface="Calibri" pitchFamily="34" charset="-120"/>
              </a:rPr>
              <a:t>   SOURCES  ·  1 OF 2</a:t>
            </a:r>
            <a:endParaRPr lang="en-US" sz="1150" dirty="0"/>
          </a:p>
        </p:txBody>
      </p:sp>
      <p:sp>
        <p:nvSpPr>
          <p:cNvPr id="3" name="Text 1"/>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Where every claim in this deck came from</a:t>
            </a:r>
            <a:endParaRPr lang="en-US" sz="3200" dirty="0"/>
          </a:p>
        </p:txBody>
      </p:sp>
      <p:sp>
        <p:nvSpPr>
          <p:cNvPr id="4" name="Text 2"/>
          <p:cNvSpPr/>
          <p:nvPr/>
        </p:nvSpPr>
        <p:spPr>
          <a:xfrm>
            <a:off x="566928" y="1389888"/>
            <a:ext cx="11055096" cy="566928"/>
          </a:xfrm>
          <a:prstGeom prst="rect">
            <a:avLst/>
          </a:prstGeom>
          <a:noFill/>
          <a:ln/>
        </p:spPr>
        <p:txBody>
          <a:bodyPr wrap="square" lIns="0" tIns="0" rIns="0" bIns="0" rtlCol="0" anchor="t"/>
          <a:lstStyle/>
          <a:p>
            <a:pPr marL="0" indent="0">
              <a:lnSpc>
                <a:spcPts val="1850"/>
              </a:lnSpc>
              <a:buNone/>
            </a:pPr>
            <a:r>
              <a:rPr lang="en-US" sz="1350" dirty="0">
                <a:solidFill>
                  <a:srgbClr val="2B3138"/>
                </a:solidFill>
                <a:latin typeface="Calibri" pitchFamily="34" charset="0"/>
                <a:ea typeface="Calibri" pitchFamily="34" charset="-122"/>
                <a:cs typeface="Calibri" pitchFamily="34" charset="-120"/>
              </a:rPr>
              <a:t>Re-verified on 31 July 2026 against primary sources only: vendor documentation, vendor changelogs, and the original studies. Anything that could not be traced to one of those was cut rather than softened.</a:t>
            </a:r>
            <a:endParaRPr lang="en-US" sz="1350" dirty="0"/>
          </a:p>
        </p:txBody>
      </p:sp>
      <p:sp>
        <p:nvSpPr>
          <p:cNvPr id="5" name="Text 3"/>
          <p:cNvSpPr/>
          <p:nvPr/>
        </p:nvSpPr>
        <p:spPr>
          <a:xfrm>
            <a:off x="566928" y="2139696"/>
            <a:ext cx="5298948" cy="4206240"/>
          </a:xfrm>
          <a:prstGeom prst="rect">
            <a:avLst/>
          </a:prstGeom>
          <a:noFill/>
          <a:ln/>
        </p:spPr>
        <p:txBody>
          <a:bodyPr wrap="square" lIns="0" tIns="0" rIns="0" bIns="0" rtlCol="0" anchor="t"/>
          <a:lstStyle/>
          <a:p>
            <a:pPr marL="0" indent="0">
              <a:lnSpc>
                <a:spcPts val="1150"/>
              </a:lnSpc>
              <a:buNone/>
            </a:pPr>
            <a:r>
              <a:rPr lang="en-US" sz="900" b="1" kern="0" spc="120" dirty="0">
                <a:solidFill>
                  <a:srgbClr val="C2410C"/>
                </a:solidFill>
                <a:latin typeface="Calibri" pitchFamily="34" charset="0"/>
                <a:ea typeface="Calibri" pitchFamily="34" charset="-122"/>
                <a:cs typeface="Calibri" pitchFamily="34" charset="-120"/>
              </a:rPr>
              <a:t>FOUNDATION &amp; HOW AGENTS RUN</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Anthropic's definition of a loop</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claude.com/blog/getting-started-with-loops</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Copilot cloud agent — sandbox, firewall, CodeQL, secret scan, injection filtering</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docs.github.com/en/copilot/responsible-use/copilot-cloud-agent</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Cloud agent cannot mark ready, approve or merge its own PR; "Approve and run" for Actions</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docs.github.com/en/copilot/concepts/agents/coding-agent/risks-and-mitigations</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Copilot agent entry points (issues, Jira, Boards, Linear, Slack, Teams)</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docs.github.com/en/copilot/how-tos/use-copilot-agents/cloud-agent/start-copilot-sessions</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Claude Code CLI: -p, --output-format, --max-turns, --max-budget-usd (print mode only)</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code.claude.com/docs/en/cli-reference</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Claude Code worktrees and .worktreeinclude (gitignored files only)</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code.claude.com/docs/en/worktrees</a:t>
            </a:r>
            <a:endParaRPr lang="en-US" sz="900" dirty="0"/>
          </a:p>
          <a:p>
            <a:pPr marL="0" indent="0">
              <a:lnSpc>
                <a:spcPts val="1150"/>
              </a:lnSpc>
              <a:buNone/>
            </a:pPr>
            <a:r>
              <a:rPr lang="en-US" sz="600" dirty="0">
                <a:solidFill>
                  <a:srgbClr val="000000"/>
                </a:solidFill>
                <a:latin typeface="Calibri" pitchFamily="34" charset="0"/>
                <a:ea typeface="Calibri" pitchFamily="34" charset="-122"/>
                <a:cs typeface="Calibri" pitchFamily="34" charset="-120"/>
              </a:rPr>
              <a:t> </a:t>
            </a:r>
            <a:endParaRPr lang="en-US" sz="900" dirty="0"/>
          </a:p>
          <a:p>
            <a:pPr marL="0" indent="0">
              <a:lnSpc>
                <a:spcPts val="1150"/>
              </a:lnSpc>
              <a:buNone/>
            </a:pPr>
            <a:r>
              <a:rPr lang="en-US" sz="900" b="1" kern="0" spc="120" dirty="0">
                <a:solidFill>
                  <a:srgbClr val="C2410C"/>
                </a:solidFill>
                <a:latin typeface="Calibri" pitchFamily="34" charset="0"/>
                <a:ea typeface="Calibri" pitchFamily="34" charset="-122"/>
                <a:cs typeface="Calibri" pitchFamily="34" charset="-120"/>
              </a:rPr>
              <a:t>THE DESKTOP APPS</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GitHub Copilot app generally available — 17 June 2026 (macOS, Windows, Linux)</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github.blog/changelog/2026-06-17-github-copilot-app-generally-available/</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Claude Cowork and Claude Code on Desktop GA — 9 April 2026, all paid plans</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claude.com/blog/cowork-for-enterprise</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Copilot for Jira generally available — 25 June 2026</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github.blog/changelog/2026-06-25-github-copilot-for-jira-is-now-generally-available/</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Enterprise AI Controls and agent control plane GA — 26 February 2026</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github.blog/changelog/2026-02-26-enterprise-ai-controls-agent-control-plane-now-generally-available/</a:t>
            </a:r>
            <a:endParaRPr lang="en-US" sz="900" dirty="0"/>
          </a:p>
        </p:txBody>
      </p:sp>
      <p:sp>
        <p:nvSpPr>
          <p:cNvPr id="6" name="Text 4"/>
          <p:cNvSpPr/>
          <p:nvPr/>
        </p:nvSpPr>
        <p:spPr>
          <a:xfrm>
            <a:off x="6323076" y="2139696"/>
            <a:ext cx="5298948" cy="4206240"/>
          </a:xfrm>
          <a:prstGeom prst="rect">
            <a:avLst/>
          </a:prstGeom>
          <a:noFill/>
          <a:ln/>
        </p:spPr>
        <p:txBody>
          <a:bodyPr wrap="square" lIns="0" tIns="0" rIns="0" bIns="0" rtlCol="0" anchor="t"/>
          <a:lstStyle/>
          <a:p>
            <a:pPr marL="0" indent="0">
              <a:lnSpc>
                <a:spcPts val="1150"/>
              </a:lnSpc>
              <a:buNone/>
            </a:pPr>
            <a:r>
              <a:rPr lang="en-US" sz="900" b="1" kern="0" spc="120" dirty="0">
                <a:solidFill>
                  <a:srgbClr val="C2410C"/>
                </a:solidFill>
                <a:latin typeface="Calibri" pitchFamily="34" charset="0"/>
                <a:ea typeface="Calibri" pitchFamily="34" charset="-122"/>
                <a:cs typeface="Calibri" pitchFamily="34" charset="-120"/>
              </a:rPr>
              <a:t>THE TWO HARNESSES</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Copilot agent mode and find_symbol in Visual Studio</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learn.microsoft.com/visualstudio/ide/copilot-agent-mode</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Visual Studio specialized agents — @debugger, @git, @profiler, @test, @modernize, Plan</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learn.microsoft.com/visualstudio/ide/copilot-specialized-agents</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Agent Skills in Visual Studio 2026 18.5+ — .github/skills/, .claude/skills/, .agents/skills/</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learn.microsoft.com/visualstudio/ide/copilot-agent-skills</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Azure Boards to Copilot: GitHub repos only, Azure Repos not supported</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learn.microsoft.com/azure/devops/boards/github/work-item-integration-github-copilot</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Claude Code /goal — a small fast model re-checks the condition after every turn</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code.claude.com/docs/en/goal</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Claude Code hooks — PreToolUse exit 2 blocks the call, Stop exit 2 refuses to finish, exit 1 only logs</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code.claude.com/docs/en/hooks</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Claude Code tools — Grep is ripgrep; the LSP tool is inactive until a plugin is installed</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code.claude.com/docs/en/tools-reference</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Claude Code deployment via Microsoft Foundry, Bedrock and Google Cloud</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code.claude.com/docs/en/third-party-integrations</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Running Claude Code on Azure AI Foundry</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learn.microsoft.com/azure/foundry/foundry-models/how-to/configure-claude-code</a:t>
            </a:r>
            <a:endParaRPr lang="en-US" sz="900" dirty="0"/>
          </a:p>
        </p:txBody>
      </p:sp>
      <p:sp>
        <p:nvSpPr>
          <p:cNvPr id="25"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anim calcmode="lin" valueType="num">
                                      <p:cBhvr additive="base">
                                        <p:cTn id="8" dur="420" fill="hold"/>
                                        <p:tgtEl>
                                          <p:spTgt spid="5"/>
                                        </p:tgtEl>
                                        <p:attrNameLst>
                                          <p:attrName>ppt_y</p:attrName>
                                        </p:attrNameLst>
                                      </p:cBhvr>
                                      <p:tavLst>
                                        <p:tav tm="0">
                                          <p:val>
                                            <p:strVal val="#ppt_y+0.035"/>
                                          </p:val>
                                        </p:tav>
                                        <p:tav tm="100000">
                                          <p:val>
                                            <p:strVal val="#ppt_y"/>
                                          </p:val>
                                        </p:tav>
                                      </p:tavLst>
                                    </p:anim>
                                    <p:set>
                                      <p:cBhvr>
                                        <p:cTn id="9" dur="1" fill="hold">
                                          <p:stCondLst>
                                            <p:cond delay="0"/>
                                          </p:stCondLst>
                                        </p:cTn>
                                        <p:tgtEl>
                                          <p:spTgt spid="6"/>
                                        </p:tgtEl>
                                        <p:attrNameLst>
                                          <p:attrName>style.visibility</p:attrName>
                                        </p:attrNameLst>
                                      </p:cBhvr>
                                      <p:to>
                                        <p:strVal val="visible"/>
                                      </p:to>
                                    </p:set>
                                    <p:animEffect transition="in" filter="fade">
                                      <p:cBhvr>
                                        <p:cTn id="10" dur="420"/>
                                        <p:tgtEl>
                                          <p:spTgt spid="6"/>
                                        </p:tgtEl>
                                      </p:cBhvr>
                                    </p:animEffect>
                                    <p:anim calcmode="lin" valueType="num">
                                      <p:cBhvr additive="base">
                                        <p:cTn id="11" dur="420" fill="hold"/>
                                        <p:tgtEl>
                                          <p:spTgt spid="6"/>
                                        </p:tgtEl>
                                        <p:attrNameLst>
                                          <p:attrName>ppt_y</p:attrName>
                                        </p:attrNameLst>
                                      </p:cBhvr>
                                      <p:tavLst>
                                        <p:tav tm="0">
                                          <p:val>
                                            <p:strVal val="#ppt_y+0.035"/>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20"/>
                                        <p:tgtEl>
                                          <p:spTgt spid="25"/>
                                        </p:tgtEl>
                                      </p:cBhvr>
                                    </p:animEffect>
                                    <p:anim calcmode="lin" valueType="num">
                                      <p:cBhvr additive="base">
                                        <p:cTn id="17" dur="420" fill="hold"/>
                                        <p:tgtEl>
                                          <p:spTgt spid="2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25" grpId="0"/>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592056" cy="274320"/>
          </a:xfrm>
          <a:prstGeom prst="rect">
            <a:avLst/>
          </a:prstGeom>
          <a:noFill/>
          <a:ln/>
        </p:spPr>
        <p:txBody>
          <a:bodyPr wrap="square" lIns="0" tIns="0" rIns="0" bIns="0" rtlCol="0" anchor="ctr"/>
          <a:lstStyle/>
          <a:p>
            <a:pPr marL="0" indent="0">
              <a:buNone/>
            </a:pPr>
            <a:r>
              <a:rPr lang="en-US" sz="1150" b="1" kern="0" spc="160" dirty="0">
                <a:solidFill>
                  <a:srgbClr val="C2410C"/>
                </a:solidFill>
                <a:latin typeface="Calibri" pitchFamily="34" charset="0"/>
                <a:ea typeface="Calibri" pitchFamily="34" charset="-122"/>
                <a:cs typeface="Calibri" pitchFamily="34" charset="-120"/>
              </a:rPr>
              <a:t>07</a:t>
            </a:r>
            <a:r>
              <a:rPr lang="en-US" sz="1150" b="1" kern="0" spc="160" dirty="0">
                <a:solidFill>
                  <a:srgbClr val="6E7781"/>
                </a:solidFill>
                <a:latin typeface="Calibri" pitchFamily="34" charset="0"/>
                <a:ea typeface="Calibri" pitchFamily="34" charset="-122"/>
                <a:cs typeface="Calibri" pitchFamily="34" charset="-120"/>
              </a:rPr>
              <a:t>   SOURCES  ·  2 OF 2</a:t>
            </a:r>
            <a:endParaRPr lang="en-US" sz="1150" dirty="0"/>
          </a:p>
        </p:txBody>
      </p:sp>
      <p:sp>
        <p:nvSpPr>
          <p:cNvPr id="3" name="Text 1"/>
          <p:cNvSpPr/>
          <p:nvPr/>
        </p:nvSpPr>
        <p:spPr>
          <a:xfrm>
            <a:off x="566928" y="749808"/>
            <a:ext cx="11055096" cy="603504"/>
          </a:xfrm>
          <a:prstGeom prst="rect">
            <a:avLst/>
          </a:prstGeom>
          <a:noFill/>
          <a:ln/>
        </p:spPr>
        <p:txBody>
          <a:bodyPr wrap="square" lIns="0" tIns="0" rIns="0" bIns="0" rtlCol="0" anchor="t"/>
          <a:lstStyle/>
          <a:p>
            <a:pPr marL="0" indent="0">
              <a:buNone/>
            </a:pPr>
            <a:r>
              <a:rPr lang="en-US" sz="3200" b="1" dirty="0">
                <a:solidFill>
                  <a:srgbClr val="15181D"/>
                </a:solidFill>
                <a:latin typeface="Cambria" pitchFamily="34" charset="0"/>
                <a:ea typeface="Cambria" pitchFamily="34" charset="-122"/>
                <a:cs typeface="Cambria" pitchFamily="34" charset="-120"/>
              </a:rPr>
              <a:t>Prices, evidence and governance</a:t>
            </a:r>
            <a:endParaRPr lang="en-US" sz="3200" dirty="0"/>
          </a:p>
        </p:txBody>
      </p:sp>
      <p:sp>
        <p:nvSpPr>
          <p:cNvPr id="4" name="Text 2"/>
          <p:cNvSpPr/>
          <p:nvPr/>
        </p:nvSpPr>
        <p:spPr>
          <a:xfrm>
            <a:off x="566928" y="1389888"/>
            <a:ext cx="11055096" cy="566928"/>
          </a:xfrm>
          <a:prstGeom prst="rect">
            <a:avLst/>
          </a:prstGeom>
          <a:noFill/>
          <a:ln/>
        </p:spPr>
        <p:txBody>
          <a:bodyPr wrap="square" lIns="0" tIns="0" rIns="0" bIns="0" rtlCol="0" anchor="t"/>
          <a:lstStyle/>
          <a:p>
            <a:pPr marL="0" indent="0">
              <a:lnSpc>
                <a:spcPts val="1850"/>
              </a:lnSpc>
              <a:buNone/>
            </a:pPr>
            <a:r>
              <a:rPr lang="en-US" sz="1350" dirty="0">
                <a:solidFill>
                  <a:srgbClr val="2B3138"/>
                </a:solidFill>
                <a:latin typeface="Calibri" pitchFamily="34" charset="0"/>
                <a:ea typeface="Calibri" pitchFamily="34" charset="-122"/>
                <a:cs typeface="Calibri" pitchFamily="34" charset="-120"/>
              </a:rPr>
              <a:t>Prices move: Copilot changed its billing unit twice in about fourteen months, and the promotional credit allocation for existing customers ends on 1 September 2026. Treat every figure here as correct on the date above and nothing more.</a:t>
            </a:r>
            <a:endParaRPr lang="en-US" sz="1350" dirty="0"/>
          </a:p>
        </p:txBody>
      </p:sp>
      <p:sp>
        <p:nvSpPr>
          <p:cNvPr id="5" name="Text 3"/>
          <p:cNvSpPr/>
          <p:nvPr/>
        </p:nvSpPr>
        <p:spPr>
          <a:xfrm>
            <a:off x="566928" y="2139696"/>
            <a:ext cx="5298948" cy="4206240"/>
          </a:xfrm>
          <a:prstGeom prst="rect">
            <a:avLst/>
          </a:prstGeom>
          <a:noFill/>
          <a:ln/>
        </p:spPr>
        <p:txBody>
          <a:bodyPr wrap="square" lIns="0" tIns="0" rIns="0" bIns="0" rtlCol="0" anchor="t"/>
          <a:lstStyle/>
          <a:p>
            <a:pPr marL="0" indent="0">
              <a:lnSpc>
                <a:spcPts val="1150"/>
              </a:lnSpc>
              <a:buNone/>
            </a:pPr>
            <a:r>
              <a:rPr lang="en-US" sz="900" b="1" kern="0" spc="120" dirty="0">
                <a:solidFill>
                  <a:srgbClr val="C2410C"/>
                </a:solidFill>
                <a:latin typeface="Calibri" pitchFamily="34" charset="0"/>
                <a:ea typeface="Calibri" pitchFamily="34" charset="-122"/>
                <a:cs typeface="Calibri" pitchFamily="34" charset="-120"/>
              </a:rPr>
              <a:t>WHAT AN ENTERPRISE SEAT COSTS</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Copilot Enterprise $39 per user/month, 3,900 AI credits per user, pooled; overage $0.01 per credit</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docs.github.com/en/copilot/concepts/billing/billing-for-enterprises</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Copilot plans, and Copilot Enterprise requires GitHub Enterprise Cloud</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docs.github.com/en/copilot/get-started/plans</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GitHub Enterprise from $21 per user/month for the first 12 months</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github.com/pricing</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Promotional credit allocation for existing customers, 1 June – 1 September 2026</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docs.github.com/en/copilot/concepts/billing/usage-based-billing-for-organizations-and-enterprises</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AI credits: 1 credit = $0.01; completions and next-edit suggestions are never billed</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docs.github.com/en/copilot/reference/copilot-billing/models-and-pricing</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Budgets alert at 75/90/100%; only a user-level budget always enforces a hard stop</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docs.github.com/en/billing/tutorials/set-up-budgets</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Claude Enterprise $20 per seat/month billed annually, usage at API rates</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claude.com/pricing</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Claude Enterprise minimum 20 seats; the seat includes Claude Code and Cowork</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support.claude.com/en/articles/9797531-what-is-the-enterprise-plan</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Claude Code cost: ~$13 per developer per active day, $150–250 per month, 90% under $30/day</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code.claude.com/docs/en/costs</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Claude Code automated review: $15–25 per review, billed outside the plan allowance</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code.claude.com/docs/en/code-review</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Claude model pricing per million tokens</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platform.claude.com/docs/en/about-claude/pricing</a:t>
            </a:r>
            <a:endParaRPr lang="en-US" sz="900" dirty="0"/>
          </a:p>
        </p:txBody>
      </p:sp>
      <p:sp>
        <p:nvSpPr>
          <p:cNvPr id="6" name="Text 4"/>
          <p:cNvSpPr/>
          <p:nvPr/>
        </p:nvSpPr>
        <p:spPr>
          <a:xfrm>
            <a:off x="6323076" y="2139696"/>
            <a:ext cx="5298948" cy="4206240"/>
          </a:xfrm>
          <a:prstGeom prst="rect">
            <a:avLst/>
          </a:prstGeom>
          <a:noFill/>
          <a:ln/>
        </p:spPr>
        <p:txBody>
          <a:bodyPr wrap="square" lIns="0" tIns="0" rIns="0" bIns="0" rtlCol="0" anchor="t"/>
          <a:lstStyle/>
          <a:p>
            <a:pPr marL="0" indent="0">
              <a:lnSpc>
                <a:spcPts val="1150"/>
              </a:lnSpc>
              <a:buNone/>
            </a:pPr>
            <a:r>
              <a:rPr lang="en-US" sz="900" b="1" kern="0" spc="120" dirty="0">
                <a:solidFill>
                  <a:srgbClr val="C2410C"/>
                </a:solidFill>
                <a:latin typeface="Calibri" pitchFamily="34" charset="0"/>
                <a:ea typeface="Calibri" pitchFamily="34" charset="-122"/>
                <a:cs typeface="Calibri" pitchFamily="34" charset="-120"/>
              </a:rPr>
              <a:t>EVIDENCE BEHIND THE RECOMMENDATION</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Cui et al., "The Effects of Generative AI on High-Skilled Work", Management Science 2026 — +26.08% (s.e. 10.3%), 4,867 developers, three field experiments</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pubsonline.informs.org/doi/10.1287/mnsc.2025.00535</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METR RCT 2025 — 16 experienced developers, 246 issues, 19% slower on their own mature repos while believing they were 20% faster</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metr.org/blog/2025-07-10-early-2025-ai-experienced-os-dev-study/</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DORA State of AI-assisted Software Development 2025 — AI is an amplifier of what a team already is; higher adoption raises both throughput and instability</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dora.dev/dora-report-2025/</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GitClear, The Maintainability Gap (Jan 2026) — duplicated blocks +81%, moved code 21% → 3.8%</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gitclear.com/the_ai_code_quality_maintainability_gap</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Forrester TEI of GitHub Enterprise Cloud (Jul 2025) — 376% ROI, platform-wide, commissioned by GitHub</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tei.forrester.com/go/github/enterprisecloud/</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Anthropic — multi-agent systems use about 15x the tokens of a chat</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anthropic.com/engineering/multi-agent-research-system</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US BLS — software developer pay and the employer cost of benefits used for the loaded-rate range</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bls.gov/ooh/computer-and-information-technology/software-developers.htm</a:t>
            </a:r>
            <a:endParaRPr lang="en-US" sz="900" dirty="0"/>
          </a:p>
          <a:p>
            <a:pPr marL="0" indent="0">
              <a:lnSpc>
                <a:spcPts val="1150"/>
              </a:lnSpc>
              <a:buNone/>
            </a:pPr>
            <a:r>
              <a:rPr lang="en-US" sz="600" dirty="0">
                <a:solidFill>
                  <a:srgbClr val="000000"/>
                </a:solidFill>
                <a:latin typeface="Calibri" pitchFamily="34" charset="0"/>
                <a:ea typeface="Calibri" pitchFamily="34" charset="-122"/>
                <a:cs typeface="Calibri" pitchFamily="34" charset="-120"/>
              </a:rPr>
              <a:t> </a:t>
            </a:r>
            <a:endParaRPr lang="en-US" sz="900" dirty="0"/>
          </a:p>
          <a:p>
            <a:pPr marL="0" indent="0">
              <a:lnSpc>
                <a:spcPts val="1150"/>
              </a:lnSpc>
              <a:buNone/>
            </a:pPr>
            <a:r>
              <a:rPr lang="en-US" sz="900" b="1" kern="0" spc="120" dirty="0">
                <a:solidFill>
                  <a:srgbClr val="C2410C"/>
                </a:solidFill>
                <a:latin typeface="Calibri" pitchFamily="34" charset="0"/>
                <a:ea typeface="Calibri" pitchFamily="34" charset="-122"/>
                <a:cs typeface="Calibri" pitchFamily="34" charset="-120"/>
              </a:rPr>
              <a:t>GOVERNANCE AND DATA HANDLING</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GitHub does not train on Copilot Business or Enterprise customer data</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docs.github.com/en/copilot/reference/ai-models/model-hosting</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Anthropic does not train on commercial-product inputs or outputs by default</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privacy.claude.com/en/articles/7996868-is-my-data-used-for-model-training</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Anthropic certifications — SOC 2 Type I &amp; II, ISO 27001:2022, ISO/IEC 42001:2023, HIPAA-ready</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support.claude.com/en/articles/10015870-what-certifications-has-anthropic-obtained</a:t>
            </a:r>
            <a:endParaRPr lang="en-US" sz="900" dirty="0"/>
          </a:p>
          <a:p>
            <a:pPr marL="0" indent="0">
              <a:lnSpc>
                <a:spcPts val="1150"/>
              </a:lnSpc>
              <a:buNone/>
            </a:pPr>
            <a:r>
              <a:rPr lang="en-US" sz="850" dirty="0">
                <a:solidFill>
                  <a:srgbClr val="2B3138"/>
                </a:solidFill>
                <a:latin typeface="Calibri" pitchFamily="34" charset="0"/>
                <a:ea typeface="Calibri" pitchFamily="34" charset="-122"/>
                <a:cs typeface="Calibri" pitchFamily="34" charset="-120"/>
              </a:rPr>
              <a:t>Zero data retention is not self-serve; Cowork sessions are not covered by it, and web sessions, desktop cloud sessions and artifacts are disabled</a:t>
            </a:r>
            <a:endParaRPr lang="en-US" sz="900" dirty="0"/>
          </a:p>
          <a:p>
            <a:pPr marL="0" indent="0">
              <a:lnSpc>
                <a:spcPts val="1150"/>
              </a:lnSpc>
              <a:buNone/>
            </a:pPr>
            <a:r>
              <a:rPr lang="en-US" sz="800" dirty="0">
                <a:solidFill>
                  <a:srgbClr val="0969DA"/>
                </a:solidFill>
                <a:latin typeface="Courier New" pitchFamily="34" charset="0"/>
                <a:ea typeface="Courier New" pitchFamily="34" charset="-122"/>
                <a:cs typeface="Courier New" pitchFamily="34" charset="-120"/>
              </a:rPr>
              <a:t>code.claude.com/docs/en/zero-data-retention</a:t>
            </a:r>
            <a:endParaRPr lang="en-US" sz="900" dirty="0"/>
          </a:p>
        </p:txBody>
      </p:sp>
      <p:sp>
        <p:nvSpPr>
          <p:cNvPr id="25" name="Slide Number Placeholder 0"/>
          <p:cNvSpPr>
            <a:spLocks noGrp="1"/>
          </p:cNvSpPr>
          <p:nvPr>
            <p:ph type="sldNum" sz="quarter" idx="4294967295"/>
          </p:nvPr>
        </p:nvSpPr>
        <p:spPr>
          <a:xfrm>
            <a:off x="11365992" y="6437376"/>
            <a:ext cx="457200" cy="237744"/>
          </a:xfrm>
          <a:prstGeom prst="rect">
            <a:avLst/>
          </a:prstGeom>
          <a:extLst>
            <a:ext uri="{C572A759-6A51-4108-AA02-DFA0A04FC94B}">
              <ma14:wrappingTextBoxFlag xmlns:ma14="http://schemas.microsoft.com/office/mac/drawingml/2011/main" xmlns="" val="0"/>
            </a:ext>
          </a:extLst>
        </p:spPr>
        <p:txBody>
          <a:bodyPr/>
          <a:lstStyle>
            <a:lvl1pPr>
              <a:defRPr sz="900">
                <a:solidFill>
                  <a:srgbClr val="6E7781"/>
                </a:solidFill>
                <a:latin typeface="Calibri"/>
                <a:ea typeface="Calibri"/>
                <a:cs typeface="Calibri"/>
              </a:defRPr>
            </a:lvl1pPr>
          </a:lstStyle>
          <a:p>
            <a:pPr algn="r"/>
            <a:fld id="{F7021451-1387-4CA6-816F-3879F97B5CBC}" type="slidenum">
              <a:rPr lang="en-US" b="0"/>
              <a:t>27</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anim calcmode="lin" valueType="num">
                                      <p:cBhvr additive="base">
                                        <p:cTn id="8" dur="420" fill="hold"/>
                                        <p:tgtEl>
                                          <p:spTgt spid="5"/>
                                        </p:tgtEl>
                                        <p:attrNameLst>
                                          <p:attrName>ppt_y</p:attrName>
                                        </p:attrNameLst>
                                      </p:cBhvr>
                                      <p:tavLst>
                                        <p:tav tm="0">
                                          <p:val>
                                            <p:strVal val="#ppt_y+0.035"/>
                                          </p:val>
                                        </p:tav>
                                        <p:tav tm="100000">
                                          <p:val>
                                            <p:strVal val="#ppt_y"/>
                                          </p:val>
                                        </p:tav>
                                      </p:tavLst>
                                    </p:anim>
                                    <p:set>
                                      <p:cBhvr>
                                        <p:cTn id="9" dur="1" fill="hold">
                                          <p:stCondLst>
                                            <p:cond delay="0"/>
                                          </p:stCondLst>
                                        </p:cTn>
                                        <p:tgtEl>
                                          <p:spTgt spid="6"/>
                                        </p:tgtEl>
                                        <p:attrNameLst>
                                          <p:attrName>style.visibility</p:attrName>
                                        </p:attrNameLst>
                                      </p:cBhvr>
                                      <p:to>
                                        <p:strVal val="visible"/>
                                      </p:to>
                                    </p:set>
                                    <p:animEffect transition="in" filter="fade">
                                      <p:cBhvr>
                                        <p:cTn id="10" dur="420"/>
                                        <p:tgtEl>
                                          <p:spTgt spid="6"/>
                                        </p:tgtEl>
                                      </p:cBhvr>
                                    </p:animEffect>
                                    <p:anim calcmode="lin" valueType="num">
                                      <p:cBhvr additive="base">
                                        <p:cTn id="11" dur="420" fill="hold"/>
                                        <p:tgtEl>
                                          <p:spTgt spid="6"/>
                                        </p:tgtEl>
                                        <p:attrNameLst>
                                          <p:attrName>ppt_y</p:attrName>
                                        </p:attrNameLst>
                                      </p:cBhvr>
                                      <p:tavLst>
                                        <p:tav tm="0">
                                          <p:val>
                                            <p:strVal val="#ppt_y+0.035"/>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20"/>
                                        <p:tgtEl>
                                          <p:spTgt spid="25"/>
                                        </p:tgtEl>
                                      </p:cBhvr>
                                    </p:animEffect>
                                    <p:anim calcmode="lin" valueType="num">
                                      <p:cBhvr additive="base">
                                        <p:cTn id="17" dur="420" fill="hold"/>
                                        <p:tgtEl>
                                          <p:spTgt spid="25"/>
                                        </p:tgtEl>
                                        <p:attrNameLst>
                                          <p:attrName>ppt_y</p:attrName>
                                        </p:attrNameLst>
                                      </p:cBhvr>
                                      <p:tavLst>
                                        <p:tav tm="0">
                                          <p:val>
                                            <p:strVal val="#ppt_y+0.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2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8467</Words>
  <Application>Microsoft Office PowerPoint</Application>
  <PresentationFormat>Широкоэкранный</PresentationFormat>
  <Paragraphs>810</Paragraphs>
  <Slides>27</Slides>
  <Notes>27</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27</vt:i4>
      </vt:variant>
    </vt:vector>
  </HeadingPairs>
  <TitlesOfParts>
    <vt:vector size="32" baseType="lpstr">
      <vt:lpstr>Arial</vt:lpstr>
      <vt:lpstr>Calibri</vt:lpstr>
      <vt:lpstr>Cambria</vt:lpstr>
      <vt:lpstr>Courier New</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vs Claude Code — decision brief (v3)</dc:title>
  <dc:subject>Agentic AI for a .NET team: what the tools are, what they cost, and how to test them</dc:subject>
  <dc:creator>ai_comparison</dc:creator>
  <cp:lastModifiedBy>A</cp:lastModifiedBy>
  <cp:revision>2</cp:revision>
  <dcterms:created xsi:type="dcterms:W3CDTF">2026-07-31T12:27:11Z</dcterms:created>
  <dcterms:modified xsi:type="dcterms:W3CDTF">2026-07-31T13:39:42Z</dcterms:modified>
</cp:coreProperties>
</file>